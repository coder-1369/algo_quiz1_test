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8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57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6" r:id="rId2"/>
    <p:sldId id="457" r:id="rId3"/>
    <p:sldId id="257" r:id="rId4"/>
    <p:sldId id="396" r:id="rId5"/>
    <p:sldId id="470" r:id="rId6"/>
    <p:sldId id="397" r:id="rId7"/>
    <p:sldId id="471" r:id="rId8"/>
    <p:sldId id="398" r:id="rId9"/>
    <p:sldId id="399" r:id="rId10"/>
    <p:sldId id="404" r:id="rId11"/>
    <p:sldId id="402" r:id="rId12"/>
    <p:sldId id="472" r:id="rId13"/>
    <p:sldId id="403" r:id="rId14"/>
    <p:sldId id="458" r:id="rId15"/>
    <p:sldId id="393" r:id="rId16"/>
    <p:sldId id="387" r:id="rId17"/>
    <p:sldId id="394" r:id="rId18"/>
    <p:sldId id="436" r:id="rId19"/>
    <p:sldId id="362" r:id="rId20"/>
    <p:sldId id="407" r:id="rId21"/>
    <p:sldId id="474" r:id="rId22"/>
    <p:sldId id="460" r:id="rId23"/>
    <p:sldId id="410" r:id="rId24"/>
    <p:sldId id="409" r:id="rId25"/>
    <p:sldId id="438" r:id="rId26"/>
    <p:sldId id="414" r:id="rId27"/>
    <p:sldId id="401" r:id="rId28"/>
    <p:sldId id="415" r:id="rId29"/>
    <p:sldId id="416" r:id="rId30"/>
    <p:sldId id="487" r:id="rId31"/>
    <p:sldId id="417" r:id="rId32"/>
    <p:sldId id="486" r:id="rId33"/>
    <p:sldId id="439" r:id="rId34"/>
    <p:sldId id="490" r:id="rId35"/>
    <p:sldId id="430" r:id="rId36"/>
    <p:sldId id="491" r:id="rId37"/>
    <p:sldId id="325" r:id="rId38"/>
    <p:sldId id="321" r:id="rId39"/>
    <p:sldId id="420" r:id="rId40"/>
    <p:sldId id="440" r:id="rId41"/>
    <p:sldId id="441" r:id="rId42"/>
    <p:sldId id="442" r:id="rId43"/>
    <p:sldId id="443" r:id="rId44"/>
    <p:sldId id="444" r:id="rId45"/>
    <p:sldId id="445" r:id="rId46"/>
    <p:sldId id="446" r:id="rId47"/>
    <p:sldId id="413" r:id="rId48"/>
    <p:sldId id="447" r:id="rId49"/>
    <p:sldId id="448" r:id="rId50"/>
    <p:sldId id="449" r:id="rId51"/>
    <p:sldId id="450" r:id="rId52"/>
    <p:sldId id="418" r:id="rId53"/>
    <p:sldId id="451" r:id="rId54"/>
    <p:sldId id="492" r:id="rId55"/>
    <p:sldId id="483" r:id="rId56"/>
    <p:sldId id="465" r:id="rId57"/>
    <p:sldId id="493" r:id="rId58"/>
  </p:sldIdLst>
  <p:sldSz cx="12192000" cy="6858000"/>
  <p:notesSz cx="6724650" cy="9774238"/>
  <p:defaultTextStyle>
    <a:defPPr>
      <a:defRPr lang="en-Q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02" autoAdjust="0"/>
    <p:restoredTop sz="91885" autoAdjust="0"/>
  </p:normalViewPr>
  <p:slideViewPr>
    <p:cSldViewPr snapToGrid="0" snapToObjects="1">
      <p:cViewPr varScale="1">
        <p:scale>
          <a:sx n="63" d="100"/>
          <a:sy n="63" d="100"/>
        </p:scale>
        <p:origin x="10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ustomXml" Target="../customXml/item2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015" cy="490409"/>
          </a:xfrm>
          <a:prstGeom prst="rect">
            <a:avLst/>
          </a:prstGeom>
        </p:spPr>
        <p:txBody>
          <a:bodyPr vert="horz" lIns="91861" tIns="45930" rIns="91861" bIns="4593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09079" y="0"/>
            <a:ext cx="2914015" cy="490409"/>
          </a:xfrm>
          <a:prstGeom prst="rect">
            <a:avLst/>
          </a:prstGeom>
        </p:spPr>
        <p:txBody>
          <a:bodyPr vert="horz" lIns="91861" tIns="45930" rIns="91861" bIns="45930" rtlCol="0"/>
          <a:lstStyle>
            <a:lvl1pPr algn="r">
              <a:defRPr sz="1200"/>
            </a:lvl1pPr>
          </a:lstStyle>
          <a:p>
            <a:fld id="{0F0E8C9B-F5F0-449E-A688-6428C1F6D403}" type="datetimeFigureOut">
              <a:rPr lang="tr-TR" smtClean="0"/>
              <a:t>24.02.2025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83831"/>
            <a:ext cx="2914015" cy="490408"/>
          </a:xfrm>
          <a:prstGeom prst="rect">
            <a:avLst/>
          </a:prstGeom>
        </p:spPr>
        <p:txBody>
          <a:bodyPr vert="horz" lIns="91861" tIns="45930" rIns="91861" bIns="4593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09079" y="9283831"/>
            <a:ext cx="2914015" cy="490408"/>
          </a:xfrm>
          <a:prstGeom prst="rect">
            <a:avLst/>
          </a:prstGeom>
        </p:spPr>
        <p:txBody>
          <a:bodyPr vert="horz" lIns="91861" tIns="45930" rIns="91861" bIns="45930" rtlCol="0" anchor="b"/>
          <a:lstStyle>
            <a:lvl1pPr algn="r">
              <a:defRPr sz="1200"/>
            </a:lvl1pPr>
          </a:lstStyle>
          <a:p>
            <a:fld id="{A2012E7B-21DA-4A98-9F5C-08244CB9D0A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58005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015" cy="490409"/>
          </a:xfrm>
          <a:prstGeom prst="rect">
            <a:avLst/>
          </a:prstGeom>
        </p:spPr>
        <p:txBody>
          <a:bodyPr vert="horz" lIns="91861" tIns="45930" rIns="91861" bIns="45930" rtlCol="0"/>
          <a:lstStyle>
            <a:lvl1pPr algn="l">
              <a:defRPr sz="1200"/>
            </a:lvl1pPr>
          </a:lstStyle>
          <a:p>
            <a:endParaRPr lang="en-Q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09079" y="0"/>
            <a:ext cx="2914015" cy="490409"/>
          </a:xfrm>
          <a:prstGeom prst="rect">
            <a:avLst/>
          </a:prstGeom>
        </p:spPr>
        <p:txBody>
          <a:bodyPr vert="horz" lIns="91861" tIns="45930" rIns="91861" bIns="45930" rtlCol="0"/>
          <a:lstStyle>
            <a:lvl1pPr algn="r">
              <a:defRPr sz="1200"/>
            </a:lvl1pPr>
          </a:lstStyle>
          <a:p>
            <a:fld id="{F121EAE4-7DF9-E547-AECB-D890A080C5F7}" type="datetimeFigureOut">
              <a:rPr lang="en-QA" smtClean="0"/>
              <a:t>02/24/2025</a:t>
            </a:fld>
            <a:endParaRPr lang="en-Q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0213" y="1222375"/>
            <a:ext cx="5864225" cy="3298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61" tIns="45930" rIns="91861" bIns="45930" rtlCol="0" anchor="ctr"/>
          <a:lstStyle/>
          <a:p>
            <a:endParaRPr lang="en-Q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2465" y="4703852"/>
            <a:ext cx="5379720" cy="3848606"/>
          </a:xfrm>
          <a:prstGeom prst="rect">
            <a:avLst/>
          </a:prstGeom>
        </p:spPr>
        <p:txBody>
          <a:bodyPr vert="horz" lIns="91861" tIns="45930" rIns="91861" bIns="4593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83831"/>
            <a:ext cx="2914015" cy="490408"/>
          </a:xfrm>
          <a:prstGeom prst="rect">
            <a:avLst/>
          </a:prstGeom>
        </p:spPr>
        <p:txBody>
          <a:bodyPr vert="horz" lIns="91861" tIns="45930" rIns="91861" bIns="45930" rtlCol="0" anchor="b"/>
          <a:lstStyle>
            <a:lvl1pPr algn="l">
              <a:defRPr sz="1200"/>
            </a:lvl1pPr>
          </a:lstStyle>
          <a:p>
            <a:endParaRPr lang="en-Q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09079" y="9283831"/>
            <a:ext cx="2914015" cy="490408"/>
          </a:xfrm>
          <a:prstGeom prst="rect">
            <a:avLst/>
          </a:prstGeom>
        </p:spPr>
        <p:txBody>
          <a:bodyPr vert="horz" lIns="91861" tIns="45930" rIns="91861" bIns="45930" rtlCol="0" anchor="b"/>
          <a:lstStyle>
            <a:lvl1pPr algn="r">
              <a:defRPr sz="1200"/>
            </a:lvl1pPr>
          </a:lstStyle>
          <a:p>
            <a:fld id="{E54B1972-16F6-0042-B2D8-F4FC729CE7E8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9688026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055D07-8E07-444E-9681-FF47C239E94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85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055D07-8E07-444E-9681-FF47C239E94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61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055D07-8E07-444E-9681-FF47C239E94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5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055D07-8E07-444E-9681-FF47C239E94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37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you are a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Talabat delivery rider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Doha, but instead of receiving orders one by one, you are assigned a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of five orders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the beginning of your shift. These orders must all be picked up from a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 Talabat hub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Pearl-Qatar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before being delivered to customers across the city.</a:t>
            </a:r>
          </a:p>
          <a:p>
            <a:r>
              <a:rPr lang="tr-TR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Scenario: 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start at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Pearl-Qatar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(your pickup hub), and you need to deliver orders to customers at the following locations:</a:t>
            </a:r>
          </a:p>
          <a:p>
            <a:pPr lvl="0"/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Education City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2.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Villaggio Mall (nearby residences)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3.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Katara Cultural Village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Aspire Zone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5.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West Bay</a:t>
            </a:r>
            <a:endParaRPr lang="tr-T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delivering all the orders,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must return to The Pearl-Qatar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prepare for the next shift.</a:t>
            </a:r>
          </a:p>
          <a:p>
            <a:r>
              <a:rPr lang="tr-TR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Problem: 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the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shortest possible route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allows you to:</a:t>
            </a:r>
          </a:p>
          <a:p>
            <a:pPr lvl="0"/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 up orders from the hub (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Pearl-Qatar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0"/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Visit each delivery location exactly once</a:t>
            </a:r>
          </a:p>
          <a:p>
            <a:pPr lvl="0"/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to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Pearl-Qatar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after completing all deliveries</a:t>
            </a:r>
          </a:p>
          <a:p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Classic Travelling Salesman Problem (TSP)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where the goal is to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 the most efficient circular route that minimizes total travel distance or time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tr-TR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is TSP important?</a:t>
            </a:r>
            <a:endParaRPr lang="tr-T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TSP is widely used in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logistics, transportation, and route planning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such as:</a:t>
            </a:r>
          </a:p>
          <a:p>
            <a:pPr lvl="0"/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 services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(Talabat, UPS, FedEx)</a:t>
            </a:r>
          </a:p>
          <a:p>
            <a:pPr lvl="0"/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Ride-hailing apps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(Uber, Careem, Karwa taxis)</a:t>
            </a:r>
          </a:p>
          <a:p>
            <a:pPr lvl="0"/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Autonomous vehicles &amp; drones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(optimizing movement paths)</a:t>
            </a:r>
          </a:p>
          <a:p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solving TSP efficiently, businesses can </a:t>
            </a: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 fuel, reduce costs, and deliver faster service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critical in a fast-paced city like Doha.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4B1972-16F6-0042-B2D8-F4FC729CE7E8}" type="slidenum">
              <a:rPr lang="en-QA" smtClean="0"/>
              <a:t>39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133226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43D9-969B-B841-8560-D1E81863F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E0E27-03D4-5246-B42A-10412F2E5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2762A-D844-8540-ABD5-09202550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FA86-A062-4D3D-9CD0-C1E91E49F30B}" type="datetime1">
              <a:rPr lang="LID4096" smtClean="0"/>
              <a:t>02/24/2025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F9DFF-05D2-3146-ACBD-3B35083EA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9777B-F847-5C48-BDC7-A73C9B5E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57254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B05A-49DA-2747-9797-E2B310C7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520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62B4E-E8CD-8541-B62B-40C0FACCD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646"/>
            <a:ext cx="10515600" cy="491831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Q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8CD30-4126-184B-9C57-B12C5801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6B39-BE6E-4CBA-8D25-7F2C4FAB1328}" type="datetime1">
              <a:rPr lang="LID4096" smtClean="0"/>
              <a:t>02/24/2025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90A29-77A4-FD4F-B5EF-3802E798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35DCE-3BDE-444D-9BD3-C1B76D4B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04910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9A86-599A-3D41-B71D-62FD4118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4C2A5-188C-D842-BE65-ECB3CB285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7A44-8A4A-BF48-A332-D120264F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7E66-3A57-4CE5-AF8C-316F8EFF00BF}" type="datetime1">
              <a:rPr lang="LID4096" smtClean="0"/>
              <a:t>02/24/2025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6207D-80CD-A943-8781-543E307E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2175-0674-4F46-8D7D-69F743B7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43116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503E-8F61-D849-B25A-F94E08432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D54E2-4427-6F40-A04E-04CA25B3D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82C34-5EE9-0F45-9CA9-A40353FF9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140A6-E7D3-2347-AFEE-7EF676A44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AE41-23A2-4CFC-A977-DB251DDF2560}" type="datetime1">
              <a:rPr lang="LID4096" smtClean="0"/>
              <a:t>02/24/2025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A88B6-FC08-DD4C-ACE3-5DA6D839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B49E9-6966-3F40-A96F-3DCF8C20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142015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4AB8-24EB-6A47-A9E1-0DDB3389B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6C325-637A-6E45-8744-B887FD637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899B5-EEAF-B64F-B960-5C10CBCBF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FC5AF-20DD-1D46-9CCA-743EB5F11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7C7E1-55A8-DA42-BDD8-D9B45589E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DDA458-3F9C-E34A-BA12-21B65A3B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7DC5-B56B-4C79-8460-CDA88588BFCF}" type="datetime1">
              <a:rPr lang="LID4096" smtClean="0"/>
              <a:t>02/24/2025</a:t>
            </a:fld>
            <a:endParaRPr lang="en-Q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6870D-A2B8-F048-90DD-F6D37B70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6CDBC-AACB-8240-8F66-7C40ABB5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52846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F937-BA7B-4F46-ACD5-3DBDF785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D4EAB-DCBE-9248-AC6E-9F4BA94A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18DB-8E39-43EB-A8E0-46E8F99B0FBF}" type="datetime1">
              <a:rPr lang="LID4096" smtClean="0"/>
              <a:t>02/24/2025</a:t>
            </a:fld>
            <a:endParaRPr lang="en-Q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35B96-5BBF-894E-9A5A-EC311BD14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0FED8-525D-0A4E-B05A-24EF0BC5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93808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38250-C423-C148-B3A7-2663DF9E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CA69-CBF0-4623-939F-C60B6EF936F8}" type="datetime1">
              <a:rPr lang="LID4096" smtClean="0"/>
              <a:t>02/24/2025</a:t>
            </a:fld>
            <a:endParaRPr lang="en-Q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F12E7-7C62-A348-ABC3-C0576A47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B03E2-3223-8743-8447-4B7579AF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75946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8037-1501-0441-9794-C5EBF7B9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E2B03-539C-3B4F-B8CE-A85C1D906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1F868-E9EE-6548-BEF7-B69A69F47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429C6-9E7C-4C4C-B2F8-DBF96E09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0ABF2-6B68-432E-A3BE-32B0202ADF38}" type="datetime1">
              <a:rPr lang="LID4096" smtClean="0"/>
              <a:t>02/24/2025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00DBA-CEE9-8944-8D42-B53DF4B5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4C08E-9733-D240-BA55-AD63C0B2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8223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A4E6-2D17-3349-BFA1-9575B971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F320C-CFF7-2E4E-96BC-21BD7B46E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Q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39EF1-EBE6-E643-93D4-ADC3A5A1B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899F5-9751-5B4A-BA6F-36C01A175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489D4-47C1-4612-85DC-94EA9F5B3A1C}" type="datetime1">
              <a:rPr lang="LID4096" smtClean="0"/>
              <a:t>02/24/2025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FE7B7-237A-234A-8B6E-C4DB879F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47028-D19C-7846-9E31-BDAD6BBB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97615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E75D4-2EDE-FF4D-AF29-10EBFC8B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1C6D8-6FC9-B64A-8822-7A48AB7BE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75595-8838-474B-8900-B8050060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2A0BA-4363-432D-BC9B-47CAAC89BC9E}" type="datetime1">
              <a:rPr lang="LID4096" smtClean="0"/>
              <a:t>02/24/2025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9808D-C802-674D-A8A3-2D5C2CD4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00625-E69F-7D45-BB50-36EAAFE8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43973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B2DCA0-DCD9-AA47-844D-B9F6B3477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E7AA1-F489-CC4F-BDD7-5EDD48AD8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B60F0-1899-B14C-9373-39E1299E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2DE0-DD4E-4B2B-A226-7BE4DCE6BAE6}" type="datetime1">
              <a:rPr lang="LID4096" smtClean="0"/>
              <a:t>02/24/2025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6731D-46D7-A545-9FCC-3EB6BB95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20A14-42BD-5F47-BB02-094E497C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61272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5A4A4-E523-8A44-A328-380C82C3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C8E7C-E15B-724E-B533-274ABEC5B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3B09C-6196-8B4C-BFB1-4AF028CEB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CAEA9-2AB4-499C-B422-1FD0D93D90CA}" type="datetime1">
              <a:rPr lang="LID4096" smtClean="0"/>
              <a:t>02/24/2025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D81A9-6416-F74D-AC2F-77DAF563B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26C14-75D2-9340-B716-4EBC3E947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82334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Q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thsisfun.com/pascals-triangle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DDBD-B078-F546-A61A-69D2AC762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8208" y="427174"/>
            <a:ext cx="9340312" cy="117490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Dynamic Programming</a:t>
            </a:r>
            <a:endParaRPr lang="en-QA" dirty="0">
              <a:solidFill>
                <a:srgbClr val="C0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8E295-7382-5340-BA0B-A66155072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8318" y="3342433"/>
            <a:ext cx="242893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  <a:lvl2pPr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</a:defRPr>
            </a:lvl2pPr>
            <a:lvl3pPr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chemeClr val="bg2"/>
                </a:solidFill>
                <a:latin typeface="Times New Roman" panose="02020603050405020304" pitchFamily="18" charset="0"/>
              </a:defRPr>
            </a:lvl3pPr>
            <a:lvl4pPr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chemeClr val="bg2"/>
                </a:solidFill>
                <a:latin typeface="Times New Roman" panose="02020603050405020304" pitchFamily="18" charset="0"/>
              </a:defRPr>
            </a:lvl4pPr>
            <a:lvl5pPr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chemeClr val="bg2"/>
                </a:solidFill>
                <a:latin typeface="Times New Roman" panose="02020603050405020304" pitchFamily="18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chemeClr val="bg2"/>
                </a:solidFill>
                <a:latin typeface="Times New Roman" panose="02020603050405020304" pitchFamily="18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chemeClr val="bg2"/>
                </a:solidFill>
                <a:latin typeface="Times New Roman" panose="02020603050405020304" pitchFamily="18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chemeClr val="bg2"/>
                </a:solidFill>
                <a:latin typeface="Times New Roman" panose="02020603050405020304" pitchFamily="18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chemeClr val="bg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QA" sz="2000" b="0" dirty="0">
                <a:solidFill>
                  <a:srgbClr val="FF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Read Chapter 3</a:t>
            </a:r>
          </a:p>
        </p:txBody>
      </p:sp>
      <p:pic>
        <p:nvPicPr>
          <p:cNvPr id="5" name="Graphic 4" descr="Open book outline">
            <a:extLst>
              <a:ext uri="{FF2B5EF4-FFF2-40B4-BE49-F238E27FC236}">
                <a16:creationId xmlns:a16="http://schemas.microsoft.com/office/drawing/2014/main" id="{9D205E77-D2DE-1348-B3FA-C974BDA89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310" y="3097958"/>
            <a:ext cx="914400" cy="9144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1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73942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028" y="191619"/>
            <a:ext cx="10515600" cy="65087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What is Dynamic Programming?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028" y="1258646"/>
            <a:ext cx="10817772" cy="4918317"/>
          </a:xfrm>
        </p:spPr>
        <p:txBody>
          <a:bodyPr/>
          <a:lstStyle/>
          <a:p>
            <a:r>
              <a:rPr lang="en-US" sz="2800" u="sng" dirty="0">
                <a:solidFill>
                  <a:srgbClr val="00B050"/>
                </a:solidFill>
              </a:rPr>
              <a:t>Basic idea: </a:t>
            </a:r>
            <a:r>
              <a:rPr lang="en-US" sz="2800" dirty="0"/>
              <a:t>One implicitly explores the space of all </a:t>
            </a:r>
            <a:r>
              <a:rPr lang="en-US" sz="2800" dirty="0" smtClean="0"/>
              <a:t>possible solutions </a:t>
            </a:r>
            <a:r>
              <a:rPr lang="en-US" sz="2800" dirty="0"/>
              <a:t>by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arefully </a:t>
            </a:r>
            <a:r>
              <a:rPr lang="en-US" u="sng" dirty="0" smtClean="0">
                <a:solidFill>
                  <a:srgbClr val="0070C0"/>
                </a:solidFill>
              </a:rPr>
              <a:t>decomposing </a:t>
            </a:r>
            <a:r>
              <a:rPr lang="en-US" u="sng" dirty="0">
                <a:solidFill>
                  <a:srgbClr val="0070C0"/>
                </a:solidFill>
              </a:rPr>
              <a:t>things into a series of </a:t>
            </a:r>
            <a:r>
              <a:rPr lang="en-US" u="sng" dirty="0" smtClean="0">
                <a:solidFill>
                  <a:srgbClr val="0070C0"/>
                </a:solidFill>
              </a:rPr>
              <a:t>sub problems</a:t>
            </a:r>
          </a:p>
          <a:p>
            <a:pPr lvl="1"/>
            <a:r>
              <a:rPr lang="en-US" u="sng" dirty="0" smtClean="0">
                <a:solidFill>
                  <a:srgbClr val="C00000"/>
                </a:solidFill>
              </a:rPr>
              <a:t>building </a:t>
            </a:r>
            <a:r>
              <a:rPr lang="en-US" u="sng" dirty="0">
                <a:solidFill>
                  <a:srgbClr val="C00000"/>
                </a:solidFill>
              </a:rPr>
              <a:t>up correct solutions</a:t>
            </a:r>
            <a:r>
              <a:rPr lang="en-US" dirty="0"/>
              <a:t> to </a:t>
            </a:r>
            <a:r>
              <a:rPr lang="en-US" dirty="0" smtClean="0"/>
              <a:t>larger </a:t>
            </a:r>
            <a:r>
              <a:rPr lang="en-US" dirty="0"/>
              <a:t>and larger </a:t>
            </a:r>
            <a:r>
              <a:rPr lang="en-US" dirty="0" smtClean="0"/>
              <a:t>sub problems</a:t>
            </a:r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r>
              <a:rPr lang="en-US" sz="2800" dirty="0"/>
              <a:t>Can you smell the </a:t>
            </a:r>
            <a:r>
              <a:rPr lang="en-US" sz="2800" b="1" dirty="0" smtClean="0">
                <a:solidFill>
                  <a:srgbClr val="0070C0"/>
                </a:solidFill>
              </a:rPr>
              <a:t>Divide &amp; Conquer </a:t>
            </a:r>
            <a:r>
              <a:rPr lang="en-US" sz="2800" dirty="0"/>
              <a:t>flavor? </a:t>
            </a:r>
            <a:endParaRPr lang="en-US" sz="2800" dirty="0" smtClean="0"/>
          </a:p>
          <a:p>
            <a:pPr lvl="1"/>
            <a:r>
              <a:rPr lang="en-US" dirty="0" smtClean="0"/>
              <a:t>However</a:t>
            </a:r>
            <a:r>
              <a:rPr lang="en-US" dirty="0"/>
              <a:t>, </a:t>
            </a:r>
            <a:r>
              <a:rPr lang="en-US" u="sng" dirty="0" smtClean="0">
                <a:solidFill>
                  <a:srgbClr val="00B050"/>
                </a:solidFill>
              </a:rPr>
              <a:t>Dynamic Programming </a:t>
            </a:r>
            <a:r>
              <a:rPr lang="en-US" u="sng" dirty="0">
                <a:solidFill>
                  <a:srgbClr val="00B050"/>
                </a:solidFill>
              </a:rPr>
              <a:t>is another story</a:t>
            </a:r>
            <a:r>
              <a:rPr lang="en-US" dirty="0"/>
              <a:t>!</a:t>
            </a:r>
          </a:p>
          <a:p>
            <a:pPr lvl="1"/>
            <a:r>
              <a:rPr lang="en-US" dirty="0" smtClean="0"/>
              <a:t>Dynamic Programming </a:t>
            </a:r>
            <a:r>
              <a:rPr lang="en-US" u="sng" dirty="0">
                <a:solidFill>
                  <a:srgbClr val="FF0000"/>
                </a:solidFill>
              </a:rPr>
              <a:t>does </a:t>
            </a:r>
            <a:r>
              <a:rPr lang="en-US" u="sng" dirty="0" smtClean="0">
                <a:solidFill>
                  <a:srgbClr val="FF0000"/>
                </a:solidFill>
              </a:rPr>
              <a:t>NOT examine </a:t>
            </a:r>
            <a:r>
              <a:rPr lang="en-US" u="sng" dirty="0">
                <a:solidFill>
                  <a:srgbClr val="FF0000"/>
                </a:solidFill>
              </a:rPr>
              <a:t>all possible solutions explicitly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2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72808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E8B04-60F0-C348-959F-B2A00BE82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988"/>
            <a:ext cx="10515600" cy="893520"/>
          </a:xfrm>
        </p:spPr>
        <p:txBody>
          <a:bodyPr/>
          <a:lstStyle/>
          <a:p>
            <a:r>
              <a:rPr lang="en-US" dirty="0"/>
              <a:t>Dynamic Programming</a:t>
            </a:r>
            <a:endParaRPr lang="en-Q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22972-2D6E-414E-888C-BD5B6118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5" y="862664"/>
            <a:ext cx="11865429" cy="52727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Similar to </a:t>
            </a:r>
            <a:r>
              <a:rPr lang="en-US" u="sng" dirty="0">
                <a:solidFill>
                  <a:srgbClr val="00B050"/>
                </a:solidFill>
              </a:rPr>
              <a:t>divide-and-conquer </a:t>
            </a:r>
            <a:r>
              <a:rPr lang="en-US" dirty="0"/>
              <a:t>in that the </a:t>
            </a:r>
            <a:r>
              <a:rPr lang="en-US" u="sng" dirty="0">
                <a:solidFill>
                  <a:srgbClr val="0070C0"/>
                </a:solidFill>
              </a:rPr>
              <a:t>problem instance is divided into smaller </a:t>
            </a:r>
            <a:r>
              <a:rPr lang="en-US" u="sng" dirty="0" smtClean="0">
                <a:solidFill>
                  <a:srgbClr val="0070C0"/>
                </a:solidFill>
              </a:rPr>
              <a:t>instances</a:t>
            </a:r>
            <a:endParaRPr lang="en-US" u="sng" dirty="0">
              <a:solidFill>
                <a:srgbClr val="0070C0"/>
              </a:solidFill>
            </a:endParaRPr>
          </a:p>
          <a:p>
            <a:pPr lvl="4"/>
            <a:endParaRPr lang="en-US" dirty="0"/>
          </a:p>
          <a:p>
            <a:r>
              <a:rPr lang="en-US" dirty="0"/>
              <a:t>It is a </a:t>
            </a:r>
            <a:r>
              <a:rPr lang="en-US" u="sng" dirty="0">
                <a:solidFill>
                  <a:srgbClr val="C00000"/>
                </a:solidFill>
              </a:rPr>
              <a:t>bottom-up</a:t>
            </a:r>
            <a:r>
              <a:rPr lang="en-US" dirty="0"/>
              <a:t> </a:t>
            </a:r>
            <a:r>
              <a:rPr lang="en-US" dirty="0" smtClean="0"/>
              <a:t>approach</a:t>
            </a:r>
          </a:p>
          <a:p>
            <a:pPr lvl="1"/>
            <a:r>
              <a:rPr lang="en-US" sz="2400" dirty="0"/>
              <a:t>t</a:t>
            </a:r>
            <a:r>
              <a:rPr lang="en-US" sz="2400" dirty="0" smtClean="0"/>
              <a:t>he </a:t>
            </a:r>
            <a:r>
              <a:rPr lang="en-US" sz="2400" u="sng" dirty="0">
                <a:solidFill>
                  <a:srgbClr val="0070C0"/>
                </a:solidFill>
              </a:rPr>
              <a:t>small instances are solved first</a:t>
            </a:r>
          </a:p>
          <a:p>
            <a:pPr lvl="1"/>
            <a:r>
              <a:rPr lang="en-US" sz="2400" dirty="0"/>
              <a:t>their </a:t>
            </a:r>
            <a:r>
              <a:rPr lang="en-US" sz="2400" u="sng" dirty="0">
                <a:solidFill>
                  <a:srgbClr val="00B050"/>
                </a:solidFill>
              </a:rPr>
              <a:t>result is saved and retrieved </a:t>
            </a:r>
            <a:r>
              <a:rPr lang="en-US" sz="2400" dirty="0"/>
              <a:t>later </a:t>
            </a:r>
            <a:r>
              <a:rPr lang="en-US" sz="2400" dirty="0" smtClean="0"/>
              <a:t>when </a:t>
            </a:r>
            <a:r>
              <a:rPr lang="en-US" sz="2400" dirty="0"/>
              <a:t>needed instead of being recomputed</a:t>
            </a:r>
          </a:p>
          <a:p>
            <a:pPr marL="1828800" lvl="4" indent="0">
              <a:buNone/>
            </a:pPr>
            <a:endParaRPr lang="en-US" dirty="0"/>
          </a:p>
          <a:p>
            <a:r>
              <a:rPr lang="en-US" dirty="0"/>
              <a:t>Dynamic Programming includes </a:t>
            </a:r>
            <a:r>
              <a:rPr lang="en-US" dirty="0" smtClean="0"/>
              <a:t>2 steps</a:t>
            </a:r>
            <a:endParaRPr lang="en-US" dirty="0"/>
          </a:p>
          <a:p>
            <a:pPr lvl="1"/>
            <a:r>
              <a:rPr lang="en-US" sz="2400" u="sng" dirty="0">
                <a:solidFill>
                  <a:srgbClr val="C00000"/>
                </a:solidFill>
              </a:rPr>
              <a:t>Establish a recursive property </a:t>
            </a:r>
            <a:r>
              <a:rPr lang="en-US" sz="2400" dirty="0" smtClean="0"/>
              <a:t>(a.k.a., recursive relation) that </a:t>
            </a:r>
            <a:r>
              <a:rPr lang="en-US" sz="2400" dirty="0"/>
              <a:t>gives the solution to an instance of the </a:t>
            </a:r>
            <a:r>
              <a:rPr lang="en-US" sz="2400" dirty="0" smtClean="0"/>
              <a:t>problem</a:t>
            </a:r>
            <a:endParaRPr lang="en-US" sz="2400" dirty="0"/>
          </a:p>
          <a:p>
            <a:pPr lvl="1"/>
            <a:r>
              <a:rPr lang="en-US" sz="2400" u="sng" dirty="0">
                <a:solidFill>
                  <a:srgbClr val="0070C0"/>
                </a:solidFill>
              </a:rPr>
              <a:t>Solve</a:t>
            </a:r>
            <a:r>
              <a:rPr lang="en-US" sz="2400" dirty="0"/>
              <a:t> an instance of the problem </a:t>
            </a:r>
            <a:r>
              <a:rPr lang="en-US" sz="2400" u="sng" dirty="0">
                <a:solidFill>
                  <a:srgbClr val="0070C0"/>
                </a:solidFill>
              </a:rPr>
              <a:t>in a bottom-up fashion </a:t>
            </a:r>
            <a:r>
              <a:rPr lang="en-US" sz="2400" dirty="0"/>
              <a:t>by solving smaller instances </a:t>
            </a:r>
            <a:r>
              <a:rPr lang="en-US" sz="2400" dirty="0" smtClean="0"/>
              <a:t>first</a:t>
            </a:r>
            <a:endParaRPr lang="en-US" sz="2400" dirty="0"/>
          </a:p>
          <a:p>
            <a:pPr marL="1828800" lvl="4" indent="0">
              <a:buNone/>
            </a:pPr>
            <a:endParaRPr lang="en-US" dirty="0"/>
          </a:p>
          <a:p>
            <a:r>
              <a:rPr lang="en-US" dirty="0"/>
              <a:t>Dynamic programming </a:t>
            </a:r>
            <a:r>
              <a:rPr lang="en-US" dirty="0" smtClean="0"/>
              <a:t>sometimes </a:t>
            </a:r>
          </a:p>
          <a:p>
            <a:pPr lvl="1"/>
            <a:r>
              <a:rPr lang="en-US" sz="2400" dirty="0" smtClean="0"/>
              <a:t>provide </a:t>
            </a:r>
            <a:r>
              <a:rPr lang="en-US" sz="2400" b="1" u="sng" dirty="0">
                <a:solidFill>
                  <a:srgbClr val="00B050"/>
                </a:solidFill>
              </a:rPr>
              <a:t>an efficient solution </a:t>
            </a:r>
            <a:r>
              <a:rPr lang="en-US" sz="2400" dirty="0"/>
              <a:t>to a problem </a:t>
            </a:r>
            <a:endParaRPr lang="en-US" sz="2400" dirty="0" smtClean="0"/>
          </a:p>
          <a:p>
            <a:pPr lvl="1"/>
            <a:r>
              <a:rPr lang="en-US" sz="2400" dirty="0" smtClean="0"/>
              <a:t>for </a:t>
            </a:r>
            <a:r>
              <a:rPr lang="en-US" sz="2400" dirty="0"/>
              <a:t>which </a:t>
            </a:r>
            <a:r>
              <a:rPr lang="en-US" sz="2400" u="sng" dirty="0">
                <a:solidFill>
                  <a:srgbClr val="C00000"/>
                </a:solidFill>
              </a:rPr>
              <a:t>divide-and-conquer </a:t>
            </a:r>
            <a:r>
              <a:rPr lang="en-US" sz="2400" dirty="0"/>
              <a:t>produces an </a:t>
            </a:r>
            <a:r>
              <a:rPr lang="en-US" sz="2400" u="sng" dirty="0">
                <a:solidFill>
                  <a:srgbClr val="C00000"/>
                </a:solidFill>
              </a:rPr>
              <a:t>exponential </a:t>
            </a:r>
            <a:r>
              <a:rPr lang="en-US" sz="2400" u="sng" dirty="0" smtClean="0">
                <a:solidFill>
                  <a:srgbClr val="C00000"/>
                </a:solidFill>
              </a:rPr>
              <a:t>run-time</a:t>
            </a:r>
            <a:r>
              <a:rPr lang="en-US" sz="2400" dirty="0" smtClean="0">
                <a:solidFill>
                  <a:srgbClr val="C00000"/>
                </a:solidFill>
              </a:rPr>
              <a:t>   </a:t>
            </a:r>
            <a:r>
              <a:rPr lang="tr-TR" sz="2400" dirty="0" smtClean="0">
                <a:solidFill>
                  <a:srgbClr val="C00000"/>
                </a:solidFill>
              </a:rPr>
              <a:t>O(2ⁿ)</a:t>
            </a:r>
            <a:endParaRPr lang="en-US" sz="2400" dirty="0" smtClean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Q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3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41496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36FC-9935-0E49-ADA9-F73DA7F3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7" y="-58161"/>
            <a:ext cx="10515600" cy="606284"/>
          </a:xfrm>
        </p:spPr>
        <p:txBody>
          <a:bodyPr/>
          <a:lstStyle/>
          <a:p>
            <a:r>
              <a:rPr lang="en-US" altLang="en-US" dirty="0"/>
              <a:t>The Binomial Coefficient</a:t>
            </a:r>
            <a:endParaRPr lang="en-QA" dirty="0"/>
          </a:p>
        </p:txBody>
      </p:sp>
      <p:grpSp>
        <p:nvGrpSpPr>
          <p:cNvPr id="4" name="Group 59">
            <a:extLst>
              <a:ext uri="{FF2B5EF4-FFF2-40B4-BE49-F238E27FC236}">
                <a16:creationId xmlns:a16="http://schemas.microsoft.com/office/drawing/2014/main" id="{AA2C9CC6-2C2B-6B40-946C-6858BE0DC9E5}"/>
              </a:ext>
            </a:extLst>
          </p:cNvPr>
          <p:cNvGrpSpPr>
            <a:grpSpLocks/>
          </p:cNvGrpSpPr>
          <p:nvPr/>
        </p:nvGrpSpPr>
        <p:grpSpPr bwMode="auto">
          <a:xfrm>
            <a:off x="2519881" y="4402959"/>
            <a:ext cx="1524000" cy="655638"/>
            <a:chOff x="4608" y="3600"/>
            <a:chExt cx="960" cy="413"/>
          </a:xfrm>
        </p:grpSpPr>
        <p:sp>
          <p:nvSpPr>
            <p:cNvPr id="5" name="Rectangle 60">
              <a:extLst>
                <a:ext uri="{FF2B5EF4-FFF2-40B4-BE49-F238E27FC236}">
                  <a16:creationId xmlns:a16="http://schemas.microsoft.com/office/drawing/2014/main" id="{C8005837-49E2-2A4F-A439-1DFE3D2EA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600"/>
              <a:ext cx="960" cy="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252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10000"/>
                </a:spcAft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</a:rPr>
                <a:t>      </a:t>
              </a:r>
              <a:r>
                <a:rPr lang="en-US" altLang="en-US" sz="2000" i="1" dirty="0">
                  <a:latin typeface="Times New Roman" panose="02020603050405020304" pitchFamily="18" charset="0"/>
                </a:rPr>
                <a:t>n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!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k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! (</a:t>
              </a:r>
              <a:r>
                <a:rPr lang="en-US" altLang="en-US" sz="2000" i="1" dirty="0">
                  <a:latin typeface="Times New Roman" panose="02020603050405020304" pitchFamily="18" charset="0"/>
                </a:rPr>
                <a:t>n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 - </a:t>
              </a:r>
              <a:r>
                <a:rPr lang="en-US" altLang="en-US" sz="2000" i="1" dirty="0">
                  <a:latin typeface="Times New Roman" panose="02020603050405020304" pitchFamily="18" charset="0"/>
                </a:rPr>
                <a:t>k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)!</a:t>
              </a:r>
            </a:p>
          </p:txBody>
        </p:sp>
        <p:sp>
          <p:nvSpPr>
            <p:cNvPr id="6" name="Line 61">
              <a:extLst>
                <a:ext uri="{FF2B5EF4-FFF2-40B4-BE49-F238E27FC236}">
                  <a16:creationId xmlns:a16="http://schemas.microsoft.com/office/drawing/2014/main" id="{2643AAB6-7DB2-0C4D-BE11-83907CABD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786"/>
              <a:ext cx="67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62">
            <a:extLst>
              <a:ext uri="{FF2B5EF4-FFF2-40B4-BE49-F238E27FC236}">
                <a16:creationId xmlns:a16="http://schemas.microsoft.com/office/drawing/2014/main" id="{2D142FCD-C9FF-A54E-9BB6-528931AB874E}"/>
              </a:ext>
            </a:extLst>
          </p:cNvPr>
          <p:cNvGrpSpPr>
            <a:grpSpLocks/>
          </p:cNvGrpSpPr>
          <p:nvPr/>
        </p:nvGrpSpPr>
        <p:grpSpPr bwMode="auto">
          <a:xfrm>
            <a:off x="1529281" y="4312523"/>
            <a:ext cx="381000" cy="728663"/>
            <a:chOff x="960" y="912"/>
            <a:chExt cx="240" cy="459"/>
          </a:xfrm>
        </p:grpSpPr>
        <p:sp>
          <p:nvSpPr>
            <p:cNvPr id="8" name="AutoShape 63">
              <a:extLst>
                <a:ext uri="{FF2B5EF4-FFF2-40B4-BE49-F238E27FC236}">
                  <a16:creationId xmlns:a16="http://schemas.microsoft.com/office/drawing/2014/main" id="{7243632B-E6E3-2541-A061-814BBCEA2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60"/>
              <a:ext cx="240" cy="384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800"/>
            </a:p>
          </p:txBody>
        </p:sp>
        <p:sp>
          <p:nvSpPr>
            <p:cNvPr id="9" name="Text Box 64">
              <a:extLst>
                <a:ext uri="{FF2B5EF4-FFF2-40B4-BE49-F238E27FC236}">
                  <a16:creationId xmlns:a16="http://schemas.microsoft.com/office/drawing/2014/main" id="{5DACBDE2-7E07-1842-ABD7-31937BA9B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912"/>
              <a:ext cx="141" cy="4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 rIns="540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sp>
        <p:nvSpPr>
          <p:cNvPr id="10" name="Text Box 66">
            <a:extLst>
              <a:ext uri="{FF2B5EF4-FFF2-40B4-BE49-F238E27FC236}">
                <a16:creationId xmlns:a16="http://schemas.microsoft.com/office/drawing/2014/main" id="{3ED5DCA9-BD9D-6C4C-AEBB-394CB4CDC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1992" y="4451946"/>
            <a:ext cx="15052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For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1" name="Text Box 67">
            <a:extLst>
              <a:ext uri="{FF2B5EF4-FFF2-40B4-BE49-F238E27FC236}">
                <a16:creationId xmlns:a16="http://schemas.microsoft.com/office/drawing/2014/main" id="{D74BF809-15ED-694D-AA66-96DF8AA32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681" y="4464921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4917" y="750626"/>
            <a:ext cx="1107373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W</a:t>
            </a:r>
            <a:r>
              <a:rPr lang="en-US" sz="2200" dirty="0" smtClean="0"/>
              <a:t>idely </a:t>
            </a:r>
            <a:r>
              <a:rPr lang="en-US" sz="2200" dirty="0"/>
              <a:t>used in </a:t>
            </a:r>
            <a:r>
              <a:rPr lang="en-US" sz="2200" b="1" u="sng" dirty="0">
                <a:solidFill>
                  <a:srgbClr val="0070C0"/>
                </a:solidFill>
              </a:rPr>
              <a:t>mathematics</a:t>
            </a:r>
            <a:r>
              <a:rPr lang="en-US" sz="2200" dirty="0"/>
              <a:t> and </a:t>
            </a:r>
            <a:r>
              <a:rPr lang="en-US" sz="2200" b="1" u="sng" dirty="0" smtClean="0">
                <a:solidFill>
                  <a:srgbClr val="0070C0"/>
                </a:solidFill>
              </a:rPr>
              <a:t>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Defined </a:t>
            </a:r>
            <a:r>
              <a:rPr lang="en-US" sz="2200" dirty="0"/>
              <a:t>as </a:t>
            </a:r>
            <a:r>
              <a:rPr lang="en-US" sz="2200" b="1" u="sng" dirty="0"/>
              <a:t>the number of ways </a:t>
            </a:r>
            <a:r>
              <a:rPr lang="en-US" sz="2200" dirty="0"/>
              <a:t>of choosing </a:t>
            </a:r>
            <a:r>
              <a:rPr lang="en-US" sz="2200" dirty="0">
                <a:solidFill>
                  <a:srgbClr val="C00000"/>
                </a:solidFill>
              </a:rPr>
              <a:t>k</a:t>
            </a:r>
            <a:r>
              <a:rPr lang="en-US" sz="2200" dirty="0" smtClean="0">
                <a:solidFill>
                  <a:srgbClr val="C00000"/>
                </a:solidFill>
              </a:rPr>
              <a:t> </a:t>
            </a:r>
            <a:r>
              <a:rPr lang="en-US" sz="2200" dirty="0"/>
              <a:t>objects out of </a:t>
            </a:r>
            <a:r>
              <a:rPr lang="en-US" sz="2200" dirty="0">
                <a:solidFill>
                  <a:srgbClr val="0070C0"/>
                </a:solidFill>
              </a:rPr>
              <a:t>n</a:t>
            </a:r>
            <a:r>
              <a:rPr lang="en-US" sz="2200" dirty="0"/>
              <a:t> without regard to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The number </a:t>
            </a:r>
            <a:r>
              <a:rPr lang="en-US" sz="2200" dirty="0"/>
              <a:t>of combinations of</a:t>
            </a:r>
            <a:r>
              <a:rPr lang="en-US" sz="2200" b="1" dirty="0"/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k </a:t>
            </a:r>
            <a:r>
              <a:rPr lang="en-US" sz="2200" dirty="0">
                <a:solidFill>
                  <a:srgbClr val="C00000"/>
                </a:solidFill>
              </a:rPr>
              <a:t>items </a:t>
            </a:r>
            <a:r>
              <a:rPr lang="en-US" sz="2200" dirty="0"/>
              <a:t>that can be selected from a set of </a:t>
            </a:r>
            <a:r>
              <a:rPr lang="en-US" sz="2200" b="1" dirty="0">
                <a:solidFill>
                  <a:srgbClr val="0070C0"/>
                </a:solidFill>
              </a:rPr>
              <a:t>n</a:t>
            </a:r>
            <a:r>
              <a:rPr lang="en-US" sz="2200" dirty="0"/>
              <a:t> </a:t>
            </a:r>
            <a:r>
              <a:rPr lang="en-US" sz="2200" dirty="0" smtClean="0"/>
              <a:t>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If </a:t>
            </a:r>
            <a:r>
              <a:rPr lang="en-US" sz="2200" dirty="0"/>
              <a:t>there are </a:t>
            </a:r>
            <a:r>
              <a:rPr lang="en-US" sz="2200" b="1" u="sng" dirty="0">
                <a:solidFill>
                  <a:srgbClr val="00B050"/>
                </a:solidFill>
              </a:rPr>
              <a:t>10 </a:t>
            </a:r>
            <a:r>
              <a:rPr lang="en-US" sz="2200" b="1" u="sng" dirty="0" smtClean="0">
                <a:solidFill>
                  <a:srgbClr val="00B050"/>
                </a:solidFill>
              </a:rPr>
              <a:t>countries </a:t>
            </a:r>
            <a:r>
              <a:rPr lang="en-US" sz="2200" dirty="0"/>
              <a:t>on a map to choose from, and I commit to </a:t>
            </a:r>
            <a:r>
              <a:rPr lang="en-US" sz="2200" b="1" u="sng" dirty="0">
                <a:solidFill>
                  <a:srgbClr val="00B050"/>
                </a:solidFill>
              </a:rPr>
              <a:t>visiting only 3 </a:t>
            </a:r>
            <a:r>
              <a:rPr lang="en-US" sz="2200" dirty="0"/>
              <a:t>of them, then n would equal 10, and k would equal </a:t>
            </a:r>
            <a:r>
              <a:rPr lang="en-US" sz="2200" dirty="0" smtClean="0"/>
              <a:t>3. Result is </a:t>
            </a:r>
            <a:r>
              <a:rPr lang="en-US" sz="2200" b="1" dirty="0" smtClean="0"/>
              <a:t>120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There are          = 6 ways to choose 2 elements from {1,2,3,4}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200" dirty="0" smtClean="0"/>
              <a:t>     Namely </a:t>
            </a:r>
            <a:r>
              <a:rPr lang="en-US" sz="2200" dirty="0" smtClean="0">
                <a:solidFill>
                  <a:srgbClr val="0070C0"/>
                </a:solidFill>
              </a:rPr>
              <a:t>{1,2}, {1,3}, {1,4}, {2,3}, {2,4}, {3,4}</a:t>
            </a:r>
          </a:p>
          <a:p>
            <a:r>
              <a:rPr lang="en-US" sz="2200" dirty="0" smtClean="0"/>
              <a:t>                        </a:t>
            </a:r>
            <a:endParaRPr lang="en-US" sz="2200" dirty="0"/>
          </a:p>
        </p:txBody>
      </p:sp>
      <p:grpSp>
        <p:nvGrpSpPr>
          <p:cNvPr id="72" name="Group 62">
            <a:extLst>
              <a:ext uri="{FF2B5EF4-FFF2-40B4-BE49-F238E27FC236}">
                <a16:creationId xmlns:a16="http://schemas.microsoft.com/office/drawing/2014/main" id="{2D142FCD-C9FF-A54E-9BB6-528931AB874E}"/>
              </a:ext>
            </a:extLst>
          </p:cNvPr>
          <p:cNvGrpSpPr>
            <a:grpSpLocks/>
          </p:cNvGrpSpPr>
          <p:nvPr/>
        </p:nvGrpSpPr>
        <p:grpSpPr bwMode="auto">
          <a:xfrm>
            <a:off x="2261119" y="2634043"/>
            <a:ext cx="381000" cy="800101"/>
            <a:chOff x="960" y="912"/>
            <a:chExt cx="240" cy="504"/>
          </a:xfrm>
        </p:grpSpPr>
        <p:sp>
          <p:nvSpPr>
            <p:cNvPr id="74" name="AutoShape 63">
              <a:extLst>
                <a:ext uri="{FF2B5EF4-FFF2-40B4-BE49-F238E27FC236}">
                  <a16:creationId xmlns:a16="http://schemas.microsoft.com/office/drawing/2014/main" id="{7243632B-E6E3-2541-A061-814BBCEA2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60"/>
              <a:ext cx="240" cy="384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800"/>
            </a:p>
          </p:txBody>
        </p:sp>
        <p:sp>
          <p:nvSpPr>
            <p:cNvPr id="75" name="Text Box 64">
              <a:extLst>
                <a:ext uri="{FF2B5EF4-FFF2-40B4-BE49-F238E27FC236}">
                  <a16:creationId xmlns:a16="http://schemas.microsoft.com/office/drawing/2014/main" id="{5DACBDE2-7E07-1842-ABD7-31937BA9B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912"/>
              <a:ext cx="149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 rIns="540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20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037" y="2284078"/>
            <a:ext cx="3299418" cy="263804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4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99693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36FC-9935-0E49-ADA9-F73DA7F3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7" y="-58161"/>
            <a:ext cx="10515600" cy="606284"/>
          </a:xfrm>
        </p:spPr>
        <p:txBody>
          <a:bodyPr/>
          <a:lstStyle/>
          <a:p>
            <a:r>
              <a:rPr lang="en-US" altLang="en-US" dirty="0"/>
              <a:t>The Binomial Coefficient</a:t>
            </a:r>
            <a:endParaRPr lang="en-Q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A006F-3524-6C49-BC75-30789C061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6" y="797417"/>
            <a:ext cx="10900123" cy="5929203"/>
          </a:xfrm>
        </p:spPr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en-US" altLang="en-US" b="1" u="sng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Binomial Coefficient</a:t>
            </a:r>
          </a:p>
          <a:p>
            <a:pPr>
              <a:lnSpc>
                <a:spcPct val="80000"/>
              </a:lnSpc>
            </a:pP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>
              <a:lnSpc>
                <a:spcPct val="80000"/>
              </a:lnSpc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ts val="2400"/>
              </a:spcBef>
            </a:pPr>
            <a:endParaRPr lang="en-US" alt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spcBef>
                <a:spcPts val="2400"/>
              </a:spcBef>
            </a:pPr>
            <a:r>
              <a:rPr lang="en-US" alt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Computing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en-US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binomial coefficient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by directly applying the above definition </a:t>
            </a:r>
            <a:r>
              <a:rPr lang="en-US" altLang="en-US" b="1" u="sng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not </a:t>
            </a:r>
            <a:r>
              <a:rPr lang="en-US" altLang="en-US" b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possible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for large values of </a:t>
            </a:r>
            <a:r>
              <a:rPr lang="en-US" alt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, because </a:t>
            </a:r>
            <a:r>
              <a:rPr lang="en-US" alt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is very large even for moderate values of </a:t>
            </a:r>
            <a:r>
              <a:rPr lang="en-US" altLang="en-US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8800" lvl="4" indent="0">
              <a:lnSpc>
                <a:spcPct val="80000"/>
              </a:lnSpc>
              <a:buNone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u="sng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Recursive </a:t>
            </a:r>
            <a:r>
              <a:rPr lang="en-US" altLang="en-US" u="sng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property</a:t>
            </a:r>
            <a:endParaRPr lang="en-US" altLang="en-US" u="sng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					</a:t>
            </a:r>
          </a:p>
          <a:p>
            <a:pPr>
              <a:lnSpc>
                <a:spcPct val="80000"/>
              </a:lnSpc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endParaRPr lang="en-US" alt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Proof is provided in the textbook and requires several steps!</a:t>
            </a:r>
            <a:endParaRPr lang="en-US" alt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can </a:t>
            </a:r>
            <a:r>
              <a:rPr lang="en-US" altLang="en-US" u="sng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eliminate the need to compute </a:t>
            </a:r>
            <a:r>
              <a:rPr lang="en-US" altLang="en-US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u="sng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 or </a:t>
            </a:r>
            <a:r>
              <a:rPr lang="en-US" altLang="en-US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! by using </a:t>
            </a:r>
            <a:r>
              <a:rPr lang="en-US" altLang="en-US" u="sng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recursive </a:t>
            </a:r>
            <a:r>
              <a:rPr lang="en-US" altLang="en-US" u="sng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property</a:t>
            </a:r>
            <a:endParaRPr lang="en-US" altLang="en-US" u="sng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None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QA" dirty="0"/>
          </a:p>
        </p:txBody>
      </p:sp>
      <p:grpSp>
        <p:nvGrpSpPr>
          <p:cNvPr id="4" name="Group 59">
            <a:extLst>
              <a:ext uri="{FF2B5EF4-FFF2-40B4-BE49-F238E27FC236}">
                <a16:creationId xmlns:a16="http://schemas.microsoft.com/office/drawing/2014/main" id="{AA2C9CC6-2C2B-6B40-946C-6858BE0DC9E5}"/>
              </a:ext>
            </a:extLst>
          </p:cNvPr>
          <p:cNvGrpSpPr>
            <a:grpSpLocks/>
          </p:cNvGrpSpPr>
          <p:nvPr/>
        </p:nvGrpSpPr>
        <p:grpSpPr bwMode="auto">
          <a:xfrm>
            <a:off x="5079551" y="1611666"/>
            <a:ext cx="1524000" cy="655638"/>
            <a:chOff x="4608" y="3600"/>
            <a:chExt cx="960" cy="413"/>
          </a:xfrm>
        </p:grpSpPr>
        <p:sp>
          <p:nvSpPr>
            <p:cNvPr id="5" name="Rectangle 60">
              <a:extLst>
                <a:ext uri="{FF2B5EF4-FFF2-40B4-BE49-F238E27FC236}">
                  <a16:creationId xmlns:a16="http://schemas.microsoft.com/office/drawing/2014/main" id="{C8005837-49E2-2A4F-A439-1DFE3D2EA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600"/>
              <a:ext cx="960" cy="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252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10000"/>
                </a:spcAft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</a:rPr>
                <a:t>      </a:t>
              </a:r>
              <a:r>
                <a:rPr lang="en-US" altLang="en-US" sz="2000" i="1" dirty="0">
                  <a:latin typeface="Times New Roman" panose="02020603050405020304" pitchFamily="18" charset="0"/>
                </a:rPr>
                <a:t>n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!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k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! (</a:t>
              </a:r>
              <a:r>
                <a:rPr lang="en-US" altLang="en-US" sz="2000" i="1" dirty="0">
                  <a:latin typeface="Times New Roman" panose="02020603050405020304" pitchFamily="18" charset="0"/>
                </a:rPr>
                <a:t>n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 - </a:t>
              </a:r>
              <a:r>
                <a:rPr lang="en-US" altLang="en-US" sz="2000" i="1" dirty="0">
                  <a:latin typeface="Times New Roman" panose="02020603050405020304" pitchFamily="18" charset="0"/>
                </a:rPr>
                <a:t>k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)!</a:t>
              </a:r>
            </a:p>
          </p:txBody>
        </p:sp>
        <p:sp>
          <p:nvSpPr>
            <p:cNvPr id="6" name="Line 61">
              <a:extLst>
                <a:ext uri="{FF2B5EF4-FFF2-40B4-BE49-F238E27FC236}">
                  <a16:creationId xmlns:a16="http://schemas.microsoft.com/office/drawing/2014/main" id="{2643AAB6-7DB2-0C4D-BE11-83907CABD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786"/>
              <a:ext cx="67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62">
            <a:extLst>
              <a:ext uri="{FF2B5EF4-FFF2-40B4-BE49-F238E27FC236}">
                <a16:creationId xmlns:a16="http://schemas.microsoft.com/office/drawing/2014/main" id="{2D142FCD-C9FF-A54E-9BB6-528931AB874E}"/>
              </a:ext>
            </a:extLst>
          </p:cNvPr>
          <p:cNvGrpSpPr>
            <a:grpSpLocks/>
          </p:cNvGrpSpPr>
          <p:nvPr/>
        </p:nvGrpSpPr>
        <p:grpSpPr bwMode="auto">
          <a:xfrm>
            <a:off x="4088951" y="1521230"/>
            <a:ext cx="381000" cy="728663"/>
            <a:chOff x="960" y="912"/>
            <a:chExt cx="240" cy="459"/>
          </a:xfrm>
        </p:grpSpPr>
        <p:sp>
          <p:nvSpPr>
            <p:cNvPr id="8" name="AutoShape 63">
              <a:extLst>
                <a:ext uri="{FF2B5EF4-FFF2-40B4-BE49-F238E27FC236}">
                  <a16:creationId xmlns:a16="http://schemas.microsoft.com/office/drawing/2014/main" id="{7243632B-E6E3-2541-A061-814BBCEA2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60"/>
              <a:ext cx="240" cy="384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800"/>
            </a:p>
          </p:txBody>
        </p:sp>
        <p:sp>
          <p:nvSpPr>
            <p:cNvPr id="9" name="Text Box 64">
              <a:extLst>
                <a:ext uri="{FF2B5EF4-FFF2-40B4-BE49-F238E27FC236}">
                  <a16:creationId xmlns:a16="http://schemas.microsoft.com/office/drawing/2014/main" id="{5DACBDE2-7E07-1842-ABD7-31937BA9B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912"/>
              <a:ext cx="141" cy="4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 rIns="540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sp>
        <p:nvSpPr>
          <p:cNvPr id="10" name="Text Box 66">
            <a:extLst>
              <a:ext uri="{FF2B5EF4-FFF2-40B4-BE49-F238E27FC236}">
                <a16:creationId xmlns:a16="http://schemas.microsoft.com/office/drawing/2014/main" id="{3ED5DCA9-BD9D-6C4C-AEBB-394CB4CDC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662" y="1660653"/>
            <a:ext cx="15052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For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1" name="Text Box 67">
            <a:extLst>
              <a:ext uri="{FF2B5EF4-FFF2-40B4-BE49-F238E27FC236}">
                <a16:creationId xmlns:a16="http://schemas.microsoft.com/office/drawing/2014/main" id="{D74BF809-15ED-694D-AA66-96DF8AA32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351" y="1673628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grpSp>
        <p:nvGrpSpPr>
          <p:cNvPr id="42" name="Group 97">
            <a:extLst>
              <a:ext uri="{FF2B5EF4-FFF2-40B4-BE49-F238E27FC236}">
                <a16:creationId xmlns:a16="http://schemas.microsoft.com/office/drawing/2014/main" id="{5414513D-546D-3047-9005-E9730CB9EA86}"/>
              </a:ext>
            </a:extLst>
          </p:cNvPr>
          <p:cNvGrpSpPr>
            <a:grpSpLocks/>
          </p:cNvGrpSpPr>
          <p:nvPr/>
        </p:nvGrpSpPr>
        <p:grpSpPr bwMode="auto">
          <a:xfrm>
            <a:off x="846117" y="4057900"/>
            <a:ext cx="1358900" cy="766763"/>
            <a:chOff x="1056" y="2755"/>
            <a:chExt cx="856" cy="483"/>
          </a:xfrm>
        </p:grpSpPr>
        <p:sp>
          <p:nvSpPr>
            <p:cNvPr id="43" name="Rectangle 68">
              <a:extLst>
                <a:ext uri="{FF2B5EF4-FFF2-40B4-BE49-F238E27FC236}">
                  <a16:creationId xmlns:a16="http://schemas.microsoft.com/office/drawing/2014/main" id="{24ABA958-D84E-3647-8345-376350036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784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4" name="Rectangle 69">
              <a:extLst>
                <a:ext uri="{FF2B5EF4-FFF2-40B4-BE49-F238E27FC236}">
                  <a16:creationId xmlns:a16="http://schemas.microsoft.com/office/drawing/2014/main" id="{5850E922-047B-DF4B-94B3-0E054C101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97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5" name="Rectangle 70">
              <a:extLst>
                <a:ext uri="{FF2B5EF4-FFF2-40B4-BE49-F238E27FC236}">
                  <a16:creationId xmlns:a16="http://schemas.microsoft.com/office/drawing/2014/main" id="{6FE8E9C4-5372-0048-BF4B-E1DD4892B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755"/>
              <a:ext cx="233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6" name="Rectangle 71">
              <a:extLst>
                <a:ext uri="{FF2B5EF4-FFF2-40B4-BE49-F238E27FC236}">
                  <a16:creationId xmlns:a16="http://schemas.microsoft.com/office/drawing/2014/main" id="{B8FA4C85-47ED-F64B-B50A-E9907A100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755"/>
              <a:ext cx="242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47" name="Rectangle 72">
              <a:extLst>
                <a:ext uri="{FF2B5EF4-FFF2-40B4-BE49-F238E27FC236}">
                  <a16:creationId xmlns:a16="http://schemas.microsoft.com/office/drawing/2014/main" id="{43A5014F-0B66-174E-BC5B-D6B638674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80"/>
              <a:ext cx="3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1" dirty="0">
                  <a:latin typeface="Times New Roman" panose="02020603050405020304" pitchFamily="18" charset="0"/>
                </a:rPr>
                <a:t>= 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48" name="Group 73">
            <a:extLst>
              <a:ext uri="{FF2B5EF4-FFF2-40B4-BE49-F238E27FC236}">
                <a16:creationId xmlns:a16="http://schemas.microsoft.com/office/drawing/2014/main" id="{6AF84A8E-F941-A24F-B830-466A1BA5E6CA}"/>
              </a:ext>
            </a:extLst>
          </p:cNvPr>
          <p:cNvGrpSpPr>
            <a:grpSpLocks/>
          </p:cNvGrpSpPr>
          <p:nvPr/>
        </p:nvGrpSpPr>
        <p:grpSpPr bwMode="auto">
          <a:xfrm>
            <a:off x="2674917" y="4057900"/>
            <a:ext cx="1435100" cy="766763"/>
            <a:chOff x="2247" y="922"/>
            <a:chExt cx="904" cy="483"/>
          </a:xfrm>
        </p:grpSpPr>
        <p:grpSp>
          <p:nvGrpSpPr>
            <p:cNvPr id="49" name="Group 74">
              <a:extLst>
                <a:ext uri="{FF2B5EF4-FFF2-40B4-BE49-F238E27FC236}">
                  <a16:creationId xmlns:a16="http://schemas.microsoft.com/office/drawing/2014/main" id="{BB9DC11B-A0C2-0A40-B998-A7CC064BCF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7" y="922"/>
              <a:ext cx="569" cy="483"/>
              <a:chOff x="2247" y="922"/>
              <a:chExt cx="569" cy="483"/>
            </a:xfrm>
          </p:grpSpPr>
          <p:sp>
            <p:nvSpPr>
              <p:cNvPr id="51" name="Rectangle 75">
                <a:extLst>
                  <a:ext uri="{FF2B5EF4-FFF2-40B4-BE49-F238E27FC236}">
                    <a16:creationId xmlns:a16="http://schemas.microsoft.com/office/drawing/2014/main" id="{964B796F-95D8-9940-99EE-F779DCEC4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951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52" name="Rectangle 76">
                <a:extLst>
                  <a:ext uri="{FF2B5EF4-FFF2-40B4-BE49-F238E27FC236}">
                    <a16:creationId xmlns:a16="http://schemas.microsoft.com/office/drawing/2014/main" id="{D02B8DC7-5E72-074E-A041-53940A0EC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1143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53" name="Rectangle 77">
                <a:extLst>
                  <a:ext uri="{FF2B5EF4-FFF2-40B4-BE49-F238E27FC236}">
                    <a16:creationId xmlns:a16="http://schemas.microsoft.com/office/drawing/2014/main" id="{30897668-2F6D-AA43-B5E0-73F2D21936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3" y="922"/>
                <a:ext cx="233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54" name="Rectangle 78">
                <a:extLst>
                  <a:ext uri="{FF2B5EF4-FFF2-40B4-BE49-F238E27FC236}">
                    <a16:creationId xmlns:a16="http://schemas.microsoft.com/office/drawing/2014/main" id="{02EAA1DA-55BE-E64D-BF05-3D254AF9C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" y="922"/>
                <a:ext cx="242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 dirty="0">
                    <a:latin typeface="Times New Roman" panose="02020603050405020304" pitchFamily="18" charset="0"/>
                  </a:rPr>
                  <a:t>(</a:t>
                </a:r>
              </a:p>
            </p:txBody>
          </p:sp>
        </p:grp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3698476A-E2C9-364E-A179-D279BF148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1047"/>
              <a:ext cx="3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1" dirty="0">
                  <a:latin typeface="Times New Roman" panose="02020603050405020304" pitchFamily="18" charset="0"/>
                </a:rPr>
                <a:t>= 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55" name="Group 80">
            <a:extLst>
              <a:ext uri="{FF2B5EF4-FFF2-40B4-BE49-F238E27FC236}">
                <a16:creationId xmlns:a16="http://schemas.microsoft.com/office/drawing/2014/main" id="{40014EF2-4227-FA41-80DD-45DA1FB5B73A}"/>
              </a:ext>
            </a:extLst>
          </p:cNvPr>
          <p:cNvGrpSpPr>
            <a:grpSpLocks/>
          </p:cNvGrpSpPr>
          <p:nvPr/>
        </p:nvGrpSpPr>
        <p:grpSpPr bwMode="auto">
          <a:xfrm>
            <a:off x="829789" y="4898590"/>
            <a:ext cx="979488" cy="766762"/>
            <a:chOff x="1095" y="1402"/>
            <a:chExt cx="617" cy="483"/>
          </a:xfrm>
        </p:grpSpPr>
        <p:sp>
          <p:nvSpPr>
            <p:cNvPr id="56" name="Rectangle 81">
              <a:extLst>
                <a:ext uri="{FF2B5EF4-FFF2-40B4-BE49-F238E27FC236}">
                  <a16:creationId xmlns:a16="http://schemas.microsoft.com/office/drawing/2014/main" id="{33844EFF-A0AB-394E-9E2E-5B8CA5AC3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1431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57" name="Rectangle 82">
              <a:extLst>
                <a:ext uri="{FF2B5EF4-FFF2-40B4-BE49-F238E27FC236}">
                  <a16:creationId xmlns:a16="http://schemas.microsoft.com/office/drawing/2014/main" id="{BB0C0F92-2E7B-A043-8C6E-52994155D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162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58" name="Rectangle 83">
              <a:extLst>
                <a:ext uri="{FF2B5EF4-FFF2-40B4-BE49-F238E27FC236}">
                  <a16:creationId xmlns:a16="http://schemas.microsoft.com/office/drawing/2014/main" id="{7EE8424B-7DFC-B04E-AEA0-3A661B884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1402"/>
              <a:ext cx="233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9" name="Rectangle 84">
              <a:extLst>
                <a:ext uri="{FF2B5EF4-FFF2-40B4-BE49-F238E27FC236}">
                  <a16:creationId xmlns:a16="http://schemas.microsoft.com/office/drawing/2014/main" id="{3F08E63E-BD31-6040-B690-4EC0D2857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1402"/>
              <a:ext cx="242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Times New Roman" panose="02020603050405020304" pitchFamily="18" charset="0"/>
                </a:rPr>
                <a:t>(</a:t>
              </a:r>
            </a:p>
          </p:txBody>
        </p:sp>
      </p:grpSp>
      <p:sp>
        <p:nvSpPr>
          <p:cNvPr id="60" name="Rectangle 85">
            <a:extLst>
              <a:ext uri="{FF2B5EF4-FFF2-40B4-BE49-F238E27FC236}">
                <a16:creationId xmlns:a16="http://schemas.microsoft.com/office/drawing/2014/main" id="{3D2E50C8-36FF-D042-A479-A1A6CE642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189" y="5097027"/>
            <a:ext cx="39273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= </a:t>
            </a:r>
          </a:p>
        </p:txBody>
      </p:sp>
      <p:grpSp>
        <p:nvGrpSpPr>
          <p:cNvPr id="61" name="Group 86">
            <a:extLst>
              <a:ext uri="{FF2B5EF4-FFF2-40B4-BE49-F238E27FC236}">
                <a16:creationId xmlns:a16="http://schemas.microsoft.com/office/drawing/2014/main" id="{758E546D-3355-1D4B-B412-104E783A04F8}"/>
              </a:ext>
            </a:extLst>
          </p:cNvPr>
          <p:cNvGrpSpPr>
            <a:grpSpLocks/>
          </p:cNvGrpSpPr>
          <p:nvPr/>
        </p:nvGrpSpPr>
        <p:grpSpPr bwMode="auto">
          <a:xfrm>
            <a:off x="2125189" y="4898590"/>
            <a:ext cx="1208088" cy="766762"/>
            <a:chOff x="1911" y="1402"/>
            <a:chExt cx="761" cy="483"/>
          </a:xfrm>
        </p:grpSpPr>
        <p:sp>
          <p:nvSpPr>
            <p:cNvPr id="62" name="Rectangle 87">
              <a:extLst>
                <a:ext uri="{FF2B5EF4-FFF2-40B4-BE49-F238E27FC236}">
                  <a16:creationId xmlns:a16="http://schemas.microsoft.com/office/drawing/2014/main" id="{2FF3B904-7CDB-674F-B1C5-C86DA78A8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1431"/>
              <a:ext cx="4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n - 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3" name="Rectangle 88">
              <a:extLst>
                <a:ext uri="{FF2B5EF4-FFF2-40B4-BE49-F238E27FC236}">
                  <a16:creationId xmlns:a16="http://schemas.microsoft.com/office/drawing/2014/main" id="{BB8E06E9-036F-D84E-BB4B-C32A23C67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623"/>
              <a:ext cx="41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k - 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4" name="Rectangle 89">
              <a:extLst>
                <a:ext uri="{FF2B5EF4-FFF2-40B4-BE49-F238E27FC236}">
                  <a16:creationId xmlns:a16="http://schemas.microsoft.com/office/drawing/2014/main" id="{0237B370-F1A5-F54F-99E6-4E72C0545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1402"/>
              <a:ext cx="233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5" name="Rectangle 90">
              <a:extLst>
                <a:ext uri="{FF2B5EF4-FFF2-40B4-BE49-F238E27FC236}">
                  <a16:creationId xmlns:a16="http://schemas.microsoft.com/office/drawing/2014/main" id="{76AF78F1-B389-6043-9A33-359A504C2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1" y="1402"/>
              <a:ext cx="242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>
                  <a:latin typeface="Times New Roman" panose="02020603050405020304" pitchFamily="18" charset="0"/>
                </a:rPr>
                <a:t>(</a:t>
              </a:r>
            </a:p>
          </p:txBody>
        </p:sp>
      </p:grpSp>
      <p:grpSp>
        <p:nvGrpSpPr>
          <p:cNvPr id="66" name="Group 91">
            <a:extLst>
              <a:ext uri="{FF2B5EF4-FFF2-40B4-BE49-F238E27FC236}">
                <a16:creationId xmlns:a16="http://schemas.microsoft.com/office/drawing/2014/main" id="{F7BFAC1C-B5E8-5F43-AC76-D595CC095FEC}"/>
              </a:ext>
            </a:extLst>
          </p:cNvPr>
          <p:cNvGrpSpPr>
            <a:grpSpLocks/>
          </p:cNvGrpSpPr>
          <p:nvPr/>
        </p:nvGrpSpPr>
        <p:grpSpPr bwMode="auto">
          <a:xfrm>
            <a:off x="3725390" y="4898590"/>
            <a:ext cx="1208088" cy="766762"/>
            <a:chOff x="2919" y="1402"/>
            <a:chExt cx="761" cy="483"/>
          </a:xfrm>
        </p:grpSpPr>
        <p:sp>
          <p:nvSpPr>
            <p:cNvPr id="67" name="Rectangle 92">
              <a:extLst>
                <a:ext uri="{FF2B5EF4-FFF2-40B4-BE49-F238E27FC236}">
                  <a16:creationId xmlns:a16="http://schemas.microsoft.com/office/drawing/2014/main" id="{39B3BDEB-0953-2343-B0CC-74C150294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2" y="1431"/>
              <a:ext cx="4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n - 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8" name="Rectangle 93">
              <a:extLst>
                <a:ext uri="{FF2B5EF4-FFF2-40B4-BE49-F238E27FC236}">
                  <a16:creationId xmlns:a16="http://schemas.microsoft.com/office/drawing/2014/main" id="{326C648C-3C82-734F-82DA-65ED05513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0" y="162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k</a:t>
              </a:r>
              <a:endParaRPr lang="en-US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9" name="Rectangle 94">
              <a:extLst>
                <a:ext uri="{FF2B5EF4-FFF2-40B4-BE49-F238E27FC236}">
                  <a16:creationId xmlns:a16="http://schemas.microsoft.com/office/drawing/2014/main" id="{49E35D6B-5F88-234C-A8C5-B7AD1FA53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1402"/>
              <a:ext cx="233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0" name="Rectangle 95">
              <a:extLst>
                <a:ext uri="{FF2B5EF4-FFF2-40B4-BE49-F238E27FC236}">
                  <a16:creationId xmlns:a16="http://schemas.microsoft.com/office/drawing/2014/main" id="{22D760F6-0C1B-B145-A0FD-5719C7C75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" y="1402"/>
              <a:ext cx="242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>
                  <a:latin typeface="Times New Roman" panose="02020603050405020304" pitchFamily="18" charset="0"/>
                </a:rPr>
                <a:t>(</a:t>
              </a:r>
            </a:p>
          </p:txBody>
        </p:sp>
      </p:grpSp>
      <p:sp>
        <p:nvSpPr>
          <p:cNvPr id="71" name="Rectangle 96">
            <a:extLst>
              <a:ext uri="{FF2B5EF4-FFF2-40B4-BE49-F238E27FC236}">
                <a16:creationId xmlns:a16="http://schemas.microsoft.com/office/drawing/2014/main" id="{E83102DA-2495-C745-9D01-ABEB0CEA9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0589" y="5097027"/>
            <a:ext cx="39273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+ </a:t>
            </a:r>
          </a:p>
        </p:txBody>
      </p:sp>
      <p:sp>
        <p:nvSpPr>
          <p:cNvPr id="73" name="Right Arrow 72">
            <a:extLst>
              <a:ext uri="{FF2B5EF4-FFF2-40B4-BE49-F238E27FC236}">
                <a16:creationId xmlns:a16="http://schemas.microsoft.com/office/drawing/2014/main" id="{D86BBDFC-5223-8C47-9C0E-480C0B38F5F1}"/>
              </a:ext>
            </a:extLst>
          </p:cNvPr>
          <p:cNvSpPr/>
          <p:nvPr/>
        </p:nvSpPr>
        <p:spPr>
          <a:xfrm>
            <a:off x="4933479" y="4376195"/>
            <a:ext cx="732762" cy="41603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grpSp>
        <p:nvGrpSpPr>
          <p:cNvPr id="90" name="Group 91">
            <a:extLst>
              <a:ext uri="{FF2B5EF4-FFF2-40B4-BE49-F238E27FC236}">
                <a16:creationId xmlns:a16="http://schemas.microsoft.com/office/drawing/2014/main" id="{F7BFAC1C-B5E8-5F43-AC76-D595CC095FEC}"/>
              </a:ext>
            </a:extLst>
          </p:cNvPr>
          <p:cNvGrpSpPr>
            <a:grpSpLocks/>
          </p:cNvGrpSpPr>
          <p:nvPr/>
        </p:nvGrpSpPr>
        <p:grpSpPr bwMode="auto">
          <a:xfrm>
            <a:off x="8814070" y="3926389"/>
            <a:ext cx="1208088" cy="766762"/>
            <a:chOff x="2919" y="1402"/>
            <a:chExt cx="761" cy="483"/>
          </a:xfrm>
        </p:grpSpPr>
        <p:sp>
          <p:nvSpPr>
            <p:cNvPr id="91" name="Rectangle 92">
              <a:extLst>
                <a:ext uri="{FF2B5EF4-FFF2-40B4-BE49-F238E27FC236}">
                  <a16:creationId xmlns:a16="http://schemas.microsoft.com/office/drawing/2014/main" id="{39B3BDEB-0953-2343-B0CC-74C150294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2" y="1431"/>
              <a:ext cx="4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n - 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2" name="Rectangle 93">
              <a:extLst>
                <a:ext uri="{FF2B5EF4-FFF2-40B4-BE49-F238E27FC236}">
                  <a16:creationId xmlns:a16="http://schemas.microsoft.com/office/drawing/2014/main" id="{326C648C-3C82-734F-82DA-65ED05513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0" y="162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k</a:t>
              </a:r>
              <a:endParaRPr lang="en-US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3" name="Rectangle 94">
              <a:extLst>
                <a:ext uri="{FF2B5EF4-FFF2-40B4-BE49-F238E27FC236}">
                  <a16:creationId xmlns:a16="http://schemas.microsoft.com/office/drawing/2014/main" id="{49E35D6B-5F88-234C-A8C5-B7AD1FA53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1402"/>
              <a:ext cx="233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4" name="Rectangle 95">
              <a:extLst>
                <a:ext uri="{FF2B5EF4-FFF2-40B4-BE49-F238E27FC236}">
                  <a16:creationId xmlns:a16="http://schemas.microsoft.com/office/drawing/2014/main" id="{22D760F6-0C1B-B145-A0FD-5719C7C75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" y="1402"/>
              <a:ext cx="242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Times New Roman" panose="02020603050405020304" pitchFamily="18" charset="0"/>
                </a:rPr>
                <a:t>(</a:t>
              </a:r>
            </a:p>
          </p:txBody>
        </p:sp>
      </p:grpSp>
      <p:grpSp>
        <p:nvGrpSpPr>
          <p:cNvPr id="95" name="Group 86">
            <a:extLst>
              <a:ext uri="{FF2B5EF4-FFF2-40B4-BE49-F238E27FC236}">
                <a16:creationId xmlns:a16="http://schemas.microsoft.com/office/drawing/2014/main" id="{758E546D-3355-1D4B-B412-104E783A04F8}"/>
              </a:ext>
            </a:extLst>
          </p:cNvPr>
          <p:cNvGrpSpPr>
            <a:grpSpLocks/>
          </p:cNvGrpSpPr>
          <p:nvPr/>
        </p:nvGrpSpPr>
        <p:grpSpPr bwMode="auto">
          <a:xfrm>
            <a:off x="7141807" y="3992813"/>
            <a:ext cx="1208088" cy="766762"/>
            <a:chOff x="1911" y="1402"/>
            <a:chExt cx="761" cy="483"/>
          </a:xfrm>
        </p:grpSpPr>
        <p:sp>
          <p:nvSpPr>
            <p:cNvPr id="96" name="Rectangle 87">
              <a:extLst>
                <a:ext uri="{FF2B5EF4-FFF2-40B4-BE49-F238E27FC236}">
                  <a16:creationId xmlns:a16="http://schemas.microsoft.com/office/drawing/2014/main" id="{2FF3B904-7CDB-674F-B1C5-C86DA78A8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1431"/>
              <a:ext cx="4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n - 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7" name="Rectangle 88">
              <a:extLst>
                <a:ext uri="{FF2B5EF4-FFF2-40B4-BE49-F238E27FC236}">
                  <a16:creationId xmlns:a16="http://schemas.microsoft.com/office/drawing/2014/main" id="{BB8E06E9-036F-D84E-BB4B-C32A23C67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623"/>
              <a:ext cx="41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k - </a:t>
              </a:r>
              <a:r>
                <a:rPr lang="en-US" altLang="en-US" sz="2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8" name="Rectangle 89">
              <a:extLst>
                <a:ext uri="{FF2B5EF4-FFF2-40B4-BE49-F238E27FC236}">
                  <a16:creationId xmlns:a16="http://schemas.microsoft.com/office/drawing/2014/main" id="{0237B370-F1A5-F54F-99E6-4E72C0545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1402"/>
              <a:ext cx="233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9" name="Rectangle 90">
              <a:extLst>
                <a:ext uri="{FF2B5EF4-FFF2-40B4-BE49-F238E27FC236}">
                  <a16:creationId xmlns:a16="http://schemas.microsoft.com/office/drawing/2014/main" id="{76AF78F1-B389-6043-9A33-359A504C2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1" y="1402"/>
              <a:ext cx="242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Times New Roman" panose="02020603050405020304" pitchFamily="18" charset="0"/>
                </a:rPr>
                <a:t>(</a:t>
              </a:r>
            </a:p>
          </p:txBody>
        </p:sp>
      </p:grpSp>
      <p:sp>
        <p:nvSpPr>
          <p:cNvPr id="100" name="Rectangle 96">
            <a:extLst>
              <a:ext uri="{FF2B5EF4-FFF2-40B4-BE49-F238E27FC236}">
                <a16:creationId xmlns:a16="http://schemas.microsoft.com/office/drawing/2014/main" id="{E83102DA-2495-C745-9D01-ABEB0CEA9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1333" y="4236952"/>
            <a:ext cx="39273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+ </a:t>
            </a:r>
          </a:p>
        </p:txBody>
      </p:sp>
      <p:grpSp>
        <p:nvGrpSpPr>
          <p:cNvPr id="101" name="Group 80">
            <a:extLst>
              <a:ext uri="{FF2B5EF4-FFF2-40B4-BE49-F238E27FC236}">
                <a16:creationId xmlns:a16="http://schemas.microsoft.com/office/drawing/2014/main" id="{40014EF2-4227-FA41-80DD-45DA1FB5B73A}"/>
              </a:ext>
            </a:extLst>
          </p:cNvPr>
          <p:cNvGrpSpPr>
            <a:grpSpLocks/>
          </p:cNvGrpSpPr>
          <p:nvPr/>
        </p:nvGrpSpPr>
        <p:grpSpPr bwMode="auto">
          <a:xfrm>
            <a:off x="5594579" y="4158706"/>
            <a:ext cx="979488" cy="766762"/>
            <a:chOff x="1095" y="1402"/>
            <a:chExt cx="617" cy="483"/>
          </a:xfrm>
        </p:grpSpPr>
        <p:sp>
          <p:nvSpPr>
            <p:cNvPr id="102" name="Rectangle 81">
              <a:extLst>
                <a:ext uri="{FF2B5EF4-FFF2-40B4-BE49-F238E27FC236}">
                  <a16:creationId xmlns:a16="http://schemas.microsoft.com/office/drawing/2014/main" id="{33844EFF-A0AB-394E-9E2E-5B8CA5AC3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1431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03" name="Rectangle 82">
              <a:extLst>
                <a:ext uri="{FF2B5EF4-FFF2-40B4-BE49-F238E27FC236}">
                  <a16:creationId xmlns:a16="http://schemas.microsoft.com/office/drawing/2014/main" id="{BB0C0F92-2E7B-A043-8C6E-52994155D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162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104" name="Rectangle 83">
              <a:extLst>
                <a:ext uri="{FF2B5EF4-FFF2-40B4-BE49-F238E27FC236}">
                  <a16:creationId xmlns:a16="http://schemas.microsoft.com/office/drawing/2014/main" id="{7EE8424B-7DFC-B04E-AEA0-3A661B884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1402"/>
              <a:ext cx="233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05" name="Rectangle 84">
              <a:extLst>
                <a:ext uri="{FF2B5EF4-FFF2-40B4-BE49-F238E27FC236}">
                  <a16:creationId xmlns:a16="http://schemas.microsoft.com/office/drawing/2014/main" id="{3F08E63E-BD31-6040-B690-4EC0D2857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1402"/>
              <a:ext cx="242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Times New Roman" panose="02020603050405020304" pitchFamily="18" charset="0"/>
                </a:rPr>
                <a:t>(</a:t>
              </a:r>
            </a:p>
          </p:txBody>
        </p:sp>
      </p:grpSp>
      <p:sp>
        <p:nvSpPr>
          <p:cNvPr id="106" name="Rectangle 85">
            <a:extLst>
              <a:ext uri="{FF2B5EF4-FFF2-40B4-BE49-F238E27FC236}">
                <a16:creationId xmlns:a16="http://schemas.microsoft.com/office/drawing/2014/main" id="{3D2E50C8-36FF-D042-A479-A1A6CE642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8507" y="4435723"/>
            <a:ext cx="39273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= </a:t>
            </a:r>
          </a:p>
        </p:txBody>
      </p:sp>
      <p:sp>
        <p:nvSpPr>
          <p:cNvPr id="12" name="Left Brace 11"/>
          <p:cNvSpPr/>
          <p:nvPr/>
        </p:nvSpPr>
        <p:spPr>
          <a:xfrm>
            <a:off x="6938106" y="3611046"/>
            <a:ext cx="308701" cy="20352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72">
            <a:extLst>
              <a:ext uri="{FF2B5EF4-FFF2-40B4-BE49-F238E27FC236}">
                <a16:creationId xmlns:a16="http://schemas.microsoft.com/office/drawing/2014/main" id="{43A5014F-0B66-174E-BC5B-D6B638674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452" y="5050989"/>
            <a:ext cx="31098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1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08" name="Text Box 66">
            <a:extLst>
              <a:ext uri="{FF2B5EF4-FFF2-40B4-BE49-F238E27FC236}">
                <a16:creationId xmlns:a16="http://schemas.microsoft.com/office/drawing/2014/main" id="{3ED5DCA9-BD9D-6C4C-AEBB-394CB4CDC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5271" y="5048424"/>
            <a:ext cx="19393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f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or 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= 0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= n</a:t>
            </a:r>
            <a:endParaRPr lang="en-US" altLang="en-US" sz="2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 Box 66">
            <a:extLst>
              <a:ext uri="{FF2B5EF4-FFF2-40B4-BE49-F238E27FC236}">
                <a16:creationId xmlns:a16="http://schemas.microsoft.com/office/drawing/2014/main" id="{3ED5DCA9-BD9D-6C4C-AEBB-394CB4CDC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0684" y="4150387"/>
            <a:ext cx="13943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f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or 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1600" dirty="0">
                <a:solidFill>
                  <a:srgbClr val="0070C0"/>
                </a:solidFill>
              </a:rPr>
              <a:t>&lt;</a:t>
            </a:r>
            <a:r>
              <a:rPr lang="en-US" altLang="en-US" sz="16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&lt;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5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60275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60" grpId="0"/>
      <p:bldP spid="71" grpId="0"/>
      <p:bldP spid="73" grpId="0" animBg="1"/>
      <p:bldP spid="100" grpId="0"/>
      <p:bldP spid="106" grpId="0"/>
      <p:bldP spid="12" grpId="0" animBg="1"/>
      <p:bldP spid="107" grpId="0"/>
      <p:bldP spid="108" grpId="0"/>
      <p:bldP spid="1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39AAC-2DA5-8D4E-B9C5-276A6C432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345" y="32617"/>
            <a:ext cx="10515600" cy="37378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The Binomial Coefficient (cont.)</a:t>
            </a:r>
            <a:endParaRPr lang="en-Q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8DC98-CE09-8F48-AD6E-CECEE008A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544" y="569204"/>
            <a:ext cx="11178969" cy="5994882"/>
          </a:xfrm>
        </p:spPr>
        <p:txBody>
          <a:bodyPr>
            <a:normAutofit lnSpcReduction="10000"/>
          </a:bodyPr>
          <a:lstStyle/>
          <a:p>
            <a:r>
              <a:rPr lang="en-QA" u="sng" dirty="0">
                <a:solidFill>
                  <a:srgbClr val="0070C0"/>
                </a:solidFill>
              </a:rPr>
              <a:t>The recursive property </a:t>
            </a:r>
            <a:r>
              <a:rPr lang="en-US" dirty="0"/>
              <a:t>suggests the following </a:t>
            </a:r>
            <a:r>
              <a:rPr lang="en-US" b="1" u="sng" dirty="0" smtClean="0">
                <a:solidFill>
                  <a:srgbClr val="00B050"/>
                </a:solidFill>
              </a:rPr>
              <a:t>Divide-and-Conquer algorithm</a:t>
            </a:r>
            <a:endParaRPr lang="en-US" b="1" u="sng" dirty="0">
              <a:solidFill>
                <a:srgbClr val="00B050"/>
              </a:solidFill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3.1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Binomial Coefficient Using Divide-and-Conquer</a:t>
            </a: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binomial coefficient.</a:t>
            </a: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nonnegative integers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bin, the binomial coefficient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T</a:t>
            </a:r>
            <a:r>
              <a:rPr lang="en-US" dirty="0" smtClean="0"/>
              <a:t>his </a:t>
            </a:r>
            <a:r>
              <a:rPr lang="en-US" dirty="0"/>
              <a:t>algorithm is </a:t>
            </a:r>
            <a:r>
              <a:rPr lang="en-US" u="sng" dirty="0">
                <a:solidFill>
                  <a:srgbClr val="FF0000"/>
                </a:solidFill>
              </a:rPr>
              <a:t>very </a:t>
            </a:r>
            <a:r>
              <a:rPr lang="en-US" u="sng" dirty="0" smtClean="0">
                <a:solidFill>
                  <a:srgbClr val="FF0000"/>
                </a:solidFill>
              </a:rPr>
              <a:t>inefficient</a:t>
            </a:r>
            <a:endParaRPr lang="en-QA" u="sng" dirty="0">
              <a:solidFill>
                <a:srgbClr val="FF0000"/>
              </a:solidFill>
            </a:endParaRPr>
          </a:p>
        </p:txBody>
      </p:sp>
      <p:grpSp>
        <p:nvGrpSpPr>
          <p:cNvPr id="5" name="Group 62">
            <a:extLst>
              <a:ext uri="{FF2B5EF4-FFF2-40B4-BE49-F238E27FC236}">
                <a16:creationId xmlns:a16="http://schemas.microsoft.com/office/drawing/2014/main" id="{6124716F-ACE4-784A-9A40-125E68EE2FE1}"/>
              </a:ext>
            </a:extLst>
          </p:cNvPr>
          <p:cNvGrpSpPr>
            <a:grpSpLocks/>
          </p:cNvGrpSpPr>
          <p:nvPr/>
        </p:nvGrpSpPr>
        <p:grpSpPr bwMode="auto">
          <a:xfrm>
            <a:off x="5982028" y="2330704"/>
            <a:ext cx="381000" cy="728663"/>
            <a:chOff x="960" y="912"/>
            <a:chExt cx="240" cy="459"/>
          </a:xfrm>
        </p:grpSpPr>
        <p:sp>
          <p:nvSpPr>
            <p:cNvPr id="6" name="AutoShape 63">
              <a:extLst>
                <a:ext uri="{FF2B5EF4-FFF2-40B4-BE49-F238E27FC236}">
                  <a16:creationId xmlns:a16="http://schemas.microsoft.com/office/drawing/2014/main" id="{8A17B989-9AC5-6145-9654-45BB9A2EE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60"/>
              <a:ext cx="240" cy="384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800"/>
            </a:p>
          </p:txBody>
        </p:sp>
        <p:sp>
          <p:nvSpPr>
            <p:cNvPr id="7" name="Text Box 64">
              <a:extLst>
                <a:ext uri="{FF2B5EF4-FFF2-40B4-BE49-F238E27FC236}">
                  <a16:creationId xmlns:a16="http://schemas.microsoft.com/office/drawing/2014/main" id="{211BA4E7-8655-B04C-9903-1A356040B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912"/>
              <a:ext cx="141" cy="4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 rIns="540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534886" y="3222171"/>
            <a:ext cx="7228114" cy="2246769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</a:rPr>
              <a:t>int</a:t>
            </a:r>
            <a:r>
              <a:rPr lang="en-US" sz="2000" dirty="0" smtClean="0"/>
              <a:t> bin (</a:t>
            </a:r>
            <a:r>
              <a:rPr lang="en-US" sz="2000" dirty="0" smtClean="0">
                <a:solidFill>
                  <a:srgbClr val="C00000"/>
                </a:solidFill>
              </a:rPr>
              <a:t>int</a:t>
            </a:r>
            <a:r>
              <a:rPr lang="en-US" sz="2000" dirty="0" smtClean="0"/>
              <a:t> n, </a:t>
            </a:r>
            <a:r>
              <a:rPr lang="en-US" sz="2000" dirty="0" smtClean="0">
                <a:solidFill>
                  <a:srgbClr val="C00000"/>
                </a:solidFill>
              </a:rPr>
              <a:t>int</a:t>
            </a:r>
            <a:r>
              <a:rPr lang="en-US" sz="2000" dirty="0" smtClean="0"/>
              <a:t> k)</a:t>
            </a:r>
          </a:p>
          <a:p>
            <a:r>
              <a:rPr lang="en-US" sz="2000" dirty="0" smtClean="0"/>
              <a:t>{</a:t>
            </a:r>
          </a:p>
          <a:p>
            <a:r>
              <a:rPr lang="en-US" sz="2000" dirty="0"/>
              <a:t>	</a:t>
            </a:r>
            <a:r>
              <a:rPr lang="en-US" sz="2000" dirty="0" smtClean="0">
                <a:solidFill>
                  <a:srgbClr val="C00000"/>
                </a:solidFill>
              </a:rPr>
              <a:t>if </a:t>
            </a:r>
            <a:r>
              <a:rPr lang="en-US" sz="2000" dirty="0" smtClean="0"/>
              <a:t>(k==0 </a:t>
            </a:r>
            <a:r>
              <a:rPr lang="en-US" sz="2000" dirty="0" smtClean="0">
                <a:solidFill>
                  <a:srgbClr val="C00000"/>
                </a:solidFill>
              </a:rPr>
              <a:t>II</a:t>
            </a:r>
            <a:r>
              <a:rPr lang="en-US" sz="2000" dirty="0" smtClean="0"/>
              <a:t> n==k)</a:t>
            </a:r>
          </a:p>
          <a:p>
            <a:r>
              <a:rPr lang="en-US" sz="2000" dirty="0"/>
              <a:t>	 </a:t>
            </a:r>
            <a:r>
              <a:rPr lang="en-US" sz="2000" dirty="0" smtClean="0"/>
              <a:t>       </a:t>
            </a:r>
            <a:r>
              <a:rPr lang="en-US" sz="2000" dirty="0" smtClean="0">
                <a:solidFill>
                  <a:srgbClr val="C00000"/>
                </a:solidFill>
              </a:rPr>
              <a:t>return</a:t>
            </a:r>
            <a:r>
              <a:rPr lang="en-US" sz="2000" dirty="0" smtClean="0"/>
              <a:t> 1;</a:t>
            </a:r>
          </a:p>
          <a:p>
            <a:r>
              <a:rPr lang="en-US" sz="2000" dirty="0"/>
              <a:t>	</a:t>
            </a:r>
            <a:r>
              <a:rPr lang="en-US" sz="2000" dirty="0" smtClean="0">
                <a:solidFill>
                  <a:srgbClr val="C00000"/>
                </a:solidFill>
              </a:rPr>
              <a:t>else</a:t>
            </a:r>
          </a:p>
          <a:p>
            <a:r>
              <a:rPr lang="en-US" sz="2000" dirty="0"/>
              <a:t>	 </a:t>
            </a:r>
            <a:r>
              <a:rPr lang="en-US" sz="2000" dirty="0" smtClean="0"/>
              <a:t>       </a:t>
            </a:r>
            <a:r>
              <a:rPr lang="en-US" sz="2000" dirty="0" smtClean="0">
                <a:solidFill>
                  <a:srgbClr val="C00000"/>
                </a:solidFill>
              </a:rPr>
              <a:t>return</a:t>
            </a:r>
            <a:r>
              <a:rPr lang="en-US" sz="2000" dirty="0" smtClean="0"/>
              <a:t> bin(n-1, k-1) + bin(n-1, k);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}</a:t>
            </a:r>
            <a:endParaRPr lang="en-US" sz="2000" dirty="0"/>
          </a:p>
        </p:txBody>
      </p:sp>
      <p:sp>
        <p:nvSpPr>
          <p:cNvPr id="9" name="Text Box 29"/>
          <p:cNvSpPr txBox="1">
            <a:spLocks noChangeArrowheads="1"/>
          </p:cNvSpPr>
          <p:nvPr/>
        </p:nvSpPr>
        <p:spPr bwMode="auto">
          <a:xfrm>
            <a:off x="8518750" y="1700466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0" name="AutoShape 30"/>
          <p:cNvSpPr>
            <a:spLocks noChangeArrowheads="1"/>
          </p:cNvSpPr>
          <p:nvPr/>
        </p:nvSpPr>
        <p:spPr bwMode="auto">
          <a:xfrm>
            <a:off x="9007700" y="1592516"/>
            <a:ext cx="958850" cy="738188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sp>
        <p:nvSpPr>
          <p:cNvPr id="11" name="Text Box 31"/>
          <p:cNvSpPr txBox="1">
            <a:spLocks noChangeArrowheads="1"/>
          </p:cNvSpPr>
          <p:nvPr/>
        </p:nvSpPr>
        <p:spPr bwMode="auto">
          <a:xfrm>
            <a:off x="9128350" y="1471866"/>
            <a:ext cx="691488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2000" rIns="54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- 1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- 1</a:t>
            </a:r>
          </a:p>
        </p:txBody>
      </p:sp>
      <p:sp>
        <p:nvSpPr>
          <p:cNvPr id="12" name="Text Box 32"/>
          <p:cNvSpPr txBox="1">
            <a:spLocks noChangeArrowheads="1"/>
          </p:cNvSpPr>
          <p:nvPr/>
        </p:nvSpPr>
        <p:spPr bwMode="auto">
          <a:xfrm>
            <a:off x="10118950" y="1700466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3" name="AutoShape 33"/>
          <p:cNvSpPr>
            <a:spLocks noChangeArrowheads="1"/>
          </p:cNvSpPr>
          <p:nvPr/>
        </p:nvSpPr>
        <p:spPr bwMode="auto">
          <a:xfrm>
            <a:off x="10607900" y="1592516"/>
            <a:ext cx="958850" cy="738188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sp>
        <p:nvSpPr>
          <p:cNvPr id="14" name="AutoShape 63">
            <a:extLst>
              <a:ext uri="{FF2B5EF4-FFF2-40B4-BE49-F238E27FC236}">
                <a16:creationId xmlns:a16="http://schemas.microsoft.com/office/drawing/2014/main" id="{8A17B989-9AC5-6145-9654-45BB9A2EE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2170" y="1637964"/>
            <a:ext cx="381000" cy="60960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sp>
        <p:nvSpPr>
          <p:cNvPr id="15" name="Text Box 64">
            <a:extLst>
              <a:ext uri="{FF2B5EF4-FFF2-40B4-BE49-F238E27FC236}">
                <a16:creationId xmlns:a16="http://schemas.microsoft.com/office/drawing/2014/main" id="{211BA4E7-8655-B04C-9903-1A356040B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8359" y="1531356"/>
            <a:ext cx="237295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en-US" sz="20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en-US" sz="20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10762087" y="1490712"/>
            <a:ext cx="691488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2000" rIns="54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- 1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6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70006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310" y="105046"/>
            <a:ext cx="10515600" cy="37378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 Code using </a:t>
            </a:r>
            <a:r>
              <a:rPr lang="en-US" dirty="0" smtClean="0">
                <a:solidFill>
                  <a:srgbClr val="0070C0"/>
                </a:solidFill>
              </a:rPr>
              <a:t>Divide and Conquer </a:t>
            </a:r>
            <a:r>
              <a:rPr lang="en-US" dirty="0" smtClean="0"/>
              <a:t>technique</a:t>
            </a:r>
            <a:endParaRPr lang="tr-TR" dirty="0"/>
          </a:p>
        </p:txBody>
      </p:sp>
      <p:sp useBgFill="1">
        <p:nvSpPr>
          <p:cNvPr id="3" name="Rectangle 2"/>
          <p:cNvSpPr/>
          <p:nvPr/>
        </p:nvSpPr>
        <p:spPr>
          <a:xfrm>
            <a:off x="241736" y="754394"/>
            <a:ext cx="11214539" cy="480131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BinomialCoefficientRecursive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Recursive function to compute C(n, k)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binomialCoeff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Base Cases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0 ||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1;</a:t>
            </a:r>
          </a:p>
          <a:p>
            <a:pPr lvl="2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Recursive relation: C(n, k) = C(n-1, k-1) + C(n-1, k)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binomialCoeff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- 1,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- 1) + 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binomialCoeff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- 1,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Driver code to test the function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4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"C("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",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") =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binomialCoeff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10" y="5673618"/>
            <a:ext cx="2190750" cy="8096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03615" y="5914752"/>
            <a:ext cx="7552660" cy="7078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000" b="1" u="sng" dirty="0"/>
              <a:t>Time Complexity: </a:t>
            </a:r>
            <a:r>
              <a:rPr lang="en-US" sz="2000" b="1" dirty="0">
                <a:solidFill>
                  <a:srgbClr val="FF0000"/>
                </a:solidFill>
              </a:rPr>
              <a:t>𝑂(2</a:t>
            </a:r>
            <a:r>
              <a:rPr lang="en-US" sz="2000" b="1" baseline="30000" dirty="0">
                <a:solidFill>
                  <a:srgbClr val="FF0000"/>
                </a:solidFill>
              </a:rPr>
              <a:t>𝑛</a:t>
            </a:r>
            <a:r>
              <a:rPr lang="en-US" sz="2000" b="1" dirty="0" smtClean="0">
                <a:solidFill>
                  <a:srgbClr val="FF0000"/>
                </a:solidFill>
              </a:rPr>
              <a:t>) </a:t>
            </a:r>
            <a:r>
              <a:rPr lang="en-US" sz="2000" dirty="0" smtClean="0"/>
              <a:t>(i.e., exponential) because </a:t>
            </a:r>
            <a:r>
              <a:rPr lang="en-US" sz="2000" dirty="0"/>
              <a:t>each recursive call generates two more calls, creating a large binary tree.</a:t>
            </a:r>
            <a:endParaRPr lang="tr-TR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7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90112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58595-D1D5-3F4B-88FA-D92177D48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59" y="41276"/>
            <a:ext cx="10515600" cy="742111"/>
          </a:xfrm>
        </p:spPr>
        <p:txBody>
          <a:bodyPr/>
          <a:lstStyle/>
          <a:p>
            <a:r>
              <a:rPr lang="en-US" altLang="en-US" dirty="0"/>
              <a:t>The Binomial Coefficient (cont.)</a:t>
            </a:r>
            <a:endParaRPr lang="en-Q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75ED1-0C27-1742-86F7-F38299EC6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8646"/>
            <a:ext cx="11103429" cy="491831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reason</a:t>
            </a:r>
            <a:r>
              <a:rPr lang="en-US" dirty="0"/>
              <a:t> for the </a:t>
            </a:r>
            <a:r>
              <a:rPr lang="en-US" dirty="0">
                <a:solidFill>
                  <a:srgbClr val="C00000"/>
                </a:solidFill>
              </a:rPr>
              <a:t>inefficiency</a:t>
            </a:r>
            <a:r>
              <a:rPr lang="en-US" dirty="0"/>
              <a:t> is that </a:t>
            </a:r>
            <a:r>
              <a:rPr lang="en-US" b="1" u="sng" dirty="0"/>
              <a:t>same instances are solved in each recursive </a:t>
            </a:r>
            <a:r>
              <a:rPr lang="en-US" b="1" u="sng" dirty="0" smtClean="0"/>
              <a:t>call</a:t>
            </a:r>
            <a:endParaRPr lang="en-US" b="1" u="sng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- 1,   </a:t>
            </a:r>
            <a:r>
              <a:rPr 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- 1) 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- 1,   </a:t>
            </a:r>
            <a:r>
              <a:rPr 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5"/>
            <a:endParaRPr lang="en-US" dirty="0"/>
          </a:p>
          <a:p>
            <a:pPr lvl="1"/>
            <a:r>
              <a:rPr lang="en-US" sz="2400" dirty="0"/>
              <a:t>Thus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-2,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-1) </a:t>
            </a:r>
            <a:r>
              <a:rPr lang="en-US" sz="2400" dirty="0"/>
              <a:t>is solved separately in each recursive call</a:t>
            </a:r>
          </a:p>
          <a:p>
            <a:endParaRPr lang="en-US" dirty="0"/>
          </a:p>
          <a:p>
            <a:endParaRPr lang="en-US" dirty="0"/>
          </a:p>
          <a:p>
            <a:endParaRPr lang="en-QA" dirty="0"/>
          </a:p>
        </p:txBody>
      </p:sp>
      <p:sp>
        <p:nvSpPr>
          <p:cNvPr id="4" name="Rectangle 126">
            <a:extLst>
              <a:ext uri="{FF2B5EF4-FFF2-40B4-BE49-F238E27FC236}">
                <a16:creationId xmlns:a16="http://schemas.microsoft.com/office/drawing/2014/main" id="{14FDE44D-EACB-8D47-93B8-D04001B68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06" y="1962383"/>
            <a:ext cx="443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</a:rPr>
              <a:t>Both need the result of  </a:t>
            </a:r>
            <a:r>
              <a:rPr lang="en-US" alt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- 2,   </a:t>
            </a:r>
            <a:r>
              <a:rPr lang="en-US" alt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AutoShape 127">
            <a:extLst>
              <a:ext uri="{FF2B5EF4-FFF2-40B4-BE49-F238E27FC236}">
                <a16:creationId xmlns:a16="http://schemas.microsoft.com/office/drawing/2014/main" id="{A1B7AE96-AE7E-1943-8A5C-0905C680CA93}"/>
              </a:ext>
            </a:extLst>
          </p:cNvPr>
          <p:cNvSpPr>
            <a:spLocks/>
          </p:cNvSpPr>
          <p:nvPr/>
        </p:nvSpPr>
        <p:spPr bwMode="auto">
          <a:xfrm>
            <a:off x="4271148" y="1758552"/>
            <a:ext cx="169804" cy="836828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C054BE2-F5CC-7E48-8575-7DA49A2F770D}"/>
              </a:ext>
            </a:extLst>
          </p:cNvPr>
          <p:cNvGrpSpPr/>
          <p:nvPr/>
        </p:nvGrpSpPr>
        <p:grpSpPr>
          <a:xfrm>
            <a:off x="3610871" y="3730250"/>
            <a:ext cx="4103688" cy="1476821"/>
            <a:chOff x="3610871" y="3877211"/>
            <a:chExt cx="4103688" cy="1476821"/>
          </a:xfrm>
        </p:grpSpPr>
        <p:grpSp>
          <p:nvGrpSpPr>
            <p:cNvPr id="7" name="Group 95">
              <a:extLst>
                <a:ext uri="{FF2B5EF4-FFF2-40B4-BE49-F238E27FC236}">
                  <a16:creationId xmlns:a16="http://schemas.microsoft.com/office/drawing/2014/main" id="{377CEB16-0AF1-F547-B5F0-80EE72CF29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0871" y="3877211"/>
              <a:ext cx="1358900" cy="766763"/>
              <a:chOff x="1056" y="2755"/>
              <a:chExt cx="856" cy="483"/>
            </a:xfrm>
          </p:grpSpPr>
          <p:sp>
            <p:nvSpPr>
              <p:cNvPr id="32" name="Rectangle 96">
                <a:extLst>
                  <a:ext uri="{FF2B5EF4-FFF2-40B4-BE49-F238E27FC236}">
                    <a16:creationId xmlns:a16="http://schemas.microsoft.com/office/drawing/2014/main" id="{1315CC9A-2DD6-3A4C-A469-E23324869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33" name="Rectangle 97">
                <a:extLst>
                  <a:ext uri="{FF2B5EF4-FFF2-40B4-BE49-F238E27FC236}">
                    <a16:creationId xmlns:a16="http://schemas.microsoft.com/office/drawing/2014/main" id="{5AD1528F-0238-E342-B5E6-463A1F8F5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97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4" name="Rectangle 98">
                <a:extLst>
                  <a:ext uri="{FF2B5EF4-FFF2-40B4-BE49-F238E27FC236}">
                    <a16:creationId xmlns:a16="http://schemas.microsoft.com/office/drawing/2014/main" id="{EA8199EF-E103-6E4A-877D-215D3A5C0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2755"/>
                <a:ext cx="233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 dirty="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35" name="Rectangle 99">
                <a:extLst>
                  <a:ext uri="{FF2B5EF4-FFF2-40B4-BE49-F238E27FC236}">
                    <a16:creationId xmlns:a16="http://schemas.microsoft.com/office/drawing/2014/main" id="{2711151B-B8E2-EC4F-816A-74BB249BD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755"/>
                <a:ext cx="242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>
                    <a:latin typeface="Times New Roman" panose="02020603050405020304" pitchFamily="18" charset="0"/>
                  </a:rPr>
                  <a:t>(</a:t>
                </a:r>
              </a:p>
            </p:txBody>
          </p:sp>
          <p:sp>
            <p:nvSpPr>
              <p:cNvPr id="36" name="Rectangle 100">
                <a:extLst>
                  <a:ext uri="{FF2B5EF4-FFF2-40B4-BE49-F238E27FC236}">
                    <a16:creationId xmlns:a16="http://schemas.microsoft.com/office/drawing/2014/main" id="{F3236757-980B-D343-80CB-ACE714957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880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b="1" dirty="0">
                    <a:latin typeface="Times New Roman" panose="02020603050405020304" pitchFamily="18" charset="0"/>
                  </a:rPr>
                  <a:t>= 1</a:t>
                </a:r>
              </a:p>
            </p:txBody>
          </p:sp>
        </p:grpSp>
        <p:grpSp>
          <p:nvGrpSpPr>
            <p:cNvPr id="8" name="Group 101">
              <a:extLst>
                <a:ext uri="{FF2B5EF4-FFF2-40B4-BE49-F238E27FC236}">
                  <a16:creationId xmlns:a16="http://schemas.microsoft.com/office/drawing/2014/main" id="{64C59F3E-AECD-A84B-BE4B-EE6AE95663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9671" y="3877211"/>
              <a:ext cx="1435100" cy="766763"/>
              <a:chOff x="2247" y="922"/>
              <a:chExt cx="904" cy="483"/>
            </a:xfrm>
          </p:grpSpPr>
          <p:grpSp>
            <p:nvGrpSpPr>
              <p:cNvPr id="26" name="Group 102">
                <a:extLst>
                  <a:ext uri="{FF2B5EF4-FFF2-40B4-BE49-F238E27FC236}">
                    <a16:creationId xmlns:a16="http://schemas.microsoft.com/office/drawing/2014/main" id="{44FCA2C4-AE98-154C-8B15-3FEB848E30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7" y="922"/>
                <a:ext cx="569" cy="483"/>
                <a:chOff x="2247" y="922"/>
                <a:chExt cx="569" cy="483"/>
              </a:xfrm>
            </p:grpSpPr>
            <p:sp>
              <p:nvSpPr>
                <p:cNvPr id="28" name="Rectangle 103">
                  <a:extLst>
                    <a:ext uri="{FF2B5EF4-FFF2-40B4-BE49-F238E27FC236}">
                      <a16:creationId xmlns:a16="http://schemas.microsoft.com/office/drawing/2014/main" id="{E6684B17-AD0B-7348-8C00-757465EDF5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9" y="951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i="1" dirty="0">
                      <a:latin typeface="Times New Roman" panose="02020603050405020304" pitchFamily="18" charset="0"/>
                    </a:rPr>
                    <a:t>n</a:t>
                  </a:r>
                </a:p>
              </p:txBody>
            </p:sp>
            <p:sp>
              <p:nvSpPr>
                <p:cNvPr id="29" name="Rectangle 104">
                  <a:extLst>
                    <a:ext uri="{FF2B5EF4-FFF2-40B4-BE49-F238E27FC236}">
                      <a16:creationId xmlns:a16="http://schemas.microsoft.com/office/drawing/2014/main" id="{B03E5F3E-832F-AF45-8370-B0621AC3A8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9" y="1143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i="1" dirty="0">
                      <a:latin typeface="Times New Roman" panose="02020603050405020304" pitchFamily="18" charset="0"/>
                    </a:rPr>
                    <a:t>n</a:t>
                  </a:r>
                </a:p>
              </p:txBody>
            </p:sp>
            <p:sp>
              <p:nvSpPr>
                <p:cNvPr id="30" name="Rectangle 105">
                  <a:extLst>
                    <a:ext uri="{FF2B5EF4-FFF2-40B4-BE49-F238E27FC236}">
                      <a16:creationId xmlns:a16="http://schemas.microsoft.com/office/drawing/2014/main" id="{A9AD5A72-DA8A-FB47-B1D1-5BAC472558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83" y="922"/>
                  <a:ext cx="233" cy="4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4400" dirty="0">
                      <a:latin typeface="Times New Roman" panose="02020603050405020304" pitchFamily="18" charset="0"/>
                    </a:rPr>
                    <a:t>)</a:t>
                  </a:r>
                </a:p>
              </p:txBody>
            </p:sp>
            <p:sp>
              <p:nvSpPr>
                <p:cNvPr id="31" name="Rectangle 106">
                  <a:extLst>
                    <a:ext uri="{FF2B5EF4-FFF2-40B4-BE49-F238E27FC236}">
                      <a16:creationId xmlns:a16="http://schemas.microsoft.com/office/drawing/2014/main" id="{03CE0EC6-064E-CB41-8033-C0015F3C24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47" y="922"/>
                  <a:ext cx="242" cy="4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4400" dirty="0">
                      <a:latin typeface="Times New Roman" panose="02020603050405020304" pitchFamily="18" charset="0"/>
                    </a:rPr>
                    <a:t>(</a:t>
                  </a:r>
                </a:p>
              </p:txBody>
            </p:sp>
          </p:grpSp>
          <p:sp>
            <p:nvSpPr>
              <p:cNvPr id="27" name="Rectangle 107">
                <a:extLst>
                  <a:ext uri="{FF2B5EF4-FFF2-40B4-BE49-F238E27FC236}">
                    <a16:creationId xmlns:a16="http://schemas.microsoft.com/office/drawing/2014/main" id="{F446CEF1-E728-E844-996C-6AF07A7D8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1047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b="1">
                    <a:latin typeface="Times New Roman" panose="02020603050405020304" pitchFamily="18" charset="0"/>
                  </a:rPr>
                  <a:t>= 1</a:t>
                </a:r>
              </a:p>
            </p:txBody>
          </p:sp>
        </p:grpSp>
        <p:grpSp>
          <p:nvGrpSpPr>
            <p:cNvPr id="9" name="Group 108">
              <a:extLst>
                <a:ext uri="{FF2B5EF4-FFF2-40B4-BE49-F238E27FC236}">
                  <a16:creationId xmlns:a16="http://schemas.microsoft.com/office/drawing/2014/main" id="{A6CC2DB1-36B0-A342-918D-D54466BE42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0871" y="4587269"/>
              <a:ext cx="979488" cy="766763"/>
              <a:chOff x="1095" y="1402"/>
              <a:chExt cx="617" cy="483"/>
            </a:xfrm>
          </p:grpSpPr>
          <p:sp>
            <p:nvSpPr>
              <p:cNvPr id="22" name="Rectangle 109">
                <a:extLst>
                  <a:ext uri="{FF2B5EF4-FFF2-40B4-BE49-F238E27FC236}">
                    <a16:creationId xmlns:a16="http://schemas.microsoft.com/office/drawing/2014/main" id="{609D4C80-1144-B744-BB24-BC632311D0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" y="1431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23" name="Rectangle 110">
                <a:extLst>
                  <a:ext uri="{FF2B5EF4-FFF2-40B4-BE49-F238E27FC236}">
                    <a16:creationId xmlns:a16="http://schemas.microsoft.com/office/drawing/2014/main" id="{E9779180-49B3-5F45-8D1B-ABB24D2062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1623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24" name="Rectangle 111">
                <a:extLst>
                  <a:ext uri="{FF2B5EF4-FFF2-40B4-BE49-F238E27FC236}">
                    <a16:creationId xmlns:a16="http://schemas.microsoft.com/office/drawing/2014/main" id="{B44619C6-3E0D-0F4C-9CD1-2950DED04E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402"/>
                <a:ext cx="233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 dirty="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25" name="Rectangle 112">
                <a:extLst>
                  <a:ext uri="{FF2B5EF4-FFF2-40B4-BE49-F238E27FC236}">
                    <a16:creationId xmlns:a16="http://schemas.microsoft.com/office/drawing/2014/main" id="{8399B0B5-03D2-9547-856C-C489B2EE6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5" y="1402"/>
                <a:ext cx="242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 dirty="0">
                    <a:latin typeface="Times New Roman" panose="02020603050405020304" pitchFamily="18" charset="0"/>
                  </a:rPr>
                  <a:t>(</a:t>
                </a:r>
              </a:p>
            </p:txBody>
          </p:sp>
        </p:grpSp>
        <p:sp>
          <p:nvSpPr>
            <p:cNvPr id="10" name="Rectangle 113">
              <a:extLst>
                <a:ext uri="{FF2B5EF4-FFF2-40B4-BE49-F238E27FC236}">
                  <a16:creationId xmlns:a16="http://schemas.microsoft.com/office/drawing/2014/main" id="{5271EEED-B004-B44E-87DD-6A54F88EC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271" y="4785706"/>
              <a:ext cx="3921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latin typeface="Times New Roman" panose="02020603050405020304" pitchFamily="18" charset="0"/>
                </a:rPr>
                <a:t>= </a:t>
              </a:r>
            </a:p>
          </p:txBody>
        </p:sp>
        <p:grpSp>
          <p:nvGrpSpPr>
            <p:cNvPr id="11" name="Group 114">
              <a:extLst>
                <a:ext uri="{FF2B5EF4-FFF2-40B4-BE49-F238E27FC236}">
                  <a16:creationId xmlns:a16="http://schemas.microsoft.com/office/drawing/2014/main" id="{ECC71AC3-C817-BD45-B6D9-A3E1F665E3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6271" y="4587269"/>
              <a:ext cx="1208088" cy="766763"/>
              <a:chOff x="1911" y="1402"/>
              <a:chExt cx="761" cy="483"/>
            </a:xfrm>
          </p:grpSpPr>
          <p:sp>
            <p:nvSpPr>
              <p:cNvPr id="18" name="Rectangle 115">
                <a:extLst>
                  <a:ext uri="{FF2B5EF4-FFF2-40B4-BE49-F238E27FC236}">
                    <a16:creationId xmlns:a16="http://schemas.microsoft.com/office/drawing/2014/main" id="{A8C6522B-7887-1F4A-8D25-63CD9A234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4" y="1431"/>
                <a:ext cx="41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</a:rPr>
                  <a:t>n - </a:t>
                </a:r>
                <a:r>
                  <a:rPr lang="en-US" altLang="en-US" sz="2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" name="Rectangle 116">
                <a:extLst>
                  <a:ext uri="{FF2B5EF4-FFF2-40B4-BE49-F238E27FC236}">
                    <a16:creationId xmlns:a16="http://schemas.microsoft.com/office/drawing/2014/main" id="{FB9F82D8-E64F-7743-8083-E99750C64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1623"/>
                <a:ext cx="4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</a:rPr>
                  <a:t>k - </a:t>
                </a:r>
                <a:r>
                  <a:rPr lang="en-US" altLang="en-US" sz="2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0" name="Rectangle 117">
                <a:extLst>
                  <a:ext uri="{FF2B5EF4-FFF2-40B4-BE49-F238E27FC236}">
                    <a16:creationId xmlns:a16="http://schemas.microsoft.com/office/drawing/2014/main" id="{10CFE98D-E3E9-7042-BBEE-911E7B8B8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1402"/>
                <a:ext cx="233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21" name="Rectangle 118">
                <a:extLst>
                  <a:ext uri="{FF2B5EF4-FFF2-40B4-BE49-F238E27FC236}">
                    <a16:creationId xmlns:a16="http://schemas.microsoft.com/office/drawing/2014/main" id="{AF075FE5-2162-6243-A2E6-610BF8EC3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" y="1402"/>
                <a:ext cx="242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>
                    <a:latin typeface="Times New Roman" panose="02020603050405020304" pitchFamily="18" charset="0"/>
                  </a:rPr>
                  <a:t>(</a:t>
                </a:r>
              </a:p>
            </p:txBody>
          </p:sp>
        </p:grpSp>
        <p:grpSp>
          <p:nvGrpSpPr>
            <p:cNvPr id="12" name="Group 119">
              <a:extLst>
                <a:ext uri="{FF2B5EF4-FFF2-40B4-BE49-F238E27FC236}">
                  <a16:creationId xmlns:a16="http://schemas.microsoft.com/office/drawing/2014/main" id="{C7D561EC-054E-D344-98AC-F1AC7F5964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06471" y="4587269"/>
              <a:ext cx="1208088" cy="766763"/>
              <a:chOff x="2919" y="1402"/>
              <a:chExt cx="761" cy="483"/>
            </a:xfrm>
          </p:grpSpPr>
          <p:sp>
            <p:nvSpPr>
              <p:cNvPr id="14" name="Rectangle 120">
                <a:extLst>
                  <a:ext uri="{FF2B5EF4-FFF2-40B4-BE49-F238E27FC236}">
                    <a16:creationId xmlns:a16="http://schemas.microsoft.com/office/drawing/2014/main" id="{2C9D94BC-AFAF-A246-A1B9-CF1777867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2" y="1431"/>
                <a:ext cx="41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</a:rPr>
                  <a:t>n - </a:t>
                </a:r>
                <a:r>
                  <a:rPr lang="en-US" altLang="en-US" sz="2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5" name="Rectangle 121">
                <a:extLst>
                  <a:ext uri="{FF2B5EF4-FFF2-40B4-BE49-F238E27FC236}">
                    <a16:creationId xmlns:a16="http://schemas.microsoft.com/office/drawing/2014/main" id="{B38BB66B-839B-C84D-8B4E-192963D335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1623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</a:rPr>
                  <a:t>k</a:t>
                </a:r>
                <a:endParaRPr lang="en-US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22">
                <a:extLst>
                  <a:ext uri="{FF2B5EF4-FFF2-40B4-BE49-F238E27FC236}">
                    <a16:creationId xmlns:a16="http://schemas.microsoft.com/office/drawing/2014/main" id="{9CAE4D7C-BF49-5444-A010-017E3DBE0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7" y="1402"/>
                <a:ext cx="233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 dirty="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17" name="Rectangle 123">
                <a:extLst>
                  <a:ext uri="{FF2B5EF4-FFF2-40B4-BE49-F238E27FC236}">
                    <a16:creationId xmlns:a16="http://schemas.microsoft.com/office/drawing/2014/main" id="{F0B69D37-ABEF-F74D-A531-9B931F643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" y="1402"/>
                <a:ext cx="242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>
                    <a:latin typeface="Times New Roman" panose="02020603050405020304" pitchFamily="18" charset="0"/>
                  </a:rPr>
                  <a:t>(</a:t>
                </a:r>
              </a:p>
            </p:txBody>
          </p:sp>
        </p:grpSp>
        <p:sp>
          <p:nvSpPr>
            <p:cNvPr id="13" name="Rectangle 124">
              <a:extLst>
                <a:ext uri="{FF2B5EF4-FFF2-40B4-BE49-F238E27FC236}">
                  <a16:creationId xmlns:a16="http://schemas.microsoft.com/office/drawing/2014/main" id="{B04FFA9F-0C49-B345-9BE3-24D891525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1671" y="4785706"/>
              <a:ext cx="3921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latin typeface="Times New Roman" panose="02020603050405020304" pitchFamily="18" charset="0"/>
                </a:rPr>
                <a:t>+ 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155598-A506-0C47-AF7A-7FFFD487F5C1}"/>
              </a:ext>
            </a:extLst>
          </p:cNvPr>
          <p:cNvGrpSpPr/>
          <p:nvPr/>
        </p:nvGrpSpPr>
        <p:grpSpPr>
          <a:xfrm>
            <a:off x="5797910" y="5188021"/>
            <a:ext cx="2306092" cy="1367567"/>
            <a:chOff x="9684110" y="3458635"/>
            <a:chExt cx="2306092" cy="1367567"/>
          </a:xfrm>
        </p:grpSpPr>
        <p:grpSp>
          <p:nvGrpSpPr>
            <p:cNvPr id="38" name="Group 114">
              <a:extLst>
                <a:ext uri="{FF2B5EF4-FFF2-40B4-BE49-F238E27FC236}">
                  <a16:creationId xmlns:a16="http://schemas.microsoft.com/office/drawing/2014/main" id="{F1FC2E7A-B32E-9446-BDEB-07F7A8532D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32081" y="4059439"/>
              <a:ext cx="1208088" cy="766763"/>
              <a:chOff x="1911" y="1402"/>
              <a:chExt cx="761" cy="483"/>
            </a:xfrm>
          </p:grpSpPr>
          <p:sp>
            <p:nvSpPr>
              <p:cNvPr id="42" name="Rectangle 115">
                <a:extLst>
                  <a:ext uri="{FF2B5EF4-FFF2-40B4-BE49-F238E27FC236}">
                    <a16:creationId xmlns:a16="http://schemas.microsoft.com/office/drawing/2014/main" id="{FF7402BD-4FA7-6D45-A826-F96C3F506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4" y="1431"/>
                <a:ext cx="41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i="1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n - </a:t>
                </a:r>
                <a:r>
                  <a:rPr lang="en-US" altLang="en-US" sz="2000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3" name="Rectangle 116">
                <a:extLst>
                  <a:ext uri="{FF2B5EF4-FFF2-40B4-BE49-F238E27FC236}">
                    <a16:creationId xmlns:a16="http://schemas.microsoft.com/office/drawing/2014/main" id="{2DA74F12-12C7-1948-BF95-D893B1D7F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1623"/>
                <a:ext cx="4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i="1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k - </a:t>
                </a:r>
                <a:r>
                  <a:rPr lang="en-US" altLang="en-US" sz="2000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4" name="Rectangle 117">
                <a:extLst>
                  <a:ext uri="{FF2B5EF4-FFF2-40B4-BE49-F238E27FC236}">
                    <a16:creationId xmlns:a16="http://schemas.microsoft.com/office/drawing/2014/main" id="{1B80250D-75D6-1E43-B458-B0A5B5791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1402"/>
                <a:ext cx="233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45" name="Rectangle 118">
                <a:extLst>
                  <a:ext uri="{FF2B5EF4-FFF2-40B4-BE49-F238E27FC236}">
                    <a16:creationId xmlns:a16="http://schemas.microsoft.com/office/drawing/2014/main" id="{F3CC9A55-BFD0-6748-977F-BB63C6002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" y="1402"/>
                <a:ext cx="242" cy="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(</a:t>
                </a:r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A0F1270-6703-7548-AFF4-9E0DAD47ABD4}"/>
                </a:ext>
              </a:extLst>
            </p:cNvPr>
            <p:cNvCxnSpPr>
              <a:cxnSpLocks/>
            </p:cNvCxnSpPr>
            <p:nvPr/>
          </p:nvCxnSpPr>
          <p:spPr>
            <a:xfrm>
              <a:off x="9684110" y="3523723"/>
              <a:ext cx="1044041" cy="6037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B77A285-2BA4-D349-9A74-4CDEC1B3C4E0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11013384" y="3458635"/>
              <a:ext cx="83067" cy="6468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126">
              <a:extLst>
                <a:ext uri="{FF2B5EF4-FFF2-40B4-BE49-F238E27FC236}">
                  <a16:creationId xmlns:a16="http://schemas.microsoft.com/office/drawing/2014/main" id="{FAC545D1-DEA3-BE49-B73C-C1C64E1EC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1112" y="3558855"/>
              <a:ext cx="20590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C00000"/>
                  </a:solidFill>
                  <a:latin typeface="+mn-lt"/>
                </a:rPr>
                <a:t>Both need to compute</a:t>
              </a: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8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46626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FCA3-51E2-8C4D-8580-75C516038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639"/>
            <a:ext cx="6539345" cy="455174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Dynamic </a:t>
            </a:r>
            <a:r>
              <a:rPr lang="en-US" altLang="en-US" dirty="0" err="1" smtClean="0"/>
              <a:t>Prg</a:t>
            </a:r>
            <a:r>
              <a:rPr lang="en-US" altLang="en-US" dirty="0" smtClean="0"/>
              <a:t>. For Binomial Coefficient</a:t>
            </a:r>
            <a:endParaRPr lang="en-Q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3930C-1FB2-A440-A8E3-6025A01CA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dynamic programming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algorithm for this </a:t>
            </a:r>
            <a:r>
              <a:rPr lang="en-US" dirty="0" smtClean="0"/>
              <a:t>problem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Establish</a:t>
            </a:r>
            <a:r>
              <a:rPr lang="en-US" sz="2400" dirty="0">
                <a:solidFill>
                  <a:srgbClr val="00B050"/>
                </a:solidFill>
              </a:rPr>
              <a:t> a </a:t>
            </a:r>
            <a:r>
              <a:rPr lang="en-US" sz="2400" u="sng" dirty="0">
                <a:solidFill>
                  <a:srgbClr val="00B050"/>
                </a:solidFill>
              </a:rPr>
              <a:t>recursive property</a:t>
            </a:r>
            <a:r>
              <a:rPr lang="en-US" sz="2400" dirty="0"/>
              <a:t>. This has already been done in Equality </a:t>
            </a:r>
            <a:r>
              <a:rPr lang="en-US" sz="2400" dirty="0" smtClean="0"/>
              <a:t>3.1</a:t>
            </a: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                                         </a:t>
            </a:r>
            <a:r>
              <a:rPr lang="en-US" sz="2400" dirty="0" smtClean="0"/>
              <a:t>1                                                            j = 0 or j = i</a:t>
            </a:r>
            <a:endParaRPr lang="en-US" sz="2400" dirty="0"/>
          </a:p>
          <a:p>
            <a:pPr marL="457200" lvl="1" indent="0">
              <a:buNone/>
            </a:pPr>
            <a:endParaRPr lang="en-US" u="sng" dirty="0" smtClean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sz="2400" u="sng" dirty="0" smtClean="0">
                <a:solidFill>
                  <a:srgbClr val="0070C0"/>
                </a:solidFill>
              </a:rPr>
              <a:t>2. Solve </a:t>
            </a:r>
            <a:r>
              <a:rPr lang="en-US" sz="2400" u="sng" dirty="0">
                <a:solidFill>
                  <a:srgbClr val="0070C0"/>
                </a:solidFill>
              </a:rPr>
              <a:t>an instance of the problem</a:t>
            </a:r>
            <a:r>
              <a:rPr lang="en-US" sz="2400" dirty="0"/>
              <a:t> in a </a:t>
            </a:r>
            <a:r>
              <a:rPr lang="en-US" sz="2400" dirty="0">
                <a:solidFill>
                  <a:srgbClr val="C00000"/>
                </a:solidFill>
              </a:rPr>
              <a:t>bottom-up</a:t>
            </a:r>
            <a:r>
              <a:rPr lang="en-US" sz="2400" dirty="0"/>
              <a:t> fashion by computing the rows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/>
              <a:t> in sequence </a:t>
            </a:r>
            <a:r>
              <a:rPr lang="en-US" sz="2400" b="1" u="sng" dirty="0"/>
              <a:t>starting with the first </a:t>
            </a:r>
            <a:r>
              <a:rPr lang="en-US" sz="2400" b="1" u="sng" dirty="0" smtClean="0"/>
              <a:t>row</a:t>
            </a:r>
            <a:endParaRPr lang="en-QA" sz="2400" dirty="0"/>
          </a:p>
        </p:txBody>
      </p:sp>
      <p:sp>
        <p:nvSpPr>
          <p:cNvPr id="5" name="Rectangle 51">
            <a:extLst>
              <a:ext uri="{FF2B5EF4-FFF2-40B4-BE49-F238E27FC236}">
                <a16:creationId xmlns:a16="http://schemas.microsoft.com/office/drawing/2014/main" id="{B7913112-1A91-9547-85E6-2706B02B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4664" y="6365904"/>
            <a:ext cx="41537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B[i][j] </a:t>
            </a:r>
            <a:r>
              <a:rPr lang="en-US" altLang="en-US" sz="24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= B[i-1][j-1]  </a:t>
            </a:r>
            <a:r>
              <a:rPr lang="en-US" altLang="en-US" sz="2400" dirty="0">
                <a:latin typeface="+mn-lt"/>
                <a:cs typeface="Times New Roman" panose="02020603050405020304" pitchFamily="18" charset="0"/>
              </a:rPr>
              <a:t>+</a:t>
            </a:r>
            <a:r>
              <a:rPr lang="en-US" altLang="en-US" sz="24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  </a:t>
            </a:r>
            <a:r>
              <a:rPr lang="en-US" altLang="en-US" sz="24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B[i-1][j]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FBCA644-8AA4-F847-BF8E-15B63D2FAA14}"/>
              </a:ext>
            </a:extLst>
          </p:cNvPr>
          <p:cNvGrpSpPr/>
          <p:nvPr/>
        </p:nvGrpSpPr>
        <p:grpSpPr>
          <a:xfrm>
            <a:off x="2733466" y="4158337"/>
            <a:ext cx="4608960" cy="2456972"/>
            <a:chOff x="2096640" y="4419601"/>
            <a:chExt cx="4608960" cy="2456972"/>
          </a:xfrm>
        </p:grpSpPr>
        <p:sp>
          <p:nvSpPr>
            <p:cNvPr id="7" name="Line 42">
              <a:extLst>
                <a:ext uri="{FF2B5EF4-FFF2-40B4-BE49-F238E27FC236}">
                  <a16:creationId xmlns:a16="http://schemas.microsoft.com/office/drawing/2014/main" id="{A62F289A-7482-1F48-83E8-44F841E4C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4724401"/>
              <a:ext cx="0" cy="2054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43">
              <a:extLst>
                <a:ext uri="{FF2B5EF4-FFF2-40B4-BE49-F238E27FC236}">
                  <a16:creationId xmlns:a16="http://schemas.microsoft.com/office/drawing/2014/main" id="{3D25E49B-CD53-E749-8989-5AE40CFBC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4724400"/>
              <a:ext cx="426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44">
              <a:extLst>
                <a:ext uri="{FF2B5EF4-FFF2-40B4-BE49-F238E27FC236}">
                  <a16:creationId xmlns:a16="http://schemas.microsoft.com/office/drawing/2014/main" id="{69933F59-E532-BC4C-BC9F-2E2A5D8CE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4419601"/>
              <a:ext cx="3130985" cy="3539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+mn-lt"/>
                </a:rPr>
                <a:t>0   1   2   3   4                 </a:t>
              </a:r>
              <a:r>
                <a:rPr lang="en-US" altLang="en-US" sz="18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en-US" sz="20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altLang="en-US" sz="1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45">
              <a:extLst>
                <a:ext uri="{FF2B5EF4-FFF2-40B4-BE49-F238E27FC236}">
                  <a16:creationId xmlns:a16="http://schemas.microsoft.com/office/drawing/2014/main" id="{45F47078-A51F-2440-8682-D43D86421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6640" y="4746626"/>
              <a:ext cx="327334" cy="2129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1080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+mn-lt"/>
                </a:rPr>
                <a:t>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+mn-lt"/>
                </a:rPr>
                <a:t>1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+mn-lt"/>
                </a:rPr>
                <a:t>2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+mn-lt"/>
                </a:rPr>
                <a:t>3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+mn-lt"/>
                </a:rPr>
                <a:t>4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2000" dirty="0">
                <a:latin typeface="+mn-lt"/>
              </a:endParaRP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200" dirty="0">
                <a:latin typeface="+mn-lt"/>
              </a:endParaRP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1" name="Text Box 46">
              <a:extLst>
                <a:ext uri="{FF2B5EF4-FFF2-40B4-BE49-F238E27FC236}">
                  <a16:creationId xmlns:a16="http://schemas.microsoft.com/office/drawing/2014/main" id="{FF0A5AB5-0786-4847-B05C-540918E46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4746626"/>
              <a:ext cx="311150" cy="2111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1080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1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1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1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1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1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600" dirty="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 i="1" dirty="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 dirty="0"/>
            </a:p>
          </p:txBody>
        </p:sp>
        <p:sp>
          <p:nvSpPr>
            <p:cNvPr id="12" name="Text Box 47">
              <a:extLst>
                <a:ext uri="{FF2B5EF4-FFF2-40B4-BE49-F238E27FC236}">
                  <a16:creationId xmlns:a16="http://schemas.microsoft.com/office/drawing/2014/main" id="{04B3F9CD-231D-0F43-A9C7-BCA8BC390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1" y="4746626"/>
              <a:ext cx="315913" cy="2111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7200" tIns="1080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 dirty="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1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2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3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4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600" dirty="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 dirty="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 dirty="0"/>
            </a:p>
          </p:txBody>
        </p:sp>
        <p:sp>
          <p:nvSpPr>
            <p:cNvPr id="13" name="Text Box 48">
              <a:extLst>
                <a:ext uri="{FF2B5EF4-FFF2-40B4-BE49-F238E27FC236}">
                  <a16:creationId xmlns:a16="http://schemas.microsoft.com/office/drawing/2014/main" id="{72878FCB-4F1E-9344-8B14-41DBE57D5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1" y="4746626"/>
              <a:ext cx="327025" cy="2111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8000" tIns="1080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 dirty="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 dirty="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1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3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6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600" dirty="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 dirty="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 dirty="0"/>
            </a:p>
          </p:txBody>
        </p:sp>
        <p:sp>
          <p:nvSpPr>
            <p:cNvPr id="14" name="Text Box 49">
              <a:extLst>
                <a:ext uri="{FF2B5EF4-FFF2-40B4-BE49-F238E27FC236}">
                  <a16:creationId xmlns:a16="http://schemas.microsoft.com/office/drawing/2014/main" id="{2AA1B4B7-A951-CF42-9C9C-E789B4D12E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450" y="4746626"/>
              <a:ext cx="349250" cy="2111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9600" tIns="1080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4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60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5" name="Text Box 50">
              <a:extLst>
                <a:ext uri="{FF2B5EF4-FFF2-40B4-BE49-F238E27FC236}">
                  <a16:creationId xmlns:a16="http://schemas.microsoft.com/office/drawing/2014/main" id="{B9472E22-C061-3846-AC5E-402C0D7CD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7451" y="4746626"/>
              <a:ext cx="301625" cy="2111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2800" tIns="1080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60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/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79E0957-98A2-D74D-B748-80E3AEEB0657}"/>
                </a:ext>
              </a:extLst>
            </p:cNvPr>
            <p:cNvCxnSpPr/>
            <p:nvPr/>
          </p:nvCxnSpPr>
          <p:spPr>
            <a:xfrm>
              <a:off x="2978325" y="5302742"/>
              <a:ext cx="18087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086C98F-593F-A144-A19D-40270D6476DA}"/>
                </a:ext>
              </a:extLst>
            </p:cNvPr>
            <p:cNvCxnSpPr/>
            <p:nvPr/>
          </p:nvCxnSpPr>
          <p:spPr>
            <a:xfrm>
              <a:off x="3307171" y="5319400"/>
              <a:ext cx="837" cy="2286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66">
              <a:extLst>
                <a:ext uri="{FF2B5EF4-FFF2-40B4-BE49-F238E27FC236}">
                  <a16:creationId xmlns:a16="http://schemas.microsoft.com/office/drawing/2014/main" id="{5B00EC4E-3515-D44B-924E-1EA837227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1419" y="5041134"/>
              <a:ext cx="2872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FF0000"/>
                  </a:solidFill>
                  <a:latin typeface="+mn-lt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" name="Text Box 66">
              <a:extLst>
                <a:ext uri="{FF2B5EF4-FFF2-40B4-BE49-F238E27FC236}">
                  <a16:creationId xmlns:a16="http://schemas.microsoft.com/office/drawing/2014/main" id="{91849C41-789E-1745-878E-531490960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7119" y="5197302"/>
              <a:ext cx="2872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FF0000"/>
                  </a:solidFill>
                  <a:latin typeface="+mn-lt"/>
                  <a:cs typeface="Times New Roman" panose="02020603050405020304" pitchFamily="18" charset="0"/>
                </a:rPr>
                <a:t>=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6EB82D2-670F-9146-85FA-D1A593305222}"/>
              </a:ext>
            </a:extLst>
          </p:cNvPr>
          <p:cNvSpPr/>
          <p:nvPr/>
        </p:nvSpPr>
        <p:spPr>
          <a:xfrm>
            <a:off x="301635" y="4089433"/>
            <a:ext cx="1823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Pascal's triangle: </a:t>
            </a:r>
            <a:endParaRPr lang="en-QA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53343" y="2133539"/>
            <a:ext cx="7805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B [i] [j] =  B [i-1] [j-1]  + B[i-1] [j]              </a:t>
            </a:r>
            <a:r>
              <a:rPr lang="en-US" sz="2400" dirty="0" smtClean="0"/>
              <a:t>0</a:t>
            </a:r>
            <a:r>
              <a:rPr lang="en-US" sz="2400" dirty="0"/>
              <a:t> </a:t>
            </a:r>
            <a:r>
              <a:rPr lang="en-US" sz="2400" dirty="0" smtClean="0"/>
              <a:t>&lt; j </a:t>
            </a:r>
            <a:r>
              <a:rPr lang="en-US" sz="2400" dirty="0"/>
              <a:t> </a:t>
            </a:r>
            <a:r>
              <a:rPr lang="en-US" sz="2400" dirty="0" smtClean="0"/>
              <a:t>&lt; i</a:t>
            </a:r>
            <a:endParaRPr lang="en-US" sz="2400" dirty="0"/>
          </a:p>
        </p:txBody>
      </p:sp>
      <p:sp>
        <p:nvSpPr>
          <p:cNvPr id="22" name="Left Brace 21"/>
          <p:cNvSpPr/>
          <p:nvPr/>
        </p:nvSpPr>
        <p:spPr>
          <a:xfrm>
            <a:off x="3569871" y="2133539"/>
            <a:ext cx="147695" cy="925285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005782" y="539598"/>
            <a:ext cx="2495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B050"/>
                </a:solidFill>
              </a:rPr>
              <a:t>B[i] [j] </a:t>
            </a:r>
            <a:r>
              <a:rPr lang="en-US" sz="2400" dirty="0" smtClean="0"/>
              <a:t>will contain </a:t>
            </a:r>
            <a:endParaRPr lang="en-US" sz="2400" dirty="0"/>
          </a:p>
        </p:txBody>
      </p:sp>
      <p:sp>
        <p:nvSpPr>
          <p:cNvPr id="26" name="Rectangle 96">
            <a:extLst>
              <a:ext uri="{FF2B5EF4-FFF2-40B4-BE49-F238E27FC236}">
                <a16:creationId xmlns:a16="http://schemas.microsoft.com/office/drawing/2014/main" id="{1315CC9A-2DD6-3A4C-A469-E23324869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2576" y="433088"/>
            <a:ext cx="25327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7" name="Rectangle 97">
            <a:extLst>
              <a:ext uri="{FF2B5EF4-FFF2-40B4-BE49-F238E27FC236}">
                <a16:creationId xmlns:a16="http://schemas.microsoft.com/office/drawing/2014/main" id="{5AD1528F-0238-E342-B5E6-463A1F8F5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2576" y="737888"/>
            <a:ext cx="25327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28" name="Rectangle 98">
            <a:extLst>
              <a:ext uri="{FF2B5EF4-FFF2-40B4-BE49-F238E27FC236}">
                <a16:creationId xmlns:a16="http://schemas.microsoft.com/office/drawing/2014/main" id="{EA8199EF-E103-6E4A-877D-215D3A5C0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176" y="387050"/>
            <a:ext cx="369888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9" name="Rectangle 99">
            <a:extLst>
              <a:ext uri="{FF2B5EF4-FFF2-40B4-BE49-F238E27FC236}">
                <a16:creationId xmlns:a16="http://schemas.microsoft.com/office/drawing/2014/main" id="{2711151B-B8E2-EC4F-816A-74BB249BD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776" y="387050"/>
            <a:ext cx="384175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dirty="0">
                <a:latin typeface="Times New Roman" panose="02020603050405020304" pitchFamily="18" charset="0"/>
              </a:rPr>
              <a:t>(</a:t>
            </a:r>
          </a:p>
        </p:txBody>
      </p:sp>
      <p:pic>
        <p:nvPicPr>
          <p:cNvPr id="33794" name="Picture 2" descr="https://i.stack.imgur.com/nqai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0055" y="3952361"/>
            <a:ext cx="2251081" cy="2305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109">
            <a:extLst>
              <a:ext uri="{FF2B5EF4-FFF2-40B4-BE49-F238E27FC236}">
                <a16:creationId xmlns:a16="http://schemas.microsoft.com/office/drawing/2014/main" id="{609D4C80-1144-B744-BB24-BC632311D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6450" y="285473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32" name="Rectangle 110">
            <a:extLst>
              <a:ext uri="{FF2B5EF4-FFF2-40B4-BE49-F238E27FC236}">
                <a16:creationId xmlns:a16="http://schemas.microsoft.com/office/drawing/2014/main" id="{E9779180-49B3-5F45-8D1B-ABB24D2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112" y="59027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33" name="Rectangle 111">
            <a:extLst>
              <a:ext uri="{FF2B5EF4-FFF2-40B4-BE49-F238E27FC236}">
                <a16:creationId xmlns:a16="http://schemas.microsoft.com/office/drawing/2014/main" id="{B44619C6-3E0D-0F4C-9CD1-2950DED04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2" y="239435"/>
            <a:ext cx="369888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4" name="Rectangle 112">
            <a:extLst>
              <a:ext uri="{FF2B5EF4-FFF2-40B4-BE49-F238E27FC236}">
                <a16:creationId xmlns:a16="http://schemas.microsoft.com/office/drawing/2014/main" id="{8399B0B5-03D2-9547-856C-C489B2EE6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8312" y="239435"/>
            <a:ext cx="384175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dirty="0">
                <a:latin typeface="Times New Roman" panose="02020603050405020304" pitchFamily="18" charset="0"/>
              </a:rPr>
              <a:t>(</a:t>
            </a:r>
          </a:p>
        </p:txBody>
      </p:sp>
      <p:sp>
        <p:nvSpPr>
          <p:cNvPr id="35" name="Rectangle 113">
            <a:extLst>
              <a:ext uri="{FF2B5EF4-FFF2-40B4-BE49-F238E27FC236}">
                <a16:creationId xmlns:a16="http://schemas.microsoft.com/office/drawing/2014/main" id="{5271EEED-B004-B44E-87DD-6A54F88EC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2712" y="437872"/>
            <a:ext cx="3921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= </a:t>
            </a:r>
          </a:p>
        </p:txBody>
      </p:sp>
      <p:sp>
        <p:nvSpPr>
          <p:cNvPr id="36" name="Rectangle 115">
            <a:extLst>
              <a:ext uri="{FF2B5EF4-FFF2-40B4-BE49-F238E27FC236}">
                <a16:creationId xmlns:a16="http://schemas.microsoft.com/office/drawing/2014/main" id="{A8C6522B-7887-1F4A-8D25-63CD9A234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1850" y="285473"/>
            <a:ext cx="652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n - </a:t>
            </a:r>
            <a:r>
              <a:rPr lang="en-US" altLang="en-US" sz="20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7" name="Rectangle 116">
            <a:extLst>
              <a:ext uri="{FF2B5EF4-FFF2-40B4-BE49-F238E27FC236}">
                <a16:creationId xmlns:a16="http://schemas.microsoft.com/office/drawing/2014/main" id="{FB9F82D8-E64F-7743-8083-E99750C64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8512" y="590273"/>
            <a:ext cx="638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k - </a:t>
            </a:r>
            <a:r>
              <a:rPr lang="en-US" altLang="en-US" sz="20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8" name="Rectangle 117">
            <a:extLst>
              <a:ext uri="{FF2B5EF4-FFF2-40B4-BE49-F238E27FC236}">
                <a16:creationId xmlns:a16="http://schemas.microsoft.com/office/drawing/2014/main" id="{10CFE98D-E3E9-7042-BBEE-911E7B8B8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1912" y="239435"/>
            <a:ext cx="369888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9" name="Rectangle 118">
            <a:extLst>
              <a:ext uri="{FF2B5EF4-FFF2-40B4-BE49-F238E27FC236}">
                <a16:creationId xmlns:a16="http://schemas.microsoft.com/office/drawing/2014/main" id="{AF075FE5-2162-6243-A2E6-610BF8EC3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3712" y="239435"/>
            <a:ext cx="384175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>
                <a:latin typeface="Times New Roman" panose="02020603050405020304" pitchFamily="18" charset="0"/>
              </a:rPr>
              <a:t>(</a:t>
            </a:r>
          </a:p>
        </p:txBody>
      </p:sp>
      <p:sp>
        <p:nvSpPr>
          <p:cNvPr id="40" name="Rectangle 120">
            <a:extLst>
              <a:ext uri="{FF2B5EF4-FFF2-40B4-BE49-F238E27FC236}">
                <a16:creationId xmlns:a16="http://schemas.microsoft.com/office/drawing/2014/main" id="{2C9D94BC-AFAF-A246-A1B9-CF1777867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6175" y="285473"/>
            <a:ext cx="652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n - </a:t>
            </a:r>
            <a:r>
              <a:rPr lang="en-US" altLang="en-US" sz="20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" name="Rectangle 121">
            <a:extLst>
              <a:ext uri="{FF2B5EF4-FFF2-40B4-BE49-F238E27FC236}">
                <a16:creationId xmlns:a16="http://schemas.microsoft.com/office/drawing/2014/main" id="{B38BB66B-839B-C84D-8B4E-192963D33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8250" y="59027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k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42" name="Rectangle 122">
            <a:extLst>
              <a:ext uri="{FF2B5EF4-FFF2-40B4-BE49-F238E27FC236}">
                <a16:creationId xmlns:a16="http://schemas.microsoft.com/office/drawing/2014/main" id="{9CAE4D7C-BF49-5444-A010-017E3DBE0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2112" y="239435"/>
            <a:ext cx="369888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3" name="Rectangle 123">
            <a:extLst>
              <a:ext uri="{FF2B5EF4-FFF2-40B4-BE49-F238E27FC236}">
                <a16:creationId xmlns:a16="http://schemas.microsoft.com/office/drawing/2014/main" id="{F0B69D37-ABEF-F74D-A531-9B931F643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3912" y="239435"/>
            <a:ext cx="384175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>
                <a:latin typeface="Times New Roman" panose="02020603050405020304" pitchFamily="18" charset="0"/>
              </a:rPr>
              <a:t>(</a:t>
            </a:r>
          </a:p>
        </p:txBody>
      </p:sp>
      <p:sp>
        <p:nvSpPr>
          <p:cNvPr id="44" name="Rectangle 124">
            <a:extLst>
              <a:ext uri="{FF2B5EF4-FFF2-40B4-BE49-F238E27FC236}">
                <a16:creationId xmlns:a16="http://schemas.microsoft.com/office/drawing/2014/main" id="{B04FFA9F-0C49-B345-9BE3-24D891525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9112" y="437872"/>
            <a:ext cx="3921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+ </a:t>
            </a:r>
          </a:p>
        </p:txBody>
      </p:sp>
      <p:pic>
        <p:nvPicPr>
          <p:cNvPr id="35842" name="Picture 2" descr="https://upload.wikimedia.org/wikipedia/commons/0/0d/PascalTriangleAnimated2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00" y="4485362"/>
            <a:ext cx="2117375" cy="195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235726" y="6378401"/>
            <a:ext cx="5039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www.mathsisfun.com/pascals-triangle.html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9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78689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  <p:bldP spid="22" grpId="0" animBg="1"/>
      <p:bldP spid="23" grpId="0"/>
      <p:bldP spid="26" grpId="0"/>
      <p:bldP spid="27" grpId="0"/>
      <p:bldP spid="28" grpId="0"/>
      <p:bldP spid="29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1E0A-B2EF-794F-9E09-916ACD16A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09" y="107087"/>
            <a:ext cx="10515600" cy="290656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The Binomial Coefficient (cont.)</a:t>
            </a:r>
            <a:endParaRPr lang="en-Q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C50D0-0D0F-3844-84F8-282076233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037" y="806066"/>
            <a:ext cx="2385290" cy="597862"/>
          </a:xfrm>
        </p:spPr>
        <p:txBody>
          <a:bodyPr/>
          <a:lstStyle/>
          <a:p>
            <a:r>
              <a:rPr lang="en-QA" u="sng" dirty="0">
                <a:solidFill>
                  <a:srgbClr val="00B050"/>
                </a:solidFill>
              </a:rPr>
              <a:t>Example: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5127" y="808772"/>
            <a:ext cx="875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Compute B[4][2] = </a:t>
            </a:r>
            <a:endParaRPr lang="en-US" dirty="0"/>
          </a:p>
        </p:txBody>
      </p:sp>
      <p:sp>
        <p:nvSpPr>
          <p:cNvPr id="9" name="Rectangle 96">
            <a:extLst>
              <a:ext uri="{FF2B5EF4-FFF2-40B4-BE49-F238E27FC236}">
                <a16:creationId xmlns:a16="http://schemas.microsoft.com/office/drawing/2014/main" id="{1315CC9A-2DD6-3A4C-A469-E23324869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1890" y="539327"/>
            <a:ext cx="31098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" name="Rectangle 97">
            <a:extLst>
              <a:ext uri="{FF2B5EF4-FFF2-40B4-BE49-F238E27FC236}">
                <a16:creationId xmlns:a16="http://schemas.microsoft.com/office/drawing/2014/main" id="{5AD1528F-0238-E342-B5E6-463A1F8F5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1890" y="844127"/>
            <a:ext cx="31098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2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1" name="Rectangle 98">
            <a:extLst>
              <a:ext uri="{FF2B5EF4-FFF2-40B4-BE49-F238E27FC236}">
                <a16:creationId xmlns:a16="http://schemas.microsoft.com/office/drawing/2014/main" id="{EA8199EF-E103-6E4A-877D-215D3A5C0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490" y="493289"/>
            <a:ext cx="369888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2" name="Rectangle 99">
            <a:extLst>
              <a:ext uri="{FF2B5EF4-FFF2-40B4-BE49-F238E27FC236}">
                <a16:creationId xmlns:a16="http://schemas.microsoft.com/office/drawing/2014/main" id="{2711151B-B8E2-EC4F-816A-74BB249BD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090" y="493289"/>
            <a:ext cx="384175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dirty="0">
                <a:latin typeface="Times New Roman" panose="02020603050405020304" pitchFamily="18" charset="0"/>
              </a:rPr>
              <a:t>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5200" y="1361428"/>
            <a:ext cx="777701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Compute row 0:</a:t>
            </a:r>
          </a:p>
          <a:p>
            <a:r>
              <a:rPr lang="en-US" dirty="0"/>
              <a:t>	</a:t>
            </a:r>
            <a:r>
              <a:rPr lang="en-US" dirty="0" smtClean="0"/>
              <a:t>	B[0][0] = 1</a:t>
            </a:r>
          </a:p>
          <a:p>
            <a:endParaRPr lang="en-US" dirty="0"/>
          </a:p>
          <a:p>
            <a:r>
              <a:rPr lang="en-US" b="1" u="sng" dirty="0" smtClean="0"/>
              <a:t>Compute row 1: 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0070C0"/>
                </a:solidFill>
              </a:rPr>
              <a:t>B[1][0]=1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	</a:t>
            </a:r>
            <a:r>
              <a:rPr lang="en-US" dirty="0" smtClean="0">
                <a:solidFill>
                  <a:srgbClr val="00B050"/>
                </a:solidFill>
              </a:rPr>
              <a:t>B[1][1]=1</a:t>
            </a:r>
          </a:p>
          <a:p>
            <a:endParaRPr lang="en-US" dirty="0"/>
          </a:p>
          <a:p>
            <a:r>
              <a:rPr lang="en-US" b="1" u="sng" dirty="0" smtClean="0"/>
              <a:t>Compute row 2: </a:t>
            </a:r>
          </a:p>
          <a:p>
            <a:r>
              <a:rPr lang="en-US" dirty="0"/>
              <a:t>		</a:t>
            </a:r>
            <a:r>
              <a:rPr lang="en-US" dirty="0" smtClean="0"/>
              <a:t>B[2][0] = 1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	</a:t>
            </a:r>
            <a:r>
              <a:rPr lang="en-US" dirty="0" smtClean="0">
                <a:solidFill>
                  <a:srgbClr val="C00000"/>
                </a:solidFill>
              </a:rPr>
              <a:t>B[2][1]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0070C0"/>
                </a:solidFill>
              </a:rPr>
              <a:t>B[1][0] </a:t>
            </a:r>
            <a:r>
              <a:rPr lang="en-US" dirty="0" smtClean="0"/>
              <a:t>+ </a:t>
            </a:r>
            <a:r>
              <a:rPr lang="en-US" dirty="0" smtClean="0">
                <a:solidFill>
                  <a:srgbClr val="00B050"/>
                </a:solidFill>
              </a:rPr>
              <a:t>B[1][1]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0070C0"/>
                </a:solidFill>
              </a:rPr>
              <a:t>1</a:t>
            </a:r>
            <a:r>
              <a:rPr lang="en-US" dirty="0" smtClean="0"/>
              <a:t> + 1 = 2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	B[2][2] = 1</a:t>
            </a:r>
          </a:p>
          <a:p>
            <a:r>
              <a:rPr lang="en-US" b="1" u="sng" dirty="0" smtClean="0"/>
              <a:t>Compute row 3: </a:t>
            </a:r>
          </a:p>
          <a:p>
            <a:r>
              <a:rPr lang="en-US" dirty="0"/>
              <a:t>	</a:t>
            </a:r>
            <a:r>
              <a:rPr lang="en-US" dirty="0" smtClean="0"/>
              <a:t>	B[3][0] = 1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7030A0"/>
                </a:solidFill>
              </a:rPr>
              <a:t>B[3][1] </a:t>
            </a:r>
            <a:r>
              <a:rPr lang="en-US" dirty="0" smtClean="0"/>
              <a:t>= B[2][0]+</a:t>
            </a:r>
            <a:r>
              <a:rPr lang="en-US" dirty="0" smtClean="0">
                <a:solidFill>
                  <a:srgbClr val="C00000"/>
                </a:solidFill>
              </a:rPr>
              <a:t>B[2][1] </a:t>
            </a:r>
            <a:r>
              <a:rPr lang="en-US" dirty="0" smtClean="0"/>
              <a:t>= 1+2 = 3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FFC000"/>
                </a:solidFill>
              </a:rPr>
              <a:t>B[3][2]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B[2][1]</a:t>
            </a:r>
            <a:r>
              <a:rPr lang="en-US" dirty="0" smtClean="0"/>
              <a:t>+B[2][2] = 2+1 = 3</a:t>
            </a:r>
          </a:p>
          <a:p>
            <a:r>
              <a:rPr lang="en-US" b="1" u="sng" dirty="0" smtClean="0"/>
              <a:t>Compute row 4:</a:t>
            </a:r>
          </a:p>
          <a:p>
            <a:r>
              <a:rPr lang="en-US" dirty="0"/>
              <a:t>	</a:t>
            </a:r>
            <a:r>
              <a:rPr lang="en-US" dirty="0" smtClean="0"/>
              <a:t>	B[4][0] = 1</a:t>
            </a:r>
          </a:p>
          <a:p>
            <a:r>
              <a:rPr lang="en-US" dirty="0"/>
              <a:t>	</a:t>
            </a:r>
            <a:r>
              <a:rPr lang="en-US" dirty="0" smtClean="0"/>
              <a:t>	B[4][1] = B[3][0] + </a:t>
            </a:r>
            <a:r>
              <a:rPr lang="en-US" dirty="0" smtClean="0">
                <a:solidFill>
                  <a:srgbClr val="7030A0"/>
                </a:solidFill>
              </a:rPr>
              <a:t>B[3][1] </a:t>
            </a:r>
            <a:r>
              <a:rPr lang="en-US" dirty="0" smtClean="0"/>
              <a:t>= 1+3 = 4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B[4][2] = </a:t>
            </a:r>
            <a:r>
              <a:rPr lang="en-US" dirty="0" smtClean="0">
                <a:solidFill>
                  <a:srgbClr val="7030A0"/>
                </a:solidFill>
              </a:rPr>
              <a:t>B[3][1] </a:t>
            </a:r>
            <a:r>
              <a:rPr lang="en-US" dirty="0" smtClean="0"/>
              <a:t>+ </a:t>
            </a:r>
            <a:r>
              <a:rPr lang="en-US" dirty="0" smtClean="0">
                <a:solidFill>
                  <a:srgbClr val="FFC000"/>
                </a:solidFill>
              </a:rPr>
              <a:t>B[3][2] </a:t>
            </a:r>
            <a:r>
              <a:rPr lang="en-US" dirty="0" smtClean="0"/>
              <a:t>= 3+3 = 6</a:t>
            </a:r>
          </a:p>
          <a:p>
            <a:endParaRPr lang="en-US" dirty="0"/>
          </a:p>
        </p:txBody>
      </p:sp>
      <p:sp>
        <p:nvSpPr>
          <p:cNvPr id="14" name="Rectangle 51">
            <a:extLst>
              <a:ext uri="{FF2B5EF4-FFF2-40B4-BE49-F238E27FC236}">
                <a16:creationId xmlns:a16="http://schemas.microsoft.com/office/drawing/2014/main" id="{B7913112-1A91-9547-85E6-2706B02B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360" y="582948"/>
            <a:ext cx="41537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B[i][j] </a:t>
            </a:r>
            <a:r>
              <a:rPr lang="en-US" altLang="en-US" sz="24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= B[i-1][j-1]  </a:t>
            </a:r>
            <a:r>
              <a:rPr lang="en-US" altLang="en-US" sz="2400" dirty="0">
                <a:latin typeface="+mn-lt"/>
                <a:cs typeface="Times New Roman" panose="02020603050405020304" pitchFamily="18" charset="0"/>
              </a:rPr>
              <a:t>+</a:t>
            </a:r>
            <a:r>
              <a:rPr lang="en-US" altLang="en-US" sz="24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  </a:t>
            </a:r>
            <a:r>
              <a:rPr lang="en-US" altLang="en-US" sz="24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B[i-1][j]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2544" y="1048647"/>
            <a:ext cx="3971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1    If       j=0     or   i=j</a:t>
            </a: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10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61259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328FB-251A-A34A-A5C5-3A795C16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60" y="65036"/>
            <a:ext cx="10515600" cy="581509"/>
          </a:xfrm>
        </p:spPr>
        <p:txBody>
          <a:bodyPr/>
          <a:lstStyle/>
          <a:p>
            <a:r>
              <a:rPr lang="en-US" altLang="en-US" dirty="0"/>
              <a:t>The Binomial Coefficient (cont.)</a:t>
            </a:r>
            <a:endParaRPr lang="en-Q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DF349-105C-1441-A626-BFA60D838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0" y="889192"/>
            <a:ext cx="10515600" cy="5968808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3.2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Binomial Coefficient Using Dynamic Programming</a:t>
            </a: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binomial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nonnegative integers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the binomial coefficient</a:t>
            </a:r>
          </a:p>
          <a:p>
            <a:endParaRPr lang="en-QA" dirty="0"/>
          </a:p>
        </p:txBody>
      </p:sp>
      <p:grpSp>
        <p:nvGrpSpPr>
          <p:cNvPr id="5" name="Group 62">
            <a:extLst>
              <a:ext uri="{FF2B5EF4-FFF2-40B4-BE49-F238E27FC236}">
                <a16:creationId xmlns:a16="http://schemas.microsoft.com/office/drawing/2014/main" id="{799519DE-625F-034D-BBC6-944414761F3B}"/>
              </a:ext>
            </a:extLst>
          </p:cNvPr>
          <p:cNvGrpSpPr>
            <a:grpSpLocks/>
          </p:cNvGrpSpPr>
          <p:nvPr/>
        </p:nvGrpSpPr>
        <p:grpSpPr bwMode="auto">
          <a:xfrm>
            <a:off x="5267798" y="2326207"/>
            <a:ext cx="381000" cy="728663"/>
            <a:chOff x="960" y="912"/>
            <a:chExt cx="240" cy="459"/>
          </a:xfrm>
        </p:grpSpPr>
        <p:sp>
          <p:nvSpPr>
            <p:cNvPr id="6" name="AutoShape 63">
              <a:extLst>
                <a:ext uri="{FF2B5EF4-FFF2-40B4-BE49-F238E27FC236}">
                  <a16:creationId xmlns:a16="http://schemas.microsoft.com/office/drawing/2014/main" id="{AB27E165-70E8-8943-862F-B8FAB0179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60"/>
              <a:ext cx="240" cy="384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800"/>
            </a:p>
          </p:txBody>
        </p:sp>
        <p:sp>
          <p:nvSpPr>
            <p:cNvPr id="7" name="Text Box 64">
              <a:extLst>
                <a:ext uri="{FF2B5EF4-FFF2-40B4-BE49-F238E27FC236}">
                  <a16:creationId xmlns:a16="http://schemas.microsoft.com/office/drawing/2014/main" id="{E49AC55A-C0AD-BB41-9A43-E1B853F1FE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912"/>
              <a:ext cx="141" cy="4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 rIns="540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175674" y="3044631"/>
            <a:ext cx="4124170" cy="3693319"/>
          </a:xfrm>
          <a:prstGeom prst="rect">
            <a:avLst/>
          </a:prstGeom>
          <a:ln w="3492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int</a:t>
            </a:r>
            <a:r>
              <a:rPr lang="en-US" dirty="0"/>
              <a:t> bin2 (</a:t>
            </a:r>
            <a:r>
              <a:rPr lang="en-US" dirty="0">
                <a:solidFill>
                  <a:srgbClr val="C00000"/>
                </a:solidFill>
              </a:rPr>
              <a:t>int</a:t>
            </a:r>
            <a:r>
              <a:rPr lang="en-US" dirty="0"/>
              <a:t> n, </a:t>
            </a:r>
            <a:r>
              <a:rPr lang="en-US" dirty="0">
                <a:solidFill>
                  <a:srgbClr val="C00000"/>
                </a:solidFill>
              </a:rPr>
              <a:t>int</a:t>
            </a:r>
            <a:r>
              <a:rPr lang="en-US" dirty="0"/>
              <a:t> k)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index i, j;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rgbClr val="C00000"/>
                </a:solidFill>
              </a:rPr>
              <a:t>int</a:t>
            </a:r>
            <a:r>
              <a:rPr lang="en-US" dirty="0"/>
              <a:t> B[0..n] [0..k];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>
                <a:solidFill>
                  <a:srgbClr val="C00000"/>
                </a:solidFill>
              </a:rPr>
              <a:t>for</a:t>
            </a:r>
            <a:r>
              <a:rPr lang="en-US" dirty="0"/>
              <a:t> (i = 0; i &lt;= n; i++)</a:t>
            </a:r>
          </a:p>
          <a:p>
            <a:r>
              <a:rPr lang="en-US" dirty="0"/>
              <a:t>       </a:t>
            </a:r>
            <a:r>
              <a:rPr lang="en-US" dirty="0">
                <a:solidFill>
                  <a:srgbClr val="C00000"/>
                </a:solidFill>
              </a:rPr>
              <a:t>for</a:t>
            </a:r>
            <a:r>
              <a:rPr lang="en-US" dirty="0"/>
              <a:t> (j = 0; j &lt;= </a:t>
            </a:r>
            <a:r>
              <a:rPr lang="en-US" b="1" dirty="0"/>
              <a:t>minimum (i, k);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</a:t>
            </a:r>
            <a:r>
              <a:rPr lang="en-US" dirty="0">
                <a:solidFill>
                  <a:srgbClr val="C00000"/>
                </a:solidFill>
              </a:rPr>
              <a:t>if</a:t>
            </a:r>
            <a:r>
              <a:rPr lang="en-US" dirty="0"/>
              <a:t> (j = = 0 </a:t>
            </a:r>
            <a:r>
              <a:rPr lang="en-US" dirty="0">
                <a:solidFill>
                  <a:srgbClr val="C00000"/>
                </a:solidFill>
              </a:rPr>
              <a:t>||</a:t>
            </a:r>
            <a:r>
              <a:rPr lang="en-US" dirty="0"/>
              <a:t> j = = i)</a:t>
            </a:r>
          </a:p>
          <a:p>
            <a:r>
              <a:rPr lang="en-US" dirty="0"/>
              <a:t>               </a:t>
            </a:r>
            <a:r>
              <a:rPr lang="en-US" b="1" dirty="0"/>
              <a:t>B[i</a:t>
            </a:r>
            <a:r>
              <a:rPr lang="en-US" b="1" dirty="0" smtClean="0"/>
              <a:t>][j</a:t>
            </a:r>
            <a:r>
              <a:rPr lang="en-US" b="1" dirty="0"/>
              <a:t>] = </a:t>
            </a:r>
            <a:r>
              <a:rPr lang="en-US" b="1" dirty="0" smtClean="0"/>
              <a:t>1;</a:t>
            </a:r>
            <a:endParaRPr lang="en-US" b="1" dirty="0"/>
          </a:p>
          <a:p>
            <a:r>
              <a:rPr lang="en-US" dirty="0"/>
              <a:t>          </a:t>
            </a:r>
            <a:r>
              <a:rPr lang="en-US" dirty="0">
                <a:solidFill>
                  <a:srgbClr val="C00000"/>
                </a:solidFill>
              </a:rPr>
              <a:t>else</a:t>
            </a:r>
          </a:p>
          <a:p>
            <a:r>
              <a:rPr lang="en-US" dirty="0"/>
              <a:t>               </a:t>
            </a:r>
            <a:r>
              <a:rPr lang="en-US" b="1" dirty="0" smtClean="0"/>
              <a:t>B[i][</a:t>
            </a:r>
            <a:r>
              <a:rPr lang="en-US" b="1" dirty="0"/>
              <a:t>j] = B[i - 1][j - 1] + B[i - 1] [j];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smtClean="0"/>
              <a:t>B[n][</a:t>
            </a:r>
            <a:r>
              <a:rPr lang="en-US" dirty="0"/>
              <a:t>k];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10" name="Straight Arrow Connector 9"/>
          <p:cNvCxnSpPr>
            <a:endCxn id="13" idx="1"/>
          </p:cNvCxnSpPr>
          <p:nvPr/>
        </p:nvCxnSpPr>
        <p:spPr>
          <a:xfrm flipV="1">
            <a:off x="2343807" y="3889720"/>
            <a:ext cx="3385953" cy="73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29760" y="3689665"/>
            <a:ext cx="4847916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Iterates through all possible values of n</a:t>
            </a:r>
            <a:endParaRPr lang="tr-TR" sz="2000" dirty="0"/>
          </a:p>
        </p:txBody>
      </p:sp>
      <p:cxnSp>
        <p:nvCxnSpPr>
          <p:cNvPr id="16" name="Straight Arrow Connector 15"/>
          <p:cNvCxnSpPr>
            <a:endCxn id="18" idx="1"/>
          </p:cNvCxnSpPr>
          <p:nvPr/>
        </p:nvCxnSpPr>
        <p:spPr>
          <a:xfrm flipV="1">
            <a:off x="3783724" y="4715736"/>
            <a:ext cx="1865074" cy="175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48798" y="4361793"/>
            <a:ext cx="6438818" cy="707886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Iterates through k; we only compute values that are needed</a:t>
            </a:r>
          </a:p>
          <a:p>
            <a:r>
              <a:rPr lang="en-US" sz="2000" dirty="0" smtClean="0"/>
              <a:t>(since k cannot be greater than n)</a:t>
            </a:r>
            <a:endParaRPr lang="tr-TR" sz="20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254685" y="5423770"/>
            <a:ext cx="3820438" cy="139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30" idx="1"/>
          </p:cNvCxnSpPr>
          <p:nvPr/>
        </p:nvCxnSpPr>
        <p:spPr>
          <a:xfrm flipV="1">
            <a:off x="4164904" y="5741807"/>
            <a:ext cx="1910219" cy="200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75123" y="5541752"/>
            <a:ext cx="4647156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Apply previously discussed equations</a:t>
            </a:r>
            <a:endParaRPr lang="tr-TR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11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94553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57"/>
            <a:ext cx="10515600" cy="39544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 Code using Dynamic Programming </a:t>
            </a:r>
            <a:r>
              <a:rPr lang="en-US" u="sng" dirty="0" smtClean="0">
                <a:solidFill>
                  <a:srgbClr val="0070C0"/>
                </a:solidFill>
              </a:rPr>
              <a:t>(not space optimized)</a:t>
            </a:r>
            <a:endParaRPr lang="tr-TR" u="sng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594" y="394692"/>
            <a:ext cx="11025351" cy="646330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BinomialCoefficient {</a:t>
            </a:r>
          </a:p>
          <a:p>
            <a:pPr lvl="1"/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binomialCoeff(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[][] =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+ 1][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+ 1]; </a:t>
            </a:r>
          </a:p>
          <a:p>
            <a:pPr lvl="2"/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Bottom-up DP approach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2"/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&lt;= Math.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min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4"/>
            <a:r>
              <a:rPr lang="en-US" dirty="0" smtClean="0">
                <a:solidFill>
                  <a:srgbClr val="3F7F5F"/>
                </a:solidFill>
                <a:latin typeface="Consolas" panose="020B0609020204030204" pitchFamily="49" charset="0"/>
              </a:rPr>
              <a:t>	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Base cases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/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0 ||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4"/>
            <a:r>
              <a:rPr lang="en-US" dirty="0" smtClean="0">
                <a:solidFill>
                  <a:srgbClr val="6A3E3E"/>
                </a:solidFill>
                <a:latin typeface="Consolas" panose="020B0609020204030204" pitchFamily="49" charset="0"/>
              </a:rPr>
              <a:t>		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1;</a:t>
            </a:r>
          </a:p>
          <a:p>
            <a:pPr lvl="4"/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4"/>
            <a:r>
              <a:rPr lang="en-US" dirty="0" smtClean="0">
                <a:solidFill>
                  <a:srgbClr val="3F7F5F"/>
                </a:solidFill>
                <a:latin typeface="Consolas" panose="020B0609020204030204" pitchFamily="49" charset="0"/>
              </a:rPr>
              <a:t>		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DP relation: B(n, k) = B(n-1, k-1) + B(n-1, k)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/>
            <a:r>
              <a:rPr lang="en-US" dirty="0" smtClean="0">
                <a:solidFill>
                  <a:srgbClr val="6A3E3E"/>
                </a:solidFill>
                <a:latin typeface="Consolas" panose="020B0609020204030204" pitchFamily="49" charset="0"/>
              </a:rPr>
              <a:t>		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- 1][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- 1]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- 1][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4"/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/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4,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3;</a:t>
            </a:r>
          </a:p>
          <a:p>
            <a:pPr lvl="2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"C("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",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") =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binomialCoeff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12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80972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12446" y="47996"/>
            <a:ext cx="6096000" cy="2862322"/>
          </a:xfrm>
          <a:prstGeom prst="rect">
            <a:avLst/>
          </a:prstGeom>
          <a:ln w="34925">
            <a:solidFill>
              <a:srgbClr val="FFC000"/>
            </a:solidFill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int</a:t>
            </a:r>
            <a:r>
              <a:rPr lang="en-US" dirty="0"/>
              <a:t> bin2 (</a:t>
            </a:r>
            <a:r>
              <a:rPr lang="en-US" dirty="0">
                <a:solidFill>
                  <a:srgbClr val="C00000"/>
                </a:solidFill>
              </a:rPr>
              <a:t>int</a:t>
            </a:r>
            <a:r>
              <a:rPr lang="en-US" dirty="0"/>
              <a:t> n, </a:t>
            </a:r>
            <a:r>
              <a:rPr lang="en-US" dirty="0">
                <a:solidFill>
                  <a:srgbClr val="C00000"/>
                </a:solidFill>
              </a:rPr>
              <a:t>int</a:t>
            </a:r>
            <a:r>
              <a:rPr lang="en-US" dirty="0"/>
              <a:t> k)</a:t>
            </a:r>
          </a:p>
          <a:p>
            <a:r>
              <a:rPr lang="en-US" dirty="0"/>
              <a:t>{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for</a:t>
            </a:r>
            <a:r>
              <a:rPr lang="en-US" dirty="0" smtClean="0"/>
              <a:t> </a:t>
            </a:r>
            <a:r>
              <a:rPr lang="en-US" dirty="0"/>
              <a:t>(i = 0; i &lt;= n; i++)</a:t>
            </a:r>
          </a:p>
          <a:p>
            <a:r>
              <a:rPr lang="en-US" dirty="0"/>
              <a:t>       </a:t>
            </a:r>
            <a:r>
              <a:rPr lang="en-US" dirty="0">
                <a:solidFill>
                  <a:srgbClr val="C00000"/>
                </a:solidFill>
              </a:rPr>
              <a:t>for</a:t>
            </a:r>
            <a:r>
              <a:rPr lang="en-US" dirty="0"/>
              <a:t> (</a:t>
            </a:r>
            <a:r>
              <a:rPr lang="en-US" b="1" dirty="0">
                <a:solidFill>
                  <a:srgbClr val="00B050"/>
                </a:solidFill>
              </a:rPr>
              <a:t>j = 0</a:t>
            </a:r>
            <a:r>
              <a:rPr lang="en-US" dirty="0"/>
              <a:t>; </a:t>
            </a:r>
            <a:r>
              <a:rPr lang="en-US" b="1" dirty="0">
                <a:solidFill>
                  <a:srgbClr val="00B050"/>
                </a:solidFill>
              </a:rPr>
              <a:t>j </a:t>
            </a:r>
            <a:r>
              <a:rPr lang="en-US" dirty="0"/>
              <a:t>&lt;= </a:t>
            </a:r>
            <a:r>
              <a:rPr lang="en-US" dirty="0">
                <a:solidFill>
                  <a:srgbClr val="7030A0"/>
                </a:solidFill>
              </a:rPr>
              <a:t>minimum (i, k); </a:t>
            </a:r>
            <a:r>
              <a:rPr lang="en-US" b="1" dirty="0" err="1">
                <a:solidFill>
                  <a:srgbClr val="00B050"/>
                </a:solidFill>
              </a:rPr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</a:t>
            </a:r>
            <a:r>
              <a:rPr lang="en-US" dirty="0">
                <a:solidFill>
                  <a:srgbClr val="C00000"/>
                </a:solidFill>
              </a:rPr>
              <a:t>if</a:t>
            </a:r>
            <a:r>
              <a:rPr lang="en-US" dirty="0"/>
              <a:t> (j = = 0 </a:t>
            </a:r>
            <a:r>
              <a:rPr lang="en-US" dirty="0">
                <a:solidFill>
                  <a:srgbClr val="C00000"/>
                </a:solidFill>
              </a:rPr>
              <a:t>||</a:t>
            </a:r>
            <a:r>
              <a:rPr lang="en-US" dirty="0"/>
              <a:t> j = = i)</a:t>
            </a:r>
          </a:p>
          <a:p>
            <a:r>
              <a:rPr lang="en-US" dirty="0"/>
              <a:t>               B[i</a:t>
            </a:r>
            <a:r>
              <a:rPr lang="en-US" dirty="0" smtClean="0"/>
              <a:t>][j</a:t>
            </a:r>
            <a:r>
              <a:rPr lang="en-US" dirty="0"/>
              <a:t>] = </a:t>
            </a:r>
            <a:r>
              <a:rPr lang="en-US" dirty="0" smtClean="0"/>
              <a:t>1;</a:t>
            </a:r>
            <a:endParaRPr lang="en-US" dirty="0"/>
          </a:p>
          <a:p>
            <a:r>
              <a:rPr lang="en-US" dirty="0"/>
              <a:t>          </a:t>
            </a:r>
            <a:r>
              <a:rPr lang="en-US" dirty="0">
                <a:solidFill>
                  <a:srgbClr val="C00000"/>
                </a:solidFill>
              </a:rPr>
              <a:t>else</a:t>
            </a:r>
          </a:p>
          <a:p>
            <a:r>
              <a:rPr lang="en-US" dirty="0"/>
              <a:t>               </a:t>
            </a:r>
            <a:r>
              <a:rPr lang="en-US" dirty="0" smtClean="0"/>
              <a:t>B[i][</a:t>
            </a:r>
            <a:r>
              <a:rPr lang="en-US" dirty="0"/>
              <a:t>j] = B[i - 1][j - 1] + B[i - 1] [j];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return</a:t>
            </a:r>
            <a:r>
              <a:rPr lang="en-US" dirty="0"/>
              <a:t> B[n[k];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451386" y="24566"/>
            <a:ext cx="4888345" cy="893520"/>
          </a:xfrm>
        </p:spPr>
        <p:txBody>
          <a:bodyPr/>
          <a:lstStyle/>
          <a:p>
            <a:r>
              <a:rPr lang="en-US" u="sng" dirty="0" smtClean="0"/>
              <a:t>Analysis of the Algorithm</a:t>
            </a:r>
            <a:endParaRPr lang="en-US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267710" y="2979113"/>
            <a:ext cx="11674546" cy="255454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Outer loop: </a:t>
            </a:r>
            <a:r>
              <a:rPr lang="en-US" sz="2000" dirty="0"/>
              <a:t>It runs from i = 0 to i = n, so it iterates </a:t>
            </a:r>
            <a:r>
              <a:rPr lang="en-US" sz="2000" b="1" dirty="0"/>
              <a:t>n + 1 </a:t>
            </a:r>
            <a:r>
              <a:rPr lang="en-US" sz="2000" dirty="0" smtClean="0"/>
              <a:t>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/>
              <a:t>Inner loop: </a:t>
            </a:r>
            <a:r>
              <a:rPr lang="tr-TR" sz="2000" dirty="0"/>
              <a:t>It runs from j = 0 to min(i, </a:t>
            </a:r>
            <a:r>
              <a:rPr lang="tr-TR" sz="2000" dirty="0" smtClean="0"/>
              <a:t>k)</a:t>
            </a:r>
            <a:endParaRPr lang="en-US" sz="20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000" dirty="0" smtClean="0"/>
              <a:t>For </a:t>
            </a:r>
            <a:r>
              <a:rPr lang="tr-TR" sz="2000" dirty="0"/>
              <a:t>i ≤ k, the loop runs </a:t>
            </a:r>
            <a:r>
              <a:rPr lang="tr-TR" sz="2000" b="1" dirty="0"/>
              <a:t>i + 1 </a:t>
            </a:r>
            <a:r>
              <a:rPr lang="tr-TR" sz="2000" dirty="0" smtClean="0"/>
              <a:t>times</a:t>
            </a:r>
            <a:endParaRPr lang="en-US" sz="20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000" dirty="0" smtClean="0"/>
              <a:t>For </a:t>
            </a:r>
            <a:r>
              <a:rPr lang="tr-TR" sz="2000" dirty="0"/>
              <a:t>i &gt; k, it runs exactly </a:t>
            </a:r>
            <a:r>
              <a:rPr lang="tr-TR" sz="2000" b="1" dirty="0"/>
              <a:t>k + 1 </a:t>
            </a:r>
            <a:r>
              <a:rPr lang="tr-TR" sz="2000" dirty="0"/>
              <a:t>times (since min(i, k) = k</a:t>
            </a:r>
            <a:r>
              <a:rPr lang="tr-TR" sz="2000" dirty="0" smtClean="0"/>
              <a:t>)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u="sng" dirty="0"/>
              <a:t>Total Iterations</a:t>
            </a:r>
            <a:r>
              <a:rPr lang="tr-TR" sz="2000" b="1" u="sng" dirty="0" smtClean="0"/>
              <a:t>:</a:t>
            </a:r>
            <a:r>
              <a:rPr lang="en-US" sz="2000" b="1" u="sng" dirty="0" smtClean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000" dirty="0" smtClean="0"/>
              <a:t>For </a:t>
            </a:r>
            <a:r>
              <a:rPr lang="tr-TR" sz="2000" dirty="0"/>
              <a:t>small i (i.e., when i ≤ k), the inner loop runs up to k times, which gives us a total of </a:t>
            </a:r>
            <a:r>
              <a:rPr lang="tr-TR" sz="2000" b="1" dirty="0">
                <a:solidFill>
                  <a:srgbClr val="FF0000"/>
                </a:solidFill>
              </a:rPr>
              <a:t>𝑂(𝑘</a:t>
            </a:r>
            <a:r>
              <a:rPr lang="tr-TR" sz="2000" b="1" baseline="30000" dirty="0" smtClean="0">
                <a:solidFill>
                  <a:srgbClr val="FF0000"/>
                </a:solidFill>
              </a:rPr>
              <a:t>2</a:t>
            </a:r>
            <a:r>
              <a:rPr lang="tr-TR" sz="2000" b="1" dirty="0" smtClean="0"/>
              <a:t>) </a:t>
            </a:r>
            <a:r>
              <a:rPr lang="tr-TR" sz="2000" dirty="0" smtClean="0"/>
              <a:t>operations</a:t>
            </a:r>
            <a:endParaRPr lang="en-US" sz="20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000" dirty="0" smtClean="0"/>
              <a:t>For </a:t>
            </a:r>
            <a:r>
              <a:rPr lang="tr-TR" sz="2000" dirty="0"/>
              <a:t>larger i (i.e., when i &gt; k), the inner loop runs k times for each i, resulting in </a:t>
            </a:r>
            <a:r>
              <a:rPr lang="tr-TR" sz="2000" b="1" dirty="0">
                <a:solidFill>
                  <a:srgbClr val="FF0000"/>
                </a:solidFill>
              </a:rPr>
              <a:t>𝑂(𝑛𝑘</a:t>
            </a:r>
            <a:r>
              <a:rPr lang="tr-TR" sz="2000" b="1" dirty="0" smtClean="0">
                <a:solidFill>
                  <a:srgbClr val="FF0000"/>
                </a:solidFill>
              </a:rPr>
              <a:t>) </a:t>
            </a:r>
            <a:r>
              <a:rPr lang="tr-TR" sz="2000" dirty="0" smtClean="0"/>
              <a:t>operations</a:t>
            </a:r>
            <a:endParaRPr lang="en-US" sz="20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000" dirty="0"/>
              <a:t>Since </a:t>
            </a:r>
            <a:r>
              <a:rPr lang="tr-TR" sz="2000" b="1" dirty="0">
                <a:solidFill>
                  <a:srgbClr val="FF0000"/>
                </a:solidFill>
              </a:rPr>
              <a:t>𝑂(𝑛𝑘</a:t>
            </a:r>
            <a:r>
              <a:rPr lang="tr-TR" sz="2000" b="1" dirty="0" smtClean="0">
                <a:solidFill>
                  <a:srgbClr val="FF0000"/>
                </a:solidFill>
              </a:rPr>
              <a:t>) </a:t>
            </a:r>
            <a:r>
              <a:rPr lang="tr-TR" sz="2000" dirty="0"/>
              <a:t>dominates </a:t>
            </a:r>
            <a:r>
              <a:rPr lang="tr-TR" sz="2000" b="1" dirty="0">
                <a:solidFill>
                  <a:srgbClr val="FF0000"/>
                </a:solidFill>
              </a:rPr>
              <a:t>𝑂(𝑘</a:t>
            </a:r>
            <a:r>
              <a:rPr lang="tr-TR" sz="2000" b="1" baseline="30000" dirty="0" smtClean="0">
                <a:solidFill>
                  <a:srgbClr val="FF0000"/>
                </a:solidFill>
              </a:rPr>
              <a:t>2</a:t>
            </a:r>
            <a:r>
              <a:rPr lang="tr-TR" sz="2000" b="1" dirty="0" smtClean="0">
                <a:solidFill>
                  <a:srgbClr val="FF0000"/>
                </a:solidFill>
              </a:rPr>
              <a:t>), </a:t>
            </a:r>
            <a:r>
              <a:rPr lang="tr-TR" sz="2000" dirty="0"/>
              <a:t>the overall time complexity is</a:t>
            </a:r>
            <a:r>
              <a:rPr lang="tr-TR" sz="2000" dirty="0" smtClean="0"/>
              <a:t>:</a:t>
            </a:r>
            <a:r>
              <a:rPr lang="en-US" sz="2000" dirty="0" smtClean="0"/>
              <a:t> </a:t>
            </a:r>
            <a:r>
              <a:rPr lang="tr-TR" sz="2000" b="1" dirty="0" smtClean="0">
                <a:solidFill>
                  <a:srgbClr val="FF0000"/>
                </a:solidFill>
              </a:rPr>
              <a:t>𝑂</a:t>
            </a:r>
            <a:r>
              <a:rPr lang="tr-TR" sz="2000" b="1" dirty="0">
                <a:solidFill>
                  <a:srgbClr val="FF0000"/>
                </a:solidFill>
              </a:rPr>
              <a:t>(𝑛𝑘</a:t>
            </a:r>
            <a:r>
              <a:rPr lang="tr-TR" sz="2000" b="1" dirty="0" smtClean="0">
                <a:solidFill>
                  <a:srgbClr val="FF0000"/>
                </a:solidFill>
              </a:rPr>
              <a:t>)</a:t>
            </a:r>
            <a:endParaRPr lang="tr-TR" sz="20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91731" y="855654"/>
            <a:ext cx="1228715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O(</a:t>
            </a:r>
            <a:r>
              <a:rPr lang="en-US" sz="2400" dirty="0" err="1" smtClean="0"/>
              <a:t>nk</a:t>
            </a:r>
            <a:r>
              <a:rPr lang="en-US" sz="2400" dirty="0" smtClean="0"/>
              <a:t>)</a:t>
            </a:r>
            <a:endParaRPr lang="tr-TR" sz="2400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8697433" y="1317320"/>
            <a:ext cx="0" cy="16617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01502" y="5611291"/>
            <a:ext cx="11640754" cy="40011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000" dirty="0" smtClean="0"/>
              <a:t>For </a:t>
            </a:r>
            <a:r>
              <a:rPr lang="en-US" sz="2000" dirty="0"/>
              <a:t>i ≤ </a:t>
            </a:r>
            <a:r>
              <a:rPr lang="en-US" sz="2000" dirty="0" smtClean="0"/>
              <a:t>k; The </a:t>
            </a:r>
            <a:r>
              <a:rPr lang="en-US" sz="2000" dirty="0"/>
              <a:t>total number of iterations for the inner loop </a:t>
            </a:r>
            <a:r>
              <a:rPr lang="en-US" sz="2000" dirty="0" smtClean="0"/>
              <a:t>is </a:t>
            </a:r>
            <a:r>
              <a:rPr lang="en-US" sz="2000" dirty="0"/>
              <a:t>the </a:t>
            </a:r>
            <a:r>
              <a:rPr lang="en-US" sz="2000" dirty="0" smtClean="0"/>
              <a:t>sum: </a:t>
            </a:r>
            <a:r>
              <a:rPr lang="tr-TR" sz="2000" dirty="0"/>
              <a:t>1+2+3+⋯+</a:t>
            </a:r>
            <a:r>
              <a:rPr lang="tr-TR" sz="2000" dirty="0" smtClean="0"/>
              <a:t>k+1</a:t>
            </a:r>
            <a:r>
              <a:rPr lang="en-US" sz="2000" dirty="0" smtClean="0"/>
              <a:t> = k(k+1) / 2 = k</a:t>
            </a:r>
            <a:r>
              <a:rPr lang="en-US" sz="2000" baseline="30000" dirty="0" smtClean="0"/>
              <a:t>2</a:t>
            </a:r>
            <a:endParaRPr lang="tr-TR" sz="2000" baseline="30000" dirty="0"/>
          </a:p>
        </p:txBody>
      </p:sp>
      <p:sp>
        <p:nvSpPr>
          <p:cNvPr id="40" name="Rectangle 39"/>
          <p:cNvSpPr/>
          <p:nvPr/>
        </p:nvSpPr>
        <p:spPr>
          <a:xfrm>
            <a:off x="301502" y="6093945"/>
            <a:ext cx="11640754" cy="64633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tr-TR" dirty="0"/>
              <a:t>For i &gt; </a:t>
            </a:r>
            <a:r>
              <a:rPr lang="tr-TR" dirty="0" smtClean="0"/>
              <a:t>k</a:t>
            </a:r>
            <a:r>
              <a:rPr lang="en-US" dirty="0" smtClean="0"/>
              <a:t>;</a:t>
            </a:r>
            <a:r>
              <a:rPr lang="tr-TR" dirty="0" smtClean="0"/>
              <a:t> </a:t>
            </a:r>
            <a:r>
              <a:rPr lang="tr-TR" dirty="0"/>
              <a:t>the inner loop runs exactly k + 1 times for each i</a:t>
            </a:r>
            <a:r>
              <a:rPr lang="tr-TR" dirty="0" smtClean="0"/>
              <a:t>.</a:t>
            </a:r>
            <a:r>
              <a:rPr lang="en-US" dirty="0" smtClean="0"/>
              <a:t> </a:t>
            </a:r>
            <a:r>
              <a:rPr lang="tr-TR" dirty="0" smtClean="0"/>
              <a:t>There </a:t>
            </a:r>
            <a:r>
              <a:rPr lang="tr-TR" dirty="0"/>
              <a:t>are (𝑛−𝑘</a:t>
            </a:r>
            <a:r>
              <a:rPr lang="tr-TR" dirty="0" smtClean="0"/>
              <a:t>) </a:t>
            </a:r>
            <a:r>
              <a:rPr lang="tr-TR" dirty="0"/>
              <a:t>such iterations (from i = k + 1 to i = n</a:t>
            </a:r>
            <a:r>
              <a:rPr lang="tr-TR" dirty="0" smtClean="0"/>
              <a:t>).</a:t>
            </a:r>
            <a:r>
              <a:rPr lang="en-US" dirty="0" smtClean="0"/>
              <a:t> </a:t>
            </a:r>
          </a:p>
          <a:p>
            <a:r>
              <a:rPr lang="tr-TR" dirty="0" smtClean="0"/>
              <a:t>Therefore</a:t>
            </a:r>
            <a:r>
              <a:rPr lang="tr-TR" dirty="0"/>
              <a:t>, the total </a:t>
            </a:r>
            <a:r>
              <a:rPr lang="tr-TR" dirty="0" smtClean="0"/>
              <a:t>work</a:t>
            </a:r>
            <a:r>
              <a:rPr lang="en-US" dirty="0" smtClean="0"/>
              <a:t> </a:t>
            </a:r>
            <a:r>
              <a:rPr lang="tr-TR" dirty="0" smtClean="0"/>
              <a:t>is </a:t>
            </a:r>
            <a:r>
              <a:rPr lang="tr-TR" dirty="0"/>
              <a:t>𝑂(𝑛𝑘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2" name="TextBox 41"/>
          <p:cNvSpPr txBox="1"/>
          <p:nvPr/>
        </p:nvSpPr>
        <p:spPr>
          <a:xfrm>
            <a:off x="9813851" y="1317319"/>
            <a:ext cx="2243470" cy="147732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Much better than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O(2</a:t>
            </a:r>
            <a:r>
              <a:rPr lang="en-US" baseline="30000" dirty="0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) </a:t>
            </a:r>
            <a:r>
              <a:rPr lang="en-US" dirty="0" smtClean="0"/>
              <a:t>which is the complexity of recursive Divide and Conquer approach</a:t>
            </a:r>
            <a:endParaRPr lang="tr-TR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13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88547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 animBg="1"/>
      <p:bldP spid="40" grpId="0" animBg="1"/>
      <p:bldP spid="4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2098"/>
            <a:ext cx="10515600" cy="658131"/>
          </a:xfrm>
        </p:spPr>
        <p:txBody>
          <a:bodyPr/>
          <a:lstStyle/>
          <a:p>
            <a:r>
              <a:rPr lang="en-US" dirty="0" smtClean="0"/>
              <a:t>Wrap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8646"/>
            <a:ext cx="10809514" cy="491831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By using </a:t>
            </a:r>
            <a:r>
              <a:rPr lang="en-US" u="sng" dirty="0" smtClean="0">
                <a:solidFill>
                  <a:srgbClr val="0070C0"/>
                </a:solidFill>
              </a:rPr>
              <a:t>dynamic programming </a:t>
            </a:r>
            <a:r>
              <a:rPr lang="en-US" dirty="0" smtClean="0"/>
              <a:t>instead of </a:t>
            </a:r>
            <a:r>
              <a:rPr lang="en-US" u="sng" dirty="0" smtClean="0">
                <a:solidFill>
                  <a:srgbClr val="C00000"/>
                </a:solidFill>
              </a:rPr>
              <a:t>divide-and-conquer</a:t>
            </a:r>
          </a:p>
          <a:p>
            <a:pPr lvl="1"/>
            <a:r>
              <a:rPr lang="en-US" sz="2400" dirty="0"/>
              <a:t>w</a:t>
            </a:r>
            <a:r>
              <a:rPr lang="en-US" sz="2400" dirty="0" smtClean="0"/>
              <a:t>e have developed </a:t>
            </a:r>
            <a:r>
              <a:rPr lang="en-US" sz="2400" u="sng" dirty="0" smtClean="0">
                <a:solidFill>
                  <a:srgbClr val="00B050"/>
                </a:solidFill>
              </a:rPr>
              <a:t>a much more efficient algorithm</a:t>
            </a:r>
          </a:p>
          <a:p>
            <a:endParaRPr lang="en-US" dirty="0"/>
          </a:p>
          <a:p>
            <a:r>
              <a:rPr lang="en-US" dirty="0" smtClean="0"/>
              <a:t>Dynamic programming is </a:t>
            </a:r>
            <a:r>
              <a:rPr lang="en-US" u="sng" dirty="0" smtClean="0">
                <a:solidFill>
                  <a:srgbClr val="0070C0"/>
                </a:solidFill>
              </a:rPr>
              <a:t>similar to divide-and-conquer </a:t>
            </a:r>
            <a:r>
              <a:rPr lang="en-US" dirty="0" smtClean="0"/>
              <a:t>in that we find a </a:t>
            </a:r>
            <a:r>
              <a:rPr lang="en-US" u="sng" dirty="0" smtClean="0">
                <a:solidFill>
                  <a:srgbClr val="C00000"/>
                </a:solidFill>
              </a:rPr>
              <a:t>recursive property </a:t>
            </a:r>
            <a:r>
              <a:rPr lang="en-US" dirty="0" smtClean="0"/>
              <a:t>that </a:t>
            </a:r>
            <a:r>
              <a:rPr lang="en-US" u="sng" dirty="0" smtClean="0">
                <a:solidFill>
                  <a:srgbClr val="7030A0"/>
                </a:solidFill>
              </a:rPr>
              <a:t>divides an instance into smaller instances</a:t>
            </a:r>
          </a:p>
          <a:p>
            <a:endParaRPr lang="en-US" dirty="0"/>
          </a:p>
          <a:p>
            <a:r>
              <a:rPr lang="en-US" dirty="0" smtClean="0"/>
              <a:t>The difference is that in dynamic programming </a:t>
            </a:r>
            <a:r>
              <a:rPr lang="en-US" u="sng" dirty="0" smtClean="0">
                <a:solidFill>
                  <a:srgbClr val="0070C0"/>
                </a:solidFill>
              </a:rPr>
              <a:t>we use the recursive property to iteratively solve the instances in sequence</a:t>
            </a:r>
            <a:r>
              <a:rPr lang="en-US" dirty="0" smtClean="0"/>
              <a:t>, </a:t>
            </a:r>
            <a:r>
              <a:rPr lang="en-US" u="sng" dirty="0" smtClean="0">
                <a:solidFill>
                  <a:srgbClr val="00B050"/>
                </a:solidFill>
              </a:rPr>
              <a:t>starting from the smallest instance</a:t>
            </a:r>
          </a:p>
          <a:p>
            <a:endParaRPr lang="en-US" dirty="0"/>
          </a:p>
          <a:p>
            <a:r>
              <a:rPr lang="en-US" dirty="0" smtClean="0"/>
              <a:t>This way, we solve </a:t>
            </a:r>
            <a:r>
              <a:rPr lang="en-US" u="sng" dirty="0" smtClean="0">
                <a:solidFill>
                  <a:srgbClr val="7030A0"/>
                </a:solidFill>
              </a:rPr>
              <a:t>each smaller instance just once</a:t>
            </a:r>
          </a:p>
          <a:p>
            <a:endParaRPr lang="en-US" dirty="0"/>
          </a:p>
          <a:p>
            <a:r>
              <a:rPr lang="en-US" u="sng" dirty="0" smtClean="0">
                <a:solidFill>
                  <a:srgbClr val="0070C0"/>
                </a:solidFill>
              </a:rPr>
              <a:t>Dynamic programming</a:t>
            </a:r>
            <a:r>
              <a:rPr lang="en-US" dirty="0" smtClean="0"/>
              <a:t> is a good technique to try when </a:t>
            </a:r>
            <a:r>
              <a:rPr lang="en-US" u="sng" dirty="0" smtClean="0">
                <a:solidFill>
                  <a:srgbClr val="C00000"/>
                </a:solidFill>
              </a:rPr>
              <a:t>divide-and-conquer leads to an inefficient algorithm</a:t>
            </a:r>
            <a:endParaRPr lang="en-US" u="sng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14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55694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-23781" y="13856"/>
            <a:ext cx="9708065" cy="64201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0" dirty="0">
                <a:latin typeface="+mn-lt"/>
              </a:rPr>
              <a:t>Brief Review of Graph Theory </a:t>
            </a:r>
            <a:r>
              <a:rPr lang="en-US" altLang="en-US" b="0" dirty="0" smtClean="0">
                <a:latin typeface="+mn-lt"/>
              </a:rPr>
              <a:t>– </a:t>
            </a:r>
            <a:r>
              <a:rPr lang="en-US" altLang="en-US" u="sng" dirty="0" smtClean="0">
                <a:solidFill>
                  <a:schemeClr val="tx1"/>
                </a:solidFill>
                <a:latin typeface="+mn-lt"/>
              </a:rPr>
              <a:t>Terminology I</a:t>
            </a:r>
            <a:endParaRPr lang="en-US" altLang="en-US" u="sng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-23781" y="3340974"/>
            <a:ext cx="4994147" cy="3486500"/>
            <a:chOff x="56164" y="836931"/>
            <a:chExt cx="4994147" cy="3486500"/>
          </a:xfrm>
        </p:grpSpPr>
        <p:sp>
          <p:nvSpPr>
            <p:cNvPr id="13315" name="Oval 802"/>
            <p:cNvSpPr>
              <a:spLocks noChangeArrowheads="1"/>
            </p:cNvSpPr>
            <p:nvPr/>
          </p:nvSpPr>
          <p:spPr bwMode="auto">
            <a:xfrm>
              <a:off x="1834334" y="2312067"/>
              <a:ext cx="606425" cy="6365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13316" name="Oval 803"/>
            <p:cNvSpPr>
              <a:spLocks noChangeArrowheads="1"/>
            </p:cNvSpPr>
            <p:nvPr/>
          </p:nvSpPr>
          <p:spPr bwMode="auto">
            <a:xfrm>
              <a:off x="3653609" y="2312067"/>
              <a:ext cx="606425" cy="6365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17" name="Oval 804"/>
            <p:cNvSpPr>
              <a:spLocks noChangeArrowheads="1"/>
            </p:cNvSpPr>
            <p:nvPr/>
          </p:nvSpPr>
          <p:spPr bwMode="auto">
            <a:xfrm>
              <a:off x="1834334" y="3585242"/>
              <a:ext cx="606425" cy="6365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13318" name="Oval 805"/>
            <p:cNvSpPr>
              <a:spLocks noChangeArrowheads="1"/>
            </p:cNvSpPr>
            <p:nvPr/>
          </p:nvSpPr>
          <p:spPr bwMode="auto">
            <a:xfrm>
              <a:off x="3653609" y="3585242"/>
              <a:ext cx="606425" cy="6365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19" name="Oval 806"/>
            <p:cNvSpPr>
              <a:spLocks noChangeArrowheads="1"/>
            </p:cNvSpPr>
            <p:nvPr/>
          </p:nvSpPr>
          <p:spPr bwMode="auto">
            <a:xfrm>
              <a:off x="378597" y="2948656"/>
              <a:ext cx="606425" cy="6365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00800" tIns="0"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5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20" name="Line 807"/>
            <p:cNvSpPr>
              <a:spLocks noChangeShapeType="1"/>
            </p:cNvSpPr>
            <p:nvPr/>
          </p:nvSpPr>
          <p:spPr bwMode="auto">
            <a:xfrm flipV="1">
              <a:off x="899297" y="2693067"/>
              <a:ext cx="955675" cy="3825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1" name="Line 808"/>
            <p:cNvSpPr>
              <a:spLocks noChangeShapeType="1"/>
            </p:cNvSpPr>
            <p:nvPr/>
          </p:nvSpPr>
          <p:spPr bwMode="auto">
            <a:xfrm flipV="1">
              <a:off x="985021" y="2821655"/>
              <a:ext cx="931862" cy="381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Line 809"/>
            <p:cNvSpPr>
              <a:spLocks noChangeShapeType="1"/>
            </p:cNvSpPr>
            <p:nvPr/>
          </p:nvSpPr>
          <p:spPr bwMode="auto">
            <a:xfrm flipV="1">
              <a:off x="2415359" y="2870868"/>
              <a:ext cx="1319213" cy="8540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Line 810"/>
            <p:cNvSpPr>
              <a:spLocks noChangeShapeType="1"/>
            </p:cNvSpPr>
            <p:nvPr/>
          </p:nvSpPr>
          <p:spPr bwMode="auto">
            <a:xfrm flipV="1">
              <a:off x="2359797" y="2454942"/>
              <a:ext cx="13747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4" name="Line 811"/>
            <p:cNvSpPr>
              <a:spLocks noChangeShapeType="1"/>
            </p:cNvSpPr>
            <p:nvPr/>
          </p:nvSpPr>
          <p:spPr bwMode="auto">
            <a:xfrm flipV="1">
              <a:off x="2440758" y="3840830"/>
              <a:ext cx="1212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Line 812"/>
            <p:cNvSpPr>
              <a:spLocks noChangeShapeType="1"/>
            </p:cNvSpPr>
            <p:nvPr/>
          </p:nvSpPr>
          <p:spPr bwMode="auto">
            <a:xfrm>
              <a:off x="2077221" y="2948656"/>
              <a:ext cx="0" cy="636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813"/>
            <p:cNvSpPr>
              <a:spLocks noChangeShapeType="1"/>
            </p:cNvSpPr>
            <p:nvPr/>
          </p:nvSpPr>
          <p:spPr bwMode="auto">
            <a:xfrm>
              <a:off x="3977458" y="2948656"/>
              <a:ext cx="0" cy="636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Line 814"/>
            <p:cNvSpPr>
              <a:spLocks noChangeShapeType="1"/>
            </p:cNvSpPr>
            <p:nvPr/>
          </p:nvSpPr>
          <p:spPr bwMode="auto">
            <a:xfrm flipV="1">
              <a:off x="2440758" y="3967830"/>
              <a:ext cx="1212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815"/>
            <p:cNvSpPr>
              <a:spLocks noChangeShapeType="1"/>
            </p:cNvSpPr>
            <p:nvPr/>
          </p:nvSpPr>
          <p:spPr bwMode="auto">
            <a:xfrm flipV="1">
              <a:off x="2440758" y="2693067"/>
              <a:ext cx="1212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Line 816"/>
            <p:cNvSpPr>
              <a:spLocks noChangeShapeType="1"/>
            </p:cNvSpPr>
            <p:nvPr/>
          </p:nvSpPr>
          <p:spPr bwMode="auto">
            <a:xfrm>
              <a:off x="864371" y="3458242"/>
              <a:ext cx="969962" cy="3825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Text Box 817"/>
            <p:cNvSpPr txBox="1">
              <a:spLocks noChangeArrowheads="1"/>
            </p:cNvSpPr>
            <p:nvPr/>
          </p:nvSpPr>
          <p:spPr bwMode="auto">
            <a:xfrm>
              <a:off x="1227908" y="2481930"/>
              <a:ext cx="323850" cy="398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3331" name="Text Box 818"/>
            <p:cNvSpPr txBox="1">
              <a:spLocks noChangeArrowheads="1"/>
            </p:cNvSpPr>
            <p:nvPr/>
          </p:nvSpPr>
          <p:spPr bwMode="auto">
            <a:xfrm>
              <a:off x="2966221" y="3882106"/>
              <a:ext cx="444500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3332" name="Text Box 819"/>
            <p:cNvSpPr txBox="1">
              <a:spLocks noChangeArrowheads="1"/>
            </p:cNvSpPr>
            <p:nvPr/>
          </p:nvSpPr>
          <p:spPr bwMode="auto">
            <a:xfrm>
              <a:off x="1140597" y="3547143"/>
              <a:ext cx="365125" cy="42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3333" name="Text Box 820"/>
            <p:cNvSpPr txBox="1">
              <a:spLocks noChangeArrowheads="1"/>
            </p:cNvSpPr>
            <p:nvPr/>
          </p:nvSpPr>
          <p:spPr bwMode="auto">
            <a:xfrm>
              <a:off x="3007497" y="3501105"/>
              <a:ext cx="40322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  <a:p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334" name="Text Box 821"/>
            <p:cNvSpPr txBox="1">
              <a:spLocks noChangeArrowheads="1"/>
            </p:cNvSpPr>
            <p:nvPr/>
          </p:nvSpPr>
          <p:spPr bwMode="auto">
            <a:xfrm>
              <a:off x="1470796" y="2880392"/>
              <a:ext cx="322262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3335" name="Text Box 822"/>
            <p:cNvSpPr txBox="1">
              <a:spLocks noChangeArrowheads="1"/>
            </p:cNvSpPr>
            <p:nvPr/>
          </p:nvSpPr>
          <p:spPr bwMode="auto">
            <a:xfrm>
              <a:off x="2850334" y="2964530"/>
              <a:ext cx="403225" cy="398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336" name="Text Box 823"/>
            <p:cNvSpPr txBox="1">
              <a:spLocks noChangeArrowheads="1"/>
            </p:cNvSpPr>
            <p:nvPr/>
          </p:nvSpPr>
          <p:spPr bwMode="auto">
            <a:xfrm>
              <a:off x="2926533" y="2624805"/>
              <a:ext cx="363538" cy="425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3337" name="Text Box 824"/>
            <p:cNvSpPr txBox="1">
              <a:spLocks noChangeArrowheads="1"/>
            </p:cNvSpPr>
            <p:nvPr/>
          </p:nvSpPr>
          <p:spPr bwMode="auto">
            <a:xfrm>
              <a:off x="2926533" y="2099343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338" name="Text Box 825"/>
            <p:cNvSpPr txBox="1">
              <a:spLocks noChangeArrowheads="1"/>
            </p:cNvSpPr>
            <p:nvPr/>
          </p:nvSpPr>
          <p:spPr bwMode="auto">
            <a:xfrm>
              <a:off x="3977458" y="3050255"/>
              <a:ext cx="363538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3339" name="Text Box 827"/>
            <p:cNvSpPr txBox="1">
              <a:spLocks noChangeArrowheads="1"/>
            </p:cNvSpPr>
            <p:nvPr/>
          </p:nvSpPr>
          <p:spPr bwMode="auto">
            <a:xfrm>
              <a:off x="56164" y="836931"/>
              <a:ext cx="283096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u="sng" dirty="0" smtClean="0">
                  <a:solidFill>
                    <a:srgbClr val="00B050"/>
                  </a:solidFill>
                  <a:latin typeface="+mn-lt"/>
                  <a:cs typeface="Times New Roman" panose="02020603050405020304" pitchFamily="18" charset="0"/>
                </a:rPr>
                <a:t>Weighted </a:t>
              </a:r>
              <a:r>
                <a:rPr lang="en-US" altLang="en-US" sz="2000" u="sng" dirty="0">
                  <a:solidFill>
                    <a:srgbClr val="00B050"/>
                  </a:solidFill>
                  <a:latin typeface="+mn-lt"/>
                  <a:cs typeface="Times New Roman" panose="02020603050405020304" pitchFamily="18" charset="0"/>
                </a:rPr>
                <a:t>Directed Graph</a:t>
              </a:r>
            </a:p>
          </p:txBody>
        </p:sp>
        <p:sp>
          <p:nvSpPr>
            <p:cNvPr id="13340" name="Text Box 828"/>
            <p:cNvSpPr txBox="1">
              <a:spLocks noChangeArrowheads="1"/>
            </p:cNvSpPr>
            <p:nvPr/>
          </p:nvSpPr>
          <p:spPr bwMode="auto">
            <a:xfrm>
              <a:off x="4041252" y="1851632"/>
              <a:ext cx="100905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Vertices</a:t>
              </a:r>
            </a:p>
          </p:txBody>
        </p:sp>
        <p:sp>
          <p:nvSpPr>
            <p:cNvPr id="13341" name="Text Box 829"/>
            <p:cNvSpPr txBox="1">
              <a:spLocks noChangeArrowheads="1"/>
            </p:cNvSpPr>
            <p:nvPr/>
          </p:nvSpPr>
          <p:spPr bwMode="auto">
            <a:xfrm>
              <a:off x="1151709" y="1326230"/>
              <a:ext cx="145745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Edges (arcs)</a:t>
              </a:r>
            </a:p>
          </p:txBody>
        </p:sp>
        <p:sp>
          <p:nvSpPr>
            <p:cNvPr id="13343" name="Line 831"/>
            <p:cNvSpPr>
              <a:spLocks noChangeShapeType="1"/>
            </p:cNvSpPr>
            <p:nvPr/>
          </p:nvSpPr>
          <p:spPr bwMode="auto">
            <a:xfrm flipH="1">
              <a:off x="4264796" y="2251742"/>
              <a:ext cx="609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Line 832"/>
            <p:cNvSpPr>
              <a:spLocks noChangeShapeType="1"/>
            </p:cNvSpPr>
            <p:nvPr/>
          </p:nvSpPr>
          <p:spPr bwMode="auto">
            <a:xfrm flipH="1">
              <a:off x="4188596" y="2251742"/>
              <a:ext cx="6858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Line 871"/>
            <p:cNvSpPr>
              <a:spLocks noChangeShapeType="1"/>
            </p:cNvSpPr>
            <p:nvPr/>
          </p:nvSpPr>
          <p:spPr bwMode="auto">
            <a:xfrm flipH="1">
              <a:off x="1577158" y="1743742"/>
              <a:ext cx="3810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Line 872"/>
            <p:cNvSpPr>
              <a:spLocks noChangeShapeType="1"/>
            </p:cNvSpPr>
            <p:nvPr/>
          </p:nvSpPr>
          <p:spPr bwMode="auto">
            <a:xfrm>
              <a:off x="1958158" y="1743742"/>
              <a:ext cx="685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Line 874"/>
            <p:cNvSpPr>
              <a:spLocks noChangeShapeType="1"/>
            </p:cNvSpPr>
            <p:nvPr/>
          </p:nvSpPr>
          <p:spPr bwMode="auto">
            <a:xfrm flipH="1">
              <a:off x="3129732" y="1438942"/>
              <a:ext cx="962026" cy="8112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Line 875"/>
            <p:cNvSpPr>
              <a:spLocks noChangeShapeType="1"/>
            </p:cNvSpPr>
            <p:nvPr/>
          </p:nvSpPr>
          <p:spPr bwMode="auto">
            <a:xfrm flipH="1">
              <a:off x="3253558" y="1438942"/>
              <a:ext cx="838200" cy="213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Line 876"/>
            <p:cNvSpPr>
              <a:spLocks noChangeShapeType="1"/>
            </p:cNvSpPr>
            <p:nvPr/>
          </p:nvSpPr>
          <p:spPr bwMode="auto">
            <a:xfrm flipH="1">
              <a:off x="3177358" y="1438942"/>
              <a:ext cx="914400" cy="1371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Box 873"/>
            <p:cNvSpPr txBox="1">
              <a:spLocks noChangeArrowheads="1"/>
            </p:cNvSpPr>
            <p:nvPr/>
          </p:nvSpPr>
          <p:spPr bwMode="auto">
            <a:xfrm>
              <a:off x="3786959" y="1057942"/>
              <a:ext cx="93564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Weights</a:t>
              </a:r>
            </a:p>
          </p:txBody>
        </p:sp>
      </p:grpSp>
      <p:sp>
        <p:nvSpPr>
          <p:cNvPr id="58" name="Text Box 3"/>
          <p:cNvSpPr txBox="1">
            <a:spLocks noChangeArrowheads="1"/>
          </p:cNvSpPr>
          <p:nvPr/>
        </p:nvSpPr>
        <p:spPr>
          <a:xfrm>
            <a:off x="5046567" y="1057942"/>
            <a:ext cx="7145434" cy="572563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1700" b="1" dirty="0">
                <a:solidFill>
                  <a:srgbClr val="00B050"/>
                </a:solidFill>
              </a:rPr>
              <a:t>Graph</a:t>
            </a:r>
            <a:r>
              <a:rPr lang="en-US" altLang="en-US" sz="1700" dirty="0">
                <a:solidFill>
                  <a:srgbClr val="00B050"/>
                </a:solidFill>
              </a:rPr>
              <a:t>: </a:t>
            </a:r>
            <a:r>
              <a:rPr lang="en-US" altLang="en-US" sz="1700" dirty="0"/>
              <a:t>A graph consists of a set of vertices and a set of edges that connect pairs of vertices; G = (V, E) where V is a set of vertices, E a set of edges. 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1700" b="1" dirty="0">
                <a:solidFill>
                  <a:srgbClr val="C00000"/>
                </a:solidFill>
              </a:rPr>
              <a:t>Vertex (node): </a:t>
            </a:r>
            <a:r>
              <a:rPr lang="en-US" altLang="en-US" sz="1700" dirty="0"/>
              <a:t>Represents one of the objects that are connected </a:t>
            </a:r>
            <a:r>
              <a:rPr lang="en-US" altLang="en-US" sz="1700" dirty="0" smtClean="0"/>
              <a:t>together</a:t>
            </a:r>
            <a:r>
              <a:rPr lang="en-US" altLang="en-US" sz="1700" b="1" dirty="0" smtClean="0"/>
              <a:t> </a:t>
            </a:r>
            <a:endParaRPr lang="en-US" altLang="en-US" sz="1700" b="1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1700" b="1" dirty="0">
                <a:solidFill>
                  <a:srgbClr val="0070C0"/>
                </a:solidFill>
              </a:rPr>
              <a:t>Edge (arc/link): </a:t>
            </a:r>
            <a:r>
              <a:rPr lang="en-US" altLang="en-US" sz="1700" dirty="0"/>
              <a:t>Connection (line/link) between two </a:t>
            </a:r>
            <a:r>
              <a:rPr lang="en-US" altLang="en-US" sz="1700" dirty="0" smtClean="0"/>
              <a:t>vertices</a:t>
            </a:r>
            <a:endParaRPr lang="en-US" altLang="en-US" sz="1700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1700" b="1" dirty="0">
                <a:solidFill>
                  <a:srgbClr val="00B050"/>
                </a:solidFill>
              </a:rPr>
              <a:t>Directed Graph (Digraph)</a:t>
            </a:r>
            <a:r>
              <a:rPr lang="en-US" altLang="en-US" sz="1700" dirty="0">
                <a:solidFill>
                  <a:srgbClr val="00B050"/>
                </a:solidFill>
              </a:rPr>
              <a:t>: </a:t>
            </a:r>
            <a:r>
              <a:rPr lang="en-US" altLang="en-US" sz="1700" dirty="0"/>
              <a:t>A graph where edges have a </a:t>
            </a:r>
            <a:r>
              <a:rPr lang="en-US" altLang="en-US" sz="1700" dirty="0" smtClean="0"/>
              <a:t>direction</a:t>
            </a:r>
            <a:endParaRPr lang="en-US" altLang="en-US" sz="1700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1700" b="1" dirty="0">
                <a:solidFill>
                  <a:srgbClr val="C00000"/>
                </a:solidFill>
              </a:rPr>
              <a:t>Undirected Graph</a:t>
            </a:r>
            <a:r>
              <a:rPr lang="en-US" altLang="en-US" sz="1700" dirty="0">
                <a:solidFill>
                  <a:srgbClr val="C00000"/>
                </a:solidFill>
              </a:rPr>
              <a:t>: </a:t>
            </a:r>
            <a:r>
              <a:rPr lang="en-US" altLang="en-US" sz="1700" dirty="0"/>
              <a:t>A graph where edges do not have a </a:t>
            </a:r>
            <a:r>
              <a:rPr lang="en-US" altLang="en-US" sz="1700" dirty="0" smtClean="0"/>
              <a:t>direction</a:t>
            </a:r>
            <a:endParaRPr lang="en-US" altLang="en-US" sz="1700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1700" b="1" dirty="0">
                <a:solidFill>
                  <a:srgbClr val="0070C0"/>
                </a:solidFill>
              </a:rPr>
              <a:t>Adjacent Vertices: </a:t>
            </a:r>
            <a:r>
              <a:rPr lang="en-US" altLang="en-US" sz="1700" dirty="0"/>
              <a:t>Two vertices are said to be adjacent, if there is an edge between the two </a:t>
            </a:r>
            <a:r>
              <a:rPr lang="en-US" altLang="en-US" sz="1700" dirty="0" smtClean="0"/>
              <a:t>vertices</a:t>
            </a:r>
            <a:endParaRPr lang="en-US" altLang="en-US" sz="1700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1700" b="1" dirty="0">
                <a:solidFill>
                  <a:srgbClr val="00B050"/>
                </a:solidFill>
              </a:rPr>
              <a:t>Weighted Graph</a:t>
            </a:r>
            <a:r>
              <a:rPr lang="en-US" altLang="en-US" sz="1700" dirty="0">
                <a:solidFill>
                  <a:srgbClr val="00B050"/>
                </a:solidFill>
              </a:rPr>
              <a:t>: </a:t>
            </a:r>
            <a:r>
              <a:rPr lang="en-US" altLang="en-US" sz="1700" dirty="0"/>
              <a:t>A graph where edges have values </a:t>
            </a:r>
            <a:r>
              <a:rPr lang="en-US" altLang="en-US" sz="1700" dirty="0" smtClean="0"/>
              <a:t>called weights</a:t>
            </a:r>
            <a:endParaRPr lang="en-US" altLang="en-US" sz="1700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1700" b="1" dirty="0">
                <a:solidFill>
                  <a:srgbClr val="C00000"/>
                </a:solidFill>
              </a:rPr>
              <a:t>Unweighted Graph</a:t>
            </a:r>
            <a:r>
              <a:rPr lang="en-US" altLang="en-US" sz="1700" dirty="0">
                <a:solidFill>
                  <a:srgbClr val="C00000"/>
                </a:solidFill>
              </a:rPr>
              <a:t>: </a:t>
            </a:r>
            <a:r>
              <a:rPr lang="en-US" altLang="en-US" sz="1700" dirty="0"/>
              <a:t>A graph where edges do not have </a:t>
            </a:r>
            <a:r>
              <a:rPr lang="en-US" altLang="en-US" sz="1700" dirty="0" smtClean="0"/>
              <a:t>weights</a:t>
            </a:r>
            <a:endParaRPr lang="en-US" altLang="en-US" sz="1700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1700" b="1" dirty="0">
                <a:solidFill>
                  <a:srgbClr val="0070C0"/>
                </a:solidFill>
              </a:rPr>
              <a:t>Weighted Directed Graph</a:t>
            </a:r>
            <a:r>
              <a:rPr lang="en-US" altLang="en-US" sz="1700" dirty="0">
                <a:solidFill>
                  <a:srgbClr val="0070C0"/>
                </a:solidFill>
              </a:rPr>
              <a:t>: </a:t>
            </a:r>
            <a:r>
              <a:rPr lang="en-US" altLang="en-US" sz="1700" dirty="0"/>
              <a:t>G</a:t>
            </a:r>
            <a:r>
              <a:rPr lang="en-US" altLang="en-US" sz="1700" dirty="0" smtClean="0"/>
              <a:t>raph </a:t>
            </a:r>
            <a:r>
              <a:rPr lang="en-US" altLang="en-US" sz="1700" dirty="0"/>
              <a:t>where edges have a direction and a </a:t>
            </a:r>
            <a:r>
              <a:rPr lang="en-US" altLang="en-US" sz="1700" dirty="0" smtClean="0"/>
              <a:t>weight</a:t>
            </a:r>
            <a:endParaRPr lang="en-US" altLang="en-US" sz="1700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1700" b="1" dirty="0">
                <a:solidFill>
                  <a:srgbClr val="00B050"/>
                </a:solidFill>
              </a:rPr>
              <a:t>Unweighted Undirected Graph</a:t>
            </a:r>
            <a:r>
              <a:rPr lang="en-US" altLang="en-US" sz="1700" dirty="0">
                <a:solidFill>
                  <a:srgbClr val="00B050"/>
                </a:solidFill>
              </a:rPr>
              <a:t>: </a:t>
            </a:r>
            <a:r>
              <a:rPr lang="en-US" altLang="en-US" sz="1700" dirty="0"/>
              <a:t>A graph where edges do not have a direction and do not have a </a:t>
            </a:r>
            <a:r>
              <a:rPr lang="en-US" altLang="en-US" sz="1700" dirty="0" smtClean="0"/>
              <a:t>weight</a:t>
            </a:r>
            <a:endParaRPr lang="en-US" altLang="en-US" sz="1700" dirty="0"/>
          </a:p>
        </p:txBody>
      </p:sp>
      <p:grpSp>
        <p:nvGrpSpPr>
          <p:cNvPr id="2" name="Group 1"/>
          <p:cNvGrpSpPr/>
          <p:nvPr/>
        </p:nvGrpSpPr>
        <p:grpSpPr>
          <a:xfrm>
            <a:off x="49712" y="809713"/>
            <a:ext cx="4261176" cy="2206111"/>
            <a:chOff x="-39137" y="4499923"/>
            <a:chExt cx="4261176" cy="2206111"/>
          </a:xfrm>
        </p:grpSpPr>
        <p:grpSp>
          <p:nvGrpSpPr>
            <p:cNvPr id="3" name="Group 2"/>
            <p:cNvGrpSpPr/>
            <p:nvPr/>
          </p:nvGrpSpPr>
          <p:grpSpPr>
            <a:xfrm>
              <a:off x="340602" y="4899854"/>
              <a:ext cx="3881437" cy="1806180"/>
              <a:chOff x="378597" y="4532555"/>
              <a:chExt cx="3881437" cy="1806180"/>
            </a:xfrm>
          </p:grpSpPr>
          <p:sp>
            <p:nvSpPr>
              <p:cNvPr id="59" name="Oval 802"/>
              <p:cNvSpPr>
                <a:spLocks noChangeArrowheads="1"/>
              </p:cNvSpPr>
              <p:nvPr/>
            </p:nvSpPr>
            <p:spPr bwMode="auto">
              <a:xfrm>
                <a:off x="1834334" y="4532555"/>
                <a:ext cx="606425" cy="6020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rIns="0"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1200" i="1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2400" i="1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1</a:t>
                </a:r>
                <a:endParaRPr lang="en-US" altLang="en-US" sz="2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Oval 803"/>
              <p:cNvSpPr>
                <a:spLocks noChangeArrowheads="1"/>
              </p:cNvSpPr>
              <p:nvPr/>
            </p:nvSpPr>
            <p:spPr bwMode="auto">
              <a:xfrm>
                <a:off x="3653609" y="4532555"/>
                <a:ext cx="606425" cy="6020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rIns="72000"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 i="1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2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" name="Oval 804"/>
              <p:cNvSpPr>
                <a:spLocks noChangeArrowheads="1"/>
              </p:cNvSpPr>
              <p:nvPr/>
            </p:nvSpPr>
            <p:spPr bwMode="auto">
              <a:xfrm>
                <a:off x="1834334" y="5736675"/>
                <a:ext cx="606425" cy="6020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rIns="18000"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i="1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2400" i="1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4</a:t>
                </a: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" name="Oval 805"/>
              <p:cNvSpPr>
                <a:spLocks noChangeArrowheads="1"/>
              </p:cNvSpPr>
              <p:nvPr/>
            </p:nvSpPr>
            <p:spPr bwMode="auto">
              <a:xfrm>
                <a:off x="3653609" y="5736675"/>
                <a:ext cx="606425" cy="6020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rIns="0"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1000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2400" i="1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3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3" name="Oval 806"/>
              <p:cNvSpPr>
                <a:spLocks noChangeArrowheads="1"/>
              </p:cNvSpPr>
              <p:nvPr/>
            </p:nvSpPr>
            <p:spPr bwMode="auto">
              <a:xfrm>
                <a:off x="378597" y="5134616"/>
                <a:ext cx="606425" cy="60205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100800" tIns="0"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 i="1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5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" name="Line 807"/>
              <p:cNvSpPr>
                <a:spLocks noChangeShapeType="1"/>
              </p:cNvSpPr>
              <p:nvPr/>
            </p:nvSpPr>
            <p:spPr bwMode="auto">
              <a:xfrm flipV="1">
                <a:off x="899297" y="4892890"/>
                <a:ext cx="955675" cy="3618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Line 809"/>
              <p:cNvSpPr>
                <a:spLocks noChangeShapeType="1"/>
              </p:cNvSpPr>
              <p:nvPr/>
            </p:nvSpPr>
            <p:spPr bwMode="auto">
              <a:xfrm flipV="1">
                <a:off x="2415359" y="5061047"/>
                <a:ext cx="1319213" cy="80775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Line 812"/>
              <p:cNvSpPr>
                <a:spLocks noChangeShapeType="1"/>
              </p:cNvSpPr>
              <p:nvPr/>
            </p:nvSpPr>
            <p:spPr bwMode="auto">
              <a:xfrm>
                <a:off x="2077221" y="5134616"/>
                <a:ext cx="0" cy="6020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Line 813"/>
              <p:cNvSpPr>
                <a:spLocks noChangeShapeType="1"/>
              </p:cNvSpPr>
              <p:nvPr/>
            </p:nvSpPr>
            <p:spPr bwMode="auto">
              <a:xfrm>
                <a:off x="3977458" y="5134616"/>
                <a:ext cx="0" cy="6020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Line 814"/>
              <p:cNvSpPr>
                <a:spLocks noChangeShapeType="1"/>
              </p:cNvSpPr>
              <p:nvPr/>
            </p:nvSpPr>
            <p:spPr bwMode="auto">
              <a:xfrm flipV="1">
                <a:off x="2440758" y="6098511"/>
                <a:ext cx="12128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Line 815"/>
              <p:cNvSpPr>
                <a:spLocks noChangeShapeType="1"/>
              </p:cNvSpPr>
              <p:nvPr/>
            </p:nvSpPr>
            <p:spPr bwMode="auto">
              <a:xfrm flipV="1">
                <a:off x="2440758" y="4795905"/>
                <a:ext cx="12128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Line 816"/>
              <p:cNvSpPr>
                <a:spLocks noChangeShapeType="1"/>
              </p:cNvSpPr>
              <p:nvPr/>
            </p:nvSpPr>
            <p:spPr bwMode="auto">
              <a:xfrm>
                <a:off x="864371" y="5616563"/>
                <a:ext cx="969962" cy="3618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3" name="Text Box 827"/>
            <p:cNvSpPr txBox="1">
              <a:spLocks noChangeArrowheads="1"/>
            </p:cNvSpPr>
            <p:nvPr/>
          </p:nvSpPr>
          <p:spPr bwMode="auto">
            <a:xfrm>
              <a:off x="-39137" y="4499923"/>
              <a:ext cx="342882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 u="sng" dirty="0" smtClean="0">
                  <a:solidFill>
                    <a:schemeClr val="accent5"/>
                  </a:solidFill>
                  <a:latin typeface="+mn-lt"/>
                  <a:cs typeface="Times New Roman" panose="02020603050405020304" pitchFamily="18" charset="0"/>
                </a:rPr>
                <a:t>Unweighted </a:t>
              </a:r>
              <a:r>
                <a:rPr lang="en-US" altLang="en-US" sz="2000" b="1" u="sng" dirty="0">
                  <a:solidFill>
                    <a:schemeClr val="accent5"/>
                  </a:solidFill>
                  <a:latin typeface="+mn-lt"/>
                  <a:cs typeface="Times New Roman" panose="02020603050405020304" pitchFamily="18" charset="0"/>
                </a:rPr>
                <a:t>Undirected Graph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15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05749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4928" y="2675"/>
            <a:ext cx="10632558" cy="66383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0" dirty="0">
                <a:latin typeface="+mn-lt"/>
                <a:cs typeface="Times New Roman" panose="02020603050405020304" pitchFamily="18" charset="0"/>
              </a:rPr>
              <a:t>Graph Representation : Adjacency Matrix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582098" y="696539"/>
            <a:ext cx="10632558" cy="84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 u="sng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W</a:t>
            </a:r>
            <a:r>
              <a:rPr lang="en-US" altLang="en-US" sz="2200" b="1" u="sng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eighted </a:t>
            </a:r>
            <a:r>
              <a:rPr lang="en-US" altLang="en-US" sz="2200" b="1" u="sng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G</a:t>
            </a:r>
            <a:r>
              <a:rPr lang="en-US" altLang="en-US" sz="2200" b="1" u="sng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raph </a:t>
            </a:r>
            <a:r>
              <a:rPr lang="en-US" altLang="en-US" sz="2200" dirty="0">
                <a:latin typeface="+mn-lt"/>
                <a:cs typeface="Times New Roman" panose="02020603050405020304" pitchFamily="18" charset="0"/>
              </a:rPr>
              <a:t>containing </a:t>
            </a:r>
            <a:r>
              <a:rPr lang="en-US" altLang="en-US" sz="2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200" dirty="0">
                <a:latin typeface="+mn-lt"/>
                <a:cs typeface="Times New Roman" panose="02020603050405020304" pitchFamily="18" charset="0"/>
              </a:rPr>
              <a:t> vertices </a:t>
            </a:r>
            <a:endParaRPr lang="en-US" altLang="en-US" sz="2200" dirty="0" smtClean="0">
              <a:latin typeface="+mn-lt"/>
              <a:cs typeface="Times New Roman" panose="02020603050405020304" pitchFamily="18" charset="0"/>
            </a:endParaRPr>
          </a:p>
          <a:p>
            <a:pPr lvl="1"/>
            <a:r>
              <a:rPr lang="en-US" altLang="en-US" sz="2200" dirty="0" smtClean="0">
                <a:latin typeface="+mn-lt"/>
                <a:cs typeface="Times New Roman" panose="02020603050405020304" pitchFamily="18" charset="0"/>
              </a:rPr>
              <a:t>can </a:t>
            </a:r>
            <a:r>
              <a:rPr lang="en-US" altLang="en-US" sz="2200" dirty="0">
                <a:latin typeface="+mn-lt"/>
                <a:cs typeface="Times New Roman" panose="02020603050405020304" pitchFamily="18" charset="0"/>
              </a:rPr>
              <a:t>be represented by an </a:t>
            </a:r>
            <a:r>
              <a:rPr lang="en-US" altLang="en-US" sz="22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Adjacency </a:t>
            </a:r>
            <a:r>
              <a:rPr lang="en-US" altLang="en-US" sz="2200" dirty="0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Matrix</a:t>
            </a:r>
            <a:endParaRPr lang="en-US" altLang="en-US" sz="2200" dirty="0"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96607" y="1520954"/>
            <a:ext cx="6806298" cy="1378839"/>
            <a:chOff x="2215713" y="2016481"/>
            <a:chExt cx="6061549" cy="1944847"/>
          </a:xfrm>
          <a:solidFill>
            <a:srgbClr val="FFC000"/>
          </a:solidFill>
        </p:grpSpPr>
        <p:sp>
          <p:nvSpPr>
            <p:cNvPr id="14341" name="Text Box 30"/>
            <p:cNvSpPr txBox="1">
              <a:spLocks noChangeArrowheads="1"/>
            </p:cNvSpPr>
            <p:nvPr/>
          </p:nvSpPr>
          <p:spPr bwMode="auto">
            <a:xfrm>
              <a:off x="3408128" y="2016481"/>
              <a:ext cx="4869134" cy="19448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 dirty="0">
                  <a:latin typeface="+mn-lt"/>
                  <a:cs typeface="Times New Roman" panose="02020603050405020304" pitchFamily="18" charset="0"/>
                </a:rPr>
                <a:t>Weight on edge    if there is an edge from </a:t>
              </a:r>
              <a:r>
                <a:rPr lang="en-US" alt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000" b="1" dirty="0">
                  <a:latin typeface="+mn-lt"/>
                  <a:cs typeface="Times New Roman" panose="02020603050405020304" pitchFamily="18" charset="0"/>
                </a:rPr>
                <a:t> to </a:t>
              </a:r>
              <a:r>
                <a:rPr lang="en-US" altLang="en-US" sz="20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40000"/>
                </a:spcBef>
              </a:pPr>
              <a:r>
                <a:rPr lang="en-US" altLang="en-US" sz="2400" b="1" dirty="0">
                  <a:solidFill>
                    <a:srgbClr val="00B050"/>
                  </a:solidFill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rPr>
                <a:t> </a:t>
              </a:r>
              <a:r>
                <a:rPr lang="en-US" altLang="en-US" sz="2000" b="1" dirty="0">
                  <a:solidFill>
                    <a:srgbClr val="00B050"/>
                  </a:solidFill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         </a:t>
              </a:r>
              <a:r>
                <a:rPr lang="en-US" altLang="en-US" sz="2000" b="1" dirty="0">
                  <a:solidFill>
                    <a:srgbClr val="00B050"/>
                  </a:solidFill>
                  <a:latin typeface="+mn-lt"/>
                  <a:cs typeface="Times New Roman" panose="02020603050405020304" pitchFamily="18" charset="0"/>
                </a:rPr>
                <a:t>if there is no edge from </a:t>
              </a:r>
              <a:r>
                <a:rPr lang="en-US" altLang="en-US" sz="20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="1" i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000" b="1" dirty="0">
                  <a:solidFill>
                    <a:srgbClr val="00B050"/>
                  </a:solidFill>
                  <a:latin typeface="+mn-lt"/>
                  <a:cs typeface="Times New Roman" panose="02020603050405020304" pitchFamily="18" charset="0"/>
                </a:rPr>
                <a:t> to </a:t>
              </a:r>
              <a:r>
                <a:rPr lang="en-US" altLang="en-US" sz="2000" b="1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="1" i="1" baseline="-250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2000" b="1" dirty="0">
                  <a:solidFill>
                    <a:srgbClr val="C00000"/>
                  </a:solidFill>
                  <a:latin typeface="+mn-lt"/>
                  <a:cs typeface="Times New Roman" panose="02020603050405020304" pitchFamily="18" charset="0"/>
                </a:rPr>
                <a:t>0                              if  </a:t>
              </a:r>
              <a:r>
                <a:rPr lang="en-US" altLang="en-US" sz="20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000" b="1" dirty="0">
                  <a:solidFill>
                    <a:srgbClr val="C00000"/>
                  </a:solidFill>
                  <a:latin typeface="+mn-lt"/>
                  <a:cs typeface="Times New Roman" panose="02020603050405020304" pitchFamily="18" charset="0"/>
                </a:rPr>
                <a:t> = </a:t>
              </a:r>
              <a:r>
                <a:rPr lang="en-US" altLang="en-US" sz="20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4342" name="Rectangle 32"/>
            <p:cNvSpPr>
              <a:spLocks noChangeArrowheads="1"/>
            </p:cNvSpPr>
            <p:nvPr/>
          </p:nvSpPr>
          <p:spPr bwMode="auto">
            <a:xfrm>
              <a:off x="2215713" y="2677875"/>
              <a:ext cx="1008843" cy="4572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FontTx/>
                <a:buNone/>
              </a:pPr>
              <a:r>
                <a:rPr lang="en-US" altLang="en-US" sz="1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W[</a:t>
              </a:r>
              <a:r>
                <a:rPr lang="en-US" altLang="en-US" sz="18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1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en-US" sz="18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1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 </a:t>
              </a:r>
              <a:r>
                <a: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14343" name="AutoShape 33"/>
            <p:cNvSpPr>
              <a:spLocks/>
            </p:cNvSpPr>
            <p:nvPr/>
          </p:nvSpPr>
          <p:spPr bwMode="auto">
            <a:xfrm>
              <a:off x="3235347" y="2139193"/>
              <a:ext cx="152400" cy="1680486"/>
            </a:xfrm>
            <a:prstGeom prst="leftBrace">
              <a:avLst>
                <a:gd name="adj1" fmla="val 75000"/>
                <a:gd name="adj2" fmla="val 50000"/>
              </a:avLst>
            </a:prstGeom>
            <a:grpFill/>
            <a:ln w="762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>
                <a:latin typeface="+mn-lt"/>
              </a:endParaRPr>
            </a:p>
          </p:txBody>
        </p:sp>
      </p:grpSp>
      <p:graphicFrame>
        <p:nvGraphicFramePr>
          <p:cNvPr id="194594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267718"/>
              </p:ext>
            </p:extLst>
          </p:nvPr>
        </p:nvGraphicFramePr>
        <p:xfrm>
          <a:off x="7377332" y="3533273"/>
          <a:ext cx="3048000" cy="2286000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108717839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16538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358029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2846719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708210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66584434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16130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58703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794066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87687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038988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255266"/>
                  </a:ext>
                </a:extLst>
              </a:tr>
            </a:tbl>
          </a:graphicData>
        </a:graphic>
      </p:graphicFrame>
      <p:sp>
        <p:nvSpPr>
          <p:cNvPr id="14383" name="Text Box 97"/>
          <p:cNvSpPr txBox="1">
            <a:spLocks noChangeArrowheads="1"/>
          </p:cNvSpPr>
          <p:nvPr/>
        </p:nvSpPr>
        <p:spPr bwMode="auto">
          <a:xfrm>
            <a:off x="8063132" y="3076074"/>
            <a:ext cx="21707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Matrix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0CF8E2-183B-C843-AB9C-DFE996ACC893}"/>
              </a:ext>
            </a:extLst>
          </p:cNvPr>
          <p:cNvGrpSpPr/>
          <p:nvPr/>
        </p:nvGrpSpPr>
        <p:grpSpPr>
          <a:xfrm>
            <a:off x="1328018" y="3916328"/>
            <a:ext cx="3962400" cy="2224087"/>
            <a:chOff x="1328018" y="3916328"/>
            <a:chExt cx="3962400" cy="2224087"/>
          </a:xfrm>
        </p:grpSpPr>
        <p:grpSp>
          <p:nvGrpSpPr>
            <p:cNvPr id="14340" name="Group 4"/>
            <p:cNvGrpSpPr>
              <a:grpSpLocks/>
            </p:cNvGrpSpPr>
            <p:nvPr/>
          </p:nvGrpSpPr>
          <p:grpSpPr bwMode="auto">
            <a:xfrm>
              <a:off x="1328018" y="3916328"/>
              <a:ext cx="3962400" cy="2224087"/>
              <a:chOff x="1435" y="576"/>
              <a:chExt cx="2496" cy="1401"/>
            </a:xfrm>
          </p:grpSpPr>
          <p:sp>
            <p:nvSpPr>
              <p:cNvPr id="14385" name="Oval 5"/>
              <p:cNvSpPr>
                <a:spLocks noChangeArrowheads="1"/>
              </p:cNvSpPr>
              <p:nvPr/>
            </p:nvSpPr>
            <p:spPr bwMode="auto">
              <a:xfrm>
                <a:off x="2352" y="710"/>
                <a:ext cx="382" cy="40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rIns="0"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1200" i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24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2400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en-US" sz="2400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86" name="Oval 6"/>
              <p:cNvSpPr>
                <a:spLocks noChangeArrowheads="1"/>
              </p:cNvSpPr>
              <p:nvPr/>
            </p:nvSpPr>
            <p:spPr bwMode="auto">
              <a:xfrm>
                <a:off x="3498" y="710"/>
                <a:ext cx="382" cy="40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rIns="72000"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 i="1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2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87" name="Oval 7"/>
              <p:cNvSpPr>
                <a:spLocks noChangeArrowheads="1"/>
              </p:cNvSpPr>
              <p:nvPr/>
            </p:nvSpPr>
            <p:spPr bwMode="auto">
              <a:xfrm>
                <a:off x="2352" y="1512"/>
                <a:ext cx="382" cy="40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rIns="18000"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i="1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2400" i="1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4</a:t>
                </a: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88" name="Oval 8"/>
              <p:cNvSpPr>
                <a:spLocks noChangeArrowheads="1"/>
              </p:cNvSpPr>
              <p:nvPr/>
            </p:nvSpPr>
            <p:spPr bwMode="auto">
              <a:xfrm>
                <a:off x="3498" y="1512"/>
                <a:ext cx="382" cy="40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rIns="0"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1000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2400" i="1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3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89" name="Oval 9"/>
              <p:cNvSpPr>
                <a:spLocks noChangeArrowheads="1"/>
              </p:cNvSpPr>
              <p:nvPr/>
            </p:nvSpPr>
            <p:spPr bwMode="auto">
              <a:xfrm>
                <a:off x="1435" y="1111"/>
                <a:ext cx="382" cy="40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100800" tIns="0"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 i="1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5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90" name="Line 10"/>
              <p:cNvSpPr>
                <a:spLocks noChangeShapeType="1"/>
              </p:cNvSpPr>
              <p:nvPr/>
            </p:nvSpPr>
            <p:spPr bwMode="auto">
              <a:xfrm flipV="1">
                <a:off x="1763" y="950"/>
                <a:ext cx="602" cy="2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1" name="Line 11"/>
              <p:cNvSpPr>
                <a:spLocks noChangeShapeType="1"/>
              </p:cNvSpPr>
              <p:nvPr/>
            </p:nvSpPr>
            <p:spPr bwMode="auto">
              <a:xfrm flipV="1">
                <a:off x="1817" y="1031"/>
                <a:ext cx="587" cy="2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2" name="Line 12"/>
              <p:cNvSpPr>
                <a:spLocks noChangeShapeType="1"/>
              </p:cNvSpPr>
              <p:nvPr/>
            </p:nvSpPr>
            <p:spPr bwMode="auto">
              <a:xfrm flipV="1">
                <a:off x="2718" y="1062"/>
                <a:ext cx="831" cy="538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n>
                    <a:solidFill>
                      <a:srgbClr val="C00000"/>
                    </a:solidFill>
                  </a:ln>
                </a:endParaRPr>
              </a:p>
            </p:txBody>
          </p:sp>
          <p:sp>
            <p:nvSpPr>
              <p:cNvPr id="14393" name="Line 13"/>
              <p:cNvSpPr>
                <a:spLocks noChangeShapeType="1"/>
              </p:cNvSpPr>
              <p:nvPr/>
            </p:nvSpPr>
            <p:spPr bwMode="auto">
              <a:xfrm flipV="1">
                <a:off x="2683" y="800"/>
                <a:ext cx="8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4" name="Line 14"/>
              <p:cNvSpPr>
                <a:spLocks noChangeShapeType="1"/>
              </p:cNvSpPr>
              <p:nvPr/>
            </p:nvSpPr>
            <p:spPr bwMode="auto">
              <a:xfrm flipV="1">
                <a:off x="2734" y="1673"/>
                <a:ext cx="7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5" name="Line 15"/>
              <p:cNvSpPr>
                <a:spLocks noChangeShapeType="1"/>
              </p:cNvSpPr>
              <p:nvPr/>
            </p:nvSpPr>
            <p:spPr bwMode="auto">
              <a:xfrm>
                <a:off x="2505" y="1111"/>
                <a:ext cx="0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6" name="Line 16"/>
              <p:cNvSpPr>
                <a:spLocks noChangeShapeType="1"/>
              </p:cNvSpPr>
              <p:nvPr/>
            </p:nvSpPr>
            <p:spPr bwMode="auto">
              <a:xfrm>
                <a:off x="3702" y="1111"/>
                <a:ext cx="0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7" name="Line 17"/>
              <p:cNvSpPr>
                <a:spLocks noChangeShapeType="1"/>
              </p:cNvSpPr>
              <p:nvPr/>
            </p:nvSpPr>
            <p:spPr bwMode="auto">
              <a:xfrm flipV="1">
                <a:off x="2734" y="1753"/>
                <a:ext cx="7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8" name="Line 18"/>
              <p:cNvSpPr>
                <a:spLocks noChangeShapeType="1"/>
              </p:cNvSpPr>
              <p:nvPr/>
            </p:nvSpPr>
            <p:spPr bwMode="auto">
              <a:xfrm flipV="1">
                <a:off x="2734" y="950"/>
                <a:ext cx="7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9" name="Line 19"/>
              <p:cNvSpPr>
                <a:spLocks noChangeShapeType="1"/>
              </p:cNvSpPr>
              <p:nvPr/>
            </p:nvSpPr>
            <p:spPr bwMode="auto">
              <a:xfrm>
                <a:off x="1741" y="1432"/>
                <a:ext cx="611" cy="2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0" name="Text Box 20"/>
              <p:cNvSpPr txBox="1">
                <a:spLocks noChangeArrowheads="1"/>
              </p:cNvSpPr>
              <p:nvPr/>
            </p:nvSpPr>
            <p:spPr bwMode="auto">
              <a:xfrm>
                <a:off x="1970" y="817"/>
                <a:ext cx="204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401" name="Text Box 21"/>
              <p:cNvSpPr txBox="1">
                <a:spLocks noChangeArrowheads="1"/>
              </p:cNvSpPr>
              <p:nvPr/>
            </p:nvSpPr>
            <p:spPr bwMode="auto">
              <a:xfrm>
                <a:off x="3065" y="1699"/>
                <a:ext cx="28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402" name="Text Box 22"/>
              <p:cNvSpPr txBox="1">
                <a:spLocks noChangeArrowheads="1"/>
              </p:cNvSpPr>
              <p:nvPr/>
            </p:nvSpPr>
            <p:spPr bwMode="auto">
              <a:xfrm>
                <a:off x="1915" y="1488"/>
                <a:ext cx="23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403" name="Text Box 23"/>
              <p:cNvSpPr txBox="1">
                <a:spLocks noChangeArrowheads="1"/>
              </p:cNvSpPr>
              <p:nvPr/>
            </p:nvSpPr>
            <p:spPr bwMode="auto">
              <a:xfrm>
                <a:off x="3091" y="1459"/>
                <a:ext cx="254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>
                    <a:latin typeface="Times New Roman" panose="02020603050405020304" pitchFamily="18" charset="0"/>
                  </a:rPr>
                  <a:t>2</a:t>
                </a:r>
              </a:p>
              <a:p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04" name="Text Box 24"/>
              <p:cNvSpPr txBox="1">
                <a:spLocks noChangeArrowheads="1"/>
              </p:cNvSpPr>
              <p:nvPr/>
            </p:nvSpPr>
            <p:spPr bwMode="auto">
              <a:xfrm>
                <a:off x="2123" y="1068"/>
                <a:ext cx="203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4405" name="Text Box 25"/>
              <p:cNvSpPr txBox="1">
                <a:spLocks noChangeArrowheads="1"/>
              </p:cNvSpPr>
              <p:nvPr/>
            </p:nvSpPr>
            <p:spPr bwMode="auto">
              <a:xfrm>
                <a:off x="2992" y="1121"/>
                <a:ext cx="254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4406" name="Text Box 26"/>
              <p:cNvSpPr txBox="1">
                <a:spLocks noChangeArrowheads="1"/>
              </p:cNvSpPr>
              <p:nvPr/>
            </p:nvSpPr>
            <p:spPr bwMode="auto">
              <a:xfrm>
                <a:off x="3040" y="907"/>
                <a:ext cx="229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>
                    <a:latin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14407" name="Text Box 27"/>
              <p:cNvSpPr txBox="1">
                <a:spLocks noChangeArrowheads="1"/>
              </p:cNvSpPr>
              <p:nvPr/>
            </p:nvSpPr>
            <p:spPr bwMode="auto">
              <a:xfrm>
                <a:off x="3040" y="576"/>
                <a:ext cx="229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408" name="Text Box 28"/>
              <p:cNvSpPr txBox="1">
                <a:spLocks noChangeArrowheads="1"/>
              </p:cNvSpPr>
              <p:nvPr/>
            </p:nvSpPr>
            <p:spPr bwMode="auto">
              <a:xfrm>
                <a:off x="3702" y="1175"/>
                <a:ext cx="229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14384" name="Text Box 98"/>
            <p:cNvSpPr txBox="1">
              <a:spLocks noChangeArrowheads="1"/>
            </p:cNvSpPr>
            <p:nvPr/>
          </p:nvSpPr>
          <p:spPr bwMode="auto">
            <a:xfrm>
              <a:off x="3036278" y="4847397"/>
              <a:ext cx="403225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dirty="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35" name="Text Box 828"/>
          <p:cNvSpPr txBox="1">
            <a:spLocks noChangeArrowheads="1"/>
          </p:cNvSpPr>
          <p:nvPr/>
        </p:nvSpPr>
        <p:spPr bwMode="auto">
          <a:xfrm>
            <a:off x="6704355" y="3043063"/>
            <a:ext cx="12320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Vertices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7134443" y="3476184"/>
            <a:ext cx="928689" cy="1386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7134443" y="3476184"/>
            <a:ext cx="432503" cy="6358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828"/>
          <p:cNvSpPr txBox="1">
            <a:spLocks noChangeArrowheads="1"/>
          </p:cNvSpPr>
          <p:nvPr/>
        </p:nvSpPr>
        <p:spPr bwMode="auto">
          <a:xfrm>
            <a:off x="10793139" y="3476184"/>
            <a:ext cx="117532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</a:t>
            </a:r>
          </a:p>
          <a:p>
            <a:pPr algn="ctr" eaLnBrk="1" hangingPunct="1"/>
            <a:r>
              <a:rPr lang="en-US" altLang="en-US"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Edges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10233919" y="3794120"/>
            <a:ext cx="711172" cy="3060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16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60546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83" grpId="0"/>
      <p:bldP spid="35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6503" y="26047"/>
            <a:ext cx="10558130" cy="57924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0" dirty="0">
                <a:latin typeface="+mn-lt"/>
                <a:cs typeface="Times New Roman" panose="02020603050405020304" pitchFamily="18" charset="0"/>
              </a:rPr>
              <a:t>Graph Representation: Adjacency Matrix (cont.)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214262" y="800720"/>
            <a:ext cx="11719120" cy="728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 b="1" u="sng" dirty="0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Unweighted </a:t>
            </a:r>
            <a:r>
              <a:rPr lang="en-US" altLang="en-US" sz="2400" b="1" u="sng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U</a:t>
            </a:r>
            <a:r>
              <a:rPr lang="en-US" altLang="en-US" sz="2400" b="1" u="sng" dirty="0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ndirected </a:t>
            </a:r>
            <a:r>
              <a:rPr lang="en-US" altLang="en-US" sz="2400" b="1" u="sng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G</a:t>
            </a:r>
            <a:r>
              <a:rPr lang="en-US" altLang="en-US" sz="2400" b="1" u="sng" dirty="0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raph </a:t>
            </a:r>
            <a:r>
              <a:rPr lang="en-US" altLang="en-US" sz="2400" dirty="0">
                <a:latin typeface="+mn-lt"/>
                <a:cs typeface="Times New Roman" panose="02020603050405020304" pitchFamily="18" charset="0"/>
              </a:rPr>
              <a:t>containing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+mn-lt"/>
                <a:cs typeface="Times New Roman" panose="02020603050405020304" pitchFamily="18" charset="0"/>
              </a:rPr>
              <a:t> vertices </a:t>
            </a:r>
            <a:endParaRPr lang="en-US" altLang="en-US" sz="2400" dirty="0" smtClean="0">
              <a:latin typeface="+mn-lt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 smtClean="0">
                <a:latin typeface="+mn-lt"/>
                <a:cs typeface="Times New Roman" panose="02020603050405020304" pitchFamily="18" charset="0"/>
              </a:rPr>
              <a:t>can </a:t>
            </a:r>
            <a:r>
              <a:rPr lang="en-US" altLang="en-US" sz="2400" dirty="0">
                <a:latin typeface="+mn-lt"/>
                <a:cs typeface="Times New Roman" panose="02020603050405020304" pitchFamily="18" charset="0"/>
              </a:rPr>
              <a:t>also be represented by an </a:t>
            </a:r>
            <a:r>
              <a:rPr lang="en-US" altLang="en-US" sz="2400" u="sng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Adjacency </a:t>
            </a:r>
            <a:r>
              <a:rPr lang="en-US" altLang="en-US" sz="2400" u="sng" dirty="0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Matrix</a:t>
            </a:r>
            <a:endParaRPr lang="en-US" altLang="en-US" sz="24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341" name="Text Box 30"/>
          <p:cNvSpPr txBox="1">
            <a:spLocks noChangeArrowheads="1"/>
          </p:cNvSpPr>
          <p:nvPr/>
        </p:nvSpPr>
        <p:spPr bwMode="auto">
          <a:xfrm>
            <a:off x="1924777" y="1724160"/>
            <a:ext cx="4797056" cy="129266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1           if there is an edge between </a:t>
            </a: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and </a:t>
            </a:r>
            <a:r>
              <a:rPr lang="en-US" alt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en-US" sz="20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40000"/>
              </a:spcBef>
            </a:pPr>
            <a:r>
              <a:rPr lang="en-US" altLang="en-US" sz="20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  <a:sym typeface="Symbol" panose="05050102010706020507" pitchFamily="18" charset="2"/>
              </a:rPr>
              <a:t>0          </a:t>
            </a:r>
            <a:r>
              <a:rPr lang="en-US" altLang="en-US" sz="20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if there is no edge between </a:t>
            </a:r>
            <a:r>
              <a:rPr lang="en-US" alt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and </a:t>
            </a:r>
            <a:r>
              <a:rPr lang="en-US" altLang="en-US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en-US" sz="20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latin typeface="+mn-lt"/>
                <a:cs typeface="Times New Roman" panose="02020603050405020304" pitchFamily="18" charset="0"/>
              </a:rPr>
              <a:t>0           if 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dirty="0">
                <a:latin typeface="+mn-lt"/>
                <a:cs typeface="Times New Roman" panose="02020603050405020304" pitchFamily="18" charset="0"/>
              </a:rPr>
              <a:t> =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14342" name="Rectangle 32"/>
          <p:cNvSpPr>
            <a:spLocks noChangeArrowheads="1"/>
          </p:cNvSpPr>
          <p:nvPr/>
        </p:nvSpPr>
        <p:spPr bwMode="auto">
          <a:xfrm>
            <a:off x="400777" y="2215013"/>
            <a:ext cx="12954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W[</a:t>
            </a:r>
            <a:r>
              <a:rPr lang="en-US" alt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4343" name="AutoShape 33"/>
          <p:cNvSpPr>
            <a:spLocks/>
          </p:cNvSpPr>
          <p:nvPr/>
        </p:nvSpPr>
        <p:spPr bwMode="auto">
          <a:xfrm>
            <a:off x="1772377" y="1794009"/>
            <a:ext cx="152400" cy="1188720"/>
          </a:xfrm>
          <a:prstGeom prst="leftBrace">
            <a:avLst>
              <a:gd name="adj1" fmla="val 75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>
              <a:latin typeface="+mn-lt"/>
            </a:endParaRPr>
          </a:p>
        </p:txBody>
      </p:sp>
      <p:graphicFrame>
        <p:nvGraphicFramePr>
          <p:cNvPr id="194594" name="Group 34"/>
          <p:cNvGraphicFramePr>
            <a:graphicFrameLocks noGrp="1"/>
          </p:cNvGraphicFramePr>
          <p:nvPr/>
        </p:nvGraphicFramePr>
        <p:xfrm>
          <a:off x="6934200" y="4267200"/>
          <a:ext cx="3048000" cy="2286000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108717839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16538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358029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2846719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708210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66584434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16130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0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58703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794066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87687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038988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255266"/>
                  </a:ext>
                </a:extLst>
              </a:tr>
            </a:tbl>
          </a:graphicData>
        </a:graphic>
      </p:graphicFrame>
      <p:sp>
        <p:nvSpPr>
          <p:cNvPr id="14383" name="Text Box 97"/>
          <p:cNvSpPr txBox="1">
            <a:spLocks noChangeArrowheads="1"/>
          </p:cNvSpPr>
          <p:nvPr/>
        </p:nvSpPr>
        <p:spPr bwMode="auto">
          <a:xfrm>
            <a:off x="7620000" y="3810001"/>
            <a:ext cx="21707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Matrix</a:t>
            </a:r>
          </a:p>
        </p:txBody>
      </p:sp>
      <p:sp>
        <p:nvSpPr>
          <p:cNvPr id="35" name="Text Box 828"/>
          <p:cNvSpPr txBox="1">
            <a:spLocks noChangeArrowheads="1"/>
          </p:cNvSpPr>
          <p:nvPr/>
        </p:nvSpPr>
        <p:spPr bwMode="auto">
          <a:xfrm>
            <a:off x="6139903" y="3749260"/>
            <a:ext cx="12320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Vertices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6691311" y="4210111"/>
            <a:ext cx="928689" cy="13860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691311" y="4210111"/>
            <a:ext cx="432503" cy="6358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828"/>
          <p:cNvSpPr txBox="1">
            <a:spLocks noChangeArrowheads="1"/>
          </p:cNvSpPr>
          <p:nvPr/>
        </p:nvSpPr>
        <p:spPr bwMode="auto">
          <a:xfrm>
            <a:off x="10528732" y="4058337"/>
            <a:ext cx="9717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9790787" y="4528047"/>
            <a:ext cx="788608" cy="3060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454818" y="4439542"/>
            <a:ext cx="3881437" cy="1806180"/>
            <a:chOff x="378597" y="4532555"/>
            <a:chExt cx="3881437" cy="1806180"/>
          </a:xfrm>
        </p:grpSpPr>
        <p:sp>
          <p:nvSpPr>
            <p:cNvPr id="41" name="Oval 802"/>
            <p:cNvSpPr>
              <a:spLocks noChangeArrowheads="1"/>
            </p:cNvSpPr>
            <p:nvPr/>
          </p:nvSpPr>
          <p:spPr bwMode="auto">
            <a:xfrm>
              <a:off x="1834334" y="4532555"/>
              <a:ext cx="606425" cy="6020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42" name="Oval 803"/>
            <p:cNvSpPr>
              <a:spLocks noChangeArrowheads="1"/>
            </p:cNvSpPr>
            <p:nvPr/>
          </p:nvSpPr>
          <p:spPr bwMode="auto">
            <a:xfrm>
              <a:off x="3653609" y="4532555"/>
              <a:ext cx="606425" cy="6020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3" name="Oval 804"/>
            <p:cNvSpPr>
              <a:spLocks noChangeArrowheads="1"/>
            </p:cNvSpPr>
            <p:nvPr/>
          </p:nvSpPr>
          <p:spPr bwMode="auto">
            <a:xfrm>
              <a:off x="1834334" y="5736675"/>
              <a:ext cx="606425" cy="6020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45" name="Oval 805"/>
            <p:cNvSpPr>
              <a:spLocks noChangeArrowheads="1"/>
            </p:cNvSpPr>
            <p:nvPr/>
          </p:nvSpPr>
          <p:spPr bwMode="auto">
            <a:xfrm>
              <a:off x="3653609" y="5736675"/>
              <a:ext cx="606425" cy="6020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6" name="Oval 806"/>
            <p:cNvSpPr>
              <a:spLocks noChangeArrowheads="1"/>
            </p:cNvSpPr>
            <p:nvPr/>
          </p:nvSpPr>
          <p:spPr bwMode="auto">
            <a:xfrm>
              <a:off x="378597" y="5134616"/>
              <a:ext cx="606425" cy="60205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00800" tIns="0"/>
            <a:lstStyle>
              <a:lvl1pPr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5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7" name="Line 807"/>
            <p:cNvSpPr>
              <a:spLocks noChangeShapeType="1"/>
            </p:cNvSpPr>
            <p:nvPr/>
          </p:nvSpPr>
          <p:spPr bwMode="auto">
            <a:xfrm flipV="1">
              <a:off x="899297" y="4892890"/>
              <a:ext cx="955675" cy="361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809"/>
            <p:cNvSpPr>
              <a:spLocks noChangeShapeType="1"/>
            </p:cNvSpPr>
            <p:nvPr/>
          </p:nvSpPr>
          <p:spPr bwMode="auto">
            <a:xfrm flipV="1">
              <a:off x="2415359" y="5061047"/>
              <a:ext cx="1319213" cy="8077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812"/>
            <p:cNvSpPr>
              <a:spLocks noChangeShapeType="1"/>
            </p:cNvSpPr>
            <p:nvPr/>
          </p:nvSpPr>
          <p:spPr bwMode="auto">
            <a:xfrm>
              <a:off x="2077221" y="5134616"/>
              <a:ext cx="0" cy="6020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813"/>
            <p:cNvSpPr>
              <a:spLocks noChangeShapeType="1"/>
            </p:cNvSpPr>
            <p:nvPr/>
          </p:nvSpPr>
          <p:spPr bwMode="auto">
            <a:xfrm>
              <a:off x="3977458" y="5134616"/>
              <a:ext cx="0" cy="6020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814"/>
            <p:cNvSpPr>
              <a:spLocks noChangeShapeType="1"/>
            </p:cNvSpPr>
            <p:nvPr/>
          </p:nvSpPr>
          <p:spPr bwMode="auto">
            <a:xfrm flipV="1">
              <a:off x="2440758" y="6098511"/>
              <a:ext cx="1212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815"/>
            <p:cNvSpPr>
              <a:spLocks noChangeShapeType="1"/>
            </p:cNvSpPr>
            <p:nvPr/>
          </p:nvSpPr>
          <p:spPr bwMode="auto">
            <a:xfrm flipV="1">
              <a:off x="2440758" y="4795905"/>
              <a:ext cx="1212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816"/>
            <p:cNvSpPr>
              <a:spLocks noChangeShapeType="1"/>
            </p:cNvSpPr>
            <p:nvPr/>
          </p:nvSpPr>
          <p:spPr bwMode="auto">
            <a:xfrm>
              <a:off x="864371" y="5616563"/>
              <a:ext cx="969962" cy="361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4" name="Straight Arrow Connector 3"/>
          <p:cNvCxnSpPr/>
          <p:nvPr/>
        </p:nvCxnSpPr>
        <p:spPr>
          <a:xfrm>
            <a:off x="7697972" y="4845984"/>
            <a:ext cx="63795" cy="30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7501297" y="4685030"/>
            <a:ext cx="2342655" cy="172875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190291" y="3404415"/>
            <a:ext cx="42308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The Adjacency Matrix is symmetric</a:t>
            </a:r>
          </a:p>
        </p:txBody>
      </p:sp>
      <p:sp>
        <p:nvSpPr>
          <p:cNvPr id="60" name="Text Box 827"/>
          <p:cNvSpPr txBox="1">
            <a:spLocks noChangeArrowheads="1"/>
          </p:cNvSpPr>
          <p:nvPr/>
        </p:nvSpPr>
        <p:spPr bwMode="auto">
          <a:xfrm>
            <a:off x="667660" y="3854678"/>
            <a:ext cx="34288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u="sng" dirty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Unweighted Undirected Graph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17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3169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4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41" grpId="0" animBg="1"/>
      <p:bldP spid="14342" grpId="0" animBg="1"/>
      <p:bldP spid="14343" grpId="0" animBg="1"/>
      <p:bldP spid="14383" grpId="0"/>
      <p:bldP spid="35" grpId="0"/>
      <p:bldP spid="44" grpId="0"/>
      <p:bldP spid="59" grpId="0"/>
      <p:bldP spid="6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5919" y="36072"/>
            <a:ext cx="10101789" cy="6979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0" dirty="0">
                <a:latin typeface="+mn-lt"/>
              </a:rPr>
              <a:t>Brief Review of Graph Theory – </a:t>
            </a:r>
            <a:r>
              <a:rPr lang="en-US" altLang="en-US" u="sng" dirty="0">
                <a:solidFill>
                  <a:schemeClr val="tx1"/>
                </a:solidFill>
                <a:latin typeface="+mn-lt"/>
              </a:rPr>
              <a:t>Terminology II</a:t>
            </a:r>
          </a:p>
        </p:txBody>
      </p:sp>
      <p:sp>
        <p:nvSpPr>
          <p:cNvPr id="13339" name="Text Box 827"/>
          <p:cNvSpPr txBox="1">
            <a:spLocks noChangeArrowheads="1"/>
          </p:cNvSpPr>
          <p:nvPr/>
        </p:nvSpPr>
        <p:spPr bwMode="auto">
          <a:xfrm>
            <a:off x="321030" y="894004"/>
            <a:ext cx="34167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u="sng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Weighted </a:t>
            </a:r>
            <a:r>
              <a:rPr lang="en-US" altLang="en-US" sz="2400" b="1" u="sng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Directed Graph</a:t>
            </a:r>
          </a:p>
        </p:txBody>
      </p:sp>
      <p:sp>
        <p:nvSpPr>
          <p:cNvPr id="58" name="Text Box 3"/>
          <p:cNvSpPr txBox="1">
            <a:spLocks noChangeArrowheads="1"/>
          </p:cNvSpPr>
          <p:nvPr/>
        </p:nvSpPr>
        <p:spPr>
          <a:xfrm>
            <a:off x="4044004" y="1057942"/>
            <a:ext cx="8084936" cy="572563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2000" b="1" u="sng" dirty="0">
                <a:solidFill>
                  <a:srgbClr val="00B050"/>
                </a:solidFill>
              </a:rPr>
              <a:t>Path</a:t>
            </a:r>
            <a:r>
              <a:rPr lang="en-US" altLang="en-US" sz="2000" u="sng" dirty="0">
                <a:solidFill>
                  <a:srgbClr val="00B050"/>
                </a:solidFill>
              </a:rPr>
              <a:t>: </a:t>
            </a:r>
            <a:r>
              <a:rPr lang="en-US" altLang="en-US" sz="2000" dirty="0"/>
              <a:t>Sequence of vertices connected by </a:t>
            </a:r>
            <a:r>
              <a:rPr lang="en-US" altLang="en-US" sz="2000" dirty="0" smtClean="0"/>
              <a:t>edges</a:t>
            </a:r>
            <a:endParaRPr lang="en-US" altLang="en-US" sz="2000" dirty="0"/>
          </a:p>
          <a:p>
            <a:pPr>
              <a:lnSpc>
                <a:spcPct val="114000"/>
              </a:lnSpc>
              <a:spcBef>
                <a:spcPts val="1200"/>
              </a:spcBef>
            </a:pPr>
            <a:r>
              <a:rPr lang="en-US" altLang="en-US" sz="2000" b="1" u="sng" dirty="0">
                <a:solidFill>
                  <a:srgbClr val="C00000"/>
                </a:solidFill>
              </a:rPr>
              <a:t>Simple path</a:t>
            </a:r>
            <a:r>
              <a:rPr lang="en-US" altLang="en-US" sz="2000" u="sng" dirty="0">
                <a:solidFill>
                  <a:srgbClr val="C00000"/>
                </a:solidFill>
              </a:rPr>
              <a:t>: </a:t>
            </a:r>
            <a:r>
              <a:rPr lang="en-US" altLang="en-US" sz="2000" dirty="0"/>
              <a:t>A path is </a:t>
            </a:r>
            <a:r>
              <a:rPr lang="en-US" altLang="en-US" sz="2000" b="1" u="sng" dirty="0" smtClean="0"/>
              <a:t>simple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if it never passes through </a:t>
            </a:r>
            <a:r>
              <a:rPr lang="en-US" altLang="en-US" sz="2000" dirty="0" smtClean="0"/>
              <a:t>same </a:t>
            </a:r>
            <a:r>
              <a:rPr lang="en-US" altLang="en-US" sz="2000" dirty="0"/>
              <a:t>vertex </a:t>
            </a:r>
            <a:r>
              <a:rPr lang="en-US" altLang="en-US" sz="2000" dirty="0" smtClean="0"/>
              <a:t>twice</a:t>
            </a:r>
            <a:endParaRPr lang="en-US" altLang="en-US" sz="2000" dirty="0"/>
          </a:p>
          <a:p>
            <a:pPr>
              <a:lnSpc>
                <a:spcPct val="114000"/>
              </a:lnSpc>
              <a:spcBef>
                <a:spcPts val="1200"/>
              </a:spcBef>
            </a:pPr>
            <a:r>
              <a:rPr lang="en-US" altLang="en-US" sz="2000" b="1" u="sng" dirty="0">
                <a:solidFill>
                  <a:srgbClr val="0070C0"/>
                </a:solidFill>
              </a:rPr>
              <a:t>Length of a Path</a:t>
            </a:r>
            <a:r>
              <a:rPr lang="en-US" altLang="en-US" sz="2000" u="sng" dirty="0">
                <a:solidFill>
                  <a:srgbClr val="0070C0"/>
                </a:solidFill>
              </a:rPr>
              <a:t>: 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US" altLang="en-US" sz="2000" b="1" i="1" dirty="0">
                <a:solidFill>
                  <a:srgbClr val="00B050"/>
                </a:solidFill>
              </a:rPr>
              <a:t>Weighted graph</a:t>
            </a:r>
            <a:r>
              <a:rPr lang="en-US" altLang="en-US" sz="2000" dirty="0">
                <a:solidFill>
                  <a:srgbClr val="00B050"/>
                </a:solidFill>
              </a:rPr>
              <a:t>: </a:t>
            </a:r>
            <a:r>
              <a:rPr lang="en-US" altLang="en-US" sz="2000" dirty="0"/>
              <a:t>Sum of the weights on the path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US" altLang="en-US" sz="2000" b="1" i="1" dirty="0">
                <a:solidFill>
                  <a:srgbClr val="C00000"/>
                </a:solidFill>
              </a:rPr>
              <a:t>Unweighted graph</a:t>
            </a:r>
            <a:r>
              <a:rPr lang="en-US" altLang="en-US" sz="2000" dirty="0">
                <a:solidFill>
                  <a:srgbClr val="C00000"/>
                </a:solidFill>
              </a:rPr>
              <a:t>: </a:t>
            </a:r>
            <a:r>
              <a:rPr lang="en-US" altLang="en-US" sz="2000" dirty="0"/>
              <a:t>Number of edges in the </a:t>
            </a:r>
            <a:r>
              <a:rPr lang="en-US" altLang="en-US" sz="2000" dirty="0" smtClean="0"/>
              <a:t>path</a:t>
            </a:r>
            <a:endParaRPr lang="en-US" altLang="en-US" sz="2000" dirty="0"/>
          </a:p>
          <a:p>
            <a:pPr>
              <a:lnSpc>
                <a:spcPct val="114000"/>
              </a:lnSpc>
              <a:spcBef>
                <a:spcPts val="1200"/>
              </a:spcBef>
            </a:pPr>
            <a:r>
              <a:rPr lang="en-US" altLang="en-US" sz="2000" b="1" u="sng" dirty="0">
                <a:solidFill>
                  <a:srgbClr val="00B0F0"/>
                </a:solidFill>
              </a:rPr>
              <a:t>Cycle: </a:t>
            </a:r>
            <a:r>
              <a:rPr lang="en-US" altLang="en-US" sz="2000" dirty="0" smtClean="0"/>
              <a:t>It </a:t>
            </a:r>
            <a:r>
              <a:rPr lang="en-US" altLang="en-US" sz="2000" dirty="0"/>
              <a:t>is a path where the first and last vertices are the </a:t>
            </a:r>
            <a:r>
              <a:rPr lang="en-US" altLang="en-US" sz="2000" dirty="0" smtClean="0"/>
              <a:t>same</a:t>
            </a:r>
            <a:endParaRPr lang="en-US" altLang="en-US" sz="2000" dirty="0"/>
          </a:p>
          <a:p>
            <a:pPr>
              <a:lnSpc>
                <a:spcPct val="114000"/>
              </a:lnSpc>
              <a:spcBef>
                <a:spcPts val="1200"/>
              </a:spcBef>
            </a:pPr>
            <a:r>
              <a:rPr lang="en-US" altLang="en-US" sz="2000" b="1" u="sng" dirty="0">
                <a:solidFill>
                  <a:srgbClr val="C00000"/>
                </a:solidFill>
              </a:rPr>
              <a:t>Cyclic Graphs</a:t>
            </a:r>
            <a:r>
              <a:rPr lang="en-US" altLang="en-US" sz="2000" u="sng" dirty="0">
                <a:solidFill>
                  <a:srgbClr val="C00000"/>
                </a:solidFill>
              </a:rPr>
              <a:t>: </a:t>
            </a:r>
            <a:r>
              <a:rPr lang="en-US" altLang="en-US" sz="2000" dirty="0"/>
              <a:t>A graph is cyclic if it </a:t>
            </a:r>
            <a:r>
              <a:rPr lang="en-US" altLang="en-US" sz="2000" b="1" u="sng" dirty="0">
                <a:solidFill>
                  <a:srgbClr val="C00000"/>
                </a:solidFill>
              </a:rPr>
              <a:t>contains a </a:t>
            </a:r>
            <a:r>
              <a:rPr lang="en-US" altLang="en-US" sz="2000" b="1" u="sng" dirty="0" smtClean="0">
                <a:solidFill>
                  <a:srgbClr val="C00000"/>
                </a:solidFill>
              </a:rPr>
              <a:t>cycle</a:t>
            </a:r>
            <a:endParaRPr lang="en-US" altLang="en-US" sz="2000" dirty="0"/>
          </a:p>
          <a:p>
            <a:pPr>
              <a:lnSpc>
                <a:spcPct val="114000"/>
              </a:lnSpc>
              <a:spcBef>
                <a:spcPts val="1200"/>
              </a:spcBef>
            </a:pPr>
            <a:r>
              <a:rPr lang="en-US" altLang="en-US" sz="2000" b="1" u="sng" dirty="0">
                <a:solidFill>
                  <a:srgbClr val="7030A0"/>
                </a:solidFill>
              </a:rPr>
              <a:t>Acyclic </a:t>
            </a:r>
            <a:r>
              <a:rPr lang="en-US" altLang="en-US" sz="2000" b="1" u="sng" dirty="0" smtClean="0">
                <a:solidFill>
                  <a:srgbClr val="7030A0"/>
                </a:solidFill>
              </a:rPr>
              <a:t>graphs</a:t>
            </a:r>
            <a:r>
              <a:rPr lang="en-US" altLang="en-US" sz="2000" u="sng" dirty="0" smtClean="0">
                <a:solidFill>
                  <a:srgbClr val="7030A0"/>
                </a:solidFill>
              </a:rPr>
              <a:t>: </a:t>
            </a:r>
            <a:r>
              <a:rPr lang="en-US" altLang="en-US" sz="2000" dirty="0" smtClean="0"/>
              <a:t>Acyclic </a:t>
            </a:r>
            <a:r>
              <a:rPr lang="en-US" altLang="en-US" sz="2000" dirty="0"/>
              <a:t>graph is a graph that </a:t>
            </a:r>
            <a:r>
              <a:rPr lang="en-US" altLang="en-US" sz="2000" b="1" u="sng" dirty="0">
                <a:solidFill>
                  <a:srgbClr val="7030A0"/>
                </a:solidFill>
              </a:rPr>
              <a:t>does not contain a </a:t>
            </a:r>
            <a:r>
              <a:rPr lang="en-US" altLang="en-US" sz="2000" b="1" u="sng" dirty="0" smtClean="0">
                <a:solidFill>
                  <a:srgbClr val="7030A0"/>
                </a:solidFill>
              </a:rPr>
              <a:t>cycle</a:t>
            </a:r>
            <a:endParaRPr lang="en-US" altLang="en-US" sz="2000" dirty="0">
              <a:solidFill>
                <a:srgbClr val="7030A0"/>
              </a:solidFill>
            </a:endParaRPr>
          </a:p>
          <a:p>
            <a:pPr>
              <a:lnSpc>
                <a:spcPct val="114000"/>
              </a:lnSpc>
              <a:spcBef>
                <a:spcPts val="1200"/>
              </a:spcBef>
            </a:pPr>
            <a:r>
              <a:rPr lang="en-US" altLang="en-US" sz="2000" b="1" u="sng" dirty="0">
                <a:solidFill>
                  <a:srgbClr val="FFC000"/>
                </a:solidFill>
              </a:rPr>
              <a:t>Tour (Hamiltonian Circuit): </a:t>
            </a:r>
            <a:r>
              <a:rPr lang="en-US" altLang="en-US" sz="2000" dirty="0"/>
              <a:t>I</a:t>
            </a:r>
            <a:r>
              <a:rPr lang="en-US" altLang="en-US" sz="2000" dirty="0" smtClean="0"/>
              <a:t>n </a:t>
            </a:r>
            <a:r>
              <a:rPr lang="en-US" altLang="en-US" sz="2000" dirty="0"/>
              <a:t>a directed </a:t>
            </a:r>
            <a:r>
              <a:rPr lang="en-US" altLang="en-US" sz="2000" dirty="0" smtClean="0"/>
              <a:t>graph, it </a:t>
            </a:r>
            <a:r>
              <a:rPr lang="en-US" altLang="en-US" sz="2000" dirty="0"/>
              <a:t>is a path from a vertex to itself that passes through </a:t>
            </a:r>
            <a:r>
              <a:rPr lang="en-US" altLang="en-US" sz="2000" b="1" u="sng" dirty="0"/>
              <a:t>each of the other vertices exactly </a:t>
            </a:r>
            <a:r>
              <a:rPr lang="en-US" altLang="en-US" sz="2000" b="1" u="sng" dirty="0" smtClean="0"/>
              <a:t>once</a:t>
            </a:r>
            <a:endParaRPr lang="en-US" altLang="en-US" sz="2000" b="1" u="sng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endParaRPr lang="en-US" altLang="en-US" sz="1800" dirty="0"/>
          </a:p>
        </p:txBody>
      </p:sp>
      <p:sp>
        <p:nvSpPr>
          <p:cNvPr id="53" name="Oval 802"/>
          <p:cNvSpPr>
            <a:spLocks noChangeArrowheads="1"/>
          </p:cNvSpPr>
          <p:nvPr/>
        </p:nvSpPr>
        <p:spPr bwMode="auto">
          <a:xfrm>
            <a:off x="1632151" y="1803988"/>
            <a:ext cx="606425" cy="6365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 tIns="0" rIns="0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i="1">
                <a:latin typeface="Times New Roman" panose="02020603050405020304" pitchFamily="18" charset="0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</a:rPr>
              <a:t>v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  <a:endParaRPr lang="en-US" altLang="en-US" sz="2400" i="1">
              <a:latin typeface="Times New Roman" panose="02020603050405020304" pitchFamily="18" charset="0"/>
            </a:endParaRPr>
          </a:p>
        </p:txBody>
      </p:sp>
      <p:sp>
        <p:nvSpPr>
          <p:cNvPr id="54" name="Oval 803"/>
          <p:cNvSpPr>
            <a:spLocks noChangeArrowheads="1"/>
          </p:cNvSpPr>
          <p:nvPr/>
        </p:nvSpPr>
        <p:spPr bwMode="auto">
          <a:xfrm>
            <a:off x="3451426" y="1803988"/>
            <a:ext cx="606425" cy="6365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tIns="0" rIns="72000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i="1">
                <a:latin typeface="Times New Roman" panose="02020603050405020304" pitchFamily="18" charset="0"/>
              </a:rPr>
              <a:t>v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5" name="Oval 804"/>
          <p:cNvSpPr>
            <a:spLocks noChangeArrowheads="1"/>
          </p:cNvSpPr>
          <p:nvPr/>
        </p:nvSpPr>
        <p:spPr bwMode="auto">
          <a:xfrm>
            <a:off x="1632151" y="3077163"/>
            <a:ext cx="606425" cy="6365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tIns="0" rIns="18000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>
                <a:latin typeface="Times New Roman" panose="02020603050405020304" pitchFamily="18" charset="0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</a:rPr>
              <a:t>v</a:t>
            </a:r>
            <a:r>
              <a:rPr lang="en-US" altLang="en-US" sz="2400" baseline="-25000">
                <a:latin typeface="Times New Roman" panose="02020603050405020304" pitchFamily="18" charset="0"/>
              </a:rPr>
              <a:t>4</a:t>
            </a:r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56" name="Oval 805"/>
          <p:cNvSpPr>
            <a:spLocks noChangeArrowheads="1"/>
          </p:cNvSpPr>
          <p:nvPr/>
        </p:nvSpPr>
        <p:spPr bwMode="auto">
          <a:xfrm>
            <a:off x="3451426" y="3077163"/>
            <a:ext cx="606425" cy="6365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tIns="0" rIns="0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000">
                <a:latin typeface="Times New Roman" panose="02020603050405020304" pitchFamily="18" charset="0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</a:rPr>
              <a:t>v</a:t>
            </a:r>
            <a:r>
              <a:rPr lang="en-US" altLang="en-US" sz="2400" baseline="-25000">
                <a:latin typeface="Times New Roman" panose="02020603050405020304" pitchFamily="18" charset="0"/>
              </a:rPr>
              <a:t>3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5" name="Oval 806"/>
          <p:cNvSpPr>
            <a:spLocks noChangeArrowheads="1"/>
          </p:cNvSpPr>
          <p:nvPr/>
        </p:nvSpPr>
        <p:spPr bwMode="auto">
          <a:xfrm>
            <a:off x="176414" y="2440577"/>
            <a:ext cx="606425" cy="6365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100800" tIns="0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i="1">
                <a:latin typeface="Times New Roman" panose="02020603050405020304" pitchFamily="18" charset="0"/>
              </a:rPr>
              <a:t>v</a:t>
            </a:r>
            <a:r>
              <a:rPr lang="en-US" altLang="en-US" sz="2400" baseline="-25000">
                <a:latin typeface="Times New Roman" panose="02020603050405020304" pitchFamily="18" charset="0"/>
              </a:rPr>
              <a:t>5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7" name="Line 807"/>
          <p:cNvSpPr>
            <a:spLocks noChangeShapeType="1"/>
          </p:cNvSpPr>
          <p:nvPr/>
        </p:nvSpPr>
        <p:spPr bwMode="auto">
          <a:xfrm flipV="1">
            <a:off x="697114" y="2184988"/>
            <a:ext cx="955675" cy="382588"/>
          </a:xfrm>
          <a:prstGeom prst="line">
            <a:avLst/>
          </a:prstGeom>
          <a:noFill/>
          <a:ln w="190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808"/>
          <p:cNvSpPr>
            <a:spLocks noChangeShapeType="1"/>
          </p:cNvSpPr>
          <p:nvPr/>
        </p:nvSpPr>
        <p:spPr bwMode="auto">
          <a:xfrm flipV="1">
            <a:off x="782838" y="2313576"/>
            <a:ext cx="931862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Line 809"/>
          <p:cNvSpPr>
            <a:spLocks noChangeShapeType="1"/>
          </p:cNvSpPr>
          <p:nvPr/>
        </p:nvSpPr>
        <p:spPr bwMode="auto">
          <a:xfrm flipV="1">
            <a:off x="2213176" y="2362789"/>
            <a:ext cx="1319213" cy="854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Line 810"/>
          <p:cNvSpPr>
            <a:spLocks noChangeShapeType="1"/>
          </p:cNvSpPr>
          <p:nvPr/>
        </p:nvSpPr>
        <p:spPr bwMode="auto">
          <a:xfrm flipV="1">
            <a:off x="2189513" y="1936230"/>
            <a:ext cx="1335024" cy="0"/>
          </a:xfrm>
          <a:prstGeom prst="line">
            <a:avLst/>
          </a:prstGeom>
          <a:noFill/>
          <a:ln w="190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Line 811"/>
          <p:cNvSpPr>
            <a:spLocks noChangeShapeType="1"/>
          </p:cNvSpPr>
          <p:nvPr/>
        </p:nvSpPr>
        <p:spPr bwMode="auto">
          <a:xfrm flipV="1">
            <a:off x="2238575" y="3332751"/>
            <a:ext cx="1212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Line 812"/>
          <p:cNvSpPr>
            <a:spLocks noChangeShapeType="1"/>
          </p:cNvSpPr>
          <p:nvPr/>
        </p:nvSpPr>
        <p:spPr bwMode="auto">
          <a:xfrm>
            <a:off x="1875038" y="2440577"/>
            <a:ext cx="0" cy="636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Line 813"/>
          <p:cNvSpPr>
            <a:spLocks noChangeShapeType="1"/>
          </p:cNvSpPr>
          <p:nvPr/>
        </p:nvSpPr>
        <p:spPr bwMode="auto">
          <a:xfrm>
            <a:off x="3775275" y="2440577"/>
            <a:ext cx="0" cy="636587"/>
          </a:xfrm>
          <a:prstGeom prst="line">
            <a:avLst/>
          </a:prstGeom>
          <a:noFill/>
          <a:ln w="190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Line 814"/>
          <p:cNvSpPr>
            <a:spLocks noChangeShapeType="1"/>
          </p:cNvSpPr>
          <p:nvPr/>
        </p:nvSpPr>
        <p:spPr bwMode="auto">
          <a:xfrm flipV="1">
            <a:off x="2238575" y="3459751"/>
            <a:ext cx="1212850" cy="0"/>
          </a:xfrm>
          <a:prstGeom prst="line">
            <a:avLst/>
          </a:prstGeom>
          <a:noFill/>
          <a:ln w="19050">
            <a:solidFill>
              <a:srgbClr val="FFC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Line 815"/>
          <p:cNvSpPr>
            <a:spLocks noChangeShapeType="1"/>
          </p:cNvSpPr>
          <p:nvPr/>
        </p:nvSpPr>
        <p:spPr bwMode="auto">
          <a:xfrm flipV="1">
            <a:off x="2238575" y="2184988"/>
            <a:ext cx="1212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Line 816"/>
          <p:cNvSpPr>
            <a:spLocks noChangeShapeType="1"/>
          </p:cNvSpPr>
          <p:nvPr/>
        </p:nvSpPr>
        <p:spPr bwMode="auto">
          <a:xfrm>
            <a:off x="715353" y="2971429"/>
            <a:ext cx="932688" cy="382588"/>
          </a:xfrm>
          <a:prstGeom prst="line">
            <a:avLst/>
          </a:prstGeom>
          <a:noFill/>
          <a:ln w="19050">
            <a:solidFill>
              <a:srgbClr val="FFC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Text Box 817"/>
          <p:cNvSpPr txBox="1">
            <a:spLocks noChangeArrowheads="1"/>
          </p:cNvSpPr>
          <p:nvPr/>
        </p:nvSpPr>
        <p:spPr bwMode="auto">
          <a:xfrm>
            <a:off x="1025725" y="1973851"/>
            <a:ext cx="3238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4" name="Text Box 818"/>
          <p:cNvSpPr txBox="1">
            <a:spLocks noChangeArrowheads="1"/>
          </p:cNvSpPr>
          <p:nvPr/>
        </p:nvSpPr>
        <p:spPr bwMode="auto">
          <a:xfrm>
            <a:off x="2764038" y="3374027"/>
            <a:ext cx="4445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5" name="Text Box 819"/>
          <p:cNvSpPr txBox="1">
            <a:spLocks noChangeArrowheads="1"/>
          </p:cNvSpPr>
          <p:nvPr/>
        </p:nvSpPr>
        <p:spPr bwMode="auto">
          <a:xfrm>
            <a:off x="938414" y="3039064"/>
            <a:ext cx="365125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6" name="Text Box 820"/>
          <p:cNvSpPr txBox="1">
            <a:spLocks noChangeArrowheads="1"/>
          </p:cNvSpPr>
          <p:nvPr/>
        </p:nvSpPr>
        <p:spPr bwMode="auto">
          <a:xfrm>
            <a:off x="2805314" y="2993026"/>
            <a:ext cx="40322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2</a:t>
            </a:r>
          </a:p>
          <a:p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87" name="Text Box 821"/>
          <p:cNvSpPr txBox="1">
            <a:spLocks noChangeArrowheads="1"/>
          </p:cNvSpPr>
          <p:nvPr/>
        </p:nvSpPr>
        <p:spPr bwMode="auto">
          <a:xfrm>
            <a:off x="1268613" y="2372313"/>
            <a:ext cx="322262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8" name="Text Box 822"/>
          <p:cNvSpPr txBox="1">
            <a:spLocks noChangeArrowheads="1"/>
          </p:cNvSpPr>
          <p:nvPr/>
        </p:nvSpPr>
        <p:spPr bwMode="auto">
          <a:xfrm>
            <a:off x="2648151" y="2456451"/>
            <a:ext cx="4032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9" name="Text Box 823"/>
          <p:cNvSpPr txBox="1">
            <a:spLocks noChangeArrowheads="1"/>
          </p:cNvSpPr>
          <p:nvPr/>
        </p:nvSpPr>
        <p:spPr bwMode="auto">
          <a:xfrm>
            <a:off x="2724350" y="2116726"/>
            <a:ext cx="36353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0" name="Text Box 824"/>
          <p:cNvSpPr txBox="1">
            <a:spLocks noChangeArrowheads="1"/>
          </p:cNvSpPr>
          <p:nvPr/>
        </p:nvSpPr>
        <p:spPr bwMode="auto">
          <a:xfrm>
            <a:off x="2724350" y="1591264"/>
            <a:ext cx="363538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91" name="Text Box 825"/>
          <p:cNvSpPr txBox="1">
            <a:spLocks noChangeArrowheads="1"/>
          </p:cNvSpPr>
          <p:nvPr/>
        </p:nvSpPr>
        <p:spPr bwMode="auto">
          <a:xfrm>
            <a:off x="3775275" y="2542176"/>
            <a:ext cx="363538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97" name="AutoShape 856"/>
          <p:cNvCxnSpPr>
            <a:cxnSpLocks noChangeShapeType="1"/>
            <a:stCxn id="56" idx="3"/>
            <a:endCxn id="65" idx="6"/>
          </p:cNvCxnSpPr>
          <p:nvPr/>
        </p:nvCxnSpPr>
        <p:spPr bwMode="auto">
          <a:xfrm rot="16200000" flipV="1">
            <a:off x="1731370" y="1811133"/>
            <a:ext cx="860425" cy="2757487"/>
          </a:xfrm>
          <a:prstGeom prst="curvedConnector4">
            <a:avLst>
              <a:gd name="adj1" fmla="val -18269"/>
              <a:gd name="adj2" fmla="val 67583"/>
            </a:avLst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8" name="Line 857"/>
          <p:cNvSpPr>
            <a:spLocks noChangeShapeType="1"/>
          </p:cNvSpPr>
          <p:nvPr/>
        </p:nvSpPr>
        <p:spPr bwMode="auto">
          <a:xfrm flipV="1">
            <a:off x="2115917" y="3767725"/>
            <a:ext cx="128270" cy="447705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Text Box 858"/>
          <p:cNvSpPr txBox="1">
            <a:spLocks noChangeArrowheads="1"/>
          </p:cNvSpPr>
          <p:nvPr/>
        </p:nvSpPr>
        <p:spPr bwMode="auto">
          <a:xfrm>
            <a:off x="1751437" y="4212586"/>
            <a:ext cx="6399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</a:p>
        </p:txBody>
      </p:sp>
      <p:cxnSp>
        <p:nvCxnSpPr>
          <p:cNvPr id="101" name="AutoShape 863"/>
          <p:cNvCxnSpPr>
            <a:cxnSpLocks noChangeShapeType="1"/>
            <a:stCxn id="65" idx="3"/>
            <a:endCxn id="55" idx="3"/>
          </p:cNvCxnSpPr>
          <p:nvPr/>
        </p:nvCxnSpPr>
        <p:spPr bwMode="auto">
          <a:xfrm rot="16200000" flipH="1">
            <a:off x="674889" y="2573927"/>
            <a:ext cx="636587" cy="1455737"/>
          </a:xfrm>
          <a:prstGeom prst="curvedConnector3">
            <a:avLst>
              <a:gd name="adj1" fmla="val 89023"/>
            </a:avLst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AutoShape 864"/>
          <p:cNvCxnSpPr>
            <a:cxnSpLocks noChangeShapeType="1"/>
            <a:stCxn id="65" idx="3"/>
            <a:endCxn id="53" idx="0"/>
          </p:cNvCxnSpPr>
          <p:nvPr/>
        </p:nvCxnSpPr>
        <p:spPr bwMode="auto">
          <a:xfrm rot="5400000" flipH="1" flipV="1">
            <a:off x="510582" y="1558720"/>
            <a:ext cx="1179513" cy="1670050"/>
          </a:xfrm>
          <a:prstGeom prst="curvedConnector5">
            <a:avLst>
              <a:gd name="adj1" fmla="val 71736"/>
              <a:gd name="adj2" fmla="val 47338"/>
              <a:gd name="adj3" fmla="val 103093"/>
            </a:avLst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AutoShape 866"/>
          <p:cNvCxnSpPr>
            <a:cxnSpLocks noChangeShapeType="1"/>
            <a:stCxn id="53" idx="0"/>
            <a:endCxn id="55" idx="7"/>
          </p:cNvCxnSpPr>
          <p:nvPr/>
        </p:nvCxnSpPr>
        <p:spPr bwMode="auto">
          <a:xfrm rot="5400000" flipV="1">
            <a:off x="1359100" y="2380251"/>
            <a:ext cx="1366838" cy="214312"/>
          </a:xfrm>
          <a:prstGeom prst="curvedConnector5">
            <a:avLst>
              <a:gd name="adj1" fmla="val 17653"/>
              <a:gd name="adj2" fmla="val 129625"/>
              <a:gd name="adj3" fmla="val 75491"/>
            </a:avLst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Line 867"/>
          <p:cNvSpPr>
            <a:spLocks noChangeShapeType="1"/>
          </p:cNvSpPr>
          <p:nvPr/>
        </p:nvSpPr>
        <p:spPr bwMode="auto">
          <a:xfrm flipV="1">
            <a:off x="460575" y="3521663"/>
            <a:ext cx="304800" cy="609600"/>
          </a:xfrm>
          <a:prstGeom prst="line">
            <a:avLst/>
          </a:prstGeom>
          <a:noFill/>
          <a:ln w="9525">
            <a:solidFill>
              <a:schemeClr val="accent5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Text Box 868"/>
          <p:cNvSpPr txBox="1">
            <a:spLocks noChangeArrowheads="1"/>
          </p:cNvSpPr>
          <p:nvPr/>
        </p:nvSpPr>
        <p:spPr bwMode="auto">
          <a:xfrm>
            <a:off x="39889" y="4055063"/>
            <a:ext cx="9540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</a:p>
        </p:txBody>
      </p:sp>
      <p:sp>
        <p:nvSpPr>
          <p:cNvPr id="109" name="Text Box 877"/>
          <p:cNvSpPr txBox="1">
            <a:spLocks noChangeArrowheads="1"/>
          </p:cNvSpPr>
          <p:nvPr/>
        </p:nvSpPr>
        <p:spPr bwMode="auto">
          <a:xfrm>
            <a:off x="1832176" y="2531064"/>
            <a:ext cx="40322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10" name="Text Box 858"/>
          <p:cNvSpPr txBox="1">
            <a:spLocks noChangeArrowheads="1"/>
          </p:cNvSpPr>
          <p:nvPr/>
        </p:nvSpPr>
        <p:spPr bwMode="auto">
          <a:xfrm>
            <a:off x="3072489" y="4112213"/>
            <a:ext cx="6653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Tour</a:t>
            </a:r>
          </a:p>
        </p:txBody>
      </p:sp>
      <p:sp>
        <p:nvSpPr>
          <p:cNvPr id="111" name="Line 857"/>
          <p:cNvSpPr>
            <a:spLocks noChangeShapeType="1"/>
          </p:cNvSpPr>
          <p:nvPr/>
        </p:nvSpPr>
        <p:spPr bwMode="auto">
          <a:xfrm flipH="1" flipV="1">
            <a:off x="3116127" y="3475626"/>
            <a:ext cx="232567" cy="65563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18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90563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9" grpId="0"/>
      <p:bldP spid="53" grpId="0" animBg="1"/>
      <p:bldP spid="54" grpId="0" animBg="1"/>
      <p:bldP spid="55" grpId="0" animBg="1"/>
      <p:bldP spid="56" grpId="0" animBg="1"/>
      <p:bldP spid="65" grpId="0" animBg="1"/>
      <p:bldP spid="67" grpId="0" animBg="1"/>
      <p:bldP spid="68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8" grpId="0" animBg="1"/>
      <p:bldP spid="99" grpId="0"/>
      <p:bldP spid="104" grpId="0" animBg="1"/>
      <p:bldP spid="105" grpId="0"/>
      <p:bldP spid="109" grpId="0"/>
      <p:bldP spid="110" grpId="0"/>
      <p:bldP spid="1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FBB75D86-5B4D-FD4E-828C-BBA60DE9C9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348"/>
            <a:ext cx="8229600" cy="585787"/>
          </a:xfrm>
        </p:spPr>
        <p:txBody>
          <a:bodyPr>
            <a:normAutofit/>
          </a:bodyPr>
          <a:lstStyle/>
          <a:p>
            <a:r>
              <a:rPr lang="en-US" altLang="en-QA" sz="2800" b="0" dirty="0">
                <a:latin typeface="+mn-lt"/>
                <a:cs typeface="Times New Roman" panose="02020603050405020304" pitchFamily="18" charset="0"/>
              </a:rPr>
              <a:t>The Shortest Path Problem</a:t>
            </a:r>
          </a:p>
        </p:txBody>
      </p:sp>
      <p:sp>
        <p:nvSpPr>
          <p:cNvPr id="147474" name="Rectangle 18">
            <a:extLst>
              <a:ext uri="{FF2B5EF4-FFF2-40B4-BE49-F238E27FC236}">
                <a16:creationId xmlns:a16="http://schemas.microsoft.com/office/drawing/2014/main" id="{2F1339F6-C9B5-1641-B053-DB0A97D5A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3515" y="3160857"/>
            <a:ext cx="7616247" cy="3056227"/>
          </a:xfrm>
          <a:ln>
            <a:solidFill>
              <a:srgbClr val="0070C0"/>
            </a:solidFill>
          </a:ln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from </a:t>
            </a:r>
            <a:r>
              <a:rPr lang="en-US" altLang="en-Q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Q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QA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en-QA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[</a:t>
            </a:r>
            <a:r>
              <a:rPr lang="en-US" altLang="en-QA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QA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QA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     </a:t>
            </a:r>
            <a:r>
              <a:rPr lang="en-US" altLang="en-Q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+ 3 = 4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Q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en-QA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[</a:t>
            </a:r>
            <a:r>
              <a:rPr lang="en-US" altLang="en-QA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en-QA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QA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     </a:t>
            </a:r>
            <a:r>
              <a:rPr lang="en-US" altLang="en-Q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+ 2 = </a:t>
            </a:r>
            <a:r>
              <a:rPr lang="en-US" altLang="en-QA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Q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QA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altLang="en-Q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US" altLang="en-QA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Q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en-Q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[</a:t>
            </a:r>
            <a:r>
              <a:rPr lang="en-US" altLang="en-QA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Q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QA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QA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Q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+ 2 + 2 = 5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QA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QA" u="sng" dirty="0">
                <a:solidFill>
                  <a:srgbClr val="00B050"/>
                </a:solidFill>
                <a:cs typeface="Times New Roman" panose="02020603050405020304" pitchFamily="18" charset="0"/>
              </a:rPr>
              <a:t>Many candidate </a:t>
            </a:r>
            <a:r>
              <a:rPr lang="en-US" altLang="en-QA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solutions</a:t>
            </a:r>
            <a:endParaRPr lang="en-US" altLang="en-QA" u="sng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QA" dirty="0">
                <a:cs typeface="Times New Roman" panose="02020603050405020304" pitchFamily="18" charset="0"/>
              </a:rPr>
              <a:t>	- Each candidate solution has </a:t>
            </a:r>
            <a:r>
              <a:rPr lang="en-US" altLang="en-QA" b="1" u="sng" dirty="0">
                <a:cs typeface="Times New Roman" panose="02020603050405020304" pitchFamily="18" charset="0"/>
              </a:rPr>
              <a:t>a value </a:t>
            </a:r>
            <a:r>
              <a:rPr lang="en-US" altLang="en-QA" dirty="0">
                <a:cs typeface="Times New Roman" panose="02020603050405020304" pitchFamily="18" charset="0"/>
              </a:rPr>
              <a:t>associated with </a:t>
            </a:r>
            <a:r>
              <a:rPr lang="en-US" altLang="en-QA" dirty="0" smtClean="0">
                <a:cs typeface="Times New Roman" panose="02020603050405020304" pitchFamily="18" charset="0"/>
              </a:rPr>
              <a:t>it</a:t>
            </a:r>
            <a:endParaRPr lang="en-US" altLang="en-QA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QA" dirty="0">
                <a:cs typeface="Times New Roman" panose="02020603050405020304" pitchFamily="18" charset="0"/>
              </a:rPr>
              <a:t>    - The solution </a:t>
            </a:r>
            <a:r>
              <a:rPr lang="en-US" altLang="en-QA" dirty="0" smtClean="0">
                <a:cs typeface="Times New Roman" panose="02020603050405020304" pitchFamily="18" charset="0"/>
              </a:rPr>
              <a:t>is the one that </a:t>
            </a:r>
            <a:r>
              <a:rPr lang="en-US" altLang="en-QA" dirty="0">
                <a:cs typeface="Times New Roman" panose="02020603050405020304" pitchFamily="18" charset="0"/>
              </a:rPr>
              <a:t>has </a:t>
            </a:r>
            <a:r>
              <a:rPr lang="en-US" altLang="en-QA" dirty="0" smtClean="0">
                <a:cs typeface="Times New Roman" panose="02020603050405020304" pitchFamily="18" charset="0"/>
              </a:rPr>
              <a:t>an </a:t>
            </a:r>
            <a:r>
              <a:rPr lang="en-US" altLang="en-QA" u="sng" dirty="0">
                <a:solidFill>
                  <a:srgbClr val="0070C0"/>
                </a:solidFill>
                <a:cs typeface="Times New Roman" panose="02020603050405020304" pitchFamily="18" charset="0"/>
              </a:rPr>
              <a:t>optimal </a:t>
            </a:r>
            <a:r>
              <a:rPr lang="en-US" altLang="en-QA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value </a:t>
            </a:r>
            <a:endParaRPr lang="en-US" altLang="en-QA" u="sng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147510" name="Group 54">
            <a:extLst>
              <a:ext uri="{FF2B5EF4-FFF2-40B4-BE49-F238E27FC236}">
                <a16:creationId xmlns:a16="http://schemas.microsoft.com/office/drawing/2014/main" id="{014D856D-D5FD-BD40-8E94-59393585434A}"/>
              </a:ext>
            </a:extLst>
          </p:cNvPr>
          <p:cNvGrpSpPr>
            <a:grpSpLocks/>
          </p:cNvGrpSpPr>
          <p:nvPr/>
        </p:nvGrpSpPr>
        <p:grpSpPr bwMode="auto">
          <a:xfrm>
            <a:off x="936626" y="926524"/>
            <a:ext cx="3948113" cy="2224087"/>
            <a:chOff x="1435" y="576"/>
            <a:chExt cx="2487" cy="1401"/>
          </a:xfrm>
        </p:grpSpPr>
        <p:sp>
          <p:nvSpPr>
            <p:cNvPr id="147475" name="Oval 19">
              <a:extLst>
                <a:ext uri="{FF2B5EF4-FFF2-40B4-BE49-F238E27FC236}">
                  <a16:creationId xmlns:a16="http://schemas.microsoft.com/office/drawing/2014/main" id="{76090E9F-4330-5F40-905C-3F3A5E927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710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200" i="1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1</a:t>
              </a:r>
              <a:endParaRPr lang="en-US" altLang="en-QA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147476" name="Oval 20">
              <a:extLst>
                <a:ext uri="{FF2B5EF4-FFF2-40B4-BE49-F238E27FC236}">
                  <a16:creationId xmlns:a16="http://schemas.microsoft.com/office/drawing/2014/main" id="{6B3BAA7B-A427-6941-B611-1DA163F97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710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/>
            <a:p>
              <a:pPr eaLnBrk="0" hangingPunct="0"/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2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47477" name="Oval 21">
              <a:extLst>
                <a:ext uri="{FF2B5EF4-FFF2-40B4-BE49-F238E27FC236}">
                  <a16:creationId xmlns:a16="http://schemas.microsoft.com/office/drawing/2014/main" id="{E6E4B2AB-F2DA-284A-971E-7D7863756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512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/>
            <a:p>
              <a:pPr eaLnBrk="0" hangingPunct="0"/>
              <a:r>
                <a:rPr lang="en-US" altLang="en-QA" i="1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4</a:t>
              </a:r>
              <a:endParaRPr lang="en-US" altLang="en-QA" sz="1000">
                <a:latin typeface="Times New Roman" panose="02020603050405020304" pitchFamily="18" charset="0"/>
              </a:endParaRPr>
            </a:p>
          </p:txBody>
        </p:sp>
        <p:sp>
          <p:nvSpPr>
            <p:cNvPr id="147478" name="Oval 22">
              <a:extLst>
                <a:ext uri="{FF2B5EF4-FFF2-40B4-BE49-F238E27FC236}">
                  <a16:creationId xmlns:a16="http://schemas.microsoft.com/office/drawing/2014/main" id="{07DA7929-0C04-9445-9ACA-75D701F17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1512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000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3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47479" name="Oval 23">
              <a:extLst>
                <a:ext uri="{FF2B5EF4-FFF2-40B4-BE49-F238E27FC236}">
                  <a16:creationId xmlns:a16="http://schemas.microsoft.com/office/drawing/2014/main" id="{A1B23F6D-AC0F-024F-8094-CE9042A1F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" y="1111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00800" tIns="0"/>
            <a:lstStyle/>
            <a:p>
              <a:pPr eaLnBrk="0" hangingPunct="0"/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5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47480" name="Line 24">
              <a:extLst>
                <a:ext uri="{FF2B5EF4-FFF2-40B4-BE49-F238E27FC236}">
                  <a16:creationId xmlns:a16="http://schemas.microsoft.com/office/drawing/2014/main" id="{693025C5-4CE4-E34C-A92C-00CF7B12D2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3" y="950"/>
              <a:ext cx="602" cy="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47481" name="Line 25">
              <a:extLst>
                <a:ext uri="{FF2B5EF4-FFF2-40B4-BE49-F238E27FC236}">
                  <a16:creationId xmlns:a16="http://schemas.microsoft.com/office/drawing/2014/main" id="{99C1A185-ADE2-B049-A222-43A541DB07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7" y="1031"/>
              <a:ext cx="587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47482" name="Line 26">
              <a:extLst>
                <a:ext uri="{FF2B5EF4-FFF2-40B4-BE49-F238E27FC236}">
                  <a16:creationId xmlns:a16="http://schemas.microsoft.com/office/drawing/2014/main" id="{03629E47-22DB-6343-A03F-68B15ED636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8" y="1062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47483" name="Line 27">
              <a:extLst>
                <a:ext uri="{FF2B5EF4-FFF2-40B4-BE49-F238E27FC236}">
                  <a16:creationId xmlns:a16="http://schemas.microsoft.com/office/drawing/2014/main" id="{1B9F42B1-45E1-E344-A813-69D37F879B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3" y="800"/>
              <a:ext cx="86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47484" name="Line 28">
              <a:extLst>
                <a:ext uri="{FF2B5EF4-FFF2-40B4-BE49-F238E27FC236}">
                  <a16:creationId xmlns:a16="http://schemas.microsoft.com/office/drawing/2014/main" id="{B8F107B1-4C22-1447-8EA8-6A30386293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673"/>
              <a:ext cx="764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47485" name="Line 29">
              <a:extLst>
                <a:ext uri="{FF2B5EF4-FFF2-40B4-BE49-F238E27FC236}">
                  <a16:creationId xmlns:a16="http://schemas.microsoft.com/office/drawing/2014/main" id="{51000872-F48A-564E-9921-269BE5A3A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1111"/>
              <a:ext cx="0" cy="401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47486" name="Line 30">
              <a:extLst>
                <a:ext uri="{FF2B5EF4-FFF2-40B4-BE49-F238E27FC236}">
                  <a16:creationId xmlns:a16="http://schemas.microsoft.com/office/drawing/2014/main" id="{B06115F1-85D7-D74F-A8C6-614D34F58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" y="1111"/>
              <a:ext cx="0" cy="401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47487" name="Line 31">
              <a:extLst>
                <a:ext uri="{FF2B5EF4-FFF2-40B4-BE49-F238E27FC236}">
                  <a16:creationId xmlns:a16="http://schemas.microsoft.com/office/drawing/2014/main" id="{24BFC609-2ED8-5C4E-8A96-B6DF4CEC91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75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47488" name="Line 32">
              <a:extLst>
                <a:ext uri="{FF2B5EF4-FFF2-40B4-BE49-F238E27FC236}">
                  <a16:creationId xmlns:a16="http://schemas.microsoft.com/office/drawing/2014/main" id="{BB89F2DB-527B-844D-84A7-B1927D2E0B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950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47489" name="Line 33">
              <a:extLst>
                <a:ext uri="{FF2B5EF4-FFF2-40B4-BE49-F238E27FC236}">
                  <a16:creationId xmlns:a16="http://schemas.microsoft.com/office/drawing/2014/main" id="{16E8AA76-220C-374D-92BE-881443996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1" y="1432"/>
              <a:ext cx="611" cy="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47490" name="Text Box 34">
              <a:extLst>
                <a:ext uri="{FF2B5EF4-FFF2-40B4-BE49-F238E27FC236}">
                  <a16:creationId xmlns:a16="http://schemas.microsoft.com/office/drawing/2014/main" id="{F41F45E0-70AA-4B41-9C78-AAAFE9B06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817"/>
              <a:ext cx="20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47491" name="Text Box 35">
              <a:extLst>
                <a:ext uri="{FF2B5EF4-FFF2-40B4-BE49-F238E27FC236}">
                  <a16:creationId xmlns:a16="http://schemas.microsoft.com/office/drawing/2014/main" id="{5C7D93D3-C1CB-2845-ADF7-690AD85885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5" y="1699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47492" name="Text Box 36">
              <a:extLst>
                <a:ext uri="{FF2B5EF4-FFF2-40B4-BE49-F238E27FC236}">
                  <a16:creationId xmlns:a16="http://schemas.microsoft.com/office/drawing/2014/main" id="{907C6DFB-A3DE-584D-9D44-2B9FBAE23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1488"/>
              <a:ext cx="230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47493" name="Text Box 37">
              <a:extLst>
                <a:ext uri="{FF2B5EF4-FFF2-40B4-BE49-F238E27FC236}">
                  <a16:creationId xmlns:a16="http://schemas.microsoft.com/office/drawing/2014/main" id="{080FC844-7EC2-694F-A99D-F12E7E5F9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1" y="1459"/>
              <a:ext cx="25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 dirty="0">
                  <a:latin typeface="Times New Roman" panose="02020603050405020304" pitchFamily="18" charset="0"/>
                </a:rPr>
                <a:t>2</a:t>
              </a:r>
            </a:p>
            <a:p>
              <a:pPr eaLnBrk="0" hangingPunct="0"/>
              <a:endParaRPr lang="en-US" altLang="en-QA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47494" name="Text Box 38">
              <a:extLst>
                <a:ext uri="{FF2B5EF4-FFF2-40B4-BE49-F238E27FC236}">
                  <a16:creationId xmlns:a16="http://schemas.microsoft.com/office/drawing/2014/main" id="{1D6F8A56-59A3-4145-8F57-3F5B1BFA1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" y="1068"/>
              <a:ext cx="203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47495" name="Text Box 39">
              <a:extLst>
                <a:ext uri="{FF2B5EF4-FFF2-40B4-BE49-F238E27FC236}">
                  <a16:creationId xmlns:a16="http://schemas.microsoft.com/office/drawing/2014/main" id="{0A248D44-EE93-5743-B79B-4F91D1B55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1121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47496" name="Text Box 40">
              <a:extLst>
                <a:ext uri="{FF2B5EF4-FFF2-40B4-BE49-F238E27FC236}">
                  <a16:creationId xmlns:a16="http://schemas.microsoft.com/office/drawing/2014/main" id="{B05D4E9E-BFAE-F245-AD45-8BA75966F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907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47497" name="Text Box 41">
              <a:extLst>
                <a:ext uri="{FF2B5EF4-FFF2-40B4-BE49-F238E27FC236}">
                  <a16:creationId xmlns:a16="http://schemas.microsoft.com/office/drawing/2014/main" id="{D2074D37-034C-1D41-A1B3-EE0FC1AEF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576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47498" name="Text Box 42">
              <a:extLst>
                <a:ext uri="{FF2B5EF4-FFF2-40B4-BE49-F238E27FC236}">
                  <a16:creationId xmlns:a16="http://schemas.microsoft.com/office/drawing/2014/main" id="{2CA714A9-E4B1-4849-9945-528EEA727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3" y="1151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 dirty="0"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47512" name="Rectangle 56">
            <a:extLst>
              <a:ext uri="{FF2B5EF4-FFF2-40B4-BE49-F238E27FC236}">
                <a16:creationId xmlns:a16="http://schemas.microsoft.com/office/drawing/2014/main" id="{195A461A-F9D1-6346-8E51-D6F936805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380" y="1533504"/>
            <a:ext cx="4391813" cy="36933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QA" sz="20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</a:t>
            </a:r>
            <a:r>
              <a:rPr lang="en-US" altLang="en-QA" sz="20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path: </a:t>
            </a:r>
            <a:r>
              <a:rPr lang="en-US" altLang="en-QA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en-US" altLang="en-QA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US" altLang="en-QA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513" name="Text Box 57">
            <a:extLst>
              <a:ext uri="{FF2B5EF4-FFF2-40B4-BE49-F238E27FC236}">
                <a16:creationId xmlns:a16="http://schemas.microsoft.com/office/drawing/2014/main" id="{344A0C0D-199B-924E-BF4D-9857EF8A8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576" y="1855211"/>
            <a:ext cx="40322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en-QA" sz="2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19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29117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7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7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7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7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7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7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7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7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7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7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7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7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7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7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7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7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7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7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512" grpId="0" animBg="1"/>
      <p:bldP spid="1475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0898295E-CB46-5D40-8961-4167D1AAC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53975" y="-29251"/>
            <a:ext cx="8229600" cy="654725"/>
          </a:xfrm>
        </p:spPr>
        <p:txBody>
          <a:bodyPr>
            <a:normAutofit/>
          </a:bodyPr>
          <a:lstStyle/>
          <a:p>
            <a:r>
              <a:rPr lang="en-US" altLang="en-QA" sz="2800" b="0" dirty="0">
                <a:latin typeface="+mn-lt"/>
                <a:cs typeface="Times New Roman" panose="02020603050405020304" pitchFamily="18" charset="0"/>
              </a:rPr>
              <a:t>Trivial Algorithm For Shortest Paths</a:t>
            </a:r>
          </a:p>
        </p:txBody>
      </p:sp>
      <p:sp>
        <p:nvSpPr>
          <p:cNvPr id="186373" name="Rectangle 5">
            <a:extLst>
              <a:ext uri="{FF2B5EF4-FFF2-40B4-BE49-F238E27FC236}">
                <a16:creationId xmlns:a16="http://schemas.microsoft.com/office/drawing/2014/main" id="{00502A10-6743-D84D-BA08-8CDF6F41B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69" y="609740"/>
            <a:ext cx="9779041" cy="1146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QA" sz="24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Shortest path from </a:t>
            </a:r>
            <a:r>
              <a:rPr lang="en-US" altLang="en-QA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to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baseline="-25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en-QA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QA" sz="2200" dirty="0" smtClean="0">
                <a:latin typeface="+mn-lt"/>
                <a:cs typeface="Times New Roman" panose="02020603050405020304" pitchFamily="18" charset="0"/>
              </a:rPr>
              <a:t>There </a:t>
            </a:r>
            <a:r>
              <a:rPr lang="en-US" altLang="en-QA" sz="2200" dirty="0">
                <a:latin typeface="+mn-lt"/>
                <a:cs typeface="Times New Roman" panose="02020603050405020304" pitchFamily="18" charset="0"/>
              </a:rPr>
              <a:t>could be many optimal </a:t>
            </a:r>
            <a:r>
              <a:rPr lang="en-US" altLang="en-QA" sz="2200" dirty="0" smtClean="0">
                <a:latin typeface="+mn-lt"/>
                <a:cs typeface="Times New Roman" panose="02020603050405020304" pitchFamily="18" charset="0"/>
              </a:rPr>
              <a:t>solutions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QA" sz="2200" dirty="0" smtClean="0">
                <a:latin typeface="+mn-lt"/>
                <a:cs typeface="Times New Roman" panose="02020603050405020304" pitchFamily="18" charset="0"/>
              </a:rPr>
              <a:t>We </a:t>
            </a:r>
            <a:r>
              <a:rPr lang="en-US" altLang="en-QA" sz="2200" dirty="0">
                <a:latin typeface="+mn-lt"/>
                <a:cs typeface="Times New Roman" panose="02020603050405020304" pitchFamily="18" charset="0"/>
              </a:rPr>
              <a:t>need to find one of </a:t>
            </a:r>
            <a:r>
              <a:rPr lang="en-US" altLang="en-QA" sz="2200" dirty="0" smtClean="0">
                <a:latin typeface="+mn-lt"/>
                <a:cs typeface="Times New Roman" panose="02020603050405020304" pitchFamily="18" charset="0"/>
              </a:rPr>
              <a:t>them</a:t>
            </a:r>
            <a:endParaRPr lang="en-US" altLang="en-QA" sz="2200" dirty="0"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186375" name="Group 7">
            <a:extLst>
              <a:ext uri="{FF2B5EF4-FFF2-40B4-BE49-F238E27FC236}">
                <a16:creationId xmlns:a16="http://schemas.microsoft.com/office/drawing/2014/main" id="{4B238402-5CD1-CC4C-9457-B87F59262D6F}"/>
              </a:ext>
            </a:extLst>
          </p:cNvPr>
          <p:cNvGrpSpPr>
            <a:grpSpLocks/>
          </p:cNvGrpSpPr>
          <p:nvPr/>
        </p:nvGrpSpPr>
        <p:grpSpPr bwMode="auto">
          <a:xfrm>
            <a:off x="8014280" y="69885"/>
            <a:ext cx="3962400" cy="2224087"/>
            <a:chOff x="1435" y="576"/>
            <a:chExt cx="2496" cy="1401"/>
          </a:xfrm>
        </p:grpSpPr>
        <p:sp>
          <p:nvSpPr>
            <p:cNvPr id="186376" name="Oval 8">
              <a:extLst>
                <a:ext uri="{FF2B5EF4-FFF2-40B4-BE49-F238E27FC236}">
                  <a16:creationId xmlns:a16="http://schemas.microsoft.com/office/drawing/2014/main" id="{33FF551C-995D-244F-AAFE-D2FE07C3F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710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200" i="1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1</a:t>
              </a:r>
              <a:endParaRPr lang="en-US" altLang="en-QA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186377" name="Oval 9">
              <a:extLst>
                <a:ext uri="{FF2B5EF4-FFF2-40B4-BE49-F238E27FC236}">
                  <a16:creationId xmlns:a16="http://schemas.microsoft.com/office/drawing/2014/main" id="{E8673A01-B65C-1C4C-B51D-0F67E245B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710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/>
            <a:p>
              <a:pPr eaLnBrk="0" hangingPunct="0"/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2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86378" name="Oval 10">
              <a:extLst>
                <a:ext uri="{FF2B5EF4-FFF2-40B4-BE49-F238E27FC236}">
                  <a16:creationId xmlns:a16="http://schemas.microsoft.com/office/drawing/2014/main" id="{9B89DB3B-F472-3040-AABA-D43ACA3DB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512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/>
            <a:p>
              <a:pPr eaLnBrk="0" hangingPunct="0"/>
              <a:r>
                <a:rPr lang="en-US" altLang="en-QA" i="1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4</a:t>
              </a:r>
              <a:endParaRPr lang="en-US" altLang="en-QA" sz="1000">
                <a:latin typeface="Times New Roman" panose="02020603050405020304" pitchFamily="18" charset="0"/>
              </a:endParaRPr>
            </a:p>
          </p:txBody>
        </p:sp>
        <p:sp>
          <p:nvSpPr>
            <p:cNvPr id="186379" name="Oval 11">
              <a:extLst>
                <a:ext uri="{FF2B5EF4-FFF2-40B4-BE49-F238E27FC236}">
                  <a16:creationId xmlns:a16="http://schemas.microsoft.com/office/drawing/2014/main" id="{5C412B84-0134-BD40-A6E8-F75B21021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1512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000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3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86380" name="Oval 12">
              <a:extLst>
                <a:ext uri="{FF2B5EF4-FFF2-40B4-BE49-F238E27FC236}">
                  <a16:creationId xmlns:a16="http://schemas.microsoft.com/office/drawing/2014/main" id="{9B1A7DDC-8D52-9D48-910C-91F9AC562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" y="1111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00800" tIns="0"/>
            <a:lstStyle/>
            <a:p>
              <a:pPr eaLnBrk="0" hangingPunct="0"/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5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86381" name="Line 13">
              <a:extLst>
                <a:ext uri="{FF2B5EF4-FFF2-40B4-BE49-F238E27FC236}">
                  <a16:creationId xmlns:a16="http://schemas.microsoft.com/office/drawing/2014/main" id="{3F217950-47DA-F744-8E2F-F1803E38C7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3" y="950"/>
              <a:ext cx="602" cy="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6382" name="Line 14">
              <a:extLst>
                <a:ext uri="{FF2B5EF4-FFF2-40B4-BE49-F238E27FC236}">
                  <a16:creationId xmlns:a16="http://schemas.microsoft.com/office/drawing/2014/main" id="{6E21E034-2C21-DD40-B42E-6328B8DA16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7" y="1031"/>
              <a:ext cx="587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6383" name="Line 15">
              <a:extLst>
                <a:ext uri="{FF2B5EF4-FFF2-40B4-BE49-F238E27FC236}">
                  <a16:creationId xmlns:a16="http://schemas.microsoft.com/office/drawing/2014/main" id="{D5C4869F-55BD-4B4C-ADE8-37A4671253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8" y="1062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6384" name="Line 16">
              <a:extLst>
                <a:ext uri="{FF2B5EF4-FFF2-40B4-BE49-F238E27FC236}">
                  <a16:creationId xmlns:a16="http://schemas.microsoft.com/office/drawing/2014/main" id="{1FB07C8D-BED5-FE48-A27C-30693404CE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3" y="800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6385" name="Line 17">
              <a:extLst>
                <a:ext uri="{FF2B5EF4-FFF2-40B4-BE49-F238E27FC236}">
                  <a16:creationId xmlns:a16="http://schemas.microsoft.com/office/drawing/2014/main" id="{8590B6C2-576A-9248-AC7C-8935034805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67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6386" name="Line 18">
              <a:extLst>
                <a:ext uri="{FF2B5EF4-FFF2-40B4-BE49-F238E27FC236}">
                  <a16:creationId xmlns:a16="http://schemas.microsoft.com/office/drawing/2014/main" id="{05A1E149-80E5-F541-B3C2-BAA44168C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1111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6387" name="Line 19">
              <a:extLst>
                <a:ext uri="{FF2B5EF4-FFF2-40B4-BE49-F238E27FC236}">
                  <a16:creationId xmlns:a16="http://schemas.microsoft.com/office/drawing/2014/main" id="{27666F89-50A9-E548-B8BF-3B00E6D23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" y="1111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6388" name="Line 20">
              <a:extLst>
                <a:ext uri="{FF2B5EF4-FFF2-40B4-BE49-F238E27FC236}">
                  <a16:creationId xmlns:a16="http://schemas.microsoft.com/office/drawing/2014/main" id="{76B2E714-8639-7246-83C6-B6AAC6CDFF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75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6389" name="Line 21">
              <a:extLst>
                <a:ext uri="{FF2B5EF4-FFF2-40B4-BE49-F238E27FC236}">
                  <a16:creationId xmlns:a16="http://schemas.microsoft.com/office/drawing/2014/main" id="{C6167048-DD69-994F-B7E7-8B64AD309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950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6390" name="Line 22">
              <a:extLst>
                <a:ext uri="{FF2B5EF4-FFF2-40B4-BE49-F238E27FC236}">
                  <a16:creationId xmlns:a16="http://schemas.microsoft.com/office/drawing/2014/main" id="{5FBB2174-FAAB-644A-BB24-319E2C608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1" y="1432"/>
              <a:ext cx="611" cy="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6391" name="Text Box 23">
              <a:extLst>
                <a:ext uri="{FF2B5EF4-FFF2-40B4-BE49-F238E27FC236}">
                  <a16:creationId xmlns:a16="http://schemas.microsoft.com/office/drawing/2014/main" id="{239D00AE-8D1B-9240-9E33-A4847DD64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817"/>
              <a:ext cx="20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6392" name="Text Box 24">
              <a:extLst>
                <a:ext uri="{FF2B5EF4-FFF2-40B4-BE49-F238E27FC236}">
                  <a16:creationId xmlns:a16="http://schemas.microsoft.com/office/drawing/2014/main" id="{C13EF5FE-9271-2F46-BA6C-D0AB19E318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5" y="1699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6393" name="Text Box 25">
              <a:extLst>
                <a:ext uri="{FF2B5EF4-FFF2-40B4-BE49-F238E27FC236}">
                  <a16:creationId xmlns:a16="http://schemas.microsoft.com/office/drawing/2014/main" id="{79C16298-BD3D-174F-A48B-231D77F35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1488"/>
              <a:ext cx="230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6394" name="Text Box 26">
              <a:extLst>
                <a:ext uri="{FF2B5EF4-FFF2-40B4-BE49-F238E27FC236}">
                  <a16:creationId xmlns:a16="http://schemas.microsoft.com/office/drawing/2014/main" id="{E0A8524B-61E3-AB41-84AA-365175348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1" y="1459"/>
              <a:ext cx="25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2</a:t>
              </a:r>
            </a:p>
            <a:p>
              <a:pPr eaLnBrk="0" hangingPunct="0"/>
              <a:endParaRPr lang="en-US" altLang="en-QA" sz="2000">
                <a:latin typeface="Times New Roman" panose="02020603050405020304" pitchFamily="18" charset="0"/>
              </a:endParaRPr>
            </a:p>
          </p:txBody>
        </p:sp>
        <p:sp>
          <p:nvSpPr>
            <p:cNvPr id="186395" name="Text Box 27">
              <a:extLst>
                <a:ext uri="{FF2B5EF4-FFF2-40B4-BE49-F238E27FC236}">
                  <a16:creationId xmlns:a16="http://schemas.microsoft.com/office/drawing/2014/main" id="{07788F49-64CD-064D-BA53-7B48BC11B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" y="1068"/>
              <a:ext cx="203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6396" name="Text Box 28">
              <a:extLst>
                <a:ext uri="{FF2B5EF4-FFF2-40B4-BE49-F238E27FC236}">
                  <a16:creationId xmlns:a16="http://schemas.microsoft.com/office/drawing/2014/main" id="{21A3E06C-E1B8-A545-8C31-6873D203B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1121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6397" name="Text Box 29">
              <a:extLst>
                <a:ext uri="{FF2B5EF4-FFF2-40B4-BE49-F238E27FC236}">
                  <a16:creationId xmlns:a16="http://schemas.microsoft.com/office/drawing/2014/main" id="{21451AE6-26C5-004C-9377-2EB8B09705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907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86398" name="Text Box 30">
              <a:extLst>
                <a:ext uri="{FF2B5EF4-FFF2-40B4-BE49-F238E27FC236}">
                  <a16:creationId xmlns:a16="http://schemas.microsoft.com/office/drawing/2014/main" id="{CBA6CC21-8DD5-8F4A-AF53-00CA94506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576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6399" name="Text Box 31">
              <a:extLst>
                <a:ext uri="{FF2B5EF4-FFF2-40B4-BE49-F238E27FC236}">
                  <a16:creationId xmlns:a16="http://schemas.microsoft.com/office/drawing/2014/main" id="{82CF4337-77B0-BF41-AE91-2BF49A536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2" y="1175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86400" name="Rectangle 32">
            <a:extLst>
              <a:ext uri="{FF2B5EF4-FFF2-40B4-BE49-F238E27FC236}">
                <a16:creationId xmlns:a16="http://schemas.microsoft.com/office/drawing/2014/main" id="{C4AC29ED-9B6D-274B-B00D-87401BD30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17" y="1905000"/>
            <a:ext cx="10827475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QA" sz="2400" u="sng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Trivial Algorithm </a:t>
            </a:r>
            <a:r>
              <a:rPr lang="en-US" altLang="en-QA" sz="2400" u="sng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Idea </a:t>
            </a:r>
            <a:endParaRPr lang="en-US" altLang="en-QA" sz="2400" u="sng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QA" sz="2200" dirty="0" smtClean="0">
                <a:latin typeface="+mn-lt"/>
                <a:cs typeface="Times New Roman" panose="02020603050405020304" pitchFamily="18" charset="0"/>
              </a:rPr>
              <a:t>Determine the length </a:t>
            </a:r>
            <a:r>
              <a:rPr lang="en-US" altLang="en-QA" sz="2200" dirty="0">
                <a:latin typeface="+mn-lt"/>
                <a:cs typeface="Times New Roman" panose="02020603050405020304" pitchFamily="18" charset="0"/>
              </a:rPr>
              <a:t>from </a:t>
            </a:r>
            <a:r>
              <a:rPr lang="en-US" altLang="en-QA" sz="2200" b="1" u="sng" dirty="0">
                <a:latin typeface="+mn-lt"/>
                <a:cs typeface="Times New Roman" panose="02020603050405020304" pitchFamily="18" charset="0"/>
              </a:rPr>
              <a:t>each </a:t>
            </a:r>
            <a:r>
              <a:rPr lang="en-US" altLang="en-QA" sz="2200" b="1" u="sng" dirty="0" smtClean="0">
                <a:latin typeface="+mn-lt"/>
                <a:cs typeface="Times New Roman" panose="02020603050405020304" pitchFamily="18" charset="0"/>
              </a:rPr>
              <a:t>vertex to </a:t>
            </a:r>
            <a:r>
              <a:rPr lang="en-US" altLang="en-QA" sz="2200" b="1" u="sng" dirty="0">
                <a:latin typeface="+mn-lt"/>
                <a:cs typeface="Times New Roman" panose="02020603050405020304" pitchFamily="18" charset="0"/>
              </a:rPr>
              <a:t>all other </a:t>
            </a:r>
            <a:r>
              <a:rPr lang="en-US" altLang="en-QA" sz="2200" b="1" u="sng" dirty="0" smtClean="0">
                <a:latin typeface="+mn-lt"/>
                <a:cs typeface="Times New Roman" panose="02020603050405020304" pitchFamily="18" charset="0"/>
              </a:rPr>
              <a:t>vertices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QA" sz="2200" dirty="0" smtClean="0">
                <a:latin typeface="+mn-lt"/>
                <a:cs typeface="Times New Roman" panose="02020603050405020304" pitchFamily="18" charset="0"/>
              </a:rPr>
              <a:t>Find the </a:t>
            </a:r>
            <a:r>
              <a:rPr lang="en-US" altLang="en-QA" sz="2200" b="1" u="sng" dirty="0" smtClean="0">
                <a:latin typeface="+mn-lt"/>
                <a:cs typeface="Times New Roman" panose="02020603050405020304" pitchFamily="18" charset="0"/>
              </a:rPr>
              <a:t>path with the minimum length</a:t>
            </a:r>
            <a:endParaRPr lang="en-US" altLang="en-QA" sz="2200" b="1" u="sng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en-QA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rom </a:t>
            </a:r>
            <a:r>
              <a:rPr lang="en-US" altLang="en-QA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QA" sz="2400" b="1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b="1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en-Q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en-QA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QA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neighbor </a:t>
            </a:r>
            <a:r>
              <a:rPr lang="en-US" altLang="en-QA" sz="2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vertices </a:t>
            </a:r>
            <a:r>
              <a:rPr lang="en-US" altLang="en-QA" sz="22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US" altLang="en-QA" sz="2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destination </a:t>
            </a: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adjacent vertices</a:t>
            </a: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en-QA" sz="2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QA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choices</a:t>
            </a:r>
            <a:endParaRPr lang="en-US" altLang="en-QA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US" altLang="en-QA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any of </a:t>
            </a:r>
            <a:r>
              <a:rPr lang="en-US" altLang="en-QA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neighbors to </a:t>
            </a:r>
            <a:r>
              <a:rPr lang="en-US" altLang="en-QA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altLang="en-QA" sz="2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Q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…etc.   </a:t>
            </a:r>
            <a:r>
              <a:rPr lang="en-US" altLang="en-QA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n-3</a:t>
            </a:r>
            <a:r>
              <a:rPr lang="en-US" altLang="en-QA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choices</a:t>
            </a:r>
            <a:endParaRPr lang="en-US" altLang="en-QA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en-Q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en-QA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en-Q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en-Q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QA" sz="2400" u="sng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Total number of paths: 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-2) </a:t>
            </a:r>
            <a:r>
              <a:rPr lang="en-US" altLang="en-QA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(n-3) (n-4)…. 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</a:t>
            </a:r>
            <a:r>
              <a:rPr lang="en-US" altLang="en-QA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QA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2) !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en-Q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401" name="Text Box 33">
            <a:extLst>
              <a:ext uri="{FF2B5EF4-FFF2-40B4-BE49-F238E27FC236}">
                <a16:creationId xmlns:a16="http://schemas.microsoft.com/office/drawing/2014/main" id="{ECA912DB-274B-5548-AA2A-8D029B0EF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7003" y="4849520"/>
            <a:ext cx="3268715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r>
              <a:rPr lang="en-US" altLang="en-QA" sz="2400" u="sng" dirty="0">
                <a:solidFill>
                  <a:srgbClr val="FF0000"/>
                </a:solidFill>
                <a:cs typeface="Times New Roman" panose="02020603050405020304" pitchFamily="18" charset="0"/>
              </a:rPr>
              <a:t>Worse than </a:t>
            </a:r>
            <a:r>
              <a:rPr lang="en-US" altLang="en-QA" sz="2400" u="sng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exponential!</a:t>
            </a:r>
            <a:endParaRPr lang="en-US" altLang="en-QA" sz="2400" u="sng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86402" name="Line 34">
            <a:extLst>
              <a:ext uri="{FF2B5EF4-FFF2-40B4-BE49-F238E27FC236}">
                <a16:creationId xmlns:a16="http://schemas.microsoft.com/office/drawing/2014/main" id="{FB0F4760-5A16-0246-B951-77D0E4C85F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0139" y="5144654"/>
            <a:ext cx="930566" cy="314465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QA"/>
          </a:p>
        </p:txBody>
      </p:sp>
      <p:sp>
        <p:nvSpPr>
          <p:cNvPr id="186403" name="Text Box 35">
            <a:extLst>
              <a:ext uri="{FF2B5EF4-FFF2-40B4-BE49-F238E27FC236}">
                <a16:creationId xmlns:a16="http://schemas.microsoft.com/office/drawing/2014/main" id="{E344B763-8E26-B047-A02D-FDA058122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8456" y="998572"/>
            <a:ext cx="40322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en-QA" sz="2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78917" y="6010870"/>
            <a:ext cx="160395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 </a:t>
            </a:r>
            <a:r>
              <a:rPr lang="tr-TR" sz="2400" dirty="0" smtClean="0">
                <a:solidFill>
                  <a:srgbClr val="0070C0"/>
                </a:solidFill>
              </a:rPr>
              <a:t>∈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l-GR" sz="2400" b="1" dirty="0" smtClean="0">
                <a:solidFill>
                  <a:srgbClr val="0070C0"/>
                </a:solidFill>
              </a:rPr>
              <a:t>ϴ</a:t>
            </a:r>
            <a:r>
              <a:rPr lang="en-US" sz="2400" b="1" dirty="0" smtClean="0">
                <a:solidFill>
                  <a:srgbClr val="0070C0"/>
                </a:solidFill>
              </a:rPr>
              <a:t> (n!)</a:t>
            </a:r>
            <a:endParaRPr lang="tr-TR" sz="2400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20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85248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6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6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6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6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6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6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6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6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6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6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64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64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64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64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64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64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64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64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6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6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6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6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401" grpId="0" animBg="1"/>
      <p:bldP spid="186402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091" y="41853"/>
            <a:ext cx="10515600" cy="540038"/>
          </a:xfrm>
        </p:spPr>
        <p:txBody>
          <a:bodyPr/>
          <a:lstStyle/>
          <a:p>
            <a:r>
              <a:rPr lang="en-US" dirty="0" smtClean="0"/>
              <a:t>Related Shortest Path Algorithms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678" y="981555"/>
            <a:ext cx="8573654" cy="491831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u="sng" dirty="0" smtClean="0">
                <a:solidFill>
                  <a:srgbClr val="00B050"/>
                </a:solidFill>
              </a:rPr>
              <a:t>Dijkstra</a:t>
            </a:r>
            <a:endParaRPr lang="en-US" u="sng" dirty="0">
              <a:solidFill>
                <a:srgbClr val="00B050"/>
              </a:solidFill>
            </a:endParaRPr>
          </a:p>
          <a:p>
            <a:pPr lvl="1"/>
            <a:r>
              <a:rPr lang="en-US" dirty="0" smtClean="0"/>
              <a:t>Shortest path from </a:t>
            </a:r>
            <a:r>
              <a:rPr lang="en-US" b="1" u="sng" dirty="0" smtClean="0"/>
              <a:t>one node to all nodes</a:t>
            </a:r>
          </a:p>
          <a:p>
            <a:pPr lvl="1"/>
            <a:r>
              <a:rPr lang="en-US" dirty="0"/>
              <a:t>Negative edges </a:t>
            </a:r>
            <a:r>
              <a:rPr lang="en-US" dirty="0" smtClean="0"/>
              <a:t>are </a:t>
            </a:r>
            <a:r>
              <a:rPr lang="en-US" b="1" u="sng" dirty="0" smtClean="0">
                <a:solidFill>
                  <a:srgbClr val="FF0000"/>
                </a:solidFill>
              </a:rPr>
              <a:t>NOT allowed</a:t>
            </a:r>
          </a:p>
          <a:p>
            <a:pPr marL="457200" indent="-457200">
              <a:buFont typeface="+mj-lt"/>
              <a:buAutoNum type="arabicPeriod"/>
            </a:pPr>
            <a:endParaRPr lang="en-US" b="1" u="sng" dirty="0" smtClean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u="sng" dirty="0" smtClean="0">
                <a:solidFill>
                  <a:srgbClr val="7030A0"/>
                </a:solidFill>
              </a:rPr>
              <a:t>Bellman-Ford</a:t>
            </a:r>
          </a:p>
          <a:p>
            <a:pPr lvl="1"/>
            <a:r>
              <a:rPr lang="en-US" dirty="0" smtClean="0"/>
              <a:t>Shortest path from </a:t>
            </a:r>
            <a:r>
              <a:rPr lang="en-US" b="1" u="sng" dirty="0" smtClean="0"/>
              <a:t>one node to all nodes</a:t>
            </a:r>
          </a:p>
          <a:p>
            <a:pPr lvl="1"/>
            <a:r>
              <a:rPr lang="en-US" dirty="0" smtClean="0"/>
              <a:t>Negative edges </a:t>
            </a:r>
            <a:r>
              <a:rPr lang="en-US" b="1" u="sng" dirty="0" smtClean="0">
                <a:solidFill>
                  <a:srgbClr val="00B050"/>
                </a:solidFill>
              </a:rPr>
              <a:t>allowed</a:t>
            </a:r>
          </a:p>
          <a:p>
            <a:pPr marL="457200" indent="-457200">
              <a:buFont typeface="+mj-lt"/>
              <a:buAutoNum type="arabicPeriod"/>
            </a:pPr>
            <a:endParaRPr lang="en-US" b="1" u="sng" dirty="0" smtClean="0">
              <a:solidFill>
                <a:srgbClr val="0070C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u="sng" dirty="0" smtClean="0">
                <a:solidFill>
                  <a:srgbClr val="0070C0"/>
                </a:solidFill>
              </a:rPr>
              <a:t>Floyd</a:t>
            </a:r>
            <a:r>
              <a:rPr lang="en-US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smtClean="0">
                <a:solidFill>
                  <a:srgbClr val="0070C0"/>
                </a:solidFill>
              </a:rPr>
              <a:t>– </a:t>
            </a:r>
            <a:r>
              <a:rPr lang="en-US" b="1" u="sng" dirty="0" err="1" smtClean="0">
                <a:solidFill>
                  <a:srgbClr val="0070C0"/>
                </a:solidFill>
              </a:rPr>
              <a:t>Warshall</a:t>
            </a:r>
            <a:r>
              <a:rPr lang="en-US" b="1" dirty="0" smtClean="0">
                <a:solidFill>
                  <a:srgbClr val="0070C0"/>
                </a:solidFill>
              </a:rPr>
              <a:t>  </a:t>
            </a:r>
            <a:r>
              <a:rPr lang="en-US" dirty="0" smtClean="0">
                <a:solidFill>
                  <a:srgbClr val="0070C0"/>
                </a:solidFill>
              </a:rPr>
              <a:t>(</a:t>
            </a:r>
            <a:r>
              <a:rPr lang="tr-TR" dirty="0" smtClean="0">
                <a:solidFill>
                  <a:srgbClr val="0070C0"/>
                </a:solidFill>
              </a:rPr>
              <a:t>Floyd's algorithm</a:t>
            </a:r>
            <a:r>
              <a:rPr lang="en-US" dirty="0" smtClean="0">
                <a:solidFill>
                  <a:srgbClr val="0070C0"/>
                </a:solidFill>
              </a:rPr>
              <a:t>)</a:t>
            </a:r>
            <a:endParaRPr lang="en-US" u="sng" dirty="0" smtClean="0">
              <a:solidFill>
                <a:srgbClr val="0070C0"/>
              </a:solidFill>
            </a:endParaRPr>
          </a:p>
          <a:p>
            <a:pPr lvl="1"/>
            <a:r>
              <a:rPr lang="en-US" dirty="0" smtClean="0"/>
              <a:t>Shortest path </a:t>
            </a:r>
            <a:r>
              <a:rPr lang="en-US" b="1" u="sng" dirty="0" smtClean="0"/>
              <a:t>between all pairs of vertices</a:t>
            </a:r>
          </a:p>
          <a:p>
            <a:pPr lvl="1"/>
            <a:r>
              <a:rPr lang="en-US" dirty="0" smtClean="0"/>
              <a:t>Negative edges allowed</a:t>
            </a:r>
          </a:p>
          <a:p>
            <a:pPr lvl="1"/>
            <a:r>
              <a:rPr lang="en-US" dirty="0"/>
              <a:t>Published by </a:t>
            </a:r>
            <a:r>
              <a:rPr lang="en-US" b="1" u="sng" dirty="0">
                <a:solidFill>
                  <a:srgbClr val="0070C0"/>
                </a:solidFill>
              </a:rPr>
              <a:t>Robert Floyd </a:t>
            </a:r>
            <a:r>
              <a:rPr lang="en-US" dirty="0"/>
              <a:t>in </a:t>
            </a:r>
            <a:r>
              <a:rPr lang="en-US" dirty="0" smtClean="0"/>
              <a:t>1962</a:t>
            </a:r>
          </a:p>
          <a:p>
            <a:pPr lvl="1"/>
            <a:r>
              <a:rPr lang="en-US" dirty="0" smtClean="0"/>
              <a:t>Also</a:t>
            </a:r>
            <a:r>
              <a:rPr lang="en-US" dirty="0"/>
              <a:t>, by </a:t>
            </a:r>
            <a:r>
              <a:rPr lang="en-US" b="1" u="sng" dirty="0">
                <a:solidFill>
                  <a:srgbClr val="C00000"/>
                </a:solidFill>
              </a:rPr>
              <a:t>Stephen </a:t>
            </a:r>
            <a:r>
              <a:rPr lang="en-US" b="1" u="sng" dirty="0" err="1">
                <a:solidFill>
                  <a:srgbClr val="C00000"/>
                </a:solidFill>
              </a:rPr>
              <a:t>Warshall</a:t>
            </a:r>
            <a:r>
              <a:rPr lang="en-US" b="1" u="sng" dirty="0">
                <a:solidFill>
                  <a:srgbClr val="C00000"/>
                </a:solidFill>
              </a:rPr>
              <a:t> </a:t>
            </a:r>
            <a:r>
              <a:rPr lang="en-US" dirty="0"/>
              <a:t>in 1962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tr-TR" dirty="0"/>
          </a:p>
        </p:txBody>
      </p:sp>
      <p:sp>
        <p:nvSpPr>
          <p:cNvPr id="7" name="Left Arrow 6"/>
          <p:cNvSpPr/>
          <p:nvPr/>
        </p:nvSpPr>
        <p:spPr>
          <a:xfrm>
            <a:off x="6268982" y="3781815"/>
            <a:ext cx="2254907" cy="1293090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ALGORITHM IN OUR TEXTBOOK</a:t>
            </a:r>
            <a:endParaRPr lang="tr-TR" dirty="0"/>
          </a:p>
        </p:txBody>
      </p:sp>
      <p:sp>
        <p:nvSpPr>
          <p:cNvPr id="4" name="Rectangle 3"/>
          <p:cNvSpPr/>
          <p:nvPr/>
        </p:nvSpPr>
        <p:spPr>
          <a:xfrm>
            <a:off x="8890478" y="1119764"/>
            <a:ext cx="2816772" cy="56346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GREEDY APPROACH</a:t>
            </a:r>
            <a:endParaRPr lang="tr-TR" dirty="0"/>
          </a:p>
        </p:txBody>
      </p:sp>
      <p:sp>
        <p:nvSpPr>
          <p:cNvPr id="6" name="Rectangle 5"/>
          <p:cNvSpPr/>
          <p:nvPr/>
        </p:nvSpPr>
        <p:spPr>
          <a:xfrm>
            <a:off x="8890478" y="2615366"/>
            <a:ext cx="2816772" cy="56346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DYNAMIC PROGRAMMING</a:t>
            </a:r>
            <a:endParaRPr lang="tr-TR" dirty="0"/>
          </a:p>
        </p:txBody>
      </p:sp>
      <p:sp>
        <p:nvSpPr>
          <p:cNvPr id="8" name="Rectangle 7"/>
          <p:cNvSpPr/>
          <p:nvPr/>
        </p:nvSpPr>
        <p:spPr>
          <a:xfrm>
            <a:off x="8890478" y="4146627"/>
            <a:ext cx="2816772" cy="56346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DYNAMIC PROGRAMMING</a:t>
            </a:r>
            <a:endParaRPr lang="tr-TR" dirty="0"/>
          </a:p>
        </p:txBody>
      </p:sp>
      <p:cxnSp>
        <p:nvCxnSpPr>
          <p:cNvPr id="13" name="Straight Arrow Connector 12"/>
          <p:cNvCxnSpPr>
            <a:stCxn id="4" idx="1"/>
          </p:cNvCxnSpPr>
          <p:nvPr/>
        </p:nvCxnSpPr>
        <p:spPr>
          <a:xfrm flipH="1">
            <a:off x="5444359" y="1401497"/>
            <a:ext cx="34461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1"/>
          </p:cNvCxnSpPr>
          <p:nvPr/>
        </p:nvCxnSpPr>
        <p:spPr>
          <a:xfrm flipH="1">
            <a:off x="5538952" y="2897099"/>
            <a:ext cx="33515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1"/>
          </p:cNvCxnSpPr>
          <p:nvPr/>
        </p:nvCxnSpPr>
        <p:spPr>
          <a:xfrm flipH="1">
            <a:off x="5696607" y="4428360"/>
            <a:ext cx="3193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21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13015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01" y="45083"/>
            <a:ext cx="10515600" cy="549274"/>
          </a:xfrm>
        </p:spPr>
        <p:txBody>
          <a:bodyPr/>
          <a:lstStyle/>
          <a:p>
            <a:r>
              <a:rPr lang="en-US" dirty="0" smtClean="0"/>
              <a:t>Dynamic Programming for the Shortest Paths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139" y="1387168"/>
            <a:ext cx="6252688" cy="4108469"/>
          </a:xfrm>
        </p:spPr>
        <p:txBody>
          <a:bodyPr>
            <a:normAutofit/>
          </a:bodyPr>
          <a:lstStyle/>
          <a:p>
            <a:r>
              <a:rPr lang="en-US" dirty="0" smtClean="0"/>
              <a:t>We create a </a:t>
            </a:r>
            <a:r>
              <a:rPr lang="en-US" u="sng" dirty="0" smtClean="0">
                <a:solidFill>
                  <a:srgbClr val="0070C0"/>
                </a:solidFill>
              </a:rPr>
              <a:t>cubic-time algorithm </a:t>
            </a:r>
            <a:r>
              <a:rPr lang="en-US" dirty="0" smtClean="0"/>
              <a:t>for the </a:t>
            </a:r>
            <a:r>
              <a:rPr lang="en-US" dirty="0" smtClean="0">
                <a:solidFill>
                  <a:srgbClr val="00B050"/>
                </a:solidFill>
              </a:rPr>
              <a:t>Shortest Paths </a:t>
            </a:r>
            <a:r>
              <a:rPr lang="en-US" dirty="0" smtClean="0"/>
              <a:t>problem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First, we develop an algorithm that determines </a:t>
            </a:r>
            <a:r>
              <a:rPr lang="en-US" b="1" u="sng" dirty="0" smtClean="0">
                <a:solidFill>
                  <a:srgbClr val="00B050"/>
                </a:solidFill>
              </a:rPr>
              <a:t>only the lengths </a:t>
            </a:r>
            <a:r>
              <a:rPr lang="en-US" b="1" dirty="0" smtClean="0"/>
              <a:t>of the shortest paths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After that, we modify it to </a:t>
            </a:r>
            <a:r>
              <a:rPr lang="en-US" u="sng" dirty="0" smtClean="0">
                <a:solidFill>
                  <a:srgbClr val="0070C0"/>
                </a:solidFill>
              </a:rPr>
              <a:t>produce shortest paths </a:t>
            </a:r>
            <a:r>
              <a:rPr lang="en-US" dirty="0" smtClean="0"/>
              <a:t>as well</a:t>
            </a:r>
          </a:p>
          <a:p>
            <a:endParaRPr lang="en-US" dirty="0"/>
          </a:p>
        </p:txBody>
      </p:sp>
      <p:pic>
        <p:nvPicPr>
          <p:cNvPr id="37892" name="Picture 4" descr="https://adrianmejia.com/images/big-o-running-time-complexit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109" y="1070463"/>
            <a:ext cx="4718592" cy="315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22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45550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E8DB380F-2908-0449-85BF-D1987EBFE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34" y="71514"/>
            <a:ext cx="8229600" cy="518556"/>
          </a:xfrm>
        </p:spPr>
        <p:txBody>
          <a:bodyPr>
            <a:normAutofit/>
          </a:bodyPr>
          <a:lstStyle/>
          <a:p>
            <a:r>
              <a:rPr lang="en-US" altLang="en-QA" sz="2800" b="0" dirty="0">
                <a:latin typeface="+mn-lt"/>
                <a:cs typeface="Times New Roman" panose="02020603050405020304" pitchFamily="18" charset="0"/>
              </a:rPr>
              <a:t>Floyd’s Algorithm For Shortest Paths</a:t>
            </a:r>
          </a:p>
        </p:txBody>
      </p:sp>
      <p:graphicFrame>
        <p:nvGraphicFramePr>
          <p:cNvPr id="188074" name="Group 682">
            <a:extLst>
              <a:ext uri="{FF2B5EF4-FFF2-40B4-BE49-F238E27FC236}">
                <a16:creationId xmlns:a16="http://schemas.microsoft.com/office/drawing/2014/main" id="{89C0B182-9E41-4340-8910-4FC6911DF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624666"/>
              </p:ext>
            </p:extLst>
          </p:nvPr>
        </p:nvGraphicFramePr>
        <p:xfrm>
          <a:off x="8931952" y="372547"/>
          <a:ext cx="3048000" cy="2286000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148766663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5335439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7449735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7379725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760386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530588887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38698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  <a:endParaRPr kumimoji="0" lang="en-US" altLang="en-QA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4479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321904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26341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67879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64907"/>
                  </a:ext>
                </a:extLst>
              </a:tr>
            </a:tbl>
          </a:graphicData>
        </a:graphic>
      </p:graphicFrame>
      <p:graphicFrame>
        <p:nvGraphicFramePr>
          <p:cNvPr id="188076" name="Group 684">
            <a:extLst>
              <a:ext uri="{FF2B5EF4-FFF2-40B4-BE49-F238E27FC236}">
                <a16:creationId xmlns:a16="http://schemas.microsoft.com/office/drawing/2014/main" id="{6D61EB76-3FBC-7C45-8A88-0656471CC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857623"/>
              </p:ext>
            </p:extLst>
          </p:nvPr>
        </p:nvGraphicFramePr>
        <p:xfrm>
          <a:off x="8990200" y="3473503"/>
          <a:ext cx="3048000" cy="2286000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333654424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5318774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0115067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7517041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230705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5843674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34084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  <a:endParaRPr kumimoji="0" lang="en-US" altLang="en-QA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31455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234207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33349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40901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624987"/>
                  </a:ext>
                </a:extLst>
              </a:tr>
            </a:tbl>
          </a:graphicData>
        </a:graphic>
      </p:graphicFrame>
      <p:grpSp>
        <p:nvGrpSpPr>
          <p:cNvPr id="188202" name="Group 810">
            <a:extLst>
              <a:ext uri="{FF2B5EF4-FFF2-40B4-BE49-F238E27FC236}">
                <a16:creationId xmlns:a16="http://schemas.microsoft.com/office/drawing/2014/main" id="{8E5DF402-0941-5646-A6A8-87EDE30FAA8C}"/>
              </a:ext>
            </a:extLst>
          </p:cNvPr>
          <p:cNvGrpSpPr>
            <a:grpSpLocks/>
          </p:cNvGrpSpPr>
          <p:nvPr/>
        </p:nvGrpSpPr>
        <p:grpSpPr bwMode="auto">
          <a:xfrm>
            <a:off x="826541" y="608420"/>
            <a:ext cx="3962400" cy="2224088"/>
            <a:chOff x="1435" y="576"/>
            <a:chExt cx="2496" cy="1401"/>
          </a:xfrm>
        </p:grpSpPr>
        <p:sp>
          <p:nvSpPr>
            <p:cNvPr id="188203" name="Oval 811">
              <a:extLst>
                <a:ext uri="{FF2B5EF4-FFF2-40B4-BE49-F238E27FC236}">
                  <a16:creationId xmlns:a16="http://schemas.microsoft.com/office/drawing/2014/main" id="{3A3A2694-3446-DD43-836E-D6B8E6E4D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710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200" i="1" dirty="0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 dirty="0">
                  <a:latin typeface="Times New Roman" panose="02020603050405020304" pitchFamily="18" charset="0"/>
                </a:rPr>
                <a:t>1</a:t>
              </a:r>
              <a:endParaRPr lang="en-US" altLang="en-QA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8204" name="Oval 812">
              <a:extLst>
                <a:ext uri="{FF2B5EF4-FFF2-40B4-BE49-F238E27FC236}">
                  <a16:creationId xmlns:a16="http://schemas.microsoft.com/office/drawing/2014/main" id="{EC83C2F8-6E9B-1F43-B7A6-23FFA3C84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710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/>
            <a:p>
              <a:pPr eaLnBrk="0" hangingPunct="0"/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2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88205" name="Oval 813">
              <a:extLst>
                <a:ext uri="{FF2B5EF4-FFF2-40B4-BE49-F238E27FC236}">
                  <a16:creationId xmlns:a16="http://schemas.microsoft.com/office/drawing/2014/main" id="{D43E9F9E-23EC-4147-8935-461197E62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512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/>
            <a:p>
              <a:pPr eaLnBrk="0" hangingPunct="0"/>
              <a:r>
                <a:rPr lang="en-US" altLang="en-QA" i="1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4</a:t>
              </a:r>
              <a:endParaRPr lang="en-US" altLang="en-QA" sz="1000">
                <a:latin typeface="Times New Roman" panose="02020603050405020304" pitchFamily="18" charset="0"/>
              </a:endParaRPr>
            </a:p>
          </p:txBody>
        </p:sp>
        <p:sp>
          <p:nvSpPr>
            <p:cNvPr id="188206" name="Oval 814">
              <a:extLst>
                <a:ext uri="{FF2B5EF4-FFF2-40B4-BE49-F238E27FC236}">
                  <a16:creationId xmlns:a16="http://schemas.microsoft.com/office/drawing/2014/main" id="{0F05CA96-30F4-5F4F-9D9D-DB8518E8F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1512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000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3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88207" name="Oval 815">
              <a:extLst>
                <a:ext uri="{FF2B5EF4-FFF2-40B4-BE49-F238E27FC236}">
                  <a16:creationId xmlns:a16="http://schemas.microsoft.com/office/drawing/2014/main" id="{242D921C-CF67-7141-9628-F6E0DE35B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" y="1111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00800" tIns="0"/>
            <a:lstStyle/>
            <a:p>
              <a:pPr eaLnBrk="0" hangingPunct="0"/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5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88208" name="Line 816">
              <a:extLst>
                <a:ext uri="{FF2B5EF4-FFF2-40B4-BE49-F238E27FC236}">
                  <a16:creationId xmlns:a16="http://schemas.microsoft.com/office/drawing/2014/main" id="{BC195D44-1475-6643-8386-383A3EF220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3" y="950"/>
              <a:ext cx="602" cy="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8209" name="Line 817">
              <a:extLst>
                <a:ext uri="{FF2B5EF4-FFF2-40B4-BE49-F238E27FC236}">
                  <a16:creationId xmlns:a16="http://schemas.microsoft.com/office/drawing/2014/main" id="{6934E962-C016-C743-A8F3-F995E5C61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7" y="1031"/>
              <a:ext cx="587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8210" name="Line 818">
              <a:extLst>
                <a:ext uri="{FF2B5EF4-FFF2-40B4-BE49-F238E27FC236}">
                  <a16:creationId xmlns:a16="http://schemas.microsoft.com/office/drawing/2014/main" id="{F65774FB-CBA1-074A-AF28-C48F47E045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8" y="1062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8211" name="Line 819">
              <a:extLst>
                <a:ext uri="{FF2B5EF4-FFF2-40B4-BE49-F238E27FC236}">
                  <a16:creationId xmlns:a16="http://schemas.microsoft.com/office/drawing/2014/main" id="{3258F28C-CAF0-A94A-BB46-0FCD44100A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3" y="800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8212" name="Line 820">
              <a:extLst>
                <a:ext uri="{FF2B5EF4-FFF2-40B4-BE49-F238E27FC236}">
                  <a16:creationId xmlns:a16="http://schemas.microsoft.com/office/drawing/2014/main" id="{60913448-B82F-E548-A151-14CFBAC058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67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8213" name="Line 821">
              <a:extLst>
                <a:ext uri="{FF2B5EF4-FFF2-40B4-BE49-F238E27FC236}">
                  <a16:creationId xmlns:a16="http://schemas.microsoft.com/office/drawing/2014/main" id="{8CBE50D7-5520-5940-A1A1-F461C5155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1111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8214" name="Line 822">
              <a:extLst>
                <a:ext uri="{FF2B5EF4-FFF2-40B4-BE49-F238E27FC236}">
                  <a16:creationId xmlns:a16="http://schemas.microsoft.com/office/drawing/2014/main" id="{83E9CD79-0165-A94D-AA89-A0CA47746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" y="1111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8215" name="Line 823">
              <a:extLst>
                <a:ext uri="{FF2B5EF4-FFF2-40B4-BE49-F238E27FC236}">
                  <a16:creationId xmlns:a16="http://schemas.microsoft.com/office/drawing/2014/main" id="{CA43C5D9-0B1B-6445-9C8B-C254B4E99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75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8216" name="Line 824">
              <a:extLst>
                <a:ext uri="{FF2B5EF4-FFF2-40B4-BE49-F238E27FC236}">
                  <a16:creationId xmlns:a16="http://schemas.microsoft.com/office/drawing/2014/main" id="{517F774F-F82A-6548-8CB1-7B9F86B1F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950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8217" name="Line 825">
              <a:extLst>
                <a:ext uri="{FF2B5EF4-FFF2-40B4-BE49-F238E27FC236}">
                  <a16:creationId xmlns:a16="http://schemas.microsoft.com/office/drawing/2014/main" id="{3C85B645-2AD0-8644-82F1-820E5DF92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1" y="1432"/>
              <a:ext cx="611" cy="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8218" name="Text Box 826">
              <a:extLst>
                <a:ext uri="{FF2B5EF4-FFF2-40B4-BE49-F238E27FC236}">
                  <a16:creationId xmlns:a16="http://schemas.microsoft.com/office/drawing/2014/main" id="{E9C9A337-E5EB-204D-9A5A-E5B970DA3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817"/>
              <a:ext cx="20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8219" name="Text Box 827">
              <a:extLst>
                <a:ext uri="{FF2B5EF4-FFF2-40B4-BE49-F238E27FC236}">
                  <a16:creationId xmlns:a16="http://schemas.microsoft.com/office/drawing/2014/main" id="{E2E0AEFF-71B2-DF45-9DC6-4B8503CD1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5" y="1699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8220" name="Text Box 828">
              <a:extLst>
                <a:ext uri="{FF2B5EF4-FFF2-40B4-BE49-F238E27FC236}">
                  <a16:creationId xmlns:a16="http://schemas.microsoft.com/office/drawing/2014/main" id="{58784395-CFB7-7246-A586-1F414190C8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1488"/>
              <a:ext cx="230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8221" name="Text Box 829">
              <a:extLst>
                <a:ext uri="{FF2B5EF4-FFF2-40B4-BE49-F238E27FC236}">
                  <a16:creationId xmlns:a16="http://schemas.microsoft.com/office/drawing/2014/main" id="{C3854E5C-9296-664F-93BE-4C50ADF53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1" y="1459"/>
              <a:ext cx="25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2</a:t>
              </a:r>
            </a:p>
            <a:p>
              <a:pPr eaLnBrk="0" hangingPunct="0"/>
              <a:endParaRPr lang="en-US" altLang="en-QA" sz="2000">
                <a:latin typeface="Times New Roman" panose="02020603050405020304" pitchFamily="18" charset="0"/>
              </a:endParaRPr>
            </a:p>
          </p:txBody>
        </p:sp>
        <p:sp>
          <p:nvSpPr>
            <p:cNvPr id="188222" name="Text Box 830">
              <a:extLst>
                <a:ext uri="{FF2B5EF4-FFF2-40B4-BE49-F238E27FC236}">
                  <a16:creationId xmlns:a16="http://schemas.microsoft.com/office/drawing/2014/main" id="{9D948826-3DC2-A149-88E3-C3CF975D1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" y="1068"/>
              <a:ext cx="203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8223" name="Text Box 831">
              <a:extLst>
                <a:ext uri="{FF2B5EF4-FFF2-40B4-BE49-F238E27FC236}">
                  <a16:creationId xmlns:a16="http://schemas.microsoft.com/office/drawing/2014/main" id="{F103FC14-F276-A74A-B0A8-15714EE28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1121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8224" name="Text Box 832">
              <a:extLst>
                <a:ext uri="{FF2B5EF4-FFF2-40B4-BE49-F238E27FC236}">
                  <a16:creationId xmlns:a16="http://schemas.microsoft.com/office/drawing/2014/main" id="{87AF51C2-AD9E-3F4C-81D4-38683A4D5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907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88225" name="Text Box 833">
              <a:extLst>
                <a:ext uri="{FF2B5EF4-FFF2-40B4-BE49-F238E27FC236}">
                  <a16:creationId xmlns:a16="http://schemas.microsoft.com/office/drawing/2014/main" id="{16A8687B-3D60-4A40-825B-6B3F15729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576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8226" name="Text Box 834">
              <a:extLst>
                <a:ext uri="{FF2B5EF4-FFF2-40B4-BE49-F238E27FC236}">
                  <a16:creationId xmlns:a16="http://schemas.microsoft.com/office/drawing/2014/main" id="{44F1AEA9-C5D1-8048-9A92-70072DEA5B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2" y="1175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88228" name="Rectangle 836">
            <a:extLst>
              <a:ext uri="{FF2B5EF4-FFF2-40B4-BE49-F238E27FC236}">
                <a16:creationId xmlns:a16="http://schemas.microsoft.com/office/drawing/2014/main" id="{8B3CEC35-0D68-5E41-8D30-343B2B576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34" y="2832508"/>
            <a:ext cx="8684982" cy="385153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QA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altLang="en-QA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D from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en-US" altLang="en-Q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QA" sz="21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QA" sz="2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altLang="en-QA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sequence of n +1 arrays 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 0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n,  where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QA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</a:t>
            </a:r>
            <a:r>
              <a:rPr lang="en-US" altLang="en-QA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QA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[i][j] =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shortest path from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QA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only vertices in the set {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en-QA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as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vertices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en-Q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QA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adjacency matrix, </a:t>
            </a:r>
            <a:r>
              <a:rPr lang="en-US" altLang="en-QA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Is there any shortest path via vertex 1?</a:t>
            </a:r>
            <a:endParaRPr lang="en-US" altLang="en-Q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altLang="en-QA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QA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Is there any shortest path via vertex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2?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…</a:t>
            </a:r>
            <a:endParaRPr lang="en-US" altLang="en-Q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en-QA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</a:t>
            </a:r>
            <a:endParaRPr lang="en-US" altLang="en-QA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229" name="AutoShape 837">
            <a:extLst>
              <a:ext uri="{FF2B5EF4-FFF2-40B4-BE49-F238E27FC236}">
                <a16:creationId xmlns:a16="http://schemas.microsoft.com/office/drawing/2014/main" id="{F5C3D454-3474-954C-B8AA-B8E4773A5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4200" y="2758024"/>
            <a:ext cx="381000" cy="609600"/>
          </a:xfrm>
          <a:prstGeom prst="downArrow">
            <a:avLst>
              <a:gd name="adj1" fmla="val 50000"/>
              <a:gd name="adj2" fmla="val 40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QA"/>
          </a:p>
        </p:txBody>
      </p:sp>
      <p:sp>
        <p:nvSpPr>
          <p:cNvPr id="188230" name="Text Box 838">
            <a:extLst>
              <a:ext uri="{FF2B5EF4-FFF2-40B4-BE49-F238E27FC236}">
                <a16:creationId xmlns:a16="http://schemas.microsoft.com/office/drawing/2014/main" id="{E70196D1-0A4E-8B49-9894-125045880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3489" y="1503336"/>
            <a:ext cx="40322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en-QA" sz="2000" dirty="0">
                <a:latin typeface="Times New Roman" panose="02020603050405020304" pitchFamily="18" charset="0"/>
              </a:rPr>
              <a:t>1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8871817" y="0"/>
            <a:ext cx="32282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23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79511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8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8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8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8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8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8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8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8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8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8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8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8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82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82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06A9B300-0F61-2040-8B26-9159E6A2C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557" y="0"/>
            <a:ext cx="9144000" cy="478725"/>
          </a:xfrm>
        </p:spPr>
        <p:txBody>
          <a:bodyPr vert="horz" lIns="18000" tIns="10800" rIns="18000" bIns="10800" rtlCol="0" anchor="ctr">
            <a:normAutofit/>
          </a:bodyPr>
          <a:lstStyle/>
          <a:p>
            <a:r>
              <a:rPr lang="en-US" altLang="en-QA" sz="2800" b="0" dirty="0">
                <a:latin typeface="+mn-lt"/>
                <a:cs typeface="Times New Roman" panose="02020603050405020304" pitchFamily="18" charset="0"/>
              </a:rPr>
              <a:t>Dynamic Programming for Shortest Path </a:t>
            </a:r>
            <a:r>
              <a:rPr lang="en-US" altLang="en-QA" sz="2800" b="0" dirty="0" smtClean="0">
                <a:latin typeface="+mn-lt"/>
                <a:cs typeface="Times New Roman" panose="02020603050405020304" pitchFamily="18" charset="0"/>
              </a:rPr>
              <a:t>Problem</a:t>
            </a:r>
            <a:endParaRPr lang="en-US" altLang="en-QA" sz="2800" b="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97636" name="Rectangle 4">
            <a:extLst>
              <a:ext uri="{FF2B5EF4-FFF2-40B4-BE49-F238E27FC236}">
                <a16:creationId xmlns:a16="http://schemas.microsoft.com/office/drawing/2014/main" id="{8AE98F51-D388-DB45-BD12-353D37797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65" y="990600"/>
            <a:ext cx="11164406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QA" sz="2400" u="sng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Dynamic programming </a:t>
            </a:r>
            <a:r>
              <a:rPr lang="en-US" altLang="en-QA" sz="2400" u="sng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steps</a:t>
            </a:r>
            <a:endParaRPr lang="en-US" altLang="en-QA" sz="2400" u="sng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en-US" altLang="en-QA" sz="2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QA" sz="2200" u="sng" dirty="0" smtClean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Establish </a:t>
            </a:r>
            <a:r>
              <a:rPr lang="en-US" altLang="en-QA" sz="2200" u="sng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a recursive property </a:t>
            </a:r>
            <a:r>
              <a:rPr lang="en-US" altLang="en-QA" sz="2200" dirty="0">
                <a:latin typeface="+mn-lt"/>
                <a:cs typeface="Times New Roman" panose="02020603050405020304" pitchFamily="18" charset="0"/>
              </a:rPr>
              <a:t>to compute </a:t>
            </a: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200" dirty="0">
                <a:latin typeface="+mn-lt"/>
                <a:cs typeface="Times New Roman" panose="02020603050405020304" pitchFamily="18" charset="0"/>
              </a:rPr>
              <a:t>from</a:t>
            </a: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altLang="en-QA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(k-1)</a:t>
            </a:r>
          </a:p>
          <a:p>
            <a:pPr marL="914400" lvl="1" indent="-457200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en-US" altLang="en-Q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200" u="sng" dirty="0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Solve </a:t>
            </a:r>
            <a:r>
              <a:rPr lang="en-US" altLang="en-QA" sz="2200" u="sng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an instance of the problem </a:t>
            </a:r>
            <a:r>
              <a:rPr lang="en-US" altLang="en-QA" sz="2200" dirty="0">
                <a:latin typeface="+mn-lt"/>
                <a:cs typeface="Times New Roman" panose="02020603050405020304" pitchFamily="18" charset="0"/>
              </a:rPr>
              <a:t>in a </a:t>
            </a:r>
            <a:r>
              <a:rPr lang="en-US" altLang="en-QA" sz="2200" u="sng" dirty="0">
                <a:latin typeface="+mn-lt"/>
                <a:cs typeface="Times New Roman" panose="02020603050405020304" pitchFamily="18" charset="0"/>
              </a:rPr>
              <a:t>bottom-up fashion </a:t>
            </a:r>
            <a:r>
              <a:rPr lang="en-US" altLang="en-QA" sz="2200" dirty="0">
                <a:latin typeface="+mn-lt"/>
                <a:cs typeface="Times New Roman" panose="02020603050405020304" pitchFamily="18" charset="0"/>
              </a:rPr>
              <a:t>using the recursive </a:t>
            </a:r>
            <a:r>
              <a:rPr lang="en-US" altLang="en-QA" sz="2200" dirty="0" smtClean="0">
                <a:latin typeface="+mn-lt"/>
                <a:cs typeface="Times New Roman" panose="02020603050405020304" pitchFamily="18" charset="0"/>
              </a:rPr>
              <a:t>property</a:t>
            </a:r>
            <a:endParaRPr lang="en-US" altLang="en-QA" sz="22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+mn-lt"/>
                <a:cs typeface="Times New Roman" panose="02020603050405020304" pitchFamily="18" charset="0"/>
              </a:rPr>
              <a:t>		That </a:t>
            </a:r>
            <a:r>
              <a:rPr lang="en-US" altLang="en-QA" sz="2400" dirty="0" smtClean="0">
                <a:latin typeface="+mn-lt"/>
                <a:cs typeface="Times New Roman" panose="02020603050405020304" pitchFamily="18" charset="0"/>
              </a:rPr>
              <a:t>is, </a:t>
            </a:r>
            <a:r>
              <a:rPr lang="en-US" altLang="en-QA" sz="2400" dirty="0">
                <a:latin typeface="+mn-lt"/>
                <a:cs typeface="Times New Roman" panose="02020603050405020304" pitchFamily="18" charset="0"/>
              </a:rPr>
              <a:t>compute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>
                <a:latin typeface="+mn-lt"/>
                <a:cs typeface="Times New Roman" panose="02020603050405020304" pitchFamily="18" charset="0"/>
              </a:rPr>
              <a:t>then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b="1" dirty="0">
                <a:latin typeface="+mn-lt"/>
                <a:cs typeface="Times New Roman" panose="02020603050405020304" pitchFamily="18" charset="0"/>
              </a:rPr>
              <a:t>then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…. </a:t>
            </a:r>
            <a:r>
              <a:rPr lang="en-US" altLang="en-QA" sz="2400" b="1" dirty="0">
                <a:latin typeface="+mn-lt"/>
                <a:cs typeface="Times New Roman" panose="02020603050405020304" pitchFamily="18" charset="0"/>
              </a:rPr>
              <a:t>then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altLang="en-QA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</a:p>
        </p:txBody>
      </p:sp>
      <p:sp>
        <p:nvSpPr>
          <p:cNvPr id="197638" name="Line 6">
            <a:extLst>
              <a:ext uri="{FF2B5EF4-FFF2-40B4-BE49-F238E27FC236}">
                <a16:creationId xmlns:a16="http://schemas.microsoft.com/office/drawing/2014/main" id="{3A065B1B-A3F9-1840-8AA5-DD1B79E701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5700" y="2530764"/>
            <a:ext cx="381000" cy="822036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QA">
              <a:ln>
                <a:solidFill>
                  <a:srgbClr val="00B050"/>
                </a:solidFill>
              </a:ln>
            </a:endParaRPr>
          </a:p>
        </p:txBody>
      </p:sp>
      <p:sp>
        <p:nvSpPr>
          <p:cNvPr id="197639" name="Rectangle 7">
            <a:extLst>
              <a:ext uri="{FF2B5EF4-FFF2-40B4-BE49-F238E27FC236}">
                <a16:creationId xmlns:a16="http://schemas.microsoft.com/office/drawing/2014/main" id="{A36DC826-B7EF-A742-AA36-FC4516A7A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352800"/>
            <a:ext cx="4572000" cy="1495794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[i][j] = 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of shortest path   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QA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 not allowed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pass through any other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vertices</a:t>
            </a:r>
            <a:endParaRPr lang="en-US" altLang="en-Q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on the edge from </a:t>
            </a:r>
            <a:r>
              <a:rPr lang="en-US" altLang="en-QA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QA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7640" name="Rectangle 8">
            <a:extLst>
              <a:ext uri="{FF2B5EF4-FFF2-40B4-BE49-F238E27FC236}">
                <a16:creationId xmlns:a16="http://schemas.microsoft.com/office/drawing/2014/main" id="{CC061506-82C7-AE48-B9F9-6AF646CE6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4637" y="3352800"/>
            <a:ext cx="4495800" cy="1495794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[i][j] = 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of shortest path   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QA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 allowed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pass through any of the other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vertices</a:t>
            </a:r>
            <a:endParaRPr lang="en-US" altLang="en-Q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shortest path </a:t>
            </a:r>
            <a:r>
              <a:rPr lang="en-US" altLang="en-QA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QA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Q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7641" name="Line 9">
            <a:extLst>
              <a:ext uri="{FF2B5EF4-FFF2-40B4-BE49-F238E27FC236}">
                <a16:creationId xmlns:a16="http://schemas.microsoft.com/office/drawing/2014/main" id="{D2F2C14C-132C-3843-968F-5D5B3C33D8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84579" y="2617075"/>
            <a:ext cx="1240216" cy="735723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QA"/>
          </a:p>
        </p:txBody>
      </p:sp>
      <p:sp>
        <p:nvSpPr>
          <p:cNvPr id="197642" name="Rectangle 10">
            <a:extLst>
              <a:ext uri="{FF2B5EF4-FFF2-40B4-BE49-F238E27FC236}">
                <a16:creationId xmlns:a16="http://schemas.microsoft.com/office/drawing/2014/main" id="{34D3D90E-4DB9-3341-B160-BD4317856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26620"/>
            <a:ext cx="740975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QA" sz="2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the recursive property: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(k-1)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do so,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let’s consider </a:t>
            </a:r>
            <a:r>
              <a:rPr lang="en-US" altLang="en-QA" sz="2400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altLang="en-QA" sz="2400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cases</a:t>
            </a:r>
            <a:endParaRPr lang="en-US" altLang="en-QA" sz="2400" u="sng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Shortest path </a:t>
            </a:r>
            <a:r>
              <a:rPr lang="en-US" altLang="en-QA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</a:t>
            </a:r>
            <a:r>
              <a:rPr lang="en-US" altLang="en-QA" sz="2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</a:t>
            </a:r>
            <a:r>
              <a:rPr lang="en-US" altLang="en-QA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en-QA" sz="2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Shortest path </a:t>
            </a:r>
            <a:r>
              <a:rPr lang="en-US" altLang="en-QA" sz="2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include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vertex </a:t>
            </a:r>
            <a:r>
              <a:rPr lang="en-US" altLang="en-QA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en-QA" sz="2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5339255" y="2530764"/>
            <a:ext cx="25014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24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78643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7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7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7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7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7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7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7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7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7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7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7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7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7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7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8" grpId="0" animBg="1"/>
      <p:bldP spid="197639" grpId="0" animBg="1"/>
      <p:bldP spid="197640" grpId="0" animBg="1"/>
      <p:bldP spid="19764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reeform 4"/>
          <p:cNvSpPr>
            <a:spLocks/>
          </p:cNvSpPr>
          <p:nvPr/>
        </p:nvSpPr>
        <p:spPr bwMode="auto">
          <a:xfrm>
            <a:off x="2942493" y="1706221"/>
            <a:ext cx="3429000" cy="88900"/>
          </a:xfrm>
          <a:custGeom>
            <a:avLst/>
            <a:gdLst>
              <a:gd name="T0" fmla="*/ 0 w 2160"/>
              <a:gd name="T1" fmla="*/ 0 h 56"/>
              <a:gd name="T2" fmla="*/ 967740000 w 2160"/>
              <a:gd name="T3" fmla="*/ 120967500 h 56"/>
              <a:gd name="T4" fmla="*/ 2147483646 w 2160"/>
              <a:gd name="T5" fmla="*/ 0 h 56"/>
              <a:gd name="T6" fmla="*/ 2147483646 w 2160"/>
              <a:gd name="T7" fmla="*/ 120967500 h 56"/>
              <a:gd name="T8" fmla="*/ 2147483646 w 2160"/>
              <a:gd name="T9" fmla="*/ 120967500 h 56"/>
              <a:gd name="T10" fmla="*/ 2147483646 w 2160"/>
              <a:gd name="T11" fmla="*/ 0 h 56"/>
              <a:gd name="T12" fmla="*/ 2147483646 w 2160"/>
              <a:gd name="T13" fmla="*/ 120967500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0" h="56">
                <a:moveTo>
                  <a:pt x="0" y="0"/>
                </a:moveTo>
                <a:cubicBezTo>
                  <a:pt x="120" y="24"/>
                  <a:pt x="240" y="48"/>
                  <a:pt x="384" y="48"/>
                </a:cubicBezTo>
                <a:cubicBezTo>
                  <a:pt x="528" y="48"/>
                  <a:pt x="728" y="0"/>
                  <a:pt x="864" y="0"/>
                </a:cubicBezTo>
                <a:cubicBezTo>
                  <a:pt x="1000" y="0"/>
                  <a:pt x="1064" y="40"/>
                  <a:pt x="1200" y="48"/>
                </a:cubicBezTo>
                <a:cubicBezTo>
                  <a:pt x="1336" y="56"/>
                  <a:pt x="1568" y="56"/>
                  <a:pt x="1680" y="48"/>
                </a:cubicBezTo>
                <a:cubicBezTo>
                  <a:pt x="1792" y="40"/>
                  <a:pt x="1792" y="0"/>
                  <a:pt x="1872" y="0"/>
                </a:cubicBezTo>
                <a:cubicBezTo>
                  <a:pt x="1952" y="0"/>
                  <a:pt x="2112" y="40"/>
                  <a:pt x="2160" y="4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grpSp>
        <p:nvGrpSpPr>
          <p:cNvPr id="19459" name="Group 5"/>
          <p:cNvGrpSpPr>
            <a:grpSpLocks/>
          </p:cNvGrpSpPr>
          <p:nvPr/>
        </p:nvGrpSpPr>
        <p:grpSpPr bwMode="auto">
          <a:xfrm>
            <a:off x="2767872" y="1706221"/>
            <a:ext cx="346075" cy="504825"/>
            <a:chOff x="1186" y="1776"/>
            <a:chExt cx="218" cy="318"/>
          </a:xfrm>
        </p:grpSpPr>
        <p:sp>
          <p:nvSpPr>
            <p:cNvPr id="19511" name="Oval 6"/>
            <p:cNvSpPr>
              <a:spLocks noChangeArrowheads="1"/>
            </p:cNvSpPr>
            <p:nvPr/>
          </p:nvSpPr>
          <p:spPr bwMode="auto">
            <a:xfrm>
              <a:off x="1296" y="1776"/>
              <a:ext cx="48" cy="48"/>
            </a:xfrm>
            <a:prstGeom prst="ellipse">
              <a:avLst/>
            </a:prstGeom>
            <a:solidFill>
              <a:srgbClr val="0033CC"/>
            </a:solidFill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512" name="Text Box 7"/>
            <p:cNvSpPr txBox="1">
              <a:spLocks noChangeArrowheads="1"/>
            </p:cNvSpPr>
            <p:nvPr/>
          </p:nvSpPr>
          <p:spPr bwMode="auto">
            <a:xfrm>
              <a:off x="1186" y="1842"/>
              <a:ext cx="2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00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408157" y="1325221"/>
            <a:ext cx="2628900" cy="762000"/>
            <a:chOff x="5228164" y="990600"/>
            <a:chExt cx="2628900" cy="762000"/>
          </a:xfrm>
        </p:grpSpPr>
        <p:sp>
          <p:nvSpPr>
            <p:cNvPr id="19505" name="Oval 9"/>
            <p:cNvSpPr>
              <a:spLocks noChangeArrowheads="1"/>
            </p:cNvSpPr>
            <p:nvPr/>
          </p:nvSpPr>
          <p:spPr bwMode="auto">
            <a:xfrm>
              <a:off x="5372100" y="1401234"/>
              <a:ext cx="76200" cy="76200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506" name="Oval 10"/>
            <p:cNvSpPr>
              <a:spLocks noChangeArrowheads="1"/>
            </p:cNvSpPr>
            <p:nvPr/>
          </p:nvSpPr>
          <p:spPr bwMode="auto">
            <a:xfrm>
              <a:off x="6057900" y="1350432"/>
              <a:ext cx="76200" cy="76200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507" name="Oval 11"/>
            <p:cNvSpPr>
              <a:spLocks noChangeArrowheads="1"/>
            </p:cNvSpPr>
            <p:nvPr/>
          </p:nvSpPr>
          <p:spPr bwMode="auto">
            <a:xfrm>
              <a:off x="6591300" y="1401234"/>
              <a:ext cx="76200" cy="76200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508" name="Oval 12"/>
            <p:cNvSpPr>
              <a:spLocks noChangeArrowheads="1"/>
            </p:cNvSpPr>
            <p:nvPr/>
          </p:nvSpPr>
          <p:spPr bwMode="auto">
            <a:xfrm>
              <a:off x="7124700" y="1430866"/>
              <a:ext cx="76200" cy="76200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509" name="Oval 13"/>
            <p:cNvSpPr>
              <a:spLocks noChangeArrowheads="1"/>
            </p:cNvSpPr>
            <p:nvPr/>
          </p:nvSpPr>
          <p:spPr bwMode="auto">
            <a:xfrm>
              <a:off x="7543800" y="1384300"/>
              <a:ext cx="76200" cy="76200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510" name="Oval 14"/>
            <p:cNvSpPr>
              <a:spLocks noChangeArrowheads="1"/>
            </p:cNvSpPr>
            <p:nvPr/>
          </p:nvSpPr>
          <p:spPr bwMode="auto">
            <a:xfrm>
              <a:off x="5228164" y="990600"/>
              <a:ext cx="26289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</p:grpSp>
      <p:sp>
        <p:nvSpPr>
          <p:cNvPr id="19461" name="Text Box 15"/>
          <p:cNvSpPr txBox="1">
            <a:spLocks noChangeArrowheads="1"/>
          </p:cNvSpPr>
          <p:nvPr/>
        </p:nvSpPr>
        <p:spPr bwMode="auto">
          <a:xfrm>
            <a:off x="3460301" y="2098182"/>
            <a:ext cx="2643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vertices from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 ,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2" name="Oval 16"/>
          <p:cNvSpPr>
            <a:spLocks noChangeArrowheads="1"/>
          </p:cNvSpPr>
          <p:nvPr/>
        </p:nvSpPr>
        <p:spPr bwMode="auto">
          <a:xfrm>
            <a:off x="6333393" y="1718921"/>
            <a:ext cx="76200" cy="76200"/>
          </a:xfrm>
          <a:prstGeom prst="ellipse">
            <a:avLst/>
          </a:prstGeom>
          <a:solidFill>
            <a:srgbClr val="0033CC"/>
          </a:solidFill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+mn-lt"/>
            </a:endParaRPr>
          </a:p>
        </p:txBody>
      </p:sp>
      <p:sp>
        <p:nvSpPr>
          <p:cNvPr id="19463" name="Rectangle 17"/>
          <p:cNvSpPr>
            <a:spLocks noChangeArrowheads="1"/>
          </p:cNvSpPr>
          <p:nvPr/>
        </p:nvSpPr>
        <p:spPr bwMode="auto">
          <a:xfrm>
            <a:off x="6241318" y="1810966"/>
            <a:ext cx="3762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4" name="Freeform 19"/>
          <p:cNvSpPr>
            <a:spLocks/>
          </p:cNvSpPr>
          <p:nvPr/>
        </p:nvSpPr>
        <p:spPr bwMode="auto">
          <a:xfrm>
            <a:off x="2910255" y="3972427"/>
            <a:ext cx="3429000" cy="88900"/>
          </a:xfrm>
          <a:custGeom>
            <a:avLst/>
            <a:gdLst>
              <a:gd name="T0" fmla="*/ 0 w 2160"/>
              <a:gd name="T1" fmla="*/ 0 h 56"/>
              <a:gd name="T2" fmla="*/ 967740000 w 2160"/>
              <a:gd name="T3" fmla="*/ 120967500 h 56"/>
              <a:gd name="T4" fmla="*/ 2147483646 w 2160"/>
              <a:gd name="T5" fmla="*/ 0 h 56"/>
              <a:gd name="T6" fmla="*/ 2147483646 w 2160"/>
              <a:gd name="T7" fmla="*/ 120967500 h 56"/>
              <a:gd name="T8" fmla="*/ 2147483646 w 2160"/>
              <a:gd name="T9" fmla="*/ 120967500 h 56"/>
              <a:gd name="T10" fmla="*/ 2147483646 w 2160"/>
              <a:gd name="T11" fmla="*/ 0 h 56"/>
              <a:gd name="T12" fmla="*/ 2147483646 w 2160"/>
              <a:gd name="T13" fmla="*/ 120967500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0" h="56">
                <a:moveTo>
                  <a:pt x="0" y="0"/>
                </a:moveTo>
                <a:cubicBezTo>
                  <a:pt x="120" y="24"/>
                  <a:pt x="240" y="48"/>
                  <a:pt x="384" y="48"/>
                </a:cubicBezTo>
                <a:cubicBezTo>
                  <a:pt x="528" y="48"/>
                  <a:pt x="728" y="0"/>
                  <a:pt x="864" y="0"/>
                </a:cubicBezTo>
                <a:cubicBezTo>
                  <a:pt x="1000" y="0"/>
                  <a:pt x="1064" y="40"/>
                  <a:pt x="1200" y="48"/>
                </a:cubicBezTo>
                <a:cubicBezTo>
                  <a:pt x="1336" y="56"/>
                  <a:pt x="1568" y="56"/>
                  <a:pt x="1680" y="48"/>
                </a:cubicBezTo>
                <a:cubicBezTo>
                  <a:pt x="1792" y="40"/>
                  <a:pt x="1792" y="0"/>
                  <a:pt x="1872" y="0"/>
                </a:cubicBezTo>
                <a:cubicBezTo>
                  <a:pt x="1952" y="0"/>
                  <a:pt x="2112" y="40"/>
                  <a:pt x="2160" y="48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9465" name="Oval 21"/>
          <p:cNvSpPr>
            <a:spLocks noChangeArrowheads="1"/>
          </p:cNvSpPr>
          <p:nvPr/>
        </p:nvSpPr>
        <p:spPr bwMode="auto">
          <a:xfrm>
            <a:off x="2910255" y="3972427"/>
            <a:ext cx="76200" cy="76200"/>
          </a:xfrm>
          <a:prstGeom prst="ellipse">
            <a:avLst/>
          </a:prstGeom>
          <a:solidFill>
            <a:srgbClr val="0033CC"/>
          </a:solidFill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333588" y="3599894"/>
            <a:ext cx="2628900" cy="762000"/>
            <a:chOff x="6709833" y="2907379"/>
            <a:chExt cx="2628900" cy="762000"/>
          </a:xfrm>
        </p:grpSpPr>
        <p:sp>
          <p:nvSpPr>
            <p:cNvPr id="19499" name="Oval 24"/>
            <p:cNvSpPr>
              <a:spLocks noChangeArrowheads="1"/>
            </p:cNvSpPr>
            <p:nvPr/>
          </p:nvSpPr>
          <p:spPr bwMode="auto">
            <a:xfrm>
              <a:off x="6896100" y="3318013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500" name="Oval 25"/>
            <p:cNvSpPr>
              <a:spLocks noChangeArrowheads="1"/>
            </p:cNvSpPr>
            <p:nvPr/>
          </p:nvSpPr>
          <p:spPr bwMode="auto">
            <a:xfrm>
              <a:off x="7581900" y="3250277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501" name="Oval 26"/>
            <p:cNvSpPr>
              <a:spLocks noChangeArrowheads="1"/>
            </p:cNvSpPr>
            <p:nvPr/>
          </p:nvSpPr>
          <p:spPr bwMode="auto">
            <a:xfrm>
              <a:off x="8115300" y="3309546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502" name="Oval 27"/>
            <p:cNvSpPr>
              <a:spLocks noChangeArrowheads="1"/>
            </p:cNvSpPr>
            <p:nvPr/>
          </p:nvSpPr>
          <p:spPr bwMode="auto">
            <a:xfrm>
              <a:off x="8648700" y="3339178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503" name="Oval 28"/>
            <p:cNvSpPr>
              <a:spLocks noChangeArrowheads="1"/>
            </p:cNvSpPr>
            <p:nvPr/>
          </p:nvSpPr>
          <p:spPr bwMode="auto">
            <a:xfrm>
              <a:off x="9067800" y="3292612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504" name="Oval 29"/>
            <p:cNvSpPr>
              <a:spLocks noChangeArrowheads="1"/>
            </p:cNvSpPr>
            <p:nvPr/>
          </p:nvSpPr>
          <p:spPr bwMode="auto">
            <a:xfrm>
              <a:off x="6709833" y="2907379"/>
              <a:ext cx="26289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</p:grpSp>
      <p:sp>
        <p:nvSpPr>
          <p:cNvPr id="19467" name="Oval 31"/>
          <p:cNvSpPr>
            <a:spLocks noChangeArrowheads="1"/>
          </p:cNvSpPr>
          <p:nvPr/>
        </p:nvSpPr>
        <p:spPr bwMode="auto">
          <a:xfrm>
            <a:off x="6301155" y="3985127"/>
            <a:ext cx="76200" cy="76200"/>
          </a:xfrm>
          <a:prstGeom prst="ellipse">
            <a:avLst/>
          </a:prstGeom>
          <a:solidFill>
            <a:srgbClr val="0033CC"/>
          </a:solidFill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+mn-lt"/>
            </a:endParaRPr>
          </a:p>
        </p:txBody>
      </p:sp>
      <p:sp>
        <p:nvSpPr>
          <p:cNvPr id="19468" name="Text Box 33"/>
          <p:cNvSpPr txBox="1">
            <a:spLocks noChangeArrowheads="1"/>
          </p:cNvSpPr>
          <p:nvPr/>
        </p:nvSpPr>
        <p:spPr bwMode="auto">
          <a:xfrm>
            <a:off x="5533515" y="1094558"/>
            <a:ext cx="11945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r>
              <a:rPr lang="en-US" alt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9469" name="Text Box 34"/>
          <p:cNvSpPr txBox="1">
            <a:spLocks noChangeArrowheads="1"/>
          </p:cNvSpPr>
          <p:nvPr/>
        </p:nvSpPr>
        <p:spPr bwMode="auto">
          <a:xfrm>
            <a:off x="713078" y="3235728"/>
            <a:ext cx="21547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Case 1</a:t>
            </a:r>
            <a:r>
              <a:rPr lang="en-US" altLang="en-US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: 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not used</a:t>
            </a:r>
          </a:p>
        </p:txBody>
      </p:sp>
      <p:sp>
        <p:nvSpPr>
          <p:cNvPr id="19470" name="Text Box 35"/>
          <p:cNvSpPr txBox="1">
            <a:spLocks noChangeArrowheads="1"/>
          </p:cNvSpPr>
          <p:nvPr/>
        </p:nvSpPr>
        <p:spPr bwMode="auto">
          <a:xfrm>
            <a:off x="7640256" y="3787017"/>
            <a:ext cx="3177473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9472" name="Text Box 38"/>
          <p:cNvSpPr txBox="1">
            <a:spLocks noChangeArrowheads="1"/>
          </p:cNvSpPr>
          <p:nvPr/>
        </p:nvSpPr>
        <p:spPr bwMode="auto">
          <a:xfrm>
            <a:off x="3398145" y="4370251"/>
            <a:ext cx="25040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vertices from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 , 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73" name="Text Box 41"/>
          <p:cNvSpPr txBox="1">
            <a:spLocks noChangeArrowheads="1"/>
          </p:cNvSpPr>
          <p:nvPr/>
        </p:nvSpPr>
        <p:spPr bwMode="auto">
          <a:xfrm>
            <a:off x="2810789" y="4000972"/>
            <a:ext cx="3465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74" name="Rectangle 42"/>
          <p:cNvSpPr>
            <a:spLocks noChangeArrowheads="1"/>
          </p:cNvSpPr>
          <p:nvPr/>
        </p:nvSpPr>
        <p:spPr bwMode="auto">
          <a:xfrm>
            <a:off x="6148755" y="4000972"/>
            <a:ext cx="3762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75" name="Text Box 43"/>
          <p:cNvSpPr txBox="1">
            <a:spLocks noChangeArrowheads="1"/>
          </p:cNvSpPr>
          <p:nvPr/>
        </p:nvSpPr>
        <p:spPr bwMode="auto">
          <a:xfrm>
            <a:off x="626066" y="4903108"/>
            <a:ext cx="19591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Case 2</a:t>
            </a:r>
            <a:r>
              <a:rPr lang="en-US" altLang="en-US" sz="20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: 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is used</a:t>
            </a:r>
          </a:p>
        </p:txBody>
      </p:sp>
      <p:sp>
        <p:nvSpPr>
          <p:cNvPr id="19476" name="Text Box 45"/>
          <p:cNvSpPr txBox="1">
            <a:spLocks noChangeArrowheads="1"/>
          </p:cNvSpPr>
          <p:nvPr/>
        </p:nvSpPr>
        <p:spPr bwMode="auto">
          <a:xfrm>
            <a:off x="7656719" y="4969462"/>
            <a:ext cx="4381329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+ D</a:t>
            </a:r>
            <a:r>
              <a:rPr lang="en-US" altLang="en-US" sz="240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9477" name="Freeform 46"/>
          <p:cNvSpPr>
            <a:spLocks/>
          </p:cNvSpPr>
          <p:nvPr/>
        </p:nvSpPr>
        <p:spPr bwMode="auto">
          <a:xfrm>
            <a:off x="1180856" y="5686895"/>
            <a:ext cx="6781800" cy="241300"/>
          </a:xfrm>
          <a:custGeom>
            <a:avLst/>
            <a:gdLst>
              <a:gd name="T0" fmla="*/ 0 w 2544"/>
              <a:gd name="T1" fmla="*/ 241935000 h 152"/>
              <a:gd name="T2" fmla="*/ 2147483646 w 2544"/>
              <a:gd name="T3" fmla="*/ 362902500 h 152"/>
              <a:gd name="T4" fmla="*/ 2147483646 w 2544"/>
              <a:gd name="T5" fmla="*/ 362902500 h 152"/>
              <a:gd name="T6" fmla="*/ 2147483646 w 2544"/>
              <a:gd name="T7" fmla="*/ 362902500 h 152"/>
              <a:gd name="T8" fmla="*/ 2147483646 w 2544"/>
              <a:gd name="T9" fmla="*/ 241935000 h 152"/>
              <a:gd name="T10" fmla="*/ 2147483646 w 2544"/>
              <a:gd name="T11" fmla="*/ 120967500 h 152"/>
              <a:gd name="T12" fmla="*/ 2147483646 w 2544"/>
              <a:gd name="T13" fmla="*/ 0 h 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44" h="152">
                <a:moveTo>
                  <a:pt x="0" y="96"/>
                </a:moveTo>
                <a:cubicBezTo>
                  <a:pt x="132" y="116"/>
                  <a:pt x="264" y="136"/>
                  <a:pt x="384" y="144"/>
                </a:cubicBezTo>
                <a:cubicBezTo>
                  <a:pt x="504" y="152"/>
                  <a:pt x="592" y="144"/>
                  <a:pt x="720" y="144"/>
                </a:cubicBezTo>
                <a:cubicBezTo>
                  <a:pt x="848" y="144"/>
                  <a:pt x="1032" y="152"/>
                  <a:pt x="1152" y="144"/>
                </a:cubicBezTo>
                <a:cubicBezTo>
                  <a:pt x="1272" y="136"/>
                  <a:pt x="1320" y="112"/>
                  <a:pt x="1440" y="96"/>
                </a:cubicBezTo>
                <a:cubicBezTo>
                  <a:pt x="1560" y="80"/>
                  <a:pt x="1688" y="64"/>
                  <a:pt x="1872" y="48"/>
                </a:cubicBezTo>
                <a:cubicBezTo>
                  <a:pt x="2056" y="32"/>
                  <a:pt x="2300" y="16"/>
                  <a:pt x="2544" y="0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9478" name="Oval 48"/>
          <p:cNvSpPr>
            <a:spLocks noChangeArrowheads="1"/>
          </p:cNvSpPr>
          <p:nvPr/>
        </p:nvSpPr>
        <p:spPr bwMode="auto">
          <a:xfrm>
            <a:off x="7962656" y="5686895"/>
            <a:ext cx="76200" cy="76200"/>
          </a:xfrm>
          <a:prstGeom prst="ellipse">
            <a:avLst/>
          </a:prstGeom>
          <a:solidFill>
            <a:srgbClr val="0033CC"/>
          </a:solidFill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+mn-lt"/>
            </a:endParaRPr>
          </a:p>
        </p:txBody>
      </p:sp>
      <p:sp>
        <p:nvSpPr>
          <p:cNvPr id="19479" name="Rectangle 50"/>
          <p:cNvSpPr>
            <a:spLocks noChangeArrowheads="1"/>
          </p:cNvSpPr>
          <p:nvPr/>
        </p:nvSpPr>
        <p:spPr bwMode="auto">
          <a:xfrm>
            <a:off x="4388808" y="5867840"/>
            <a:ext cx="3754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062821" y="5403262"/>
            <a:ext cx="2628900" cy="762000"/>
            <a:chOff x="7155390" y="4897967"/>
            <a:chExt cx="2628900" cy="762000"/>
          </a:xfrm>
        </p:grpSpPr>
        <p:sp>
          <p:nvSpPr>
            <p:cNvPr id="19480" name="Oval 51"/>
            <p:cNvSpPr>
              <a:spLocks noChangeArrowheads="1"/>
            </p:cNvSpPr>
            <p:nvPr/>
          </p:nvSpPr>
          <p:spPr bwMode="auto">
            <a:xfrm>
              <a:off x="7273925" y="5283200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481" name="Oval 52"/>
            <p:cNvSpPr>
              <a:spLocks noChangeArrowheads="1"/>
            </p:cNvSpPr>
            <p:nvPr/>
          </p:nvSpPr>
          <p:spPr bwMode="auto">
            <a:xfrm>
              <a:off x="7959725" y="5232401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482" name="Oval 53"/>
            <p:cNvSpPr>
              <a:spLocks noChangeArrowheads="1"/>
            </p:cNvSpPr>
            <p:nvPr/>
          </p:nvSpPr>
          <p:spPr bwMode="auto">
            <a:xfrm>
              <a:off x="8493125" y="5207000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483" name="Oval 54"/>
            <p:cNvSpPr>
              <a:spLocks noChangeArrowheads="1"/>
            </p:cNvSpPr>
            <p:nvPr/>
          </p:nvSpPr>
          <p:spPr bwMode="auto">
            <a:xfrm>
              <a:off x="9026525" y="5190066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484" name="Oval 55"/>
            <p:cNvSpPr>
              <a:spLocks noChangeArrowheads="1"/>
            </p:cNvSpPr>
            <p:nvPr/>
          </p:nvSpPr>
          <p:spPr bwMode="auto">
            <a:xfrm>
              <a:off x="9445625" y="5156201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485" name="Oval 56"/>
            <p:cNvSpPr>
              <a:spLocks noChangeArrowheads="1"/>
            </p:cNvSpPr>
            <p:nvPr/>
          </p:nvSpPr>
          <p:spPr bwMode="auto">
            <a:xfrm>
              <a:off x="7155390" y="4897967"/>
              <a:ext cx="26289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</p:grpSp>
      <p:sp>
        <p:nvSpPr>
          <p:cNvPr id="19486" name="Oval 59"/>
          <p:cNvSpPr>
            <a:spLocks noChangeArrowheads="1"/>
          </p:cNvSpPr>
          <p:nvPr/>
        </p:nvSpPr>
        <p:spPr bwMode="auto">
          <a:xfrm>
            <a:off x="1104656" y="5839295"/>
            <a:ext cx="76200" cy="76200"/>
          </a:xfrm>
          <a:prstGeom prst="ellipse">
            <a:avLst/>
          </a:prstGeom>
          <a:solidFill>
            <a:srgbClr val="0033CC"/>
          </a:solidFill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+mn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578787" y="5500630"/>
            <a:ext cx="2628900" cy="762000"/>
            <a:chOff x="3671356" y="4995335"/>
            <a:chExt cx="2628900" cy="762000"/>
          </a:xfrm>
        </p:grpSpPr>
        <p:sp>
          <p:nvSpPr>
            <p:cNvPr id="19493" name="Oval 62"/>
            <p:cNvSpPr>
              <a:spLocks noChangeArrowheads="1"/>
            </p:cNvSpPr>
            <p:nvPr/>
          </p:nvSpPr>
          <p:spPr bwMode="auto">
            <a:xfrm>
              <a:off x="3806825" y="5346700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494" name="Oval 63"/>
            <p:cNvSpPr>
              <a:spLocks noChangeArrowheads="1"/>
            </p:cNvSpPr>
            <p:nvPr/>
          </p:nvSpPr>
          <p:spPr bwMode="auto">
            <a:xfrm>
              <a:off x="4492625" y="5363634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495" name="Oval 64"/>
            <p:cNvSpPr>
              <a:spLocks noChangeArrowheads="1"/>
            </p:cNvSpPr>
            <p:nvPr/>
          </p:nvSpPr>
          <p:spPr bwMode="auto">
            <a:xfrm>
              <a:off x="5026025" y="5363634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496" name="Oval 65"/>
            <p:cNvSpPr>
              <a:spLocks noChangeArrowheads="1"/>
            </p:cNvSpPr>
            <p:nvPr/>
          </p:nvSpPr>
          <p:spPr bwMode="auto">
            <a:xfrm>
              <a:off x="5559425" y="5393266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497" name="Oval 66"/>
            <p:cNvSpPr>
              <a:spLocks noChangeArrowheads="1"/>
            </p:cNvSpPr>
            <p:nvPr/>
          </p:nvSpPr>
          <p:spPr bwMode="auto">
            <a:xfrm>
              <a:off x="5978525" y="5372101"/>
              <a:ext cx="76200" cy="76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19498" name="Oval 67"/>
            <p:cNvSpPr>
              <a:spLocks noChangeArrowheads="1"/>
            </p:cNvSpPr>
            <p:nvPr/>
          </p:nvSpPr>
          <p:spPr bwMode="auto">
            <a:xfrm>
              <a:off x="3671356" y="4995335"/>
              <a:ext cx="26289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</p:grpSp>
      <p:sp>
        <p:nvSpPr>
          <p:cNvPr id="19488" name="Oval 69"/>
          <p:cNvSpPr>
            <a:spLocks noChangeArrowheads="1"/>
          </p:cNvSpPr>
          <p:nvPr/>
        </p:nvSpPr>
        <p:spPr bwMode="auto">
          <a:xfrm>
            <a:off x="4495556" y="5851995"/>
            <a:ext cx="76200" cy="76200"/>
          </a:xfrm>
          <a:prstGeom prst="ellipse">
            <a:avLst/>
          </a:prstGeom>
          <a:solidFill>
            <a:srgbClr val="009900"/>
          </a:solidFill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+mn-lt"/>
            </a:endParaRPr>
          </a:p>
        </p:txBody>
      </p:sp>
      <p:sp>
        <p:nvSpPr>
          <p:cNvPr id="19489" name="Text Box 70"/>
          <p:cNvSpPr txBox="1">
            <a:spLocks noChangeArrowheads="1"/>
          </p:cNvSpPr>
          <p:nvPr/>
        </p:nvSpPr>
        <p:spPr bwMode="auto">
          <a:xfrm>
            <a:off x="1564884" y="6248047"/>
            <a:ext cx="2643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vertices from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 ,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90" name="Text Box 71"/>
          <p:cNvSpPr txBox="1">
            <a:spLocks noChangeArrowheads="1"/>
          </p:cNvSpPr>
          <p:nvPr/>
        </p:nvSpPr>
        <p:spPr bwMode="auto">
          <a:xfrm>
            <a:off x="5127234" y="6233759"/>
            <a:ext cx="2643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vertices from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 ,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91" name="Text Box 72"/>
          <p:cNvSpPr txBox="1">
            <a:spLocks noChangeArrowheads="1"/>
          </p:cNvSpPr>
          <p:nvPr/>
        </p:nvSpPr>
        <p:spPr bwMode="auto">
          <a:xfrm>
            <a:off x="975029" y="5867840"/>
            <a:ext cx="3465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92" name="Rectangle 73"/>
          <p:cNvSpPr>
            <a:spLocks noChangeArrowheads="1"/>
          </p:cNvSpPr>
          <p:nvPr/>
        </p:nvSpPr>
        <p:spPr bwMode="auto">
          <a:xfrm>
            <a:off x="7818195" y="5715440"/>
            <a:ext cx="3762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Box 33"/>
          <p:cNvSpPr txBox="1">
            <a:spLocks noChangeArrowheads="1"/>
          </p:cNvSpPr>
          <p:nvPr/>
        </p:nvSpPr>
        <p:spPr bwMode="auto">
          <a:xfrm>
            <a:off x="347939" y="1358772"/>
            <a:ext cx="23274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Shortest path between</a:t>
            </a:r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i="1" dirty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and 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 that considers</a:t>
            </a:r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all vertices 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, ... , 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Freeform 4"/>
          <p:cNvSpPr>
            <a:spLocks/>
          </p:cNvSpPr>
          <p:nvPr/>
        </p:nvSpPr>
        <p:spPr bwMode="auto">
          <a:xfrm>
            <a:off x="8018584" y="1700360"/>
            <a:ext cx="3429000" cy="88900"/>
          </a:xfrm>
          <a:custGeom>
            <a:avLst/>
            <a:gdLst>
              <a:gd name="T0" fmla="*/ 0 w 2160"/>
              <a:gd name="T1" fmla="*/ 0 h 56"/>
              <a:gd name="T2" fmla="*/ 967740000 w 2160"/>
              <a:gd name="T3" fmla="*/ 120967500 h 56"/>
              <a:gd name="T4" fmla="*/ 2147483646 w 2160"/>
              <a:gd name="T5" fmla="*/ 0 h 56"/>
              <a:gd name="T6" fmla="*/ 2147483646 w 2160"/>
              <a:gd name="T7" fmla="*/ 120967500 h 56"/>
              <a:gd name="T8" fmla="*/ 2147483646 w 2160"/>
              <a:gd name="T9" fmla="*/ 120967500 h 56"/>
              <a:gd name="T10" fmla="*/ 2147483646 w 2160"/>
              <a:gd name="T11" fmla="*/ 0 h 56"/>
              <a:gd name="T12" fmla="*/ 2147483646 w 2160"/>
              <a:gd name="T13" fmla="*/ 120967500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0" h="56">
                <a:moveTo>
                  <a:pt x="0" y="0"/>
                </a:moveTo>
                <a:cubicBezTo>
                  <a:pt x="120" y="24"/>
                  <a:pt x="240" y="48"/>
                  <a:pt x="384" y="48"/>
                </a:cubicBezTo>
                <a:cubicBezTo>
                  <a:pt x="528" y="48"/>
                  <a:pt x="728" y="0"/>
                  <a:pt x="864" y="0"/>
                </a:cubicBezTo>
                <a:cubicBezTo>
                  <a:pt x="1000" y="0"/>
                  <a:pt x="1064" y="40"/>
                  <a:pt x="1200" y="48"/>
                </a:cubicBezTo>
                <a:cubicBezTo>
                  <a:pt x="1336" y="56"/>
                  <a:pt x="1568" y="56"/>
                  <a:pt x="1680" y="48"/>
                </a:cubicBezTo>
                <a:cubicBezTo>
                  <a:pt x="1792" y="40"/>
                  <a:pt x="1792" y="0"/>
                  <a:pt x="1872" y="0"/>
                </a:cubicBezTo>
                <a:cubicBezTo>
                  <a:pt x="1952" y="0"/>
                  <a:pt x="2112" y="40"/>
                  <a:pt x="2160" y="4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grpSp>
        <p:nvGrpSpPr>
          <p:cNvPr id="63" name="Group 5"/>
          <p:cNvGrpSpPr>
            <a:grpSpLocks/>
          </p:cNvGrpSpPr>
          <p:nvPr/>
        </p:nvGrpSpPr>
        <p:grpSpPr bwMode="auto">
          <a:xfrm>
            <a:off x="7843963" y="1700360"/>
            <a:ext cx="346075" cy="504825"/>
            <a:chOff x="1186" y="1776"/>
            <a:chExt cx="218" cy="318"/>
          </a:xfrm>
        </p:grpSpPr>
        <p:sp>
          <p:nvSpPr>
            <p:cNvPr id="64" name="Oval 6"/>
            <p:cNvSpPr>
              <a:spLocks noChangeArrowheads="1"/>
            </p:cNvSpPr>
            <p:nvPr/>
          </p:nvSpPr>
          <p:spPr bwMode="auto">
            <a:xfrm>
              <a:off x="1296" y="1776"/>
              <a:ext cx="48" cy="48"/>
            </a:xfrm>
            <a:prstGeom prst="ellipse">
              <a:avLst/>
            </a:prstGeom>
            <a:solidFill>
              <a:srgbClr val="0033CC"/>
            </a:solidFill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65" name="Text Box 7"/>
            <p:cNvSpPr txBox="1">
              <a:spLocks noChangeArrowheads="1"/>
            </p:cNvSpPr>
            <p:nvPr/>
          </p:nvSpPr>
          <p:spPr bwMode="auto">
            <a:xfrm>
              <a:off x="1186" y="1842"/>
              <a:ext cx="2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00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8484248" y="1319360"/>
            <a:ext cx="2628900" cy="762000"/>
            <a:chOff x="5228164" y="990600"/>
            <a:chExt cx="2628900" cy="762000"/>
          </a:xfrm>
        </p:grpSpPr>
        <p:sp>
          <p:nvSpPr>
            <p:cNvPr id="67" name="Oval 9"/>
            <p:cNvSpPr>
              <a:spLocks noChangeArrowheads="1"/>
            </p:cNvSpPr>
            <p:nvPr/>
          </p:nvSpPr>
          <p:spPr bwMode="auto">
            <a:xfrm>
              <a:off x="5372100" y="1401234"/>
              <a:ext cx="76200" cy="76200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68" name="Oval 10"/>
            <p:cNvSpPr>
              <a:spLocks noChangeArrowheads="1"/>
            </p:cNvSpPr>
            <p:nvPr/>
          </p:nvSpPr>
          <p:spPr bwMode="auto">
            <a:xfrm>
              <a:off x="6057900" y="1350432"/>
              <a:ext cx="76200" cy="76200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69" name="Oval 11"/>
            <p:cNvSpPr>
              <a:spLocks noChangeArrowheads="1"/>
            </p:cNvSpPr>
            <p:nvPr/>
          </p:nvSpPr>
          <p:spPr bwMode="auto">
            <a:xfrm>
              <a:off x="6591300" y="1401234"/>
              <a:ext cx="76200" cy="76200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70" name="Oval 12"/>
            <p:cNvSpPr>
              <a:spLocks noChangeArrowheads="1"/>
            </p:cNvSpPr>
            <p:nvPr/>
          </p:nvSpPr>
          <p:spPr bwMode="auto">
            <a:xfrm>
              <a:off x="7124700" y="1430866"/>
              <a:ext cx="76200" cy="76200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71" name="Oval 13"/>
            <p:cNvSpPr>
              <a:spLocks noChangeArrowheads="1"/>
            </p:cNvSpPr>
            <p:nvPr/>
          </p:nvSpPr>
          <p:spPr bwMode="auto">
            <a:xfrm>
              <a:off x="7543800" y="1384300"/>
              <a:ext cx="76200" cy="76200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  <p:sp>
          <p:nvSpPr>
            <p:cNvPr id="72" name="Oval 14"/>
            <p:cNvSpPr>
              <a:spLocks noChangeArrowheads="1"/>
            </p:cNvSpPr>
            <p:nvPr/>
          </p:nvSpPr>
          <p:spPr bwMode="auto">
            <a:xfrm>
              <a:off x="5228164" y="990600"/>
              <a:ext cx="26289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+mn-lt"/>
              </a:endParaRPr>
            </a:p>
          </p:txBody>
        </p:sp>
      </p:grpSp>
      <p:sp>
        <p:nvSpPr>
          <p:cNvPr id="73" name="Text Box 15"/>
          <p:cNvSpPr txBox="1">
            <a:spLocks noChangeArrowheads="1"/>
          </p:cNvSpPr>
          <p:nvPr/>
        </p:nvSpPr>
        <p:spPr bwMode="auto">
          <a:xfrm>
            <a:off x="8178314" y="2092321"/>
            <a:ext cx="3309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vertices from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 , </a:t>
            </a:r>
            <a:r>
              <a:rPr lang="en-US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en-US" sz="2000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Oval 16"/>
          <p:cNvSpPr>
            <a:spLocks noChangeArrowheads="1"/>
          </p:cNvSpPr>
          <p:nvPr/>
        </p:nvSpPr>
        <p:spPr bwMode="auto">
          <a:xfrm>
            <a:off x="11409484" y="1713060"/>
            <a:ext cx="76200" cy="76200"/>
          </a:xfrm>
          <a:prstGeom prst="ellipse">
            <a:avLst/>
          </a:prstGeom>
          <a:solidFill>
            <a:srgbClr val="0033CC"/>
          </a:solidFill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+mn-lt"/>
            </a:endParaRPr>
          </a:p>
        </p:txBody>
      </p:sp>
      <p:sp>
        <p:nvSpPr>
          <p:cNvPr id="75" name="Rectangle 17"/>
          <p:cNvSpPr>
            <a:spLocks noChangeArrowheads="1"/>
          </p:cNvSpPr>
          <p:nvPr/>
        </p:nvSpPr>
        <p:spPr bwMode="auto">
          <a:xfrm>
            <a:off x="11317409" y="1805105"/>
            <a:ext cx="3762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Box 33"/>
          <p:cNvSpPr txBox="1">
            <a:spLocks noChangeArrowheads="1"/>
          </p:cNvSpPr>
          <p:nvPr/>
        </p:nvSpPr>
        <p:spPr bwMode="auto">
          <a:xfrm>
            <a:off x="7722297" y="1161802"/>
            <a:ext cx="105189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77" name="AutoShape 837"/>
          <p:cNvSpPr>
            <a:spLocks noChangeArrowheads="1"/>
          </p:cNvSpPr>
          <p:nvPr/>
        </p:nvSpPr>
        <p:spPr bwMode="auto">
          <a:xfrm rot="16200000">
            <a:off x="7036652" y="1280997"/>
            <a:ext cx="425826" cy="884312"/>
          </a:xfrm>
          <a:prstGeom prst="downArrow">
            <a:avLst>
              <a:gd name="adj1" fmla="val 50000"/>
              <a:gd name="adj2" fmla="val 40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/>
          </a:p>
        </p:txBody>
      </p:sp>
      <p:grpSp>
        <p:nvGrpSpPr>
          <p:cNvPr id="9" name="Group 8"/>
          <p:cNvGrpSpPr/>
          <p:nvPr/>
        </p:nvGrpSpPr>
        <p:grpSpPr>
          <a:xfrm>
            <a:off x="8258091" y="5924881"/>
            <a:ext cx="3779957" cy="646331"/>
            <a:chOff x="7388333" y="2603399"/>
            <a:chExt cx="3919166" cy="646331"/>
          </a:xfrm>
        </p:grpSpPr>
        <p:sp>
          <p:nvSpPr>
            <p:cNvPr id="58" name="Text Box 33"/>
            <p:cNvSpPr txBox="1">
              <a:spLocks noChangeArrowheads="1"/>
            </p:cNvSpPr>
            <p:nvPr/>
          </p:nvSpPr>
          <p:spPr bwMode="auto">
            <a:xfrm>
              <a:off x="8494206" y="2603399"/>
              <a:ext cx="2813293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00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lvl="1" algn="ctr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latin typeface="+mn-lt"/>
                  <a:cs typeface="Times New Roman" panose="02020603050405020304" pitchFamily="18" charset="0"/>
                </a:rPr>
                <a:t>Minimum length between </a:t>
              </a:r>
            </a:p>
            <a:p>
              <a:pPr marL="0" lvl="1" algn="ctr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0000"/>
                  </a:solidFill>
                  <a:latin typeface="+mn-lt"/>
                  <a:cs typeface="Times New Roman" panose="02020603050405020304" pitchFamily="18" charset="0"/>
                </a:rPr>
                <a:t>Case 1 </a:t>
              </a:r>
              <a:r>
                <a:rPr lang="en-US" altLang="en-US" sz="1800" dirty="0">
                  <a:latin typeface="+mn-lt"/>
                  <a:cs typeface="Times New Roman" panose="02020603050405020304" pitchFamily="18" charset="0"/>
                </a:rPr>
                <a:t>&amp;</a:t>
              </a:r>
              <a:r>
                <a:rPr lang="en-US" altLang="en-US" sz="1800" dirty="0">
                  <a:solidFill>
                    <a:srgbClr val="C00000"/>
                  </a:solidFill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n-US" altLang="en-US" sz="1800" b="1" dirty="0">
                  <a:solidFill>
                    <a:srgbClr val="0070C0"/>
                  </a:solidFill>
                  <a:latin typeface="+mn-lt"/>
                  <a:cs typeface="Times New Roman" panose="02020603050405020304" pitchFamily="18" charset="0"/>
                </a:rPr>
                <a:t>Case 2</a:t>
              </a:r>
            </a:p>
          </p:txBody>
        </p:sp>
        <p:sp>
          <p:nvSpPr>
            <p:cNvPr id="78" name="Text Box 33"/>
            <p:cNvSpPr txBox="1">
              <a:spLocks noChangeArrowheads="1"/>
            </p:cNvSpPr>
            <p:nvPr/>
          </p:nvSpPr>
          <p:spPr bwMode="auto">
            <a:xfrm>
              <a:off x="7388333" y="2712391"/>
              <a:ext cx="129554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00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lvl="1"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en-US" sz="2000" baseline="30000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000" i="1" baseline="30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en-US" sz="2000" baseline="30000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en-US" sz="2000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en-US" sz="2000" i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000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en-US" sz="2000" i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altLang="en-US" sz="2000" dirty="0">
                  <a:latin typeface="+mn-lt"/>
                  <a:cs typeface="Times New Roman" panose="02020603050405020304" pitchFamily="18" charset="0"/>
                </a:rPr>
                <a:t> = </a:t>
              </a:r>
            </a:p>
          </p:txBody>
        </p:sp>
      </p:grpSp>
      <p:sp>
        <p:nvSpPr>
          <p:cNvPr id="80" name="Rectangle 36">
            <a:extLst>
              <a:ext uri="{FF2B5EF4-FFF2-40B4-BE49-F238E27FC236}">
                <a16:creationId xmlns:a16="http://schemas.microsoft.com/office/drawing/2014/main" id="{CC726034-827B-A54F-9266-5B6E62136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3" y="-1731"/>
            <a:ext cx="9144000" cy="590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0800" rIns="18000" bIns="10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QA" sz="28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Recurrence Property for Shortest Paths -I-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25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45067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9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4" grpId="0" animBg="1"/>
      <p:bldP spid="19465" grpId="0" animBg="1"/>
      <p:bldP spid="19467" grpId="0" animBg="1"/>
      <p:bldP spid="19469" grpId="0"/>
      <p:bldP spid="19470" grpId="0" animBg="1"/>
      <p:bldP spid="19472" grpId="0"/>
      <p:bldP spid="19473" grpId="0"/>
      <p:bldP spid="19474" grpId="0"/>
      <p:bldP spid="19475" grpId="0"/>
      <p:bldP spid="19476" grpId="0" animBg="1"/>
      <p:bldP spid="19477" grpId="0" animBg="1"/>
      <p:bldP spid="19478" grpId="0" animBg="1"/>
      <p:bldP spid="19479" grpId="0"/>
      <p:bldP spid="19486" grpId="0" animBg="1"/>
      <p:bldP spid="19488" grpId="0" animBg="1"/>
      <p:bldP spid="19489" grpId="0"/>
      <p:bldP spid="19490" grpId="0"/>
      <p:bldP spid="19491" grpId="0"/>
      <p:bldP spid="1949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81" name="Rectangle 57">
            <a:extLst>
              <a:ext uri="{FF2B5EF4-FFF2-40B4-BE49-F238E27FC236}">
                <a16:creationId xmlns:a16="http://schemas.microsoft.com/office/drawing/2014/main" id="{E74976F7-85AF-0946-9EDE-A93D7A22F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945" y="904791"/>
            <a:ext cx="8458200" cy="1219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either </a:t>
            </a:r>
            <a:r>
              <a:rPr lang="en-US" altLang="en-QA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1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2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then:</a:t>
            </a:r>
          </a:p>
          <a:p>
            <a:pPr>
              <a:spcBef>
                <a:spcPct val="35000"/>
              </a:spcBef>
            </a:pP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400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QA" sz="240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QA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QA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QA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(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400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QA" sz="24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en-QA" sz="24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QA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QA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QA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QA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QA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altLang="en-QA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QA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  <a:r>
              <a:rPr lang="en-US" altLang="en-QA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QA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QA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QA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QA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+ D</a:t>
            </a:r>
            <a:r>
              <a:rPr lang="en-US" altLang="en-QA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QA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  <a:r>
              <a:rPr lang="en-US" altLang="en-QA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QA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QA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QA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QA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QA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QA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35000"/>
              </a:spcBef>
            </a:pPr>
            <a:endParaRPr lang="en-US" altLang="en-Q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5882" name="Group 58">
            <a:extLst>
              <a:ext uri="{FF2B5EF4-FFF2-40B4-BE49-F238E27FC236}">
                <a16:creationId xmlns:a16="http://schemas.microsoft.com/office/drawing/2014/main" id="{CAADCD07-6562-8042-98A2-E198569F6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580197"/>
              </p:ext>
            </p:extLst>
          </p:nvPr>
        </p:nvGraphicFramePr>
        <p:xfrm>
          <a:off x="2141976" y="2442273"/>
          <a:ext cx="2590800" cy="205740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1709204627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84865099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065058768"/>
                    </a:ext>
                  </a:extLst>
                </a:gridCol>
                <a:gridCol w="385763">
                  <a:extLst>
                    <a:ext uri="{9D8B030D-6E8A-4147-A177-3AD203B41FA5}">
                      <a16:colId xmlns:a16="http://schemas.microsoft.com/office/drawing/2014/main" val="4144612683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243746588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853800574"/>
                    </a:ext>
                  </a:extLst>
                </a:gridCol>
              </a:tblGrid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QA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370852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  <a:endParaRPr kumimoji="0" lang="en-US" altLang="en-QA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584879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743636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950075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810840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894974"/>
                  </a:ext>
                </a:extLst>
              </a:tr>
            </a:tbl>
          </a:graphicData>
        </a:graphic>
      </p:graphicFrame>
      <p:graphicFrame>
        <p:nvGraphicFramePr>
          <p:cNvPr id="206008" name="Group 184">
            <a:extLst>
              <a:ext uri="{FF2B5EF4-FFF2-40B4-BE49-F238E27FC236}">
                <a16:creationId xmlns:a16="http://schemas.microsoft.com/office/drawing/2014/main" id="{3F0D6023-7646-E84F-B8B1-059A98B37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273927"/>
              </p:ext>
            </p:extLst>
          </p:nvPr>
        </p:nvGraphicFramePr>
        <p:xfrm>
          <a:off x="5037576" y="2410523"/>
          <a:ext cx="2590800" cy="217932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87745308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853726819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80156654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997312237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74015695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4165018037"/>
                    </a:ext>
                  </a:extLst>
                </a:gridCol>
              </a:tblGrid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QA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845704"/>
                  </a:ext>
                </a:extLst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  <a:endParaRPr kumimoji="0" lang="en-US" altLang="en-QA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159472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65922"/>
                  </a:ext>
                </a:extLst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344162"/>
                  </a:ext>
                </a:extLst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034919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766558"/>
                  </a:ext>
                </a:extLst>
              </a:tr>
            </a:tbl>
          </a:graphicData>
        </a:graphic>
      </p:graphicFrame>
      <p:sp>
        <p:nvSpPr>
          <p:cNvPr id="206009" name="Rectangle 185">
            <a:extLst>
              <a:ext uri="{FF2B5EF4-FFF2-40B4-BE49-F238E27FC236}">
                <a16:creationId xmlns:a16="http://schemas.microsoft.com/office/drawing/2014/main" id="{B2885097-8366-E143-8728-EDF499F5F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18" y="5411439"/>
            <a:ext cx="8839200" cy="134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[2][4] =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[2][4],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</a:t>
            </a:r>
            <a:r>
              <a:rPr lang="en-US" altLang="en-QA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QA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][4]) =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9+1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QA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[5][2] =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[5][2],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[5][</a:t>
            </a:r>
            <a:r>
              <a:rPr lang="en-US" altLang="en-QA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QA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][2]) =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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3+1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QA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[5][4] = </a:t>
            </a:r>
            <a:r>
              <a:rPr lang="en-US" altLang="en-QA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QA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[5][4], </a:t>
            </a:r>
            <a:r>
              <a:rPr lang="en-US" altLang="en-QA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QA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[5][</a:t>
            </a:r>
            <a:r>
              <a:rPr lang="en-US" altLang="en-QA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+ </a:t>
            </a:r>
            <a:r>
              <a:rPr lang="en-US" altLang="en-QA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4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QA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QA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][4]) = </a:t>
            </a:r>
            <a:r>
              <a:rPr lang="en-US" altLang="en-QA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</a:t>
            </a:r>
            <a:r>
              <a:rPr lang="en-US" altLang="en-QA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3+1</a:t>
            </a:r>
            <a:r>
              <a:rPr lang="en-US" altLang="en-QA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QA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206011" name="Rectangle 187">
            <a:extLst>
              <a:ext uri="{FF2B5EF4-FFF2-40B4-BE49-F238E27FC236}">
                <a16:creationId xmlns:a16="http://schemas.microsoft.com/office/drawing/2014/main" id="{ACEEA5C1-AC5B-ED4E-B355-F039B77F0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76" y="-72014"/>
            <a:ext cx="9144000" cy="506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0800" rIns="18000" bIns="10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QA" sz="28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Recurrence Property for Shortest Paths -II-</a:t>
            </a:r>
          </a:p>
        </p:txBody>
      </p:sp>
      <p:sp>
        <p:nvSpPr>
          <p:cNvPr id="2" name="Rectangle 1"/>
          <p:cNvSpPr/>
          <p:nvPr/>
        </p:nvSpPr>
        <p:spPr>
          <a:xfrm>
            <a:off x="525588" y="2332900"/>
            <a:ext cx="15087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en-QA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grpSp>
        <p:nvGrpSpPr>
          <p:cNvPr id="8" name="Group 810">
            <a:extLst>
              <a:ext uri="{FF2B5EF4-FFF2-40B4-BE49-F238E27FC236}">
                <a16:creationId xmlns:a16="http://schemas.microsoft.com/office/drawing/2014/main" id="{8E5DF402-0941-5646-A6A8-87EDE30FAA8C}"/>
              </a:ext>
            </a:extLst>
          </p:cNvPr>
          <p:cNvGrpSpPr>
            <a:grpSpLocks/>
          </p:cNvGrpSpPr>
          <p:nvPr/>
        </p:nvGrpSpPr>
        <p:grpSpPr bwMode="auto">
          <a:xfrm>
            <a:off x="8121618" y="2090739"/>
            <a:ext cx="3962400" cy="2224088"/>
            <a:chOff x="1435" y="576"/>
            <a:chExt cx="2496" cy="1401"/>
          </a:xfrm>
        </p:grpSpPr>
        <p:sp>
          <p:nvSpPr>
            <p:cNvPr id="9" name="Oval 811">
              <a:extLst>
                <a:ext uri="{FF2B5EF4-FFF2-40B4-BE49-F238E27FC236}">
                  <a16:creationId xmlns:a16="http://schemas.microsoft.com/office/drawing/2014/main" id="{3A3A2694-3446-DD43-836E-D6B8E6E4D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710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200" i="1" dirty="0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 dirty="0">
                  <a:latin typeface="Times New Roman" panose="02020603050405020304" pitchFamily="18" charset="0"/>
                </a:rPr>
                <a:t>1</a:t>
              </a:r>
              <a:endParaRPr lang="en-US" altLang="en-QA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Oval 812">
              <a:extLst>
                <a:ext uri="{FF2B5EF4-FFF2-40B4-BE49-F238E27FC236}">
                  <a16:creationId xmlns:a16="http://schemas.microsoft.com/office/drawing/2014/main" id="{EC83C2F8-6E9B-1F43-B7A6-23FFA3C84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710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/>
            <a:p>
              <a:pPr eaLnBrk="0" hangingPunct="0"/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2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1" name="Oval 813">
              <a:extLst>
                <a:ext uri="{FF2B5EF4-FFF2-40B4-BE49-F238E27FC236}">
                  <a16:creationId xmlns:a16="http://schemas.microsoft.com/office/drawing/2014/main" id="{D43E9F9E-23EC-4147-8935-461197E62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512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/>
            <a:p>
              <a:pPr eaLnBrk="0" hangingPunct="0"/>
              <a:r>
                <a:rPr lang="en-US" altLang="en-QA" i="1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4</a:t>
              </a:r>
              <a:endParaRPr lang="en-US" altLang="en-QA" sz="1000">
                <a:latin typeface="Times New Roman" panose="02020603050405020304" pitchFamily="18" charset="0"/>
              </a:endParaRPr>
            </a:p>
          </p:txBody>
        </p:sp>
        <p:sp>
          <p:nvSpPr>
            <p:cNvPr id="12" name="Oval 814">
              <a:extLst>
                <a:ext uri="{FF2B5EF4-FFF2-40B4-BE49-F238E27FC236}">
                  <a16:creationId xmlns:a16="http://schemas.microsoft.com/office/drawing/2014/main" id="{0F05CA96-30F4-5F4F-9D9D-DB8518E8F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1512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000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3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Oval 815">
              <a:extLst>
                <a:ext uri="{FF2B5EF4-FFF2-40B4-BE49-F238E27FC236}">
                  <a16:creationId xmlns:a16="http://schemas.microsoft.com/office/drawing/2014/main" id="{242D921C-CF67-7141-9628-F6E0DE35B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" y="1111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00800" tIns="0"/>
            <a:lstStyle/>
            <a:p>
              <a:pPr eaLnBrk="0" hangingPunct="0"/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5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14" name="Line 816">
              <a:extLst>
                <a:ext uri="{FF2B5EF4-FFF2-40B4-BE49-F238E27FC236}">
                  <a16:creationId xmlns:a16="http://schemas.microsoft.com/office/drawing/2014/main" id="{BC195D44-1475-6643-8386-383A3EF220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3" y="950"/>
              <a:ext cx="602" cy="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5" name="Line 817">
              <a:extLst>
                <a:ext uri="{FF2B5EF4-FFF2-40B4-BE49-F238E27FC236}">
                  <a16:creationId xmlns:a16="http://schemas.microsoft.com/office/drawing/2014/main" id="{6934E962-C016-C743-A8F3-F995E5C61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7" y="1031"/>
              <a:ext cx="587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6" name="Line 818">
              <a:extLst>
                <a:ext uri="{FF2B5EF4-FFF2-40B4-BE49-F238E27FC236}">
                  <a16:creationId xmlns:a16="http://schemas.microsoft.com/office/drawing/2014/main" id="{F65774FB-CBA1-074A-AF28-C48F47E045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8" y="1062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7" name="Line 819">
              <a:extLst>
                <a:ext uri="{FF2B5EF4-FFF2-40B4-BE49-F238E27FC236}">
                  <a16:creationId xmlns:a16="http://schemas.microsoft.com/office/drawing/2014/main" id="{3258F28C-CAF0-A94A-BB46-0FCD44100A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3" y="800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8" name="Line 820">
              <a:extLst>
                <a:ext uri="{FF2B5EF4-FFF2-40B4-BE49-F238E27FC236}">
                  <a16:creationId xmlns:a16="http://schemas.microsoft.com/office/drawing/2014/main" id="{60913448-B82F-E548-A151-14CFBAC058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67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19" name="Line 821">
              <a:extLst>
                <a:ext uri="{FF2B5EF4-FFF2-40B4-BE49-F238E27FC236}">
                  <a16:creationId xmlns:a16="http://schemas.microsoft.com/office/drawing/2014/main" id="{8CBE50D7-5520-5940-A1A1-F461C5155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1111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0" name="Line 822">
              <a:extLst>
                <a:ext uri="{FF2B5EF4-FFF2-40B4-BE49-F238E27FC236}">
                  <a16:creationId xmlns:a16="http://schemas.microsoft.com/office/drawing/2014/main" id="{83E9CD79-0165-A94D-AA89-A0CA47746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" y="1111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1" name="Line 823">
              <a:extLst>
                <a:ext uri="{FF2B5EF4-FFF2-40B4-BE49-F238E27FC236}">
                  <a16:creationId xmlns:a16="http://schemas.microsoft.com/office/drawing/2014/main" id="{CA43C5D9-0B1B-6445-9C8B-C254B4E99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75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2" name="Line 824">
              <a:extLst>
                <a:ext uri="{FF2B5EF4-FFF2-40B4-BE49-F238E27FC236}">
                  <a16:creationId xmlns:a16="http://schemas.microsoft.com/office/drawing/2014/main" id="{517F774F-F82A-6548-8CB1-7B9F86B1F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950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3" name="Line 825">
              <a:extLst>
                <a:ext uri="{FF2B5EF4-FFF2-40B4-BE49-F238E27FC236}">
                  <a16:creationId xmlns:a16="http://schemas.microsoft.com/office/drawing/2014/main" id="{3C85B645-2AD0-8644-82F1-820E5DF92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1" y="1432"/>
              <a:ext cx="611" cy="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4" name="Text Box 826">
              <a:extLst>
                <a:ext uri="{FF2B5EF4-FFF2-40B4-BE49-F238E27FC236}">
                  <a16:creationId xmlns:a16="http://schemas.microsoft.com/office/drawing/2014/main" id="{E9C9A337-E5EB-204D-9A5A-E5B970DA3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817"/>
              <a:ext cx="20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5" name="Text Box 827">
              <a:extLst>
                <a:ext uri="{FF2B5EF4-FFF2-40B4-BE49-F238E27FC236}">
                  <a16:creationId xmlns:a16="http://schemas.microsoft.com/office/drawing/2014/main" id="{E2E0AEFF-71B2-DF45-9DC6-4B8503CD1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5" y="1699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6" name="Text Box 828">
              <a:extLst>
                <a:ext uri="{FF2B5EF4-FFF2-40B4-BE49-F238E27FC236}">
                  <a16:creationId xmlns:a16="http://schemas.microsoft.com/office/drawing/2014/main" id="{58784395-CFB7-7246-A586-1F414190C8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1488"/>
              <a:ext cx="230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7" name="Text Box 829">
              <a:extLst>
                <a:ext uri="{FF2B5EF4-FFF2-40B4-BE49-F238E27FC236}">
                  <a16:creationId xmlns:a16="http://schemas.microsoft.com/office/drawing/2014/main" id="{C3854E5C-9296-664F-93BE-4C50ADF53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1" y="1459"/>
              <a:ext cx="25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2</a:t>
              </a:r>
            </a:p>
            <a:p>
              <a:pPr eaLnBrk="0" hangingPunct="0"/>
              <a:endParaRPr lang="en-US" altLang="en-QA" sz="2000"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830">
              <a:extLst>
                <a:ext uri="{FF2B5EF4-FFF2-40B4-BE49-F238E27FC236}">
                  <a16:creationId xmlns:a16="http://schemas.microsoft.com/office/drawing/2014/main" id="{9D948826-3DC2-A149-88E3-C3CF975D1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" y="1068"/>
              <a:ext cx="203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9" name="Text Box 831">
              <a:extLst>
                <a:ext uri="{FF2B5EF4-FFF2-40B4-BE49-F238E27FC236}">
                  <a16:creationId xmlns:a16="http://schemas.microsoft.com/office/drawing/2014/main" id="{F103FC14-F276-A74A-B0A8-15714EE28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1121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0" name="Text Box 832">
              <a:extLst>
                <a:ext uri="{FF2B5EF4-FFF2-40B4-BE49-F238E27FC236}">
                  <a16:creationId xmlns:a16="http://schemas.microsoft.com/office/drawing/2014/main" id="{87AF51C2-AD9E-3F4C-81D4-38683A4D5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907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1" name="Text Box 833">
              <a:extLst>
                <a:ext uri="{FF2B5EF4-FFF2-40B4-BE49-F238E27FC236}">
                  <a16:creationId xmlns:a16="http://schemas.microsoft.com/office/drawing/2014/main" id="{16A8687B-3D60-4A40-825B-6B3F15729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576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" name="Text Box 834">
              <a:extLst>
                <a:ext uri="{FF2B5EF4-FFF2-40B4-BE49-F238E27FC236}">
                  <a16:creationId xmlns:a16="http://schemas.microsoft.com/office/drawing/2014/main" id="{44F1AEA9-C5D1-8048-9A92-70072DEA5B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2" y="1175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33" name="Text Box 838">
            <a:extLst>
              <a:ext uri="{FF2B5EF4-FFF2-40B4-BE49-F238E27FC236}">
                <a16:creationId xmlns:a16="http://schemas.microsoft.com/office/drawing/2014/main" id="{E70196D1-0A4E-8B49-9894-125045880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4798" y="2896654"/>
            <a:ext cx="40322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en-QA" sz="2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4049" y="4636582"/>
            <a:ext cx="9692532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irst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row and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column </a:t>
            </a: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not always change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Also, diagonal elements are </a:t>
            </a: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(zero)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elements need to be computed as follows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26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80969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6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6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6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6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81" grpId="0"/>
      <p:bldP spid="206009" grpId="0"/>
      <p:bldP spid="2" grpId="0"/>
      <p:bldP spid="33" grpId="0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304" name="Group 456"/>
          <p:cNvGraphicFramePr>
            <a:graphicFrameLocks noGrp="1"/>
          </p:cNvGraphicFramePr>
          <p:nvPr/>
        </p:nvGraphicFramePr>
        <p:xfrm>
          <a:off x="4586182" y="1"/>
          <a:ext cx="2590800" cy="2092326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64184587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34263317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1511327019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77667907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67553733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109771243"/>
                    </a:ext>
                  </a:extLst>
                </a:gridCol>
              </a:tblGrid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13673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092068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163212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077874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114061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688716"/>
                  </a:ext>
                </a:extLst>
              </a:tr>
            </a:tbl>
          </a:graphicData>
        </a:graphic>
      </p:graphicFrame>
      <p:sp>
        <p:nvSpPr>
          <p:cNvPr id="21545" name="Rectangle 131"/>
          <p:cNvSpPr>
            <a:spLocks noChangeArrowheads="1"/>
          </p:cNvSpPr>
          <p:nvPr/>
        </p:nvSpPr>
        <p:spPr bwMode="auto">
          <a:xfrm>
            <a:off x="2414478" y="4707022"/>
            <a:ext cx="775024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FontTx/>
              <a:buNone/>
            </a:pPr>
            <a:r>
              <a:rPr lang="en-US" altLang="en-US" sz="20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altLang="en-US" sz="2000" baseline="300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[</a:t>
            </a:r>
            <a:r>
              <a:rPr lang="en-US" altLang="en-US" sz="20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5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][</a:t>
            </a:r>
            <a:r>
              <a:rPr lang="en-US" altLang="en-US" sz="20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4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] = </a:t>
            </a:r>
            <a:r>
              <a:rPr lang="en-US" altLang="en-US" sz="2000" i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?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    </a:t>
            </a:r>
          </a:p>
          <a:p>
            <a:pPr>
              <a:spcBef>
                <a:spcPct val="35000"/>
              </a:spcBef>
              <a:buFontTx/>
              <a:buNone/>
            </a:pPr>
            <a:r>
              <a:rPr lang="en-US" altLang="en-US" sz="20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altLang="en-US" sz="2000" baseline="30000" dirty="0">
                <a:latin typeface="+mn-lt"/>
                <a:cs typeface="Times New Roman" panose="02020603050405020304" pitchFamily="18" charset="0"/>
              </a:rPr>
              <a:t>4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[5][3] = </a:t>
            </a:r>
            <a:r>
              <a:rPr lang="en-US" altLang="en-US" sz="2000" i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?</a:t>
            </a:r>
            <a:endParaRPr lang="en-US" altLang="en-US" sz="20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spcBef>
                <a:spcPct val="35000"/>
              </a:spcBef>
              <a:buFontTx/>
              <a:buNone/>
            </a:pPr>
            <a:r>
              <a:rPr lang="en-US" altLang="en-US" sz="20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altLang="en-US" sz="2000" baseline="30000" dirty="0">
                <a:latin typeface="+mn-lt"/>
                <a:cs typeface="Times New Roman" panose="02020603050405020304" pitchFamily="18" charset="0"/>
              </a:rPr>
              <a:t>4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[2][5] = </a:t>
            </a:r>
            <a:r>
              <a:rPr lang="en-US" altLang="en-US" sz="2000" i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?</a:t>
            </a:r>
            <a:endParaRPr lang="en-US" altLang="en-US" sz="20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spcBef>
                <a:spcPct val="35000"/>
              </a:spcBef>
              <a:buFontTx/>
              <a:buNone/>
            </a:pPr>
            <a:r>
              <a:rPr lang="en-US" altLang="en-US" sz="20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altLang="en-US" sz="2000" baseline="30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4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[</a:t>
            </a:r>
            <a:r>
              <a:rPr lang="en-US" altLang="en-US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3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][</a:t>
            </a:r>
            <a:r>
              <a:rPr lang="en-US" altLang="en-US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] = </a:t>
            </a:r>
            <a:r>
              <a:rPr lang="en-US" altLang="en-US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?</a:t>
            </a:r>
          </a:p>
          <a:p>
            <a:pPr>
              <a:spcBef>
                <a:spcPct val="35000"/>
              </a:spcBef>
              <a:buFontTx/>
              <a:buNone/>
            </a:pPr>
            <a:r>
              <a:rPr lang="en-US" altLang="en-US" sz="20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altLang="en-US" sz="2000" baseline="30000" dirty="0">
                <a:latin typeface="+mn-lt"/>
                <a:cs typeface="Times New Roman" panose="02020603050405020304" pitchFamily="18" charset="0"/>
              </a:rPr>
              <a:t>5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[3][2] = </a:t>
            </a:r>
            <a:r>
              <a:rPr lang="en-US" altLang="en-US" sz="2000" i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?</a:t>
            </a:r>
            <a:endParaRPr lang="en-US" altLang="en-US" sz="20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207305" name="Group 4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486790"/>
              </p:ext>
            </p:extLst>
          </p:nvPr>
        </p:nvGraphicFramePr>
        <p:xfrm>
          <a:off x="7910640" y="0"/>
          <a:ext cx="2581950" cy="2120900"/>
        </p:xfrm>
        <a:graphic>
          <a:graphicData uri="http://schemas.openxmlformats.org/drawingml/2006/table">
            <a:tbl>
              <a:tblPr/>
              <a:tblGrid>
                <a:gridCol w="430325">
                  <a:extLst>
                    <a:ext uri="{9D8B030D-6E8A-4147-A177-3AD203B41FA5}">
                      <a16:colId xmlns:a16="http://schemas.microsoft.com/office/drawing/2014/main" val="583179959"/>
                    </a:ext>
                  </a:extLst>
                </a:gridCol>
                <a:gridCol w="430325">
                  <a:extLst>
                    <a:ext uri="{9D8B030D-6E8A-4147-A177-3AD203B41FA5}">
                      <a16:colId xmlns:a16="http://schemas.microsoft.com/office/drawing/2014/main" val="2868434040"/>
                    </a:ext>
                  </a:extLst>
                </a:gridCol>
                <a:gridCol w="430325">
                  <a:extLst>
                    <a:ext uri="{9D8B030D-6E8A-4147-A177-3AD203B41FA5}">
                      <a16:colId xmlns:a16="http://schemas.microsoft.com/office/drawing/2014/main" val="4166454397"/>
                    </a:ext>
                  </a:extLst>
                </a:gridCol>
                <a:gridCol w="430325">
                  <a:extLst>
                    <a:ext uri="{9D8B030D-6E8A-4147-A177-3AD203B41FA5}">
                      <a16:colId xmlns:a16="http://schemas.microsoft.com/office/drawing/2014/main" val="2205785731"/>
                    </a:ext>
                  </a:extLst>
                </a:gridCol>
                <a:gridCol w="430325">
                  <a:extLst>
                    <a:ext uri="{9D8B030D-6E8A-4147-A177-3AD203B41FA5}">
                      <a16:colId xmlns:a16="http://schemas.microsoft.com/office/drawing/2014/main" val="2253847198"/>
                    </a:ext>
                  </a:extLst>
                </a:gridCol>
                <a:gridCol w="430325">
                  <a:extLst>
                    <a:ext uri="{9D8B030D-6E8A-4147-A177-3AD203B41FA5}">
                      <a16:colId xmlns:a16="http://schemas.microsoft.com/office/drawing/2014/main" val="2718637877"/>
                    </a:ext>
                  </a:extLst>
                </a:gridCol>
              </a:tblGrid>
              <a:tr h="319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329124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859637"/>
                  </a:ext>
                </a:extLst>
              </a:tr>
              <a:tr h="319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9069"/>
                  </a:ext>
                </a:extLst>
              </a:tr>
              <a:tr h="319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599856"/>
                  </a:ext>
                </a:extLst>
              </a:tr>
              <a:tr h="319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716255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?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831562"/>
                  </a:ext>
                </a:extLst>
              </a:tr>
            </a:tbl>
          </a:graphicData>
        </a:graphic>
      </p:graphicFrame>
      <p:graphicFrame>
        <p:nvGraphicFramePr>
          <p:cNvPr id="207306" name="Group 458"/>
          <p:cNvGraphicFramePr>
            <a:graphicFrameLocks noGrp="1"/>
          </p:cNvGraphicFramePr>
          <p:nvPr/>
        </p:nvGraphicFramePr>
        <p:xfrm>
          <a:off x="4596826" y="2326762"/>
          <a:ext cx="2514600" cy="20574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87947026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48805967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7897505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18739666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28097923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4063252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33275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371125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708101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?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774431"/>
                  </a:ext>
                </a:extLst>
              </a:tr>
              <a:tr h="307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974946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026280"/>
                  </a:ext>
                </a:extLst>
              </a:tr>
            </a:tbl>
          </a:graphicData>
        </a:graphic>
      </p:graphicFrame>
      <p:graphicFrame>
        <p:nvGraphicFramePr>
          <p:cNvPr id="207307" name="Group 459"/>
          <p:cNvGraphicFramePr>
            <a:graphicFrameLocks noGrp="1"/>
          </p:cNvGraphicFramePr>
          <p:nvPr/>
        </p:nvGraphicFramePr>
        <p:xfrm>
          <a:off x="7944309" y="2326763"/>
          <a:ext cx="2514600" cy="2118131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43067242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864517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83862058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47268856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88372644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252542868"/>
                    </a:ext>
                  </a:extLst>
                </a:gridCol>
              </a:tblGrid>
              <a:tr h="3427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39" marB="1903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681979"/>
                  </a:ext>
                </a:extLst>
              </a:tr>
              <a:tr h="3427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39" marB="1903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008110"/>
                  </a:ext>
                </a:extLst>
              </a:tr>
              <a:tr h="3427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39" marB="1903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5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222895"/>
                  </a:ext>
                </a:extLst>
              </a:tr>
              <a:tr h="3427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39" marB="1903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10</a:t>
                      </a: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?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064490"/>
                  </a:ext>
                </a:extLst>
              </a:tr>
              <a:tr h="4037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39" marB="1903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020621"/>
                  </a:ext>
                </a:extLst>
              </a:tr>
              <a:tr h="3427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39" marB="1903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4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4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39" marB="1903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964856"/>
                  </a:ext>
                </a:extLst>
              </a:tr>
            </a:tbl>
          </a:graphicData>
        </a:graphic>
      </p:graphicFrame>
      <p:graphicFrame>
        <p:nvGraphicFramePr>
          <p:cNvPr id="207234" name="Group 386"/>
          <p:cNvGraphicFramePr>
            <a:graphicFrameLocks noGrp="1"/>
          </p:cNvGraphicFramePr>
          <p:nvPr/>
        </p:nvGraphicFramePr>
        <p:xfrm>
          <a:off x="1285642" y="2298428"/>
          <a:ext cx="2514600" cy="22098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41684352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3201584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7983075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163739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75648098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644068648"/>
                    </a:ext>
                  </a:extLst>
                </a:gridCol>
              </a:tblGrid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20644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59702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983700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?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742951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252035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472903"/>
                  </a:ext>
                </a:extLst>
              </a:tr>
            </a:tbl>
          </a:graphicData>
        </a:graphic>
      </p:graphicFrame>
      <p:graphicFrame>
        <p:nvGraphicFramePr>
          <p:cNvPr id="8" name="Group 58"/>
          <p:cNvGraphicFramePr>
            <a:graphicFrameLocks noGrp="1"/>
          </p:cNvGraphicFramePr>
          <p:nvPr/>
        </p:nvGraphicFramePr>
        <p:xfrm>
          <a:off x="1281224" y="-2067"/>
          <a:ext cx="2590800" cy="205740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1830279519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414582585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1701349"/>
                    </a:ext>
                  </a:extLst>
                </a:gridCol>
                <a:gridCol w="385763">
                  <a:extLst>
                    <a:ext uri="{9D8B030D-6E8A-4147-A177-3AD203B41FA5}">
                      <a16:colId xmlns:a16="http://schemas.microsoft.com/office/drawing/2014/main" val="989864008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89530974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926181377"/>
                    </a:ext>
                  </a:extLst>
                </a:gridCol>
              </a:tblGrid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143820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048268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742326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680818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987362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144123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27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36754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304" name="Group 456">
            <a:extLst>
              <a:ext uri="{FF2B5EF4-FFF2-40B4-BE49-F238E27FC236}">
                <a16:creationId xmlns:a16="http://schemas.microsoft.com/office/drawing/2014/main" id="{1A4F84B5-2A0F-E343-8A5A-4B9480251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853362"/>
              </p:ext>
            </p:extLst>
          </p:nvPr>
        </p:nvGraphicFramePr>
        <p:xfrm>
          <a:off x="1524000" y="1"/>
          <a:ext cx="2590800" cy="2092326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450445049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07056474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66166679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792283718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25725176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981101055"/>
                    </a:ext>
                  </a:extLst>
                </a:gridCol>
              </a:tblGrid>
              <a:tr h="306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QA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483442"/>
                  </a:ext>
                </a:extLst>
              </a:tr>
              <a:tr h="307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  <a:endParaRPr kumimoji="0" lang="en-US" altLang="en-QA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309867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97486"/>
                  </a:ext>
                </a:extLst>
              </a:tr>
              <a:tr h="306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82550"/>
                  </a:ext>
                </a:extLst>
              </a:tr>
              <a:tr h="307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913026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441215"/>
                  </a:ext>
                </a:extLst>
              </a:tr>
            </a:tbl>
          </a:graphicData>
        </a:graphic>
      </p:graphicFrame>
      <p:sp>
        <p:nvSpPr>
          <p:cNvPr id="206979" name="Rectangle 131">
            <a:extLst>
              <a:ext uri="{FF2B5EF4-FFF2-40B4-BE49-F238E27FC236}">
                <a16:creationId xmlns:a16="http://schemas.microsoft.com/office/drawing/2014/main" id="{479E9307-BC7E-8D45-B768-0DFF787A3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549" y="4578356"/>
            <a:ext cx="86868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35000"/>
              </a:spcBef>
            </a:pP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[5][4] =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[5][4],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[5][2] +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[2][4]) =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(4,4+2) = 4      </a:t>
            </a:r>
          </a:p>
          <a:p>
            <a:pPr eaLnBrk="0" hangingPunct="0">
              <a:spcBef>
                <a:spcPct val="35000"/>
              </a:spcBef>
            </a:pP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[5][3] =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[5][3],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[5][4] +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[4][3]) =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(7,4+2) = 6</a:t>
            </a:r>
          </a:p>
          <a:p>
            <a:pPr eaLnBrk="0" hangingPunct="0">
              <a:spcBef>
                <a:spcPct val="35000"/>
              </a:spcBef>
            </a:pP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[2][5] =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[2][5],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US" altLang="en-QA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[4][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5]) =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en-Q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QA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Q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QA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QA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eaLnBrk="0" hangingPunct="0">
              <a:spcBef>
                <a:spcPct val="35000"/>
              </a:spcBef>
            </a:pP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[3][2] =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[3][2],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[3][4] +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[4][2]) =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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,4+ 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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</a:t>
            </a:r>
            <a:endParaRPr lang="en-US" altLang="en-Q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35000"/>
              </a:spcBef>
            </a:pP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[3][2] =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[3][2],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[3][5] +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QA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[5][2]) = </a:t>
            </a:r>
            <a:r>
              <a:rPr lang="en-US" altLang="en-Q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</a:t>
            </a:r>
            <a:r>
              <a:rPr lang="en-US" altLang="en-Q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,7+4) = 11</a:t>
            </a:r>
          </a:p>
        </p:txBody>
      </p:sp>
      <p:graphicFrame>
        <p:nvGraphicFramePr>
          <p:cNvPr id="207305" name="Group 457">
            <a:extLst>
              <a:ext uri="{FF2B5EF4-FFF2-40B4-BE49-F238E27FC236}">
                <a16:creationId xmlns:a16="http://schemas.microsoft.com/office/drawing/2014/main" id="{1AACEBEE-60D1-C940-A2AE-EAC8C70FD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675107"/>
              </p:ext>
            </p:extLst>
          </p:nvPr>
        </p:nvGraphicFramePr>
        <p:xfrm>
          <a:off x="4572000" y="0"/>
          <a:ext cx="2819400" cy="2120900"/>
        </p:xfrm>
        <a:graphic>
          <a:graphicData uri="http://schemas.openxmlformats.org/drawingml/2006/table">
            <a:tbl>
              <a:tblPr/>
              <a:tblGrid>
                <a:gridCol w="469900">
                  <a:extLst>
                    <a:ext uri="{9D8B030D-6E8A-4147-A177-3AD203B41FA5}">
                      <a16:colId xmlns:a16="http://schemas.microsoft.com/office/drawing/2014/main" val="357588597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52173501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186665701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1442138301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153857236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74164972"/>
                    </a:ext>
                  </a:extLst>
                </a:gridCol>
              </a:tblGrid>
              <a:tr h="319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QA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447927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075856"/>
                  </a:ext>
                </a:extLst>
              </a:tr>
              <a:tr h="319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464628"/>
                  </a:ext>
                </a:extLst>
              </a:tr>
              <a:tr h="319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711061"/>
                  </a:ext>
                </a:extLst>
              </a:tr>
              <a:tr h="319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715059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552552"/>
                  </a:ext>
                </a:extLst>
              </a:tr>
            </a:tbl>
          </a:graphicData>
        </a:graphic>
      </p:graphicFrame>
      <p:graphicFrame>
        <p:nvGraphicFramePr>
          <p:cNvPr id="207306" name="Group 458">
            <a:extLst>
              <a:ext uri="{FF2B5EF4-FFF2-40B4-BE49-F238E27FC236}">
                <a16:creationId xmlns:a16="http://schemas.microsoft.com/office/drawing/2014/main" id="{EA525C23-AB53-B848-B2BB-1E58156BC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272974"/>
              </p:ext>
            </p:extLst>
          </p:nvPr>
        </p:nvGraphicFramePr>
        <p:xfrm>
          <a:off x="1524000" y="2209800"/>
          <a:ext cx="2514600" cy="20574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149141629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42102383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67414130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17579292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54232118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755823947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QA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449238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  <a:endParaRPr kumimoji="0" lang="en-US" altLang="en-QA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763743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538904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105937"/>
                  </a:ext>
                </a:extLst>
              </a:tr>
              <a:tr h="307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342474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907113"/>
                  </a:ext>
                </a:extLst>
              </a:tr>
            </a:tbl>
          </a:graphicData>
        </a:graphic>
      </p:graphicFrame>
      <p:graphicFrame>
        <p:nvGraphicFramePr>
          <p:cNvPr id="207307" name="Group 459">
            <a:extLst>
              <a:ext uri="{FF2B5EF4-FFF2-40B4-BE49-F238E27FC236}">
                <a16:creationId xmlns:a16="http://schemas.microsoft.com/office/drawing/2014/main" id="{07313548-544F-DF45-B75E-CFB88D7A5261}"/>
              </a:ext>
            </a:extLst>
          </p:cNvPr>
          <p:cNvGraphicFramePr>
            <a:graphicFrameLocks noGrp="1"/>
          </p:cNvGraphicFramePr>
          <p:nvPr/>
        </p:nvGraphicFramePr>
        <p:xfrm>
          <a:off x="4648200" y="2209801"/>
          <a:ext cx="2514600" cy="211836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352125171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1895886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41071877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8687148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25450078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957140457"/>
                    </a:ext>
                  </a:extLst>
                </a:gridCol>
              </a:tblGrid>
              <a:tr h="331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QA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287575"/>
                  </a:ext>
                </a:extLst>
              </a:tr>
              <a:tr h="330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358712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680546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774207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231167"/>
                  </a:ext>
                </a:extLst>
              </a:tr>
              <a:tr h="331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53300"/>
                  </a:ext>
                </a:extLst>
              </a:tr>
            </a:tbl>
          </a:graphicData>
        </a:graphic>
      </p:graphicFrame>
      <p:graphicFrame>
        <p:nvGraphicFramePr>
          <p:cNvPr id="207234" name="Group 386">
            <a:extLst>
              <a:ext uri="{FF2B5EF4-FFF2-40B4-BE49-F238E27FC236}">
                <a16:creationId xmlns:a16="http://schemas.microsoft.com/office/drawing/2014/main" id="{8B037E74-B83F-2840-B3A0-6CD2FBC6DE14}"/>
              </a:ext>
            </a:extLst>
          </p:cNvPr>
          <p:cNvGraphicFramePr>
            <a:graphicFrameLocks noGrp="1"/>
          </p:cNvGraphicFramePr>
          <p:nvPr/>
        </p:nvGraphicFramePr>
        <p:xfrm>
          <a:off x="8001000" y="0"/>
          <a:ext cx="2514600" cy="22098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330823971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4519835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76071771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58391748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90389383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4121273152"/>
                    </a:ext>
                  </a:extLst>
                </a:gridCol>
              </a:tblGrid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en-QA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065141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986854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934853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3344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853660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913416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28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42167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1498C665-41F6-1445-9363-5A402B6D9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6823"/>
            <a:ext cx="11834648" cy="546318"/>
          </a:xfrm>
        </p:spPr>
        <p:txBody>
          <a:bodyPr>
            <a:normAutofit/>
          </a:bodyPr>
          <a:lstStyle/>
          <a:p>
            <a:r>
              <a:rPr lang="en-US" altLang="en-QA" sz="2800" b="0" dirty="0">
                <a:latin typeface="+mn-lt"/>
                <a:cs typeface="Times New Roman" panose="02020603050405020304" pitchFamily="18" charset="0"/>
              </a:rPr>
              <a:t>Floyd’s Algorithm </a:t>
            </a:r>
            <a:r>
              <a:rPr lang="en-US" altLang="en-QA" sz="2800" b="0" dirty="0" smtClean="0">
                <a:latin typeface="+mn-lt"/>
                <a:cs typeface="Times New Roman" panose="02020603050405020304" pitchFamily="18" charset="0"/>
              </a:rPr>
              <a:t>for </a:t>
            </a:r>
            <a:r>
              <a:rPr lang="en-US" altLang="en-QA" sz="2800" b="0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800" b="0" dirty="0">
                <a:latin typeface="+mn-lt"/>
                <a:cs typeface="Times New Roman" panose="02020603050405020304" pitchFamily="18" charset="0"/>
              </a:rPr>
              <a:t>etermining </a:t>
            </a:r>
            <a:r>
              <a:rPr lang="en-US" sz="2800" b="0" u="sng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only the lengths of </a:t>
            </a:r>
            <a:r>
              <a:rPr lang="en-US" sz="2800" b="0" dirty="0">
                <a:latin typeface="+mn-lt"/>
                <a:cs typeface="Times New Roman" panose="02020603050405020304" pitchFamily="18" charset="0"/>
              </a:rPr>
              <a:t>the shortest paths</a:t>
            </a:r>
            <a:endParaRPr lang="en-US" altLang="en-QA" sz="2800" b="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95587" name="Text Box 3">
            <a:extLst>
              <a:ext uri="{FF2B5EF4-FFF2-40B4-BE49-F238E27FC236}">
                <a16:creationId xmlns:a16="http://schemas.microsoft.com/office/drawing/2014/main" id="{C5055EAC-3B44-D847-8BC4-CD25AC50D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981" y="852409"/>
            <a:ext cx="5029200" cy="32808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7200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QA" sz="2000" b="1" dirty="0">
                <a:latin typeface="Times New Roman" panose="02020603050405020304" pitchFamily="18" charset="0"/>
              </a:rPr>
              <a:t>void</a:t>
            </a:r>
            <a:r>
              <a:rPr lang="en-US" altLang="en-QA" sz="2000" dirty="0">
                <a:latin typeface="Times New Roman" panose="02020603050405020304" pitchFamily="18" charset="0"/>
              </a:rPr>
              <a:t> </a:t>
            </a:r>
            <a:r>
              <a:rPr lang="en-US" altLang="en-QA" sz="2000" dirty="0" err="1">
                <a:latin typeface="Times New Roman" panose="02020603050405020304" pitchFamily="18" charset="0"/>
              </a:rPr>
              <a:t>floyd</a:t>
            </a:r>
            <a:r>
              <a:rPr lang="en-US" altLang="en-QA" sz="2000" dirty="0">
                <a:latin typeface="Times New Roman" panose="02020603050405020304" pitchFamily="18" charset="0"/>
              </a:rPr>
              <a:t> (</a:t>
            </a:r>
            <a:r>
              <a:rPr lang="en-US" altLang="en-QA" sz="2000" b="1" dirty="0">
                <a:latin typeface="Times New Roman" panose="02020603050405020304" pitchFamily="18" charset="0"/>
              </a:rPr>
              <a:t>int</a:t>
            </a:r>
            <a:r>
              <a:rPr lang="en-US" altLang="en-QA" sz="2000" dirty="0">
                <a:latin typeface="Times New Roman" panose="02020603050405020304" pitchFamily="18" charset="0"/>
              </a:rPr>
              <a:t> n, </a:t>
            </a:r>
            <a:r>
              <a:rPr lang="en-US" altLang="en-QA" sz="2000" b="1" dirty="0">
                <a:latin typeface="Times New Roman" panose="02020603050405020304" pitchFamily="18" charset="0"/>
              </a:rPr>
              <a:t>const number</a:t>
            </a:r>
            <a:r>
              <a:rPr lang="en-US" altLang="en-QA" sz="1400" dirty="0">
                <a:latin typeface="Times New Roman" panose="02020603050405020304" pitchFamily="18" charset="0"/>
              </a:rPr>
              <a:t> </a:t>
            </a:r>
            <a:r>
              <a:rPr lang="en-US" altLang="en-QA" sz="2000" dirty="0">
                <a:latin typeface="Times New Roman" panose="02020603050405020304" pitchFamily="18" charset="0"/>
              </a:rPr>
              <a:t>W[ ][ ],</a:t>
            </a:r>
          </a:p>
          <a:p>
            <a:pPr>
              <a:lnSpc>
                <a:spcPct val="90000"/>
              </a:lnSpc>
            </a:pPr>
            <a:r>
              <a:rPr lang="en-US" altLang="en-QA" sz="2000" dirty="0">
                <a:latin typeface="Times New Roman" panose="02020603050405020304" pitchFamily="18" charset="0"/>
              </a:rPr>
              <a:t>                                       </a:t>
            </a:r>
            <a:r>
              <a:rPr lang="en-US" altLang="en-QA" sz="2000" b="1" dirty="0">
                <a:latin typeface="Times New Roman" panose="02020603050405020304" pitchFamily="18" charset="0"/>
              </a:rPr>
              <a:t>number</a:t>
            </a:r>
            <a:r>
              <a:rPr lang="en-US" altLang="en-QA" sz="2000" dirty="0">
                <a:latin typeface="Times New Roman" panose="02020603050405020304" pitchFamily="18" charset="0"/>
              </a:rPr>
              <a:t> D[ ][ ]) </a:t>
            </a:r>
          </a:p>
          <a:p>
            <a:pPr>
              <a:lnSpc>
                <a:spcPct val="90000"/>
              </a:lnSpc>
            </a:pPr>
            <a:r>
              <a:rPr lang="en-US" altLang="en-QA" sz="2000" dirty="0">
                <a:latin typeface="Times New Roman" panose="02020603050405020304" pitchFamily="18" charset="0"/>
              </a:rPr>
              <a:t>{       </a:t>
            </a:r>
          </a:p>
          <a:p>
            <a:pPr>
              <a:lnSpc>
                <a:spcPct val="90000"/>
              </a:lnSpc>
            </a:pPr>
            <a:r>
              <a:rPr lang="en-US" altLang="en-QA" sz="2000" dirty="0">
                <a:latin typeface="Times New Roman" panose="02020603050405020304" pitchFamily="18" charset="0"/>
              </a:rPr>
              <a:t>  </a:t>
            </a:r>
            <a:r>
              <a:rPr lang="en-US" altLang="en-QA" sz="2000" b="1" dirty="0">
                <a:latin typeface="Times New Roman" panose="02020603050405020304" pitchFamily="18" charset="0"/>
              </a:rPr>
              <a:t>index</a:t>
            </a:r>
            <a:r>
              <a:rPr lang="en-US" altLang="en-QA" sz="2000" dirty="0">
                <a:latin typeface="Times New Roman" panose="02020603050405020304" pitchFamily="18" charset="0"/>
              </a:rPr>
              <a:t> i</a:t>
            </a:r>
            <a:r>
              <a:rPr lang="en-US" altLang="en-QA" sz="2000" dirty="0" smtClean="0">
                <a:latin typeface="Times New Roman" panose="02020603050405020304" pitchFamily="18" charset="0"/>
              </a:rPr>
              <a:t>, j, k</a:t>
            </a:r>
            <a:r>
              <a:rPr lang="en-US" altLang="en-QA" sz="20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en-QA" dirty="0">
                <a:latin typeface="Times New Roman" panose="02020603050405020304" pitchFamily="18" charset="0"/>
              </a:rPr>
              <a:t>   </a:t>
            </a:r>
            <a:endParaRPr lang="en-US" altLang="en-QA" b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QA" sz="2000" dirty="0">
                <a:latin typeface="Times New Roman" panose="02020603050405020304" pitchFamily="18" charset="0"/>
              </a:rPr>
              <a:t>  D = W;</a:t>
            </a:r>
            <a:endParaRPr lang="en-US" altLang="en-QA" dirty="0">
              <a:latin typeface="Times New Roman" panose="02020603050405020304" pitchFamily="18" charset="0"/>
            </a:endParaRPr>
          </a:p>
          <a:p>
            <a:r>
              <a:rPr lang="en-US" altLang="en-QA" sz="2000" dirty="0">
                <a:latin typeface="Times New Roman" panose="02020603050405020304" pitchFamily="18" charset="0"/>
              </a:rPr>
              <a:t>  </a:t>
            </a:r>
            <a:r>
              <a:rPr lang="en-US" altLang="en-QA" sz="2000" b="1" dirty="0">
                <a:latin typeface="Times New Roman" panose="02020603050405020304" pitchFamily="18" charset="0"/>
              </a:rPr>
              <a:t>for</a:t>
            </a:r>
            <a:r>
              <a:rPr lang="en-US" altLang="en-QA" sz="2000" dirty="0">
                <a:latin typeface="Times New Roman" panose="02020603050405020304" pitchFamily="18" charset="0"/>
              </a:rPr>
              <a:t> (k = 1; k &lt;= n; k++)</a:t>
            </a:r>
          </a:p>
          <a:p>
            <a:r>
              <a:rPr lang="en-US" altLang="en-QA" sz="2000" b="1" dirty="0">
                <a:latin typeface="Times New Roman" panose="02020603050405020304" pitchFamily="18" charset="0"/>
              </a:rPr>
              <a:t>    for</a:t>
            </a:r>
            <a:r>
              <a:rPr lang="en-US" altLang="en-QA" sz="2000" dirty="0">
                <a:latin typeface="Times New Roman" panose="02020603050405020304" pitchFamily="18" charset="0"/>
              </a:rPr>
              <a:t> (</a:t>
            </a:r>
            <a:r>
              <a:rPr lang="en-US" altLang="en-QA" sz="2000" dirty="0" err="1">
                <a:latin typeface="Times New Roman" panose="02020603050405020304" pitchFamily="18" charset="0"/>
              </a:rPr>
              <a:t>i</a:t>
            </a:r>
            <a:r>
              <a:rPr lang="en-US" altLang="en-QA" sz="2000" dirty="0">
                <a:latin typeface="Times New Roman" panose="02020603050405020304" pitchFamily="18" charset="0"/>
              </a:rPr>
              <a:t> = 1; </a:t>
            </a:r>
            <a:r>
              <a:rPr lang="en-US" altLang="en-QA" sz="2000" dirty="0" err="1">
                <a:latin typeface="Times New Roman" panose="02020603050405020304" pitchFamily="18" charset="0"/>
              </a:rPr>
              <a:t>i</a:t>
            </a:r>
            <a:r>
              <a:rPr lang="en-US" altLang="en-QA" sz="2000" dirty="0">
                <a:latin typeface="Times New Roman" panose="02020603050405020304" pitchFamily="18" charset="0"/>
              </a:rPr>
              <a:t> &lt;= n; </a:t>
            </a:r>
            <a:r>
              <a:rPr lang="en-US" altLang="en-QA" sz="2000" dirty="0" err="1">
                <a:latin typeface="Times New Roman" panose="02020603050405020304" pitchFamily="18" charset="0"/>
              </a:rPr>
              <a:t>i</a:t>
            </a:r>
            <a:r>
              <a:rPr lang="en-US" altLang="en-QA" sz="2000" dirty="0">
                <a:latin typeface="Times New Roman" panose="02020603050405020304" pitchFamily="18" charset="0"/>
              </a:rPr>
              <a:t>++)</a:t>
            </a:r>
          </a:p>
          <a:p>
            <a:r>
              <a:rPr lang="en-US" altLang="en-QA" sz="2000" b="1" dirty="0">
                <a:latin typeface="Times New Roman" panose="02020603050405020304" pitchFamily="18" charset="0"/>
              </a:rPr>
              <a:t>      for</a:t>
            </a:r>
            <a:r>
              <a:rPr lang="en-US" altLang="en-QA" sz="2000" dirty="0">
                <a:latin typeface="Times New Roman" panose="02020603050405020304" pitchFamily="18" charset="0"/>
              </a:rPr>
              <a:t> (j = 1; j &lt;= n; </a:t>
            </a:r>
            <a:r>
              <a:rPr lang="en-US" altLang="en-QA" sz="2000" dirty="0" err="1">
                <a:latin typeface="Times New Roman" panose="02020603050405020304" pitchFamily="18" charset="0"/>
              </a:rPr>
              <a:t>j++</a:t>
            </a:r>
            <a:r>
              <a:rPr lang="en-US" altLang="en-QA" sz="2000" dirty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en-QA" sz="2000" dirty="0">
                <a:latin typeface="Times New Roman" panose="02020603050405020304" pitchFamily="18" charset="0"/>
              </a:rPr>
              <a:t>        D[i][j] </a:t>
            </a:r>
            <a:r>
              <a:rPr lang="en-US" altLang="en-QA" dirty="0">
                <a:latin typeface="Times New Roman" panose="02020603050405020304" pitchFamily="18" charset="0"/>
              </a:rPr>
              <a:t>=</a:t>
            </a:r>
            <a:r>
              <a:rPr lang="en-US" altLang="en-QA" sz="2000" dirty="0">
                <a:latin typeface="Times New Roman" panose="02020603050405020304" pitchFamily="18" charset="0"/>
              </a:rPr>
              <a:t> </a:t>
            </a:r>
            <a:r>
              <a:rPr lang="en-US" altLang="en-QA" b="1" dirty="0">
                <a:latin typeface="Times New Roman" panose="02020603050405020304" pitchFamily="18" charset="0"/>
              </a:rPr>
              <a:t>min</a:t>
            </a:r>
            <a:r>
              <a:rPr lang="en-US" altLang="en-QA" sz="2000" dirty="0" smtClean="0">
                <a:latin typeface="Times New Roman" panose="02020603050405020304" pitchFamily="18" charset="0"/>
              </a:rPr>
              <a:t>( </a:t>
            </a:r>
            <a:r>
              <a:rPr lang="en-US" altLang="en-QA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D[i</a:t>
            </a:r>
            <a:r>
              <a:rPr lang="en-US" altLang="en-QA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][j</a:t>
            </a:r>
            <a:r>
              <a:rPr lang="en-US" altLang="en-QA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], </a:t>
            </a:r>
            <a:r>
              <a:rPr lang="en-US" altLang="en-QA" sz="20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D[i</a:t>
            </a:r>
            <a:r>
              <a:rPr lang="en-US" altLang="en-QA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][k]</a:t>
            </a:r>
            <a:r>
              <a:rPr lang="en-US" altLang="en-QA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+</a:t>
            </a:r>
            <a:r>
              <a:rPr lang="en-US" altLang="en-QA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D[k][j</a:t>
            </a:r>
            <a:r>
              <a:rPr lang="en-US" altLang="en-QA" sz="20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] </a:t>
            </a:r>
            <a:r>
              <a:rPr lang="en-US" altLang="en-QA" sz="2000" dirty="0" smtClean="0">
                <a:latin typeface="Times New Roman" panose="02020603050405020304" pitchFamily="18" charset="0"/>
              </a:rPr>
              <a:t>);</a:t>
            </a:r>
            <a:endParaRPr lang="en-US" altLang="en-QA" sz="2000" dirty="0"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  <a:spcBef>
                <a:spcPct val="10000"/>
              </a:spcBef>
            </a:pPr>
            <a:r>
              <a:rPr lang="en-US" altLang="en-QA" sz="2000" dirty="0">
                <a:latin typeface="Times New Roman" panose="02020603050405020304" pitchFamily="18" charset="0"/>
              </a:rPr>
              <a:t>} </a:t>
            </a:r>
          </a:p>
        </p:txBody>
      </p:sp>
      <p:graphicFrame>
        <p:nvGraphicFramePr>
          <p:cNvPr id="195588" name="Group 4">
            <a:extLst>
              <a:ext uri="{FF2B5EF4-FFF2-40B4-BE49-F238E27FC236}">
                <a16:creationId xmlns:a16="http://schemas.microsoft.com/office/drawing/2014/main" id="{3C978517-AF06-3A42-A88E-ED341CDACF9E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4419600"/>
          <a:ext cx="2514600" cy="2286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52872130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46273203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300477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35938381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2255772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7282983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54399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  <a:endParaRPr kumimoji="0" lang="en-US" altLang="en-QA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46508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73472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571007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868304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27372"/>
                  </a:ext>
                </a:extLst>
              </a:tr>
            </a:tbl>
          </a:graphicData>
        </a:graphic>
      </p:graphicFrame>
      <p:graphicFrame>
        <p:nvGraphicFramePr>
          <p:cNvPr id="195778" name="Group 194">
            <a:extLst>
              <a:ext uri="{FF2B5EF4-FFF2-40B4-BE49-F238E27FC236}">
                <a16:creationId xmlns:a16="http://schemas.microsoft.com/office/drawing/2014/main" id="{35208680-2683-3C46-99B5-13B8DD8415BC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4419600"/>
          <a:ext cx="2590800" cy="228600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405292878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865610439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349997494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3959606980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370860104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486093889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799958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  <a:endParaRPr kumimoji="0" lang="en-US" altLang="en-QA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182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839554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135728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346608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700349"/>
                  </a:ext>
                </a:extLst>
              </a:tr>
            </a:tbl>
          </a:graphicData>
        </a:graphic>
      </p:graphicFrame>
      <p:sp>
        <p:nvSpPr>
          <p:cNvPr id="195782" name="Text Box 198">
            <a:extLst>
              <a:ext uri="{FF2B5EF4-FFF2-40B4-BE49-F238E27FC236}">
                <a16:creationId xmlns:a16="http://schemas.microsoft.com/office/drawing/2014/main" id="{177924D6-D90C-A940-893B-A98DF2327D1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127263" y="806422"/>
            <a:ext cx="4872925" cy="2147808"/>
          </a:xfrm>
          <a:solidFill>
            <a:srgbClr val="FFFF00"/>
          </a:solidFill>
          <a:ln/>
        </p:spPr>
        <p:txBody>
          <a:bodyPr vert="horz" lIns="54000" tIns="45720" rIns="18000" bIns="45720" rtlCol="0">
            <a:normAutofit/>
          </a:bodyPr>
          <a:lstStyle/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QA" sz="2000" u="sng" dirty="0">
                <a:solidFill>
                  <a:srgbClr val="00B050"/>
                </a:solidFill>
              </a:rPr>
              <a:t>Basic Operation: </a:t>
            </a: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QA" sz="2000" dirty="0"/>
              <a:t>     Statement within inner for </a:t>
            </a:r>
            <a:r>
              <a:rPr lang="en-US" altLang="en-QA" sz="2000" dirty="0" smtClean="0"/>
              <a:t>loop</a:t>
            </a:r>
            <a:endParaRPr lang="en-US" altLang="en-QA" sz="2000" dirty="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QA" sz="700" u="sng" dirty="0"/>
          </a:p>
          <a:p>
            <a:pPr>
              <a:lnSpc>
                <a:spcPct val="80000"/>
              </a:lnSpc>
              <a:spcBef>
                <a:spcPct val="15000"/>
              </a:spcBef>
              <a:buFontTx/>
              <a:buNone/>
            </a:pPr>
            <a:r>
              <a:rPr lang="en-US" altLang="en-QA" sz="2000" u="sng" dirty="0">
                <a:solidFill>
                  <a:srgbClr val="0070C0"/>
                </a:solidFill>
              </a:rPr>
              <a:t>Every Case Time complexity</a:t>
            </a:r>
            <a:r>
              <a:rPr lang="en-US" altLang="en-QA" sz="2000" dirty="0">
                <a:solidFill>
                  <a:srgbClr val="0070C0"/>
                </a:solidFill>
              </a:rPr>
              <a:t>: </a:t>
            </a: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QA" sz="2000" dirty="0"/>
              <a:t>    </a:t>
            </a:r>
            <a:r>
              <a:rPr lang="en-US" altLang="en-QA" sz="2000" dirty="0" smtClean="0"/>
              <a:t>Three nested loops</a:t>
            </a:r>
            <a:endParaRPr lang="en-US" altLang="en-QA" sz="2000" dirty="0"/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endParaRPr lang="en-US" altLang="en-QA" sz="700" dirty="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QA" sz="2000" dirty="0"/>
              <a:t>    Each loop is executed n </a:t>
            </a:r>
            <a:r>
              <a:rPr lang="en-US" altLang="en-QA" sz="2000" dirty="0" smtClean="0"/>
              <a:t>times</a:t>
            </a:r>
            <a:endParaRPr lang="en-US" altLang="en-QA" sz="2000" dirty="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QA" sz="7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QA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     T(</a:t>
            </a:r>
            <a:r>
              <a:rPr lang="en-US" altLang="en-QA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QA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en-QA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QA" sz="2000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3   </a:t>
            </a:r>
            <a:r>
              <a:rPr lang="en-US" altLang="en-QA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is in </a:t>
            </a:r>
            <a:r>
              <a:rPr lang="en-US" altLang="en-QA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QA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QA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QA" sz="2000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QA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) </a:t>
            </a:r>
          </a:p>
        </p:txBody>
      </p:sp>
      <p:sp>
        <p:nvSpPr>
          <p:cNvPr id="195783" name="Text Box 199">
            <a:extLst>
              <a:ext uri="{FF2B5EF4-FFF2-40B4-BE49-F238E27FC236}">
                <a16:creationId xmlns:a16="http://schemas.microsoft.com/office/drawing/2014/main" id="{91F0D692-9DF2-9A4F-8F52-086C00751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981" y="2757408"/>
            <a:ext cx="157480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QA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 columns</a:t>
            </a:r>
          </a:p>
          <a:p>
            <a:pPr>
              <a:lnSpc>
                <a:spcPct val="85000"/>
              </a:lnSpc>
            </a:pPr>
            <a:r>
              <a:rPr lang="en-US" altLang="en-QA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row i</a:t>
            </a:r>
          </a:p>
        </p:txBody>
      </p:sp>
      <p:sp>
        <p:nvSpPr>
          <p:cNvPr id="195784" name="Line 200">
            <a:extLst>
              <a:ext uri="{FF2B5EF4-FFF2-40B4-BE49-F238E27FC236}">
                <a16:creationId xmlns:a16="http://schemas.microsoft.com/office/drawing/2014/main" id="{B488F0DB-27BF-904F-B754-5E975292EB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91181" y="2909808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QA"/>
          </a:p>
        </p:txBody>
      </p:sp>
      <p:sp>
        <p:nvSpPr>
          <p:cNvPr id="195785" name="Text Box 201">
            <a:extLst>
              <a:ext uri="{FF2B5EF4-FFF2-40B4-BE49-F238E27FC236}">
                <a16:creationId xmlns:a16="http://schemas.microsoft.com/office/drawing/2014/main" id="{BF8903C6-B8FC-1942-89B0-E921EA007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381" y="2376408"/>
            <a:ext cx="1244600" cy="325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QA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 rows</a:t>
            </a:r>
          </a:p>
        </p:txBody>
      </p:sp>
      <p:sp>
        <p:nvSpPr>
          <p:cNvPr id="195786" name="Line 202">
            <a:extLst>
              <a:ext uri="{FF2B5EF4-FFF2-40B4-BE49-F238E27FC236}">
                <a16:creationId xmlns:a16="http://schemas.microsoft.com/office/drawing/2014/main" id="{43A2579D-A8E7-6E4F-96BF-DCA9B02B92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14981" y="2528808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QA"/>
          </a:p>
        </p:txBody>
      </p:sp>
      <p:sp>
        <p:nvSpPr>
          <p:cNvPr id="195787" name="Text Box 203">
            <a:extLst>
              <a:ext uri="{FF2B5EF4-FFF2-40B4-BE49-F238E27FC236}">
                <a16:creationId xmlns:a16="http://schemas.microsoft.com/office/drawing/2014/main" id="{5E17A2EE-17E3-0949-AF6D-03EBB50D1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382" y="1995408"/>
            <a:ext cx="1751013" cy="325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8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QA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 D</a:t>
            </a:r>
            <a:r>
              <a:rPr lang="en-US" altLang="en-QA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en-QA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</a:t>
            </a:r>
            <a:r>
              <a:rPr lang="en-US" altLang="en-QA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</a:p>
        </p:txBody>
      </p:sp>
      <p:sp>
        <p:nvSpPr>
          <p:cNvPr id="195788" name="Line 204">
            <a:extLst>
              <a:ext uri="{FF2B5EF4-FFF2-40B4-BE49-F238E27FC236}">
                <a16:creationId xmlns:a16="http://schemas.microsoft.com/office/drawing/2014/main" id="{B3639A18-978A-FE47-9C92-C4ACC2CF67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14981" y="2147808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QA"/>
          </a:p>
        </p:txBody>
      </p:sp>
      <p:sp>
        <p:nvSpPr>
          <p:cNvPr id="2" name="Right Arrow 1"/>
          <p:cNvSpPr/>
          <p:nvPr/>
        </p:nvSpPr>
        <p:spPr>
          <a:xfrm>
            <a:off x="4275382" y="5292436"/>
            <a:ext cx="684545" cy="48029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TextBox 2"/>
          <p:cNvSpPr txBox="1"/>
          <p:nvPr/>
        </p:nvSpPr>
        <p:spPr>
          <a:xfrm>
            <a:off x="7103616" y="3179083"/>
            <a:ext cx="4896572" cy="101566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We had to generate 5 matrices (D1, …D4)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For each matrix, </a:t>
            </a:r>
            <a:r>
              <a:rPr lang="en-US" sz="2000" b="1" dirty="0" smtClean="0"/>
              <a:t>n*n</a:t>
            </a:r>
            <a:r>
              <a:rPr lang="en-US" sz="2000" dirty="0" smtClean="0"/>
              <a:t> elements have been generated</a:t>
            </a:r>
            <a:endParaRPr lang="tr-TR" sz="2000" dirty="0"/>
          </a:p>
        </p:txBody>
      </p:sp>
      <p:cxnSp>
        <p:nvCxnSpPr>
          <p:cNvPr id="5" name="Straight Arrow Connector 4"/>
          <p:cNvCxnSpPr>
            <a:endCxn id="195787" idx="3"/>
          </p:cNvCxnSpPr>
          <p:nvPr/>
        </p:nvCxnSpPr>
        <p:spPr>
          <a:xfrm flipH="1" flipV="1">
            <a:off x="6026395" y="2158127"/>
            <a:ext cx="1199296" cy="1184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195587" idx="3"/>
          </p:cNvCxnSpPr>
          <p:nvPr/>
        </p:nvCxnSpPr>
        <p:spPr>
          <a:xfrm flipH="1" flipV="1">
            <a:off x="5977181" y="2492858"/>
            <a:ext cx="1248510" cy="1217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5977181" y="2954230"/>
            <a:ext cx="1248510" cy="732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29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1073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5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5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5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5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5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5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5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5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5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5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5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5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578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578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5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5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5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5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57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57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57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57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57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57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57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57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5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5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animBg="1"/>
      <p:bldP spid="195782" grpId="0" uiExpand="1" build="p" animBg="1"/>
      <p:bldP spid="195783" grpId="0"/>
      <p:bldP spid="195784" grpId="0" animBg="1"/>
      <p:bldP spid="195785" grpId="0"/>
      <p:bldP spid="195786" grpId="0" animBg="1"/>
      <p:bldP spid="195787" grpId="0"/>
      <p:bldP spid="195788" grpId="0" animBg="1"/>
      <p:bldP spid="2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8296"/>
            <a:ext cx="10515600" cy="43366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 Code for </a:t>
            </a:r>
            <a:r>
              <a:rPr lang="en-US" altLang="en-QA" b="0" dirty="0">
                <a:cs typeface="Times New Roman" panose="02020603050405020304" pitchFamily="18" charset="0"/>
              </a:rPr>
              <a:t>D</a:t>
            </a:r>
            <a:r>
              <a:rPr lang="en-US" b="0" dirty="0">
                <a:cs typeface="Times New Roman" panose="02020603050405020304" pitchFamily="18" charset="0"/>
              </a:rPr>
              <a:t>etermining </a:t>
            </a:r>
            <a:r>
              <a:rPr lang="en-US" b="0" u="sng" dirty="0">
                <a:solidFill>
                  <a:srgbClr val="0070C0"/>
                </a:solidFill>
                <a:cs typeface="Times New Roman" panose="02020603050405020304" pitchFamily="18" charset="0"/>
              </a:rPr>
              <a:t>only the lengths of </a:t>
            </a:r>
            <a:r>
              <a:rPr lang="en-US" b="0" dirty="0">
                <a:cs typeface="Times New Roman" panose="02020603050405020304" pitchFamily="18" charset="0"/>
              </a:rPr>
              <a:t>the shortest paths</a:t>
            </a:r>
            <a:r>
              <a:rPr lang="en-US" dirty="0" smtClean="0"/>
              <a:t> 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41" y="1010599"/>
            <a:ext cx="9936053" cy="319665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30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88621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70" name="Text Box 6">
            <a:extLst>
              <a:ext uri="{FF2B5EF4-FFF2-40B4-BE49-F238E27FC236}">
                <a16:creationId xmlns:a16="http://schemas.microsoft.com/office/drawing/2014/main" id="{4845613C-F2BD-C346-A17D-43CDC3CCB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55" y="990601"/>
            <a:ext cx="5029200" cy="5429179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rIns="7200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QA" sz="2000" b="1" dirty="0">
                <a:latin typeface="Times New Roman" panose="02020603050405020304" pitchFamily="18" charset="0"/>
              </a:rPr>
              <a:t>void</a:t>
            </a:r>
            <a:r>
              <a:rPr lang="en-US" altLang="en-QA" sz="2000" dirty="0">
                <a:latin typeface="Times New Roman" panose="02020603050405020304" pitchFamily="18" charset="0"/>
              </a:rPr>
              <a:t> floyd2 (</a:t>
            </a:r>
            <a:r>
              <a:rPr lang="en-US" altLang="en-QA" sz="2000" b="1" dirty="0">
                <a:latin typeface="Times New Roman" panose="02020603050405020304" pitchFamily="18" charset="0"/>
              </a:rPr>
              <a:t>int</a:t>
            </a:r>
            <a:r>
              <a:rPr lang="en-US" altLang="en-QA" sz="2000" dirty="0">
                <a:latin typeface="Times New Roman" panose="02020603050405020304" pitchFamily="18" charset="0"/>
              </a:rPr>
              <a:t> n, </a:t>
            </a:r>
            <a:r>
              <a:rPr lang="en-US" altLang="en-QA" sz="2000" b="1" dirty="0" err="1">
                <a:latin typeface="Times New Roman" panose="02020603050405020304" pitchFamily="18" charset="0"/>
              </a:rPr>
              <a:t>const</a:t>
            </a:r>
            <a:r>
              <a:rPr lang="en-US" altLang="en-QA" sz="2000" b="1" dirty="0">
                <a:latin typeface="Times New Roman" panose="02020603050405020304" pitchFamily="18" charset="0"/>
              </a:rPr>
              <a:t> number</a:t>
            </a:r>
            <a:r>
              <a:rPr lang="en-US" altLang="en-QA" sz="1400" dirty="0">
                <a:latin typeface="Times New Roman" panose="02020603050405020304" pitchFamily="18" charset="0"/>
              </a:rPr>
              <a:t> </a:t>
            </a:r>
            <a:r>
              <a:rPr lang="en-US" altLang="en-QA" sz="2000" dirty="0">
                <a:latin typeface="Times New Roman" panose="02020603050405020304" pitchFamily="18" charset="0"/>
              </a:rPr>
              <a:t>W[ ][ </a:t>
            </a:r>
            <a:r>
              <a:rPr lang="en-US" altLang="en-QA" sz="2000" dirty="0" smtClean="0">
                <a:latin typeface="Times New Roman" panose="02020603050405020304" pitchFamily="18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lang="en-US" altLang="en-QA" sz="2000" dirty="0" smtClean="0">
                <a:latin typeface="Times New Roman" panose="02020603050405020304" pitchFamily="18" charset="0"/>
              </a:rPr>
              <a:t>                                         </a:t>
            </a:r>
            <a:r>
              <a:rPr lang="en-US" altLang="en-QA" sz="2000" b="1" dirty="0" smtClean="0">
                <a:latin typeface="Times New Roman" panose="02020603050405020304" pitchFamily="18" charset="0"/>
              </a:rPr>
              <a:t>number</a:t>
            </a:r>
            <a:r>
              <a:rPr lang="en-US" altLang="en-QA" sz="2000" dirty="0" smtClean="0">
                <a:latin typeface="Times New Roman" panose="02020603050405020304" pitchFamily="18" charset="0"/>
              </a:rPr>
              <a:t> D[ ][ ],</a:t>
            </a:r>
          </a:p>
          <a:p>
            <a:pPr>
              <a:lnSpc>
                <a:spcPct val="90000"/>
              </a:lnSpc>
            </a:pPr>
            <a:r>
              <a:rPr lang="en-US" altLang="en-QA" sz="2000" dirty="0" smtClean="0">
                <a:latin typeface="Times New Roman" panose="02020603050405020304" pitchFamily="18" charset="0"/>
              </a:rPr>
              <a:t>                                         </a:t>
            </a:r>
            <a:r>
              <a:rPr lang="en-US" altLang="en-QA" sz="20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index</a:t>
            </a:r>
            <a:r>
              <a:rPr lang="en-US" altLang="en-QA" sz="20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 P[ ][ ]) </a:t>
            </a:r>
          </a:p>
          <a:p>
            <a:pPr>
              <a:lnSpc>
                <a:spcPct val="80000"/>
              </a:lnSpc>
            </a:pPr>
            <a:r>
              <a:rPr lang="en-US" altLang="en-QA" sz="2000" dirty="0" smtClean="0">
                <a:latin typeface="Times New Roman" panose="02020603050405020304" pitchFamily="18" charset="0"/>
              </a:rPr>
              <a:t>{       </a:t>
            </a:r>
            <a:endParaRPr lang="en-US" altLang="en-QA" sz="20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QA" sz="2000" dirty="0">
                <a:latin typeface="Times New Roman" panose="02020603050405020304" pitchFamily="18" charset="0"/>
              </a:rPr>
              <a:t>  </a:t>
            </a:r>
            <a:r>
              <a:rPr lang="en-US" altLang="en-QA" sz="2000" b="1" dirty="0">
                <a:latin typeface="Times New Roman" panose="02020603050405020304" pitchFamily="18" charset="0"/>
              </a:rPr>
              <a:t>index</a:t>
            </a:r>
            <a:r>
              <a:rPr lang="en-US" altLang="en-QA" sz="2000" dirty="0">
                <a:latin typeface="Times New Roman" panose="02020603050405020304" pitchFamily="18" charset="0"/>
              </a:rPr>
              <a:t> i</a:t>
            </a:r>
            <a:r>
              <a:rPr lang="en-US" altLang="en-QA" sz="2000" dirty="0" smtClean="0">
                <a:latin typeface="Times New Roman" panose="02020603050405020304" pitchFamily="18" charset="0"/>
              </a:rPr>
              <a:t>, j, k</a:t>
            </a:r>
            <a:r>
              <a:rPr lang="en-US" altLang="en-QA" sz="20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en-US" altLang="en-QA" dirty="0">
                <a:latin typeface="Times New Roman" panose="02020603050405020304" pitchFamily="18" charset="0"/>
              </a:rPr>
              <a:t>   </a:t>
            </a:r>
            <a:endParaRPr lang="en-US" altLang="en-QA" b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QA" sz="2000" dirty="0">
                <a:latin typeface="Times New Roman" panose="02020603050405020304" pitchFamily="18" charset="0"/>
              </a:rPr>
              <a:t>  </a:t>
            </a:r>
            <a:r>
              <a:rPr lang="en-US" altLang="en-QA" sz="2000" b="1" dirty="0">
                <a:latin typeface="Times New Roman" panose="02020603050405020304" pitchFamily="18" charset="0"/>
              </a:rPr>
              <a:t>for</a:t>
            </a:r>
            <a:r>
              <a:rPr lang="en-US" altLang="en-QA" sz="2000" dirty="0">
                <a:latin typeface="Times New Roman" panose="02020603050405020304" pitchFamily="18" charset="0"/>
              </a:rPr>
              <a:t> (i = 1; i &lt;= n; i++)</a:t>
            </a:r>
          </a:p>
          <a:p>
            <a:r>
              <a:rPr lang="en-US" altLang="en-QA" sz="2000" b="1" dirty="0">
                <a:latin typeface="Times New Roman" panose="02020603050405020304" pitchFamily="18" charset="0"/>
              </a:rPr>
              <a:t>    for</a:t>
            </a:r>
            <a:r>
              <a:rPr lang="en-US" altLang="en-QA" sz="2000" dirty="0">
                <a:latin typeface="Times New Roman" panose="02020603050405020304" pitchFamily="18" charset="0"/>
              </a:rPr>
              <a:t> (j = 1; j &lt;= n; </a:t>
            </a:r>
            <a:r>
              <a:rPr lang="en-US" altLang="en-QA" sz="2000" dirty="0" err="1">
                <a:latin typeface="Times New Roman" panose="02020603050405020304" pitchFamily="18" charset="0"/>
              </a:rPr>
              <a:t>j++</a:t>
            </a:r>
            <a:r>
              <a:rPr lang="en-US" altLang="en-QA" sz="2000" dirty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en-QA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P[i][j] = 0</a:t>
            </a:r>
            <a:r>
              <a:rPr lang="en-US" altLang="en-QA" sz="20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en-QA" sz="2000" b="1" dirty="0" smtClean="0">
                <a:latin typeface="Times New Roman" panose="02020603050405020304" pitchFamily="18" charset="0"/>
              </a:rPr>
              <a:t>//intermediate vertex matrix</a:t>
            </a:r>
            <a:endParaRPr lang="en-US" altLang="en-QA" sz="20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QA" dirty="0">
              <a:latin typeface="Times New Roman" panose="02020603050405020304" pitchFamily="18" charset="0"/>
            </a:endParaRPr>
          </a:p>
          <a:p>
            <a:r>
              <a:rPr lang="en-US" altLang="en-QA" sz="2000" dirty="0">
                <a:latin typeface="Times New Roman" panose="02020603050405020304" pitchFamily="18" charset="0"/>
              </a:rPr>
              <a:t>  D = W;</a:t>
            </a:r>
            <a:endParaRPr lang="en-US" altLang="en-QA" dirty="0">
              <a:latin typeface="Times New Roman" panose="02020603050405020304" pitchFamily="18" charset="0"/>
            </a:endParaRPr>
          </a:p>
          <a:p>
            <a:r>
              <a:rPr lang="en-US" altLang="en-QA" sz="2000" dirty="0">
                <a:latin typeface="Times New Roman" panose="02020603050405020304" pitchFamily="18" charset="0"/>
              </a:rPr>
              <a:t>  </a:t>
            </a:r>
            <a:r>
              <a:rPr lang="en-US" altLang="en-QA" sz="2000" b="1" dirty="0">
                <a:latin typeface="Times New Roman" panose="02020603050405020304" pitchFamily="18" charset="0"/>
              </a:rPr>
              <a:t>for</a:t>
            </a:r>
            <a:r>
              <a:rPr lang="en-US" altLang="en-QA" sz="2000" dirty="0">
                <a:latin typeface="Times New Roman" panose="02020603050405020304" pitchFamily="18" charset="0"/>
              </a:rPr>
              <a:t> (k = 1; k &lt;= n; k++)</a:t>
            </a:r>
          </a:p>
          <a:p>
            <a:r>
              <a:rPr lang="en-US" altLang="en-QA" sz="2000" b="1" dirty="0">
                <a:latin typeface="Times New Roman" panose="02020603050405020304" pitchFamily="18" charset="0"/>
              </a:rPr>
              <a:t>    for</a:t>
            </a:r>
            <a:r>
              <a:rPr lang="en-US" altLang="en-QA" sz="2000" dirty="0">
                <a:latin typeface="Times New Roman" panose="02020603050405020304" pitchFamily="18" charset="0"/>
              </a:rPr>
              <a:t> (i = 1; i &lt;= n; i++)</a:t>
            </a:r>
          </a:p>
          <a:p>
            <a:r>
              <a:rPr lang="en-US" altLang="en-QA" sz="2000" b="1" dirty="0">
                <a:latin typeface="Times New Roman" panose="02020603050405020304" pitchFamily="18" charset="0"/>
              </a:rPr>
              <a:t>      for</a:t>
            </a:r>
            <a:r>
              <a:rPr lang="en-US" altLang="en-QA" sz="2000" dirty="0">
                <a:latin typeface="Times New Roman" panose="02020603050405020304" pitchFamily="18" charset="0"/>
              </a:rPr>
              <a:t> (j = 1; j &lt;= n; </a:t>
            </a:r>
            <a:r>
              <a:rPr lang="en-US" altLang="en-QA" sz="2000" dirty="0" err="1">
                <a:latin typeface="Times New Roman" panose="02020603050405020304" pitchFamily="18" charset="0"/>
              </a:rPr>
              <a:t>j++</a:t>
            </a:r>
            <a:r>
              <a:rPr lang="en-US" altLang="en-QA" sz="2000" dirty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en-QA" sz="2000" dirty="0">
                <a:latin typeface="Times New Roman" panose="02020603050405020304" pitchFamily="18" charset="0"/>
              </a:rPr>
              <a:t>         </a:t>
            </a:r>
            <a:r>
              <a:rPr lang="en-US" altLang="en-QA" sz="2000" b="1" dirty="0">
                <a:latin typeface="Times New Roman" panose="02020603050405020304" pitchFamily="18" charset="0"/>
              </a:rPr>
              <a:t>if</a:t>
            </a:r>
            <a:r>
              <a:rPr lang="en-US" altLang="en-QA" sz="2000" dirty="0">
                <a:latin typeface="Times New Roman" panose="02020603050405020304" pitchFamily="18" charset="0"/>
              </a:rPr>
              <a:t> (D[i][k]</a:t>
            </a:r>
            <a:r>
              <a:rPr lang="en-US" altLang="en-QA" sz="1600" dirty="0">
                <a:latin typeface="Times New Roman" panose="02020603050405020304" pitchFamily="18" charset="0"/>
              </a:rPr>
              <a:t>+</a:t>
            </a:r>
            <a:r>
              <a:rPr lang="en-US" altLang="en-QA" sz="2000" dirty="0">
                <a:latin typeface="Times New Roman" panose="02020603050405020304" pitchFamily="18" charset="0"/>
              </a:rPr>
              <a:t>D[k][j] &lt; D[i][j])  </a:t>
            </a:r>
            <a:r>
              <a:rPr lang="en-US" altLang="en-QA" sz="2000" b="1" dirty="0">
                <a:latin typeface="Times New Roman" panose="02020603050405020304" pitchFamily="18" charset="0"/>
              </a:rPr>
              <a:t>{</a:t>
            </a:r>
            <a:r>
              <a:rPr lang="en-US" altLang="en-QA" sz="2000" dirty="0">
                <a:latin typeface="Times New Roman" panose="02020603050405020304" pitchFamily="18" charset="0"/>
              </a:rPr>
              <a:t>        </a:t>
            </a:r>
          </a:p>
          <a:p>
            <a:r>
              <a:rPr lang="en-US" altLang="en-QA" sz="2000" dirty="0">
                <a:latin typeface="Times New Roman" panose="02020603050405020304" pitchFamily="18" charset="0"/>
              </a:rPr>
              <a:t>           </a:t>
            </a:r>
            <a:r>
              <a:rPr lang="en-US" altLang="en-QA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P[i][j] = k;</a:t>
            </a:r>
          </a:p>
          <a:p>
            <a:r>
              <a:rPr lang="en-US" altLang="en-QA" sz="2000" dirty="0">
                <a:latin typeface="Times New Roman" panose="02020603050405020304" pitchFamily="18" charset="0"/>
              </a:rPr>
              <a:t>           D[i][j] = D[i][k]</a:t>
            </a:r>
            <a:r>
              <a:rPr lang="en-US" altLang="en-QA" sz="1600" dirty="0">
                <a:latin typeface="Times New Roman" panose="02020603050405020304" pitchFamily="18" charset="0"/>
              </a:rPr>
              <a:t>+</a:t>
            </a:r>
            <a:r>
              <a:rPr lang="en-US" altLang="en-QA" sz="2000" dirty="0">
                <a:latin typeface="Times New Roman" panose="02020603050405020304" pitchFamily="18" charset="0"/>
              </a:rPr>
              <a:t>D[k][j];</a:t>
            </a:r>
          </a:p>
          <a:p>
            <a:pPr>
              <a:lnSpc>
                <a:spcPct val="80000"/>
              </a:lnSpc>
            </a:pPr>
            <a:r>
              <a:rPr lang="en-US" altLang="en-QA" sz="2000" dirty="0">
                <a:latin typeface="Times New Roman" panose="02020603050405020304" pitchFamily="18" charset="0"/>
              </a:rPr>
              <a:t>         </a:t>
            </a:r>
            <a:r>
              <a:rPr lang="en-US" altLang="en-QA" sz="2000" b="1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r>
              <a:rPr lang="en-US" altLang="en-QA" sz="2000" dirty="0">
                <a:latin typeface="Times New Roman" panose="02020603050405020304" pitchFamily="18" charset="0"/>
              </a:rPr>
              <a:t>} </a:t>
            </a:r>
          </a:p>
        </p:txBody>
      </p:sp>
      <p:sp>
        <p:nvSpPr>
          <p:cNvPr id="190471" name="Text Box 7">
            <a:extLst>
              <a:ext uri="{FF2B5EF4-FFF2-40B4-BE49-F238E27FC236}">
                <a16:creationId xmlns:a16="http://schemas.microsoft.com/office/drawing/2014/main" id="{76BCE80D-2101-F74C-BEDB-B10156B6DCE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578873" y="101829"/>
            <a:ext cx="5433849" cy="541944"/>
          </a:xfrm>
          <a:solidFill>
            <a:srgbClr val="99CCFF"/>
          </a:solidFill>
          <a:ln/>
        </p:spPr>
        <p:txBody>
          <a:bodyPr vert="horz" lIns="54000" tIns="45720" rIns="18000" bIns="45720" rtlCol="0">
            <a:normAutofit/>
          </a:bodyPr>
          <a:lstStyle/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tr-TR" altLang="en-QA" sz="1800" dirty="0" smtClean="0">
                <a:solidFill>
                  <a:srgbClr val="FF0000"/>
                </a:solidFill>
              </a:rPr>
              <a:t>    </a:t>
            </a:r>
            <a:r>
              <a:rPr lang="en-US" altLang="en-QA" sz="1800" dirty="0" smtClean="0"/>
              <a:t>Previous </a:t>
            </a:r>
            <a:r>
              <a:rPr lang="en-US" altLang="en-QA" sz="1800" dirty="0" err="1" smtClean="0"/>
              <a:t>Algo</a:t>
            </a:r>
            <a:r>
              <a:rPr lang="tr-TR" altLang="en-QA" sz="1800" dirty="0" smtClean="0"/>
              <a:t>rithm</a:t>
            </a:r>
            <a:r>
              <a:rPr lang="en-US" altLang="en-QA" sz="1800" dirty="0" smtClean="0"/>
              <a:t> </a:t>
            </a:r>
            <a:r>
              <a:rPr lang="en-US" altLang="en-QA" sz="1800" dirty="0"/>
              <a:t>finds the </a:t>
            </a:r>
            <a:r>
              <a:rPr lang="en-US" altLang="en-QA" sz="1800" dirty="0" smtClean="0"/>
              <a:t>shortest </a:t>
            </a:r>
            <a:r>
              <a:rPr lang="en-US" altLang="en-QA" sz="1800" dirty="0"/>
              <a:t>path but </a:t>
            </a:r>
            <a:r>
              <a:rPr lang="en-US" altLang="en-QA" sz="1800" b="1" u="sng" dirty="0"/>
              <a:t>no indication on the path itself </a:t>
            </a:r>
            <a:r>
              <a:rPr lang="en-US" altLang="en-QA" sz="1800" dirty="0" smtClean="0"/>
              <a:t>(i.e., sequence </a:t>
            </a:r>
            <a:r>
              <a:rPr lang="en-US" altLang="en-QA" sz="1800" dirty="0"/>
              <a:t>of vertices</a:t>
            </a:r>
            <a:r>
              <a:rPr lang="en-US" altLang="en-QA" sz="1800" dirty="0" smtClean="0"/>
              <a:t>)</a:t>
            </a:r>
            <a:endParaRPr lang="en-US" altLang="en-QA" sz="1800" dirty="0"/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endParaRPr lang="en-US" altLang="en-QA" sz="1800" u="sng" dirty="0">
              <a:solidFill>
                <a:srgbClr val="FF0000"/>
              </a:solidFill>
            </a:endParaRPr>
          </a:p>
        </p:txBody>
      </p:sp>
      <p:sp>
        <p:nvSpPr>
          <p:cNvPr id="190472" name="Line 8">
            <a:extLst>
              <a:ext uri="{FF2B5EF4-FFF2-40B4-BE49-F238E27FC236}">
                <a16:creationId xmlns:a16="http://schemas.microsoft.com/office/drawing/2014/main" id="{71E5D9E9-BDD2-B94F-9821-17B767B445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69021" y="2590800"/>
            <a:ext cx="1203352" cy="288286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QA"/>
          </a:p>
        </p:txBody>
      </p:sp>
      <p:sp>
        <p:nvSpPr>
          <p:cNvPr id="190473" name="Text Box 9">
            <a:extLst>
              <a:ext uri="{FF2B5EF4-FFF2-40B4-BE49-F238E27FC236}">
                <a16:creationId xmlns:a16="http://schemas.microsoft.com/office/drawing/2014/main" id="{21C82261-6D78-D349-9992-D6503CED3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373" y="2389758"/>
            <a:ext cx="1560513" cy="325437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wrap="none" lIns="648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QA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P to 0</a:t>
            </a:r>
            <a:endParaRPr lang="en-US" altLang="en-QA" baseline="30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474" name="Line 10">
            <a:extLst>
              <a:ext uri="{FF2B5EF4-FFF2-40B4-BE49-F238E27FC236}">
                <a16:creationId xmlns:a16="http://schemas.microsoft.com/office/drawing/2014/main" id="{F9BDB7D9-A7FA-4448-9079-AEB67CBACD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86545" y="4582215"/>
            <a:ext cx="1238228" cy="813505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QA"/>
          </a:p>
        </p:txBody>
      </p:sp>
      <p:sp>
        <p:nvSpPr>
          <p:cNvPr id="190475" name="Text Box 11">
            <a:extLst>
              <a:ext uri="{FF2B5EF4-FFF2-40B4-BE49-F238E27FC236}">
                <a16:creationId xmlns:a16="http://schemas.microsoft.com/office/drawing/2014/main" id="{57427288-E180-CD47-BB87-62AE3BB7F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0961" y="4089400"/>
            <a:ext cx="1319212" cy="558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wrap="none" lIns="648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QA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="1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QA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used in</a:t>
            </a:r>
          </a:p>
          <a:p>
            <a:pPr>
              <a:lnSpc>
                <a:spcPct val="85000"/>
              </a:lnSpc>
            </a:pPr>
            <a:r>
              <a:rPr lang="en-US" altLang="en-QA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</a:t>
            </a:r>
            <a:endParaRPr lang="en-US" altLang="en-QA" baseline="30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476" name="Rectangle 12">
            <a:extLst>
              <a:ext uri="{FF2B5EF4-FFF2-40B4-BE49-F238E27FC236}">
                <a16:creationId xmlns:a16="http://schemas.microsoft.com/office/drawing/2014/main" id="{B6726ECD-997E-DA48-9D1E-A1561864B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0211" y="6380021"/>
            <a:ext cx="40687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QA" sz="2000" dirty="0">
                <a:latin typeface="Times New Roman" panose="02020603050405020304" pitchFamily="18" charset="0"/>
              </a:rPr>
              <a:t>D[</a:t>
            </a:r>
            <a:r>
              <a:rPr lang="en-US" altLang="en-QA" sz="2000" i="1" dirty="0" err="1">
                <a:latin typeface="Times New Roman" panose="02020603050405020304" pitchFamily="18" charset="0"/>
              </a:rPr>
              <a:t>i</a:t>
            </a:r>
            <a:r>
              <a:rPr lang="en-US" altLang="en-QA" sz="2000" dirty="0">
                <a:latin typeface="Times New Roman" panose="02020603050405020304" pitchFamily="18" charset="0"/>
              </a:rPr>
              <a:t>][</a:t>
            </a:r>
            <a:r>
              <a:rPr lang="en-US" altLang="en-QA" sz="2000" i="1" dirty="0">
                <a:latin typeface="Times New Roman" panose="02020603050405020304" pitchFamily="18" charset="0"/>
              </a:rPr>
              <a:t>j</a:t>
            </a:r>
            <a:r>
              <a:rPr lang="en-US" altLang="en-QA" sz="2000" dirty="0">
                <a:latin typeface="Times New Roman" panose="02020603050405020304" pitchFamily="18" charset="0"/>
              </a:rPr>
              <a:t>] </a:t>
            </a:r>
            <a:r>
              <a:rPr lang="en-US" altLang="en-QA" dirty="0">
                <a:latin typeface="Times New Roman" panose="02020603050405020304" pitchFamily="18" charset="0"/>
              </a:rPr>
              <a:t>=</a:t>
            </a:r>
            <a:r>
              <a:rPr lang="en-US" altLang="en-QA" sz="2000" dirty="0">
                <a:latin typeface="Times New Roman" panose="02020603050405020304" pitchFamily="18" charset="0"/>
              </a:rPr>
              <a:t> </a:t>
            </a:r>
            <a:r>
              <a:rPr lang="en-US" altLang="en-QA" dirty="0">
                <a:latin typeface="Times New Roman" panose="02020603050405020304" pitchFamily="18" charset="0"/>
              </a:rPr>
              <a:t>min</a:t>
            </a:r>
            <a:r>
              <a:rPr lang="en-US" altLang="en-QA" sz="2000" dirty="0">
                <a:latin typeface="Times New Roman" panose="02020603050405020304" pitchFamily="18" charset="0"/>
              </a:rPr>
              <a:t>(D[</a:t>
            </a:r>
            <a:r>
              <a:rPr lang="en-US" altLang="en-QA" sz="2000" i="1" dirty="0" err="1">
                <a:latin typeface="Times New Roman" panose="02020603050405020304" pitchFamily="18" charset="0"/>
              </a:rPr>
              <a:t>i</a:t>
            </a:r>
            <a:r>
              <a:rPr lang="en-US" altLang="en-QA" sz="2000" dirty="0">
                <a:latin typeface="Times New Roman" panose="02020603050405020304" pitchFamily="18" charset="0"/>
              </a:rPr>
              <a:t>][</a:t>
            </a:r>
            <a:r>
              <a:rPr lang="en-US" altLang="en-QA" sz="2000" i="1" dirty="0">
                <a:latin typeface="Times New Roman" panose="02020603050405020304" pitchFamily="18" charset="0"/>
              </a:rPr>
              <a:t>j</a:t>
            </a:r>
            <a:r>
              <a:rPr lang="en-US" altLang="en-QA" sz="2000" dirty="0">
                <a:latin typeface="Times New Roman" panose="02020603050405020304" pitchFamily="18" charset="0"/>
              </a:rPr>
              <a:t>], D[</a:t>
            </a:r>
            <a:r>
              <a:rPr lang="en-US" altLang="en-QA" sz="2000" i="1" dirty="0" err="1">
                <a:latin typeface="Times New Roman" panose="02020603050405020304" pitchFamily="18" charset="0"/>
              </a:rPr>
              <a:t>i</a:t>
            </a:r>
            <a:r>
              <a:rPr lang="en-US" altLang="en-QA" sz="2000" dirty="0">
                <a:latin typeface="Times New Roman" panose="02020603050405020304" pitchFamily="18" charset="0"/>
              </a:rPr>
              <a:t>][</a:t>
            </a:r>
            <a:r>
              <a:rPr lang="en-US" altLang="en-QA" sz="2000" i="1" dirty="0">
                <a:latin typeface="Times New Roman" panose="02020603050405020304" pitchFamily="18" charset="0"/>
              </a:rPr>
              <a:t>k</a:t>
            </a:r>
            <a:r>
              <a:rPr lang="en-US" altLang="en-QA" sz="2000" dirty="0">
                <a:latin typeface="Times New Roman" panose="02020603050405020304" pitchFamily="18" charset="0"/>
              </a:rPr>
              <a:t>]</a:t>
            </a:r>
            <a:r>
              <a:rPr lang="en-US" altLang="en-QA" sz="1600" dirty="0">
                <a:latin typeface="Times New Roman" panose="02020603050405020304" pitchFamily="18" charset="0"/>
              </a:rPr>
              <a:t>+</a:t>
            </a:r>
            <a:r>
              <a:rPr lang="en-US" altLang="en-QA" sz="2000" dirty="0">
                <a:latin typeface="Times New Roman" panose="02020603050405020304" pitchFamily="18" charset="0"/>
              </a:rPr>
              <a:t>D[</a:t>
            </a:r>
            <a:r>
              <a:rPr lang="en-US" altLang="en-QA" sz="2000" i="1" dirty="0">
                <a:latin typeface="Times New Roman" panose="02020603050405020304" pitchFamily="18" charset="0"/>
              </a:rPr>
              <a:t>k</a:t>
            </a:r>
            <a:r>
              <a:rPr lang="en-US" altLang="en-QA" sz="2000" dirty="0">
                <a:latin typeface="Times New Roman" panose="02020603050405020304" pitchFamily="18" charset="0"/>
              </a:rPr>
              <a:t>][</a:t>
            </a:r>
            <a:r>
              <a:rPr lang="en-US" altLang="en-QA" sz="2000" i="1" dirty="0">
                <a:latin typeface="Times New Roman" panose="02020603050405020304" pitchFamily="18" charset="0"/>
              </a:rPr>
              <a:t>j</a:t>
            </a:r>
            <a:r>
              <a:rPr lang="en-US" altLang="en-QA" sz="2000" dirty="0">
                <a:latin typeface="Times New Roman" panose="02020603050405020304" pitchFamily="18" charset="0"/>
              </a:rPr>
              <a:t>]);</a:t>
            </a:r>
          </a:p>
        </p:txBody>
      </p:sp>
      <p:sp>
        <p:nvSpPr>
          <p:cNvPr id="190477" name="Rectangle 13">
            <a:extLst>
              <a:ext uri="{FF2B5EF4-FFF2-40B4-BE49-F238E27FC236}">
                <a16:creationId xmlns:a16="http://schemas.microsoft.com/office/drawing/2014/main" id="{C0BB55A1-5C81-EA4A-B9D6-C3A98282A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856" y="6458103"/>
            <a:ext cx="2049357" cy="301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QA" sz="1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property:</a:t>
            </a:r>
          </a:p>
        </p:txBody>
      </p:sp>
      <p:graphicFrame>
        <p:nvGraphicFramePr>
          <p:cNvPr id="190541" name="Group 77">
            <a:extLst>
              <a:ext uri="{FF2B5EF4-FFF2-40B4-BE49-F238E27FC236}">
                <a16:creationId xmlns:a16="http://schemas.microsoft.com/office/drawing/2014/main" id="{9FB0B606-F344-8448-8323-764E94645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641004"/>
              </p:ext>
            </p:extLst>
          </p:nvPr>
        </p:nvGraphicFramePr>
        <p:xfrm>
          <a:off x="9829800" y="4694155"/>
          <a:ext cx="2362200" cy="2085976"/>
        </p:xfrm>
        <a:graphic>
          <a:graphicData uri="http://schemas.openxmlformats.org/drawingml/2006/table">
            <a:tbl>
              <a:tblPr/>
              <a:tblGrid>
                <a:gridCol w="393700">
                  <a:extLst>
                    <a:ext uri="{9D8B030D-6E8A-4147-A177-3AD203B41FA5}">
                      <a16:colId xmlns:a16="http://schemas.microsoft.com/office/drawing/2014/main" val="366258191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3037010531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581029094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746087851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3348859564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1893002839"/>
                    </a:ext>
                  </a:extLst>
                </a:gridCol>
              </a:tblGrid>
              <a:tr h="76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299753"/>
                  </a:ext>
                </a:extLst>
              </a:tr>
              <a:tr h="347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576673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133355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133064"/>
                  </a:ext>
                </a:extLst>
              </a:tr>
              <a:tr h="347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169563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019142"/>
                  </a:ext>
                </a:extLst>
              </a:tr>
            </a:tbl>
          </a:graphicData>
        </a:graphic>
      </p:graphicFrame>
      <p:sp>
        <p:nvSpPr>
          <p:cNvPr id="13" name="Text Box 9">
            <a:extLst>
              <a:ext uri="{FF2B5EF4-FFF2-40B4-BE49-F238E27FC236}">
                <a16:creationId xmlns:a16="http://schemas.microsoft.com/office/drawing/2014/main" id="{21C82261-6D78-D349-9992-D6503CED3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655" y="3600840"/>
            <a:ext cx="5386120" cy="32778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wrap="none" lIns="648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QA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lang="en-US" altLang="en-QA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with the values of W and keep W unchanged</a:t>
            </a:r>
            <a:endParaRPr lang="en-US" altLang="en-QA" baseline="30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/>
          <p:cNvCxnSpPr>
            <a:stCxn id="13" idx="1"/>
          </p:cNvCxnSpPr>
          <p:nvPr/>
        </p:nvCxnSpPr>
        <p:spPr>
          <a:xfrm flipH="1">
            <a:off x="1453534" y="3764731"/>
            <a:ext cx="1864121" cy="163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39622" y="4274066"/>
            <a:ext cx="137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P[1][3] = 4</a:t>
            </a:r>
            <a:endParaRPr lang="tr-TR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498C665-41F6-1445-9363-5A402B6D9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52550" y="99642"/>
            <a:ext cx="5503805" cy="546318"/>
          </a:xfrm>
        </p:spPr>
        <p:txBody>
          <a:bodyPr>
            <a:normAutofit fontScale="90000"/>
          </a:bodyPr>
          <a:lstStyle/>
          <a:p>
            <a:r>
              <a:rPr lang="en-US" altLang="en-QA" sz="2800" b="0" dirty="0" smtClean="0">
                <a:latin typeface="+mn-lt"/>
                <a:cs typeface="Times New Roman" panose="02020603050405020304" pitchFamily="18" charset="0"/>
              </a:rPr>
              <a:t>Floyd’s Alg. for </a:t>
            </a:r>
            <a:r>
              <a:rPr lang="en-US" altLang="en-QA" sz="2800" b="0" u="sng" dirty="0" smtClean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producing</a:t>
            </a:r>
            <a:r>
              <a:rPr lang="en-US" altLang="en-QA" sz="2800" b="0" dirty="0" smtClean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QA" sz="2800" b="0" dirty="0">
                <a:latin typeface="+mn-lt"/>
                <a:cs typeface="Times New Roman" panose="02020603050405020304" pitchFamily="18" charset="0"/>
              </a:rPr>
              <a:t>S</a:t>
            </a:r>
            <a:r>
              <a:rPr lang="en-US" sz="2800" b="0" dirty="0" smtClean="0">
                <a:latin typeface="+mn-lt"/>
                <a:cs typeface="Times New Roman" panose="02020603050405020304" pitchFamily="18" charset="0"/>
              </a:rPr>
              <a:t>hortest Paths</a:t>
            </a:r>
            <a:endParaRPr lang="en-US" altLang="en-QA" sz="2800" b="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25721" y="841640"/>
            <a:ext cx="5540155" cy="258532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P[i] [j]: </a:t>
            </a:r>
            <a:r>
              <a:rPr lang="en-US" b="1" dirty="0" smtClean="0">
                <a:solidFill>
                  <a:srgbClr val="002060"/>
                </a:solidFill>
              </a:rPr>
              <a:t>Intermediate vertex matrix </a:t>
            </a:r>
            <a:r>
              <a:rPr lang="en-US" b="1" dirty="0" smtClean="0"/>
              <a:t>or </a:t>
            </a:r>
            <a:r>
              <a:rPr lang="en-US" b="1" u="sng" dirty="0" smtClean="0"/>
              <a:t>P</a:t>
            </a:r>
            <a:r>
              <a:rPr lang="en-US" b="1" dirty="0" smtClean="0"/>
              <a:t>ath matrix or </a:t>
            </a:r>
            <a:r>
              <a:rPr lang="en-US" b="1" u="sng" dirty="0" smtClean="0"/>
              <a:t>P</a:t>
            </a:r>
            <a:r>
              <a:rPr lang="en-US" b="1" dirty="0" smtClean="0"/>
              <a:t>redecessor matrix</a:t>
            </a:r>
          </a:p>
          <a:p>
            <a:r>
              <a:rPr lang="en-US" dirty="0"/>
              <a:t>It helps reconstruct the shortest path by storing intermediate predecessor (or via) </a:t>
            </a:r>
            <a:r>
              <a:rPr lang="en-US" dirty="0" smtClean="0"/>
              <a:t>vertices</a:t>
            </a:r>
          </a:p>
          <a:p>
            <a:endParaRPr lang="en-US" dirty="0" smtClean="0"/>
          </a:p>
          <a:p>
            <a:r>
              <a:rPr lang="en-US" dirty="0" smtClean="0"/>
              <a:t>P[i] [j] = { </a:t>
            </a:r>
            <a:r>
              <a:rPr lang="en-US" b="1" dirty="0" smtClean="0"/>
              <a:t>highest index </a:t>
            </a:r>
            <a:r>
              <a:rPr lang="en-US" dirty="0" smtClean="0"/>
              <a:t>of an intermediate vertex on the     	shortest path from </a:t>
            </a:r>
            <a:r>
              <a:rPr lang="en-US" b="1" dirty="0" smtClean="0"/>
              <a:t>v</a:t>
            </a:r>
            <a:r>
              <a:rPr lang="en-US" baseline="-25000" dirty="0" smtClean="0"/>
              <a:t>i </a:t>
            </a:r>
            <a:r>
              <a:rPr lang="en-US" dirty="0" smtClean="0"/>
              <a:t>to </a:t>
            </a:r>
            <a:r>
              <a:rPr lang="en-US" b="1" dirty="0" err="1" smtClean="0"/>
              <a:t>v</a:t>
            </a:r>
            <a:r>
              <a:rPr lang="en-US" baseline="-25000" dirty="0" err="1" smtClean="0"/>
              <a:t>j</a:t>
            </a:r>
            <a:r>
              <a:rPr lang="en-US" dirty="0" smtClean="0"/>
              <a:t>, if at least one 	intermediate vertex exists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</a:t>
            </a:r>
            <a:r>
              <a:rPr lang="en-US" b="1" dirty="0" smtClean="0"/>
              <a:t>0</a:t>
            </a:r>
            <a:r>
              <a:rPr lang="en-US" dirty="0" smtClean="0"/>
              <a:t>, if no intermediate vertex exists}</a:t>
            </a:r>
            <a:endParaRPr lang="tr-TR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31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14328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047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047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0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0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0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0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0" grpId="0" animBg="1"/>
      <p:bldP spid="190471" grpId="0" uiExpand="1" build="p" animBg="1"/>
      <p:bldP spid="190472" grpId="0" animBg="1"/>
      <p:bldP spid="190473" grpId="0" animBg="1"/>
      <p:bldP spid="190474" grpId="0" animBg="1"/>
      <p:bldP spid="190475" grpId="0" animBg="1"/>
      <p:bldP spid="13" grpId="0" animBg="1"/>
      <p:bldP spid="5" grpId="0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5744"/>
            <a:ext cx="10515600" cy="538764"/>
          </a:xfrm>
        </p:spPr>
        <p:txBody>
          <a:bodyPr/>
          <a:lstStyle/>
          <a:p>
            <a:r>
              <a:rPr lang="en-US" altLang="en-QA" b="0" dirty="0" smtClean="0">
                <a:cs typeface="Times New Roman" panose="02020603050405020304" pitchFamily="18" charset="0"/>
              </a:rPr>
              <a:t>Java Code </a:t>
            </a:r>
            <a:r>
              <a:rPr lang="en-US" altLang="en-QA" b="0" dirty="0">
                <a:cs typeface="Times New Roman" panose="02020603050405020304" pitchFamily="18" charset="0"/>
              </a:rPr>
              <a:t>for </a:t>
            </a:r>
            <a:r>
              <a:rPr lang="en-US" altLang="en-QA" b="0" u="sng" dirty="0">
                <a:solidFill>
                  <a:srgbClr val="0070C0"/>
                </a:solidFill>
                <a:cs typeface="Times New Roman" panose="02020603050405020304" pitchFamily="18" charset="0"/>
              </a:rPr>
              <a:t>producing</a:t>
            </a:r>
            <a:r>
              <a:rPr lang="en-US" altLang="en-QA" b="0" dirty="0">
                <a:cs typeface="Times New Roman" panose="02020603050405020304" pitchFamily="18" charset="0"/>
              </a:rPr>
              <a:t> S</a:t>
            </a:r>
            <a:r>
              <a:rPr lang="en-US" b="0" dirty="0">
                <a:cs typeface="Times New Roman" panose="02020603050405020304" pitchFamily="18" charset="0"/>
              </a:rPr>
              <a:t>hortest Paths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76019"/>
            <a:ext cx="8574306" cy="491846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32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53786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79521" y="0"/>
            <a:ext cx="9988479" cy="52082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0" dirty="0">
                <a:latin typeface="+mn-lt"/>
                <a:cs typeface="Times New Roman" panose="02020603050405020304" pitchFamily="18" charset="0"/>
              </a:rPr>
              <a:t>Printing the Shortest Path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46051" y="3766651"/>
            <a:ext cx="7161967" cy="301621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rIns="72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en-US" sz="2000" dirty="0">
                <a:latin typeface="+mn-lt"/>
              </a:rPr>
              <a:t>void </a:t>
            </a:r>
            <a:r>
              <a:rPr lang="en-US" altLang="en-US" sz="2000" b="1" dirty="0" smtClean="0">
                <a:latin typeface="+mn-lt"/>
              </a:rPr>
              <a:t>path</a:t>
            </a:r>
            <a:r>
              <a:rPr lang="en-US" altLang="en-US" sz="2000" dirty="0" smtClean="0">
                <a:latin typeface="+mn-lt"/>
              </a:rPr>
              <a:t> (</a:t>
            </a:r>
            <a:r>
              <a:rPr lang="en-US" altLang="en-US" sz="2000" dirty="0">
                <a:latin typeface="+mn-lt"/>
              </a:rPr>
              <a:t>int q, int r) {</a:t>
            </a:r>
          </a:p>
          <a:p>
            <a:pPr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en-US" sz="2000" dirty="0">
                <a:latin typeface="+mn-lt"/>
              </a:rPr>
              <a:t>    if (P[q][r] != 0) </a:t>
            </a:r>
            <a:r>
              <a:rPr lang="en-US" altLang="en-US" sz="2000" dirty="0" smtClean="0">
                <a:latin typeface="+mn-lt"/>
              </a:rPr>
              <a:t>{     </a:t>
            </a:r>
            <a:r>
              <a:rPr lang="en-US" sz="1800" i="1" dirty="0" smtClean="0"/>
              <a:t>//Check </a:t>
            </a:r>
            <a:r>
              <a:rPr lang="en-US" sz="1800" i="1" dirty="0"/>
              <a:t>if there is an intermediate node</a:t>
            </a:r>
            <a:endParaRPr lang="en-US" altLang="en-US" sz="1800" i="1" dirty="0">
              <a:latin typeface="+mn-lt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en-US" sz="2000" dirty="0">
                <a:latin typeface="+mn-lt"/>
              </a:rPr>
              <a:t>        </a:t>
            </a:r>
            <a:r>
              <a:rPr lang="en-US" altLang="en-US" sz="2000" b="1" dirty="0" smtClean="0">
                <a:latin typeface="+mn-lt"/>
              </a:rPr>
              <a:t>path</a:t>
            </a:r>
            <a:r>
              <a:rPr lang="en-US" altLang="en-US" sz="2000" dirty="0" smtClean="0">
                <a:latin typeface="+mn-lt"/>
              </a:rPr>
              <a:t> (</a:t>
            </a:r>
            <a:r>
              <a:rPr lang="en-US" altLang="en-US" sz="2000" dirty="0">
                <a:latin typeface="+mn-lt"/>
              </a:rPr>
              <a:t>q, </a:t>
            </a: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P[q][r</a:t>
            </a:r>
            <a:r>
              <a:rPr lang="en-US" altLang="en-US" sz="2000" dirty="0" smtClean="0">
                <a:solidFill>
                  <a:srgbClr val="C00000"/>
                </a:solidFill>
                <a:latin typeface="+mn-lt"/>
              </a:rPr>
              <a:t>] </a:t>
            </a:r>
            <a:r>
              <a:rPr lang="en-US" altLang="en-US" sz="2000" dirty="0">
                <a:latin typeface="+mn-lt"/>
              </a:rPr>
              <a:t>); </a:t>
            </a:r>
            <a:r>
              <a:rPr lang="en-US" altLang="en-US" sz="1800" dirty="0" smtClean="0">
                <a:cs typeface="Arial" panose="020B0604020202020204" pitchFamily="34" charset="0"/>
              </a:rPr>
              <a:t>//Recursive </a:t>
            </a:r>
            <a:r>
              <a:rPr lang="en-US" altLang="en-US" sz="1800" dirty="0">
                <a:cs typeface="Arial" panose="020B0604020202020204" pitchFamily="34" charset="0"/>
              </a:rPr>
              <a:t>call for the first half of the path</a:t>
            </a:r>
          </a:p>
          <a:p>
            <a:pPr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en-US" sz="2000" dirty="0">
                <a:latin typeface="+mn-lt"/>
              </a:rPr>
              <a:t>        </a:t>
            </a:r>
            <a:r>
              <a:rPr lang="en-US" altLang="en-US" sz="2000" dirty="0" err="1">
                <a:latin typeface="+mn-lt"/>
              </a:rPr>
              <a:t>System.out.print</a:t>
            </a:r>
            <a:r>
              <a:rPr lang="en-US" altLang="en-US" sz="2000" dirty="0">
                <a:latin typeface="+mn-lt"/>
              </a:rPr>
              <a:t>("v" + </a:t>
            </a: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P[q][r</a:t>
            </a:r>
            <a:r>
              <a:rPr lang="en-US" altLang="en-US" sz="2000" dirty="0" smtClean="0">
                <a:solidFill>
                  <a:srgbClr val="C00000"/>
                </a:solidFill>
                <a:latin typeface="+mn-lt"/>
              </a:rPr>
              <a:t>] </a:t>
            </a:r>
            <a:r>
              <a:rPr lang="en-US" altLang="en-US" sz="2000" dirty="0" smtClean="0">
                <a:latin typeface="+mn-lt"/>
              </a:rPr>
              <a:t>); </a:t>
            </a:r>
            <a:r>
              <a:rPr lang="tr-TR" sz="1800" dirty="0" smtClean="0">
                <a:cs typeface="Arial" panose="020B0604020202020204" pitchFamily="34" charset="0"/>
              </a:rPr>
              <a:t>//Print </a:t>
            </a:r>
            <a:r>
              <a:rPr lang="tr-TR" sz="1800" dirty="0">
                <a:cs typeface="Arial" panose="020B0604020202020204" pitchFamily="34" charset="0"/>
              </a:rPr>
              <a:t>intermediate vertex</a:t>
            </a:r>
            <a:endParaRPr lang="en-US" altLang="en-US" sz="1800" dirty="0"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en-US" sz="2000" dirty="0">
                <a:latin typeface="+mn-lt"/>
              </a:rPr>
              <a:t>        </a:t>
            </a:r>
            <a:r>
              <a:rPr lang="en-US" altLang="en-US" sz="2000" b="1" dirty="0">
                <a:latin typeface="+mn-lt"/>
              </a:rPr>
              <a:t>path</a:t>
            </a:r>
            <a:r>
              <a:rPr lang="en-US" altLang="en-US" sz="2000" dirty="0" smtClean="0">
                <a:latin typeface="+mn-lt"/>
              </a:rPr>
              <a:t>( </a:t>
            </a:r>
            <a:r>
              <a:rPr lang="en-US" altLang="en-US" sz="2000" dirty="0" smtClean="0">
                <a:solidFill>
                  <a:srgbClr val="C00000"/>
                </a:solidFill>
                <a:latin typeface="+mn-lt"/>
              </a:rPr>
              <a:t>P[q</a:t>
            </a: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][r], </a:t>
            </a:r>
            <a:r>
              <a:rPr lang="en-US" altLang="en-US" sz="2000" dirty="0">
                <a:latin typeface="+mn-lt"/>
              </a:rPr>
              <a:t>r</a:t>
            </a:r>
            <a:r>
              <a:rPr lang="en-US" altLang="en-US" sz="2000" dirty="0" smtClean="0">
                <a:latin typeface="+mn-lt"/>
              </a:rPr>
              <a:t>); </a:t>
            </a:r>
            <a:r>
              <a:rPr lang="en-US" sz="1800" i="1" dirty="0" smtClean="0"/>
              <a:t>//Recursive </a:t>
            </a:r>
            <a:r>
              <a:rPr lang="en-US" sz="1800" i="1" dirty="0"/>
              <a:t>call for the second half of the path</a:t>
            </a:r>
            <a:endParaRPr lang="en-US" altLang="en-US" sz="1800" i="1" dirty="0">
              <a:latin typeface="+mn-lt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en-US" sz="2000" dirty="0">
                <a:latin typeface="+mn-lt"/>
              </a:rPr>
              <a:t>    }</a:t>
            </a:r>
          </a:p>
          <a:p>
            <a:pPr>
              <a:lnSpc>
                <a:spcPct val="110000"/>
              </a:lnSpc>
              <a:spcBef>
                <a:spcPct val="30000"/>
              </a:spcBef>
              <a:buNone/>
            </a:pPr>
            <a:r>
              <a:rPr lang="en-US" altLang="en-US" sz="2000" dirty="0">
                <a:latin typeface="+mn-lt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71" y="572112"/>
            <a:ext cx="7200900" cy="314325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7653956" y="2326227"/>
            <a:ext cx="4194983" cy="1536192"/>
            <a:chOff x="7882951" y="2159968"/>
            <a:chExt cx="4194983" cy="1536192"/>
          </a:xfrm>
        </p:grpSpPr>
        <p:sp>
          <p:nvSpPr>
            <p:cNvPr id="7" name="Oval 41"/>
            <p:cNvSpPr>
              <a:spLocks noChangeArrowheads="1"/>
            </p:cNvSpPr>
            <p:nvPr/>
          </p:nvSpPr>
          <p:spPr bwMode="auto">
            <a:xfrm>
              <a:off x="11200110" y="2769568"/>
              <a:ext cx="877824" cy="3937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Path(4,3)</a:t>
              </a:r>
            </a:p>
          </p:txBody>
        </p:sp>
        <p:sp>
          <p:nvSpPr>
            <p:cNvPr id="8" name="Oval 53"/>
            <p:cNvSpPr>
              <a:spLocks noChangeArrowheads="1"/>
            </p:cNvSpPr>
            <p:nvPr/>
          </p:nvSpPr>
          <p:spPr bwMode="auto">
            <a:xfrm>
              <a:off x="10059507" y="2159968"/>
              <a:ext cx="874713" cy="3937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Path(5,3)</a:t>
              </a:r>
            </a:p>
          </p:txBody>
        </p:sp>
        <p:cxnSp>
          <p:nvCxnSpPr>
            <p:cNvPr id="9" name="AutoShape 54"/>
            <p:cNvCxnSpPr>
              <a:cxnSpLocks noChangeShapeType="1"/>
              <a:stCxn id="8" idx="4"/>
              <a:endCxn id="7" idx="0"/>
            </p:cNvCxnSpPr>
            <p:nvPr/>
          </p:nvCxnSpPr>
          <p:spPr bwMode="auto">
            <a:xfrm>
              <a:off x="10496864" y="2553668"/>
              <a:ext cx="1142158" cy="21590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AutoShape 55"/>
            <p:cNvCxnSpPr>
              <a:cxnSpLocks noChangeShapeType="1"/>
              <a:stCxn id="8" idx="4"/>
              <a:endCxn id="11" idx="0"/>
            </p:cNvCxnSpPr>
            <p:nvPr/>
          </p:nvCxnSpPr>
          <p:spPr bwMode="auto">
            <a:xfrm flipH="1">
              <a:off x="9254106" y="2553668"/>
              <a:ext cx="1242758" cy="21590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" name="Oval 56"/>
            <p:cNvSpPr>
              <a:spLocks noChangeArrowheads="1"/>
            </p:cNvSpPr>
            <p:nvPr/>
          </p:nvSpPr>
          <p:spPr bwMode="auto">
            <a:xfrm>
              <a:off x="8815194" y="2769568"/>
              <a:ext cx="877824" cy="3937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Path(5,4)</a:t>
              </a:r>
            </a:p>
          </p:txBody>
        </p:sp>
        <p:sp>
          <p:nvSpPr>
            <p:cNvPr id="12" name="Oval 57"/>
            <p:cNvSpPr>
              <a:spLocks noChangeArrowheads="1"/>
            </p:cNvSpPr>
            <p:nvPr/>
          </p:nvSpPr>
          <p:spPr bwMode="auto">
            <a:xfrm>
              <a:off x="7882951" y="3302968"/>
              <a:ext cx="877824" cy="3931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Path(5,1)</a:t>
              </a:r>
            </a:p>
          </p:txBody>
        </p:sp>
        <p:cxnSp>
          <p:nvCxnSpPr>
            <p:cNvPr id="13" name="AutoShape 58"/>
            <p:cNvCxnSpPr>
              <a:cxnSpLocks noChangeShapeType="1"/>
              <a:stCxn id="11" idx="4"/>
              <a:endCxn id="12" idx="0"/>
            </p:cNvCxnSpPr>
            <p:nvPr/>
          </p:nvCxnSpPr>
          <p:spPr bwMode="auto">
            <a:xfrm flipH="1">
              <a:off x="8321863" y="3163268"/>
              <a:ext cx="932243" cy="13970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Oval 67"/>
            <p:cNvSpPr>
              <a:spLocks noChangeArrowheads="1"/>
            </p:cNvSpPr>
            <p:nvPr/>
          </p:nvSpPr>
          <p:spPr bwMode="auto">
            <a:xfrm>
              <a:off x="9677711" y="3302968"/>
              <a:ext cx="877824" cy="3931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Path(1,4)</a:t>
              </a:r>
            </a:p>
          </p:txBody>
        </p:sp>
        <p:cxnSp>
          <p:nvCxnSpPr>
            <p:cNvPr id="15" name="AutoShape 68"/>
            <p:cNvCxnSpPr>
              <a:cxnSpLocks noChangeShapeType="1"/>
              <a:stCxn id="11" idx="4"/>
              <a:endCxn id="14" idx="0"/>
            </p:cNvCxnSpPr>
            <p:nvPr/>
          </p:nvCxnSpPr>
          <p:spPr bwMode="auto">
            <a:xfrm>
              <a:off x="9254106" y="3163268"/>
              <a:ext cx="862517" cy="13970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55"/>
            <p:cNvCxnSpPr>
              <a:cxnSpLocks noChangeShapeType="1"/>
              <a:stCxn id="8" idx="4"/>
            </p:cNvCxnSpPr>
            <p:nvPr/>
          </p:nvCxnSpPr>
          <p:spPr bwMode="auto">
            <a:xfrm>
              <a:off x="10496864" y="2553668"/>
              <a:ext cx="0" cy="292608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55"/>
            <p:cNvCxnSpPr>
              <a:cxnSpLocks noChangeShapeType="1"/>
              <a:stCxn id="11" idx="4"/>
            </p:cNvCxnSpPr>
            <p:nvPr/>
          </p:nvCxnSpPr>
          <p:spPr bwMode="auto">
            <a:xfrm>
              <a:off x="9254106" y="3163268"/>
              <a:ext cx="0" cy="292608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Rectangle 17"/>
            <p:cNvSpPr/>
            <p:nvPr/>
          </p:nvSpPr>
          <p:spPr>
            <a:xfrm>
              <a:off x="8743604" y="3352393"/>
              <a:ext cx="100687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i="1" dirty="0" err="1"/>
                <a:t>cout</a:t>
              </a:r>
              <a:r>
                <a:rPr lang="en-US" altLang="en-US" sz="1600" i="1" dirty="0"/>
                <a:t> &lt;&lt; </a:t>
              </a:r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  <a:endParaRPr lang="en-US" sz="160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992287" y="2758245"/>
              <a:ext cx="10261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i="1" dirty="0" err="1"/>
                <a:t>cout</a:t>
              </a:r>
              <a:r>
                <a:rPr lang="en-US" altLang="en-US" sz="1600" i="1" dirty="0"/>
                <a:t> &lt;&lt; </a:t>
              </a:r>
              <a:r>
                <a:rPr lang="en-US" altLang="en-US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i="1" baseline="-25000" dirty="0">
                  <a:latin typeface="Times New Roman" panose="02020603050405020304" pitchFamily="18" charset="0"/>
                </a:rPr>
                <a:t>4</a:t>
              </a:r>
              <a:endParaRPr lang="en-US" dirty="0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8084180" y="1883922"/>
            <a:ext cx="37499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u="sng" dirty="0"/>
              <a:t>Tracing the Execution of path(5,3) </a:t>
            </a:r>
            <a:endParaRPr lang="en-US" sz="2000" dirty="0"/>
          </a:p>
        </p:txBody>
      </p:sp>
      <p:sp>
        <p:nvSpPr>
          <p:cNvPr id="74" name="Text Box 193"/>
          <p:cNvSpPr txBox="1">
            <a:spLocks noChangeArrowheads="1"/>
          </p:cNvSpPr>
          <p:nvPr/>
        </p:nvSpPr>
        <p:spPr>
          <a:xfrm>
            <a:off x="9600966" y="3990178"/>
            <a:ext cx="2583717" cy="2867822"/>
          </a:xfrm>
          <a:prstGeom prst="rect">
            <a:avLst/>
          </a:prstGeom>
          <a:solidFill>
            <a:srgbClr val="FFFF00"/>
          </a:solidFill>
        </p:spPr>
        <p:txBody>
          <a:bodyPr vert="horz" lIns="54000" tIns="45720" rIns="1800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US" sz="2000" u="sng" dirty="0"/>
              <a:t>Test Run: </a:t>
            </a: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/>
              <a:t>  path(</a:t>
            </a:r>
            <a:r>
              <a:rPr lang="en-US" altLang="en-US" sz="2000" b="1" dirty="0">
                <a:solidFill>
                  <a:srgbClr val="00B050"/>
                </a:solidFill>
              </a:rPr>
              <a:t>5</a:t>
            </a:r>
            <a:r>
              <a:rPr lang="en-US" altLang="en-US" sz="2000" dirty="0"/>
              <a:t>,</a:t>
            </a:r>
            <a:r>
              <a:rPr lang="en-US" altLang="en-US" sz="2000" b="1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) </a:t>
            </a: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/>
              <a:t>          path(</a:t>
            </a:r>
            <a:r>
              <a:rPr lang="en-US" altLang="en-US" sz="2000" b="1" dirty="0">
                <a:solidFill>
                  <a:srgbClr val="00B050"/>
                </a:solidFill>
              </a:rPr>
              <a:t>5</a:t>
            </a:r>
            <a:r>
              <a:rPr lang="en-US" altLang="en-US" sz="2000" dirty="0"/>
              <a:t>,</a:t>
            </a:r>
            <a:r>
              <a:rPr lang="en-US" altLang="en-US" sz="2000" b="1" dirty="0">
                <a:solidFill>
                  <a:srgbClr val="FF0000"/>
                </a:solidFill>
              </a:rPr>
              <a:t>4</a:t>
            </a:r>
            <a:r>
              <a:rPr lang="en-US" altLang="en-US" sz="2000" dirty="0"/>
              <a:t>)</a:t>
            </a: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/>
              <a:t>                   path(</a:t>
            </a:r>
            <a:r>
              <a:rPr lang="en-US" altLang="en-US" sz="2000" b="1" dirty="0">
                <a:solidFill>
                  <a:srgbClr val="00B050"/>
                </a:solidFill>
              </a:rPr>
              <a:t>5</a:t>
            </a:r>
            <a:r>
              <a:rPr lang="en-US" altLang="en-US" sz="2000" dirty="0"/>
              <a:t>,</a:t>
            </a:r>
            <a:r>
              <a:rPr lang="en-US" altLang="en-US" sz="2000" b="1" dirty="0">
                <a:solidFill>
                  <a:schemeClr val="accent1"/>
                </a:solidFill>
              </a:rPr>
              <a:t>1</a:t>
            </a:r>
            <a:r>
              <a:rPr lang="en-US" altLang="en-US" sz="2000" dirty="0"/>
              <a:t>)</a:t>
            </a: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/>
              <a:t>              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/>
              <a:t>  </a:t>
            </a: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/>
              <a:t>                   path(</a:t>
            </a:r>
            <a:r>
              <a:rPr lang="en-US" altLang="en-US" sz="2000" b="1" dirty="0">
                <a:solidFill>
                  <a:schemeClr val="accent1"/>
                </a:solidFill>
              </a:rPr>
              <a:t>1</a:t>
            </a:r>
            <a:r>
              <a:rPr lang="en-US" altLang="en-US" sz="2000" dirty="0"/>
              <a:t>,</a:t>
            </a:r>
            <a:r>
              <a:rPr lang="en-US" altLang="en-US" sz="2000" b="1" dirty="0">
                <a:solidFill>
                  <a:srgbClr val="FF0000"/>
                </a:solidFill>
              </a:rPr>
              <a:t>4</a:t>
            </a:r>
            <a:r>
              <a:rPr lang="en-US" altLang="en-US" sz="2000" dirty="0"/>
              <a:t>)</a:t>
            </a: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/>
              <a:t>    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</a:rPr>
              <a:t>4</a:t>
            </a: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/>
              <a:t>          path(</a:t>
            </a:r>
            <a:r>
              <a:rPr lang="en-US" altLang="en-US" sz="2000" b="1" dirty="0">
                <a:solidFill>
                  <a:srgbClr val="FF0000"/>
                </a:solidFill>
              </a:rPr>
              <a:t>4</a:t>
            </a:r>
            <a:r>
              <a:rPr lang="en-US" altLang="en-US" sz="2000" dirty="0"/>
              <a:t>,</a:t>
            </a:r>
            <a:r>
              <a:rPr lang="en-US" altLang="en-US" sz="2000" b="1" dirty="0">
                <a:solidFill>
                  <a:srgbClr val="00B050"/>
                </a:solidFill>
              </a:rPr>
              <a:t>3</a:t>
            </a:r>
            <a:r>
              <a:rPr lang="en-US" altLang="en-US" sz="2000" dirty="0"/>
              <a:t>)</a:t>
            </a:r>
            <a:endParaRPr lang="en-US" altLang="en-US" sz="2000" u="sng" dirty="0"/>
          </a:p>
        </p:txBody>
      </p:sp>
      <p:graphicFrame>
        <p:nvGraphicFramePr>
          <p:cNvPr id="21" name="Group 77">
            <a:extLst>
              <a:ext uri="{FF2B5EF4-FFF2-40B4-BE49-F238E27FC236}">
                <a16:creationId xmlns:a16="http://schemas.microsoft.com/office/drawing/2014/main" id="{9FB0B606-F344-8448-8323-764E94645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54018"/>
              </p:ext>
            </p:extLst>
          </p:nvPr>
        </p:nvGraphicFramePr>
        <p:xfrm>
          <a:off x="7230172" y="4212778"/>
          <a:ext cx="2362200" cy="2085976"/>
        </p:xfrm>
        <a:graphic>
          <a:graphicData uri="http://schemas.openxmlformats.org/drawingml/2006/table">
            <a:tbl>
              <a:tblPr/>
              <a:tblGrid>
                <a:gridCol w="393700">
                  <a:extLst>
                    <a:ext uri="{9D8B030D-6E8A-4147-A177-3AD203B41FA5}">
                      <a16:colId xmlns:a16="http://schemas.microsoft.com/office/drawing/2014/main" val="366258191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3037010531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581029094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746087851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3348859564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1893002839"/>
                    </a:ext>
                  </a:extLst>
                </a:gridCol>
              </a:tblGrid>
              <a:tr h="76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299753"/>
                  </a:ext>
                </a:extLst>
              </a:tr>
              <a:tr h="347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576673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133355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133064"/>
                  </a:ext>
                </a:extLst>
              </a:tr>
              <a:tr h="347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169563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019142"/>
                  </a:ext>
                </a:extLst>
              </a:tr>
            </a:tbl>
          </a:graphicData>
        </a:graphic>
      </p:graphicFrame>
      <p:grpSp>
        <p:nvGrpSpPr>
          <p:cNvPr id="22" name="Group 810">
            <a:extLst>
              <a:ext uri="{FF2B5EF4-FFF2-40B4-BE49-F238E27FC236}">
                <a16:creationId xmlns:a16="http://schemas.microsoft.com/office/drawing/2014/main" id="{8E5DF402-0941-5646-A6A8-87EDE30FAA8C}"/>
              </a:ext>
            </a:extLst>
          </p:cNvPr>
          <p:cNvGrpSpPr>
            <a:grpSpLocks/>
          </p:cNvGrpSpPr>
          <p:nvPr/>
        </p:nvGrpSpPr>
        <p:grpSpPr bwMode="auto">
          <a:xfrm>
            <a:off x="8092868" y="-140111"/>
            <a:ext cx="3962400" cy="2224088"/>
            <a:chOff x="1435" y="576"/>
            <a:chExt cx="2496" cy="1401"/>
          </a:xfrm>
        </p:grpSpPr>
        <p:sp>
          <p:nvSpPr>
            <p:cNvPr id="23" name="Oval 811">
              <a:extLst>
                <a:ext uri="{FF2B5EF4-FFF2-40B4-BE49-F238E27FC236}">
                  <a16:creationId xmlns:a16="http://schemas.microsoft.com/office/drawing/2014/main" id="{3A3A2694-3446-DD43-836E-D6B8E6E4D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710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200" i="1" dirty="0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 dirty="0">
                  <a:latin typeface="Times New Roman" panose="02020603050405020304" pitchFamily="18" charset="0"/>
                </a:rPr>
                <a:t>1</a:t>
              </a:r>
              <a:endParaRPr lang="en-US" altLang="en-QA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4" name="Oval 812">
              <a:extLst>
                <a:ext uri="{FF2B5EF4-FFF2-40B4-BE49-F238E27FC236}">
                  <a16:creationId xmlns:a16="http://schemas.microsoft.com/office/drawing/2014/main" id="{EC83C2F8-6E9B-1F43-B7A6-23FFA3C84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710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/>
            <a:p>
              <a:pPr eaLnBrk="0" hangingPunct="0"/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2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25" name="Oval 813">
              <a:extLst>
                <a:ext uri="{FF2B5EF4-FFF2-40B4-BE49-F238E27FC236}">
                  <a16:creationId xmlns:a16="http://schemas.microsoft.com/office/drawing/2014/main" id="{D43E9F9E-23EC-4147-8935-461197E62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512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/>
            <a:p>
              <a:pPr eaLnBrk="0" hangingPunct="0"/>
              <a:r>
                <a:rPr lang="en-US" altLang="en-QA" i="1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4</a:t>
              </a:r>
              <a:endParaRPr lang="en-US" altLang="en-QA" sz="10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814">
              <a:extLst>
                <a:ext uri="{FF2B5EF4-FFF2-40B4-BE49-F238E27FC236}">
                  <a16:creationId xmlns:a16="http://schemas.microsoft.com/office/drawing/2014/main" id="{0F05CA96-30F4-5F4F-9D9D-DB8518E8F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1512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000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3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27" name="Oval 815">
              <a:extLst>
                <a:ext uri="{FF2B5EF4-FFF2-40B4-BE49-F238E27FC236}">
                  <a16:creationId xmlns:a16="http://schemas.microsoft.com/office/drawing/2014/main" id="{242D921C-CF67-7141-9628-F6E0DE35B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" y="1111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00800" tIns="0"/>
            <a:lstStyle/>
            <a:p>
              <a:pPr eaLnBrk="0" hangingPunct="0"/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5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28" name="Line 816">
              <a:extLst>
                <a:ext uri="{FF2B5EF4-FFF2-40B4-BE49-F238E27FC236}">
                  <a16:creationId xmlns:a16="http://schemas.microsoft.com/office/drawing/2014/main" id="{BC195D44-1475-6643-8386-383A3EF220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3" y="950"/>
              <a:ext cx="602" cy="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9" name="Line 817">
              <a:extLst>
                <a:ext uri="{FF2B5EF4-FFF2-40B4-BE49-F238E27FC236}">
                  <a16:creationId xmlns:a16="http://schemas.microsoft.com/office/drawing/2014/main" id="{6934E962-C016-C743-A8F3-F995E5C61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7" y="1031"/>
              <a:ext cx="587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30" name="Line 818">
              <a:extLst>
                <a:ext uri="{FF2B5EF4-FFF2-40B4-BE49-F238E27FC236}">
                  <a16:creationId xmlns:a16="http://schemas.microsoft.com/office/drawing/2014/main" id="{F65774FB-CBA1-074A-AF28-C48F47E045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8" y="1062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31" name="Line 819">
              <a:extLst>
                <a:ext uri="{FF2B5EF4-FFF2-40B4-BE49-F238E27FC236}">
                  <a16:creationId xmlns:a16="http://schemas.microsoft.com/office/drawing/2014/main" id="{3258F28C-CAF0-A94A-BB46-0FCD44100A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3" y="800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32" name="Line 820">
              <a:extLst>
                <a:ext uri="{FF2B5EF4-FFF2-40B4-BE49-F238E27FC236}">
                  <a16:creationId xmlns:a16="http://schemas.microsoft.com/office/drawing/2014/main" id="{60913448-B82F-E548-A151-14CFBAC058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67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33" name="Line 821">
              <a:extLst>
                <a:ext uri="{FF2B5EF4-FFF2-40B4-BE49-F238E27FC236}">
                  <a16:creationId xmlns:a16="http://schemas.microsoft.com/office/drawing/2014/main" id="{8CBE50D7-5520-5940-A1A1-F461C5155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1111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34" name="Line 822">
              <a:extLst>
                <a:ext uri="{FF2B5EF4-FFF2-40B4-BE49-F238E27FC236}">
                  <a16:creationId xmlns:a16="http://schemas.microsoft.com/office/drawing/2014/main" id="{83E9CD79-0165-A94D-AA89-A0CA47746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" y="1111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35" name="Line 823">
              <a:extLst>
                <a:ext uri="{FF2B5EF4-FFF2-40B4-BE49-F238E27FC236}">
                  <a16:creationId xmlns:a16="http://schemas.microsoft.com/office/drawing/2014/main" id="{CA43C5D9-0B1B-6445-9C8B-C254B4E99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75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36" name="Line 824">
              <a:extLst>
                <a:ext uri="{FF2B5EF4-FFF2-40B4-BE49-F238E27FC236}">
                  <a16:creationId xmlns:a16="http://schemas.microsoft.com/office/drawing/2014/main" id="{517F774F-F82A-6548-8CB1-7B9F86B1F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950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37" name="Line 825">
              <a:extLst>
                <a:ext uri="{FF2B5EF4-FFF2-40B4-BE49-F238E27FC236}">
                  <a16:creationId xmlns:a16="http://schemas.microsoft.com/office/drawing/2014/main" id="{3C85B645-2AD0-8644-82F1-820E5DF92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1" y="1432"/>
              <a:ext cx="611" cy="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38" name="Text Box 826">
              <a:extLst>
                <a:ext uri="{FF2B5EF4-FFF2-40B4-BE49-F238E27FC236}">
                  <a16:creationId xmlns:a16="http://schemas.microsoft.com/office/drawing/2014/main" id="{E9C9A337-E5EB-204D-9A5A-E5B970DA3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817"/>
              <a:ext cx="20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" name="Text Box 827">
              <a:extLst>
                <a:ext uri="{FF2B5EF4-FFF2-40B4-BE49-F238E27FC236}">
                  <a16:creationId xmlns:a16="http://schemas.microsoft.com/office/drawing/2014/main" id="{E2E0AEFF-71B2-DF45-9DC6-4B8503CD1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5" y="1699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" name="Text Box 828">
              <a:extLst>
                <a:ext uri="{FF2B5EF4-FFF2-40B4-BE49-F238E27FC236}">
                  <a16:creationId xmlns:a16="http://schemas.microsoft.com/office/drawing/2014/main" id="{58784395-CFB7-7246-A586-1F414190C8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1488"/>
              <a:ext cx="230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1" name="Text Box 829">
              <a:extLst>
                <a:ext uri="{FF2B5EF4-FFF2-40B4-BE49-F238E27FC236}">
                  <a16:creationId xmlns:a16="http://schemas.microsoft.com/office/drawing/2014/main" id="{C3854E5C-9296-664F-93BE-4C50ADF53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1" y="1459"/>
              <a:ext cx="25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2</a:t>
              </a:r>
            </a:p>
            <a:p>
              <a:pPr eaLnBrk="0" hangingPunct="0"/>
              <a:endParaRPr lang="en-US" altLang="en-QA" sz="2000"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830">
              <a:extLst>
                <a:ext uri="{FF2B5EF4-FFF2-40B4-BE49-F238E27FC236}">
                  <a16:creationId xmlns:a16="http://schemas.microsoft.com/office/drawing/2014/main" id="{9D948826-3DC2-A149-88E3-C3CF975D1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" y="1068"/>
              <a:ext cx="203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3" name="Text Box 831">
              <a:extLst>
                <a:ext uri="{FF2B5EF4-FFF2-40B4-BE49-F238E27FC236}">
                  <a16:creationId xmlns:a16="http://schemas.microsoft.com/office/drawing/2014/main" id="{F103FC14-F276-A74A-B0A8-15714EE28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1121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4" name="Text Box 832">
              <a:extLst>
                <a:ext uri="{FF2B5EF4-FFF2-40B4-BE49-F238E27FC236}">
                  <a16:creationId xmlns:a16="http://schemas.microsoft.com/office/drawing/2014/main" id="{87AF51C2-AD9E-3F4C-81D4-38683A4D5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907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45" name="Text Box 833">
              <a:extLst>
                <a:ext uri="{FF2B5EF4-FFF2-40B4-BE49-F238E27FC236}">
                  <a16:creationId xmlns:a16="http://schemas.microsoft.com/office/drawing/2014/main" id="{16A8687B-3D60-4A40-825B-6B3F15729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576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6" name="Text Box 834">
              <a:extLst>
                <a:ext uri="{FF2B5EF4-FFF2-40B4-BE49-F238E27FC236}">
                  <a16:creationId xmlns:a16="http://schemas.microsoft.com/office/drawing/2014/main" id="{44F1AEA9-C5D1-8048-9A92-70072DEA5B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2" y="1175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33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48416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228" y="179827"/>
            <a:ext cx="10515600" cy="534876"/>
          </a:xfrm>
        </p:spPr>
        <p:txBody>
          <a:bodyPr>
            <a:normAutofit/>
          </a:bodyPr>
          <a:lstStyle/>
          <a:p>
            <a:r>
              <a:rPr lang="en-US" dirty="0" smtClean="0"/>
              <a:t>Java code </a:t>
            </a:r>
            <a:r>
              <a:rPr lang="en-US" dirty="0"/>
              <a:t>for </a:t>
            </a:r>
            <a:r>
              <a:rPr lang="en-US" dirty="0" smtClean="0"/>
              <a:t>printing </a:t>
            </a:r>
            <a:r>
              <a:rPr lang="en-US" dirty="0"/>
              <a:t>the shortest path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24" y="1019504"/>
            <a:ext cx="11845158" cy="2333296"/>
          </a:xfrm>
          <a:solidFill>
            <a:srgbClr val="FFFF00"/>
          </a:solidFill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path(</a:t>
            </a: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tr-TR" sz="22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(P[</a:t>
            </a:r>
            <a:r>
              <a:rPr lang="tr-TR" sz="22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22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] != 0) { 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// Check if there is an intermediate vertex</a:t>
            </a:r>
            <a:endParaRPr lang="tr-T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2200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path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2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P[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tr-TR" sz="22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// First half of the path</a:t>
            </a:r>
            <a:endParaRPr lang="tr-T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200" b="1" i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200" dirty="0">
                <a:solidFill>
                  <a:srgbClr val="2A00FF"/>
                </a:solidFill>
                <a:latin typeface="Consolas" panose="020B0609020204030204" pitchFamily="49" charset="0"/>
              </a:rPr>
              <a:t>"v"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P[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2200" dirty="0">
                <a:solidFill>
                  <a:srgbClr val="2A00FF"/>
                </a:solidFill>
                <a:latin typeface="Consolas" panose="020B0609020204030204" pitchFamily="49" charset="0"/>
              </a:rPr>
              <a:t>" → "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18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//Print 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intermediate vertex</a:t>
            </a:r>
            <a:endParaRPr lang="tr-T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2200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path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2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P[</a:t>
            </a:r>
            <a:r>
              <a:rPr lang="tr-TR" sz="22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tr-TR" sz="22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2200" dirty="0">
                <a:solidFill>
                  <a:srgbClr val="6A3E3E"/>
                </a:solidFill>
                <a:latin typeface="Consolas" panose="020B0609020204030204" pitchFamily="49" charset="0"/>
              </a:rPr>
              <a:t>r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// Second half of the path</a:t>
            </a:r>
            <a:endParaRPr lang="tr-T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sz="2200" dirty="0"/>
          </a:p>
        </p:txBody>
      </p:sp>
      <p:sp>
        <p:nvSpPr>
          <p:cNvPr id="5" name="Rectangle 4"/>
          <p:cNvSpPr/>
          <p:nvPr/>
        </p:nvSpPr>
        <p:spPr>
          <a:xfrm>
            <a:off x="231228" y="3995879"/>
            <a:ext cx="11740054" cy="163121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  <a:cs typeface="Arial" panose="020B0604020202020204" pitchFamily="34" charset="0"/>
              </a:rPr>
              <a:t>//If you want to use the above code, the arrays must be declared as follows</a:t>
            </a:r>
          </a:p>
          <a:p>
            <a:r>
              <a:rPr lang="en-US" sz="2000" dirty="0" smtClean="0">
                <a:latin typeface="Consolas" panose="020B0609020204030204" pitchFamily="49" charset="0"/>
                <a:cs typeface="Arial" panose="020B0604020202020204" pitchFamily="34" charset="0"/>
              </a:rPr>
              <a:t>//Otherwise, </a:t>
            </a:r>
            <a:r>
              <a:rPr lang="en-US" sz="2000" b="1" u="sng" dirty="0" smtClean="0">
                <a:latin typeface="Consolas" panose="020B0609020204030204" pitchFamily="49" charset="0"/>
                <a:cs typeface="Arial" panose="020B0604020202020204" pitchFamily="34" charset="0"/>
              </a:rPr>
              <a:t>subtract 1 from P[q][r]</a:t>
            </a:r>
            <a:r>
              <a:rPr lang="en-US" sz="2000" dirty="0" smtClean="0">
                <a:latin typeface="Consolas" panose="020B0609020204030204" pitchFamily="49" charset="0"/>
                <a:cs typeface="Arial" panose="020B0604020202020204" pitchFamily="34" charset="0"/>
              </a:rPr>
              <a:t> in the code above if you use </a:t>
            </a:r>
            <a:r>
              <a:rPr lang="en-US" sz="2000" b="1" dirty="0" smtClean="0">
                <a:latin typeface="Consolas" panose="020B0609020204030204" pitchFamily="49" charset="0"/>
                <a:cs typeface="Arial" panose="020B0604020202020204" pitchFamily="34" charset="0"/>
              </a:rPr>
              <a:t>0-based indexing</a:t>
            </a:r>
          </a:p>
          <a:p>
            <a:endParaRPr lang="en-US" sz="2000" dirty="0" smtClean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[][] D = new int[n + 1][n + 1]; // Use 1-based indexing        </a:t>
            </a:r>
            <a:endParaRPr lang="en-US" sz="2000" dirty="0" smtClean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Consolas" panose="020B0609020204030204" pitchFamily="49" charset="0"/>
                <a:cs typeface="Arial" panose="020B0604020202020204" pitchFamily="34" charset="0"/>
              </a:rPr>
              <a:t>P </a:t>
            </a:r>
            <a:r>
              <a:rPr 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= new int[n + 1][n + 1]; // Path matrix with 1-based indexing</a:t>
            </a:r>
            <a:endParaRPr lang="tr-TR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34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54928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E18F8A2E-BF20-BC4D-9362-FBEE842CB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81" y="0"/>
            <a:ext cx="9850582" cy="586507"/>
          </a:xfrm>
        </p:spPr>
        <p:txBody>
          <a:bodyPr>
            <a:normAutofit/>
          </a:bodyPr>
          <a:lstStyle/>
          <a:p>
            <a:r>
              <a:rPr lang="en-US" altLang="en-QA" b="0" dirty="0">
                <a:latin typeface="+mn-lt"/>
              </a:rPr>
              <a:t>Dynamic Programming and Optimization Problems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1C745B4C-68D3-8247-B38E-7A591D073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5472" y="685799"/>
            <a:ext cx="11584790" cy="568234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QA" u="sng" dirty="0">
                <a:solidFill>
                  <a:srgbClr val="00B050"/>
                </a:solidFill>
              </a:rPr>
              <a:t>Dynamic Programming </a:t>
            </a:r>
            <a:r>
              <a:rPr lang="en-US" altLang="en-QA" dirty="0"/>
              <a:t>can </a:t>
            </a:r>
            <a:r>
              <a:rPr lang="en-US" altLang="en-QA" dirty="0" smtClean="0"/>
              <a:t>be </a:t>
            </a:r>
            <a:r>
              <a:rPr lang="en-US" altLang="en-QA" b="1" u="sng" dirty="0" smtClean="0"/>
              <a:t>also </a:t>
            </a:r>
            <a:r>
              <a:rPr lang="en-US" altLang="en-QA" b="1" u="sng" dirty="0"/>
              <a:t>used </a:t>
            </a:r>
            <a:r>
              <a:rPr lang="en-US" altLang="en-QA" dirty="0"/>
              <a:t>to solve </a:t>
            </a:r>
            <a:r>
              <a:rPr lang="en-US" altLang="en-QA" b="1" u="sng" dirty="0"/>
              <a:t>optimization problems </a:t>
            </a:r>
            <a:r>
              <a:rPr lang="en-US" altLang="en-QA" dirty="0"/>
              <a:t>such as the shortest path </a:t>
            </a:r>
            <a:r>
              <a:rPr lang="en-US" altLang="en-QA" dirty="0" smtClean="0"/>
              <a:t>problem</a:t>
            </a:r>
            <a:endParaRPr lang="en-US" altLang="en-QA" dirty="0"/>
          </a:p>
          <a:p>
            <a:pPr lvl="5">
              <a:lnSpc>
                <a:spcPct val="80000"/>
              </a:lnSpc>
            </a:pPr>
            <a:endParaRPr lang="en-US" altLang="en-QA" dirty="0"/>
          </a:p>
          <a:p>
            <a:pPr>
              <a:lnSpc>
                <a:spcPct val="80000"/>
              </a:lnSpc>
            </a:pPr>
            <a:r>
              <a:rPr lang="en-US" altLang="en-QA" dirty="0"/>
              <a:t>Dynamic Programming for </a:t>
            </a:r>
            <a:r>
              <a:rPr lang="en-US" altLang="en-QA" b="1" u="sng" dirty="0"/>
              <a:t>Optimization Problems </a:t>
            </a:r>
            <a:endParaRPr lang="en-US" altLang="en-QA" b="1" u="sng" dirty="0" smtClean="0"/>
          </a:p>
          <a:p>
            <a:pPr lvl="1">
              <a:lnSpc>
                <a:spcPct val="80000"/>
              </a:lnSpc>
            </a:pPr>
            <a:r>
              <a:rPr lang="en-US" altLang="en-QA" sz="2400" dirty="0" smtClean="0"/>
              <a:t>requires </a:t>
            </a:r>
            <a:r>
              <a:rPr lang="en-US" altLang="en-QA" sz="2400" dirty="0">
                <a:solidFill>
                  <a:srgbClr val="0070C0"/>
                </a:solidFill>
              </a:rPr>
              <a:t>a third step</a:t>
            </a:r>
            <a:r>
              <a:rPr lang="en-US" altLang="en-QA" sz="2400" dirty="0"/>
              <a:t> which is to </a:t>
            </a:r>
            <a:r>
              <a:rPr lang="en-US" altLang="en-QA" sz="2400" b="1" u="sng" dirty="0">
                <a:solidFill>
                  <a:srgbClr val="0070C0"/>
                </a:solidFill>
              </a:rPr>
              <a:t>construct the optimal </a:t>
            </a:r>
            <a:r>
              <a:rPr lang="en-US" altLang="en-QA" sz="2400" b="1" u="sng" dirty="0" smtClean="0">
                <a:solidFill>
                  <a:srgbClr val="0070C0"/>
                </a:solidFill>
              </a:rPr>
              <a:t>solution</a:t>
            </a:r>
            <a:endParaRPr lang="en-US" altLang="en-QA" sz="2400" b="1" u="sng" dirty="0">
              <a:solidFill>
                <a:srgbClr val="0070C0"/>
              </a:solidFill>
            </a:endParaRPr>
          </a:p>
          <a:p>
            <a:pPr lvl="6">
              <a:lnSpc>
                <a:spcPct val="80000"/>
              </a:lnSpc>
            </a:pPr>
            <a:endParaRPr lang="en-US" altLang="en-QA" dirty="0"/>
          </a:p>
          <a:p>
            <a:pPr>
              <a:lnSpc>
                <a:spcPct val="80000"/>
              </a:lnSpc>
            </a:pPr>
            <a:r>
              <a:rPr lang="en-US" altLang="en-QA" dirty="0"/>
              <a:t>Thus, there must be </a:t>
            </a:r>
            <a:r>
              <a:rPr lang="en-US" altLang="en-QA" dirty="0" smtClean="0">
                <a:solidFill>
                  <a:srgbClr val="0070C0"/>
                </a:solidFill>
              </a:rPr>
              <a:t>3 steps</a:t>
            </a:r>
            <a:endParaRPr lang="en-US" altLang="en-QA" i="1" dirty="0">
              <a:solidFill>
                <a:srgbClr val="0070C0"/>
              </a:solidFill>
            </a:endParaRPr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QA" sz="2400" u="sng" dirty="0" smtClean="0">
                <a:solidFill>
                  <a:srgbClr val="00B050"/>
                </a:solidFill>
              </a:rPr>
              <a:t>Establish a recursive property </a:t>
            </a:r>
            <a:r>
              <a:rPr lang="en-US" altLang="en-QA" sz="2400" dirty="0" smtClean="0"/>
              <a:t>that </a:t>
            </a:r>
            <a:r>
              <a:rPr lang="en-US" altLang="en-QA" sz="2400" dirty="0"/>
              <a:t>gives the optimal solution of the </a:t>
            </a:r>
            <a:r>
              <a:rPr lang="en-US" altLang="en-QA" sz="2400" dirty="0" smtClean="0"/>
              <a:t>problem</a:t>
            </a:r>
            <a:endParaRPr lang="en-US" altLang="en-QA" sz="2400" dirty="0"/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QA" sz="2400" u="sng" dirty="0">
                <a:solidFill>
                  <a:srgbClr val="C00000"/>
                </a:solidFill>
              </a:rPr>
              <a:t>Compute the </a:t>
            </a:r>
            <a:r>
              <a:rPr lang="en-US" altLang="en-QA" sz="2400" u="sng" dirty="0" smtClean="0">
                <a:solidFill>
                  <a:srgbClr val="C00000"/>
                </a:solidFill>
              </a:rPr>
              <a:t>optimal </a:t>
            </a:r>
            <a:r>
              <a:rPr lang="en-US" altLang="en-QA" sz="2400" u="sng" dirty="0">
                <a:solidFill>
                  <a:srgbClr val="C00000"/>
                </a:solidFill>
              </a:rPr>
              <a:t>solution </a:t>
            </a:r>
            <a:r>
              <a:rPr lang="en-US" altLang="en-QA" sz="2400" dirty="0"/>
              <a:t>in a bottom-up </a:t>
            </a:r>
            <a:r>
              <a:rPr lang="en-US" altLang="en-QA" sz="2400" dirty="0" smtClean="0"/>
              <a:t>fashion</a:t>
            </a:r>
            <a:endParaRPr lang="en-US" altLang="en-QA" sz="2400" dirty="0"/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QA" sz="2400" u="sng" dirty="0">
                <a:solidFill>
                  <a:srgbClr val="0070C0"/>
                </a:solidFill>
              </a:rPr>
              <a:t>Construct the optimal solution </a:t>
            </a:r>
            <a:r>
              <a:rPr lang="en-US" altLang="en-QA" sz="2400" dirty="0"/>
              <a:t>in a bottom up </a:t>
            </a:r>
            <a:r>
              <a:rPr lang="en-US" altLang="en-QA" sz="2400" dirty="0" smtClean="0"/>
              <a:t>fashion</a:t>
            </a:r>
            <a:endParaRPr lang="en-US" altLang="en-QA" sz="800" dirty="0"/>
          </a:p>
          <a:p>
            <a:pPr lvl="5">
              <a:lnSpc>
                <a:spcPct val="80000"/>
              </a:lnSpc>
            </a:pPr>
            <a:endParaRPr lang="en-US" altLang="en-QA" sz="800" dirty="0"/>
          </a:p>
          <a:p>
            <a:pPr>
              <a:lnSpc>
                <a:spcPct val="80000"/>
              </a:lnSpc>
            </a:pPr>
            <a:r>
              <a:rPr lang="en-US" altLang="en-QA" u="sng" dirty="0">
                <a:solidFill>
                  <a:srgbClr val="C00000"/>
                </a:solidFill>
              </a:rPr>
              <a:t>Not every optimization problem can be solved </a:t>
            </a:r>
            <a:r>
              <a:rPr lang="en-US" altLang="en-QA" dirty="0"/>
              <a:t>using dynamic </a:t>
            </a:r>
            <a:r>
              <a:rPr lang="en-US" altLang="en-QA" dirty="0" smtClean="0"/>
              <a:t>programming</a:t>
            </a:r>
            <a:endParaRPr lang="en-US" altLang="en-QA" sz="200" dirty="0"/>
          </a:p>
          <a:p>
            <a:pPr>
              <a:lnSpc>
                <a:spcPct val="85000"/>
              </a:lnSpc>
            </a:pPr>
            <a:endParaRPr lang="en-US" altLang="en-QA" dirty="0" smtClean="0"/>
          </a:p>
          <a:p>
            <a:pPr>
              <a:lnSpc>
                <a:spcPct val="85000"/>
              </a:lnSpc>
            </a:pPr>
            <a:r>
              <a:rPr lang="en-US" altLang="en-QA" b="1" u="sng" dirty="0" smtClean="0">
                <a:solidFill>
                  <a:srgbClr val="0070C0"/>
                </a:solidFill>
              </a:rPr>
              <a:t>Dynamic </a:t>
            </a:r>
            <a:r>
              <a:rPr lang="en-US" altLang="en-QA" b="1" u="sng" dirty="0">
                <a:solidFill>
                  <a:srgbClr val="0070C0"/>
                </a:solidFill>
              </a:rPr>
              <a:t>programming </a:t>
            </a:r>
            <a:r>
              <a:rPr lang="en-US" altLang="en-QA" b="1" dirty="0"/>
              <a:t>solves only those problems </a:t>
            </a:r>
            <a:r>
              <a:rPr lang="en-US" altLang="en-QA" sz="2400" dirty="0" smtClean="0"/>
              <a:t>for </a:t>
            </a:r>
            <a:r>
              <a:rPr lang="en-US" altLang="en-QA" dirty="0"/>
              <a:t>which the </a:t>
            </a:r>
          </a:p>
          <a:p>
            <a:pPr lvl="1">
              <a:lnSpc>
                <a:spcPct val="85000"/>
              </a:lnSpc>
            </a:pPr>
            <a:r>
              <a:rPr lang="en-US" altLang="en-QA" u="sng" dirty="0" smtClean="0">
                <a:solidFill>
                  <a:srgbClr val="00B050"/>
                </a:solidFill>
              </a:rPr>
              <a:t>principle </a:t>
            </a:r>
            <a:r>
              <a:rPr lang="en-US" altLang="en-QA" u="sng" dirty="0">
                <a:solidFill>
                  <a:srgbClr val="00B050"/>
                </a:solidFill>
              </a:rPr>
              <a:t>of optimality</a:t>
            </a:r>
            <a:r>
              <a:rPr lang="en-US" altLang="en-QA" dirty="0"/>
              <a:t> </a:t>
            </a:r>
            <a:r>
              <a:rPr lang="en-US" altLang="en-QA" dirty="0" smtClean="0"/>
              <a:t>holds</a:t>
            </a:r>
            <a:endParaRPr lang="en-US" altLang="en-Q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35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15925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0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0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0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0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09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09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09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09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978"/>
            <a:ext cx="10515600" cy="570295"/>
          </a:xfrm>
        </p:spPr>
        <p:txBody>
          <a:bodyPr/>
          <a:lstStyle/>
          <a:p>
            <a:r>
              <a:rPr lang="en-US" dirty="0" smtClean="0"/>
              <a:t>3 Steps used for Floyd’s Shortest Path Algorithm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952" y="998483"/>
            <a:ext cx="10515600" cy="5441239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tr-TR" b="1" dirty="0">
                <a:solidFill>
                  <a:srgbClr val="0070C0"/>
                </a:solidFill>
              </a:rPr>
              <a:t>Step </a:t>
            </a:r>
            <a:r>
              <a:rPr lang="tr-TR" b="1" dirty="0" smtClean="0">
                <a:solidFill>
                  <a:srgbClr val="0070C0"/>
                </a:solidFill>
              </a:rPr>
              <a:t>1</a:t>
            </a:r>
            <a:r>
              <a:rPr lang="en-US" b="1" dirty="0" smtClean="0">
                <a:solidFill>
                  <a:srgbClr val="0070C0"/>
                </a:solidFill>
              </a:rPr>
              <a:t>: </a:t>
            </a:r>
            <a:r>
              <a:rPr lang="tr-TR" b="1" dirty="0" smtClean="0">
                <a:solidFill>
                  <a:srgbClr val="0070C0"/>
                </a:solidFill>
              </a:rPr>
              <a:t>Establish </a:t>
            </a:r>
            <a:r>
              <a:rPr lang="tr-TR" b="1" dirty="0">
                <a:solidFill>
                  <a:srgbClr val="0070C0"/>
                </a:solidFill>
              </a:rPr>
              <a:t>a Recursive </a:t>
            </a:r>
            <a:r>
              <a:rPr lang="tr-TR" b="1" dirty="0" smtClean="0">
                <a:solidFill>
                  <a:srgbClr val="0070C0"/>
                </a:solidFill>
              </a:rPr>
              <a:t>Property</a:t>
            </a:r>
            <a:r>
              <a:rPr lang="en-US" b="1" dirty="0" smtClean="0">
                <a:solidFill>
                  <a:srgbClr val="0070C0"/>
                </a:solidFill>
              </a:rPr>
              <a:t>: </a:t>
            </a:r>
            <a:r>
              <a:rPr lang="tr-TR" dirty="0" smtClean="0"/>
              <a:t>Define </a:t>
            </a:r>
            <a:r>
              <a:rPr lang="tr-TR" dirty="0"/>
              <a:t>the recursive relation for the shortest path</a:t>
            </a:r>
            <a:r>
              <a:rPr lang="tr-TR" dirty="0" smtClean="0"/>
              <a:t>:</a:t>
            </a:r>
            <a:r>
              <a:rPr lang="en-US" dirty="0"/>
              <a:t> </a:t>
            </a:r>
            <a:r>
              <a:rPr lang="tr-TR" b="1" dirty="0" smtClean="0"/>
              <a:t>𝐷</a:t>
            </a:r>
            <a:r>
              <a:rPr lang="tr-TR" b="1" baseline="-25000" dirty="0" smtClean="0"/>
              <a:t>𝑘</a:t>
            </a:r>
            <a:r>
              <a:rPr lang="tr-TR" b="1" dirty="0"/>
              <a:t>[𝑖][𝑗</a:t>
            </a:r>
            <a:r>
              <a:rPr lang="tr-TR" b="1" dirty="0" smtClean="0"/>
              <a:t>]</a:t>
            </a:r>
            <a:r>
              <a:rPr lang="en-US" b="1" dirty="0" smtClean="0"/>
              <a:t> </a:t>
            </a:r>
            <a:r>
              <a:rPr lang="tr-TR" b="1" dirty="0" smtClean="0"/>
              <a:t>=</a:t>
            </a:r>
            <a:r>
              <a:rPr lang="en-US" b="1" dirty="0" smtClean="0"/>
              <a:t> </a:t>
            </a:r>
            <a:r>
              <a:rPr lang="tr-TR" b="1" dirty="0" smtClean="0"/>
              <a:t>min</a:t>
            </a:r>
            <a:r>
              <a:rPr lang="tr-TR" dirty="0"/>
              <a:t>⁡</a:t>
            </a:r>
            <a:r>
              <a:rPr lang="tr-TR" dirty="0" smtClean="0"/>
              <a:t>(</a:t>
            </a:r>
            <a:r>
              <a:rPr lang="en-US" dirty="0" smtClean="0"/>
              <a:t> </a:t>
            </a:r>
            <a:r>
              <a:rPr lang="tr-TR" b="1" dirty="0" smtClean="0">
                <a:solidFill>
                  <a:srgbClr val="C00000"/>
                </a:solidFill>
              </a:rPr>
              <a:t>𝐷</a:t>
            </a:r>
            <a:r>
              <a:rPr lang="tr-TR" b="1" baseline="-25000" dirty="0" smtClean="0">
                <a:solidFill>
                  <a:srgbClr val="C00000"/>
                </a:solidFill>
              </a:rPr>
              <a:t>𝑘</a:t>
            </a:r>
            <a:r>
              <a:rPr lang="tr-TR" b="1" baseline="-25000" dirty="0">
                <a:solidFill>
                  <a:srgbClr val="C00000"/>
                </a:solidFill>
              </a:rPr>
              <a:t>−1</a:t>
            </a:r>
            <a:r>
              <a:rPr lang="tr-TR" b="1" dirty="0">
                <a:solidFill>
                  <a:srgbClr val="C00000"/>
                </a:solidFill>
              </a:rPr>
              <a:t>[𝑖][𝑗</a:t>
            </a:r>
            <a:r>
              <a:rPr lang="tr-TR" b="1" dirty="0" smtClean="0">
                <a:solidFill>
                  <a:srgbClr val="C00000"/>
                </a:solidFill>
              </a:rPr>
              <a:t>]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tr-TR" b="1" dirty="0" smtClean="0"/>
              <a:t>,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tr-TR" b="1" dirty="0" smtClean="0">
                <a:solidFill>
                  <a:srgbClr val="00B050"/>
                </a:solidFill>
              </a:rPr>
              <a:t>𝐷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tr-TR" b="1" baseline="-25000" dirty="0" smtClean="0">
                <a:solidFill>
                  <a:srgbClr val="00B050"/>
                </a:solidFill>
              </a:rPr>
              <a:t>𝑘</a:t>
            </a:r>
            <a:r>
              <a:rPr lang="tr-TR" b="1" baseline="-25000" dirty="0">
                <a:solidFill>
                  <a:srgbClr val="00B050"/>
                </a:solidFill>
              </a:rPr>
              <a:t>−1</a:t>
            </a:r>
            <a:r>
              <a:rPr lang="tr-TR" b="1" dirty="0">
                <a:solidFill>
                  <a:srgbClr val="00B050"/>
                </a:solidFill>
              </a:rPr>
              <a:t>[𝑖][𝑘</a:t>
            </a:r>
            <a:r>
              <a:rPr lang="tr-TR" b="1" dirty="0" smtClean="0">
                <a:solidFill>
                  <a:srgbClr val="00B050"/>
                </a:solidFill>
              </a:rPr>
              <a:t>]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tr-TR" dirty="0" smtClean="0">
                <a:solidFill>
                  <a:srgbClr val="00B050"/>
                </a:solidFill>
              </a:rPr>
              <a:t>+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tr-TR" b="1" dirty="0" smtClean="0">
                <a:solidFill>
                  <a:srgbClr val="00B050"/>
                </a:solidFill>
              </a:rPr>
              <a:t>𝐷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tr-TR" b="1" baseline="-25000" dirty="0" smtClean="0">
                <a:solidFill>
                  <a:srgbClr val="00B050"/>
                </a:solidFill>
              </a:rPr>
              <a:t>𝑘</a:t>
            </a:r>
            <a:r>
              <a:rPr lang="tr-TR" b="1" baseline="-25000" dirty="0">
                <a:solidFill>
                  <a:srgbClr val="00B050"/>
                </a:solidFill>
              </a:rPr>
              <a:t>−1</a:t>
            </a:r>
            <a:r>
              <a:rPr lang="tr-TR" b="1" dirty="0">
                <a:solidFill>
                  <a:srgbClr val="00B050"/>
                </a:solidFill>
              </a:rPr>
              <a:t>[𝑘][𝑗</a:t>
            </a:r>
            <a:r>
              <a:rPr lang="tr-TR" b="1" dirty="0" smtClean="0">
                <a:solidFill>
                  <a:srgbClr val="00B050"/>
                </a:solidFill>
              </a:rPr>
              <a:t>]</a:t>
            </a:r>
            <a:r>
              <a:rPr lang="en-US" b="1" dirty="0" smtClean="0">
                <a:solidFill>
                  <a:srgbClr val="00B050"/>
                </a:solidFill>
              </a:rPr>
              <a:t>  </a:t>
            </a:r>
            <a:r>
              <a:rPr lang="tr-TR" b="1" dirty="0" smtClean="0"/>
              <a:t>)</a:t>
            </a:r>
            <a:endParaRPr lang="en-US" b="1" dirty="0" smtClean="0"/>
          </a:p>
          <a:p>
            <a:pPr marL="457200" indent="-457200" algn="just">
              <a:buFont typeface="+mj-lt"/>
              <a:buAutoNum type="arabicPeriod"/>
            </a:pPr>
            <a:endParaRPr lang="en-US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b="1" dirty="0" smtClean="0">
                <a:solidFill>
                  <a:srgbClr val="0070C0"/>
                </a:solidFill>
              </a:rPr>
              <a:t>Step </a:t>
            </a:r>
            <a:r>
              <a:rPr lang="en-US" b="1" dirty="0">
                <a:solidFill>
                  <a:srgbClr val="0070C0"/>
                </a:solidFill>
              </a:rPr>
              <a:t>2: Compute the Optimal Solution (Bottom-Up</a:t>
            </a:r>
            <a:r>
              <a:rPr lang="en-US" b="1" dirty="0" smtClean="0">
                <a:solidFill>
                  <a:srgbClr val="0070C0"/>
                </a:solidFill>
              </a:rPr>
              <a:t>): </a:t>
            </a:r>
            <a:r>
              <a:rPr lang="en-US" dirty="0" smtClean="0"/>
              <a:t>Fill </a:t>
            </a:r>
            <a:r>
              <a:rPr lang="en-US" dirty="0"/>
              <a:t>the </a:t>
            </a:r>
            <a:r>
              <a:rPr lang="en-US" b="1" u="sng" dirty="0"/>
              <a:t>distance table </a:t>
            </a:r>
            <a:r>
              <a:rPr lang="en-US" dirty="0"/>
              <a:t>by iteratively </a:t>
            </a:r>
            <a:r>
              <a:rPr lang="en-US" b="1" u="sng" dirty="0"/>
              <a:t>considering each node as an intermediate </a:t>
            </a:r>
            <a:r>
              <a:rPr lang="en-US" dirty="0"/>
              <a:t>and updating the shortest path </a:t>
            </a:r>
            <a:r>
              <a:rPr lang="en-US" dirty="0" smtClean="0"/>
              <a:t>distances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/>
          </a:p>
          <a:p>
            <a:pPr marL="457200" indent="-457200" algn="just">
              <a:buFont typeface="+mj-lt"/>
              <a:buAutoNum type="arabicPeriod"/>
            </a:pPr>
            <a:r>
              <a:rPr lang="en-US" b="1" dirty="0" smtClean="0">
                <a:solidFill>
                  <a:srgbClr val="0070C0"/>
                </a:solidFill>
              </a:rPr>
              <a:t>Step </a:t>
            </a:r>
            <a:r>
              <a:rPr lang="en-US" b="1" dirty="0">
                <a:solidFill>
                  <a:srgbClr val="0070C0"/>
                </a:solidFill>
              </a:rPr>
              <a:t>3: Construct the Optimal Solution (Bottom-Up</a:t>
            </a:r>
            <a:r>
              <a:rPr lang="en-US" b="1" dirty="0" smtClean="0">
                <a:solidFill>
                  <a:srgbClr val="0070C0"/>
                </a:solidFill>
              </a:rPr>
              <a:t>): </a:t>
            </a:r>
            <a:r>
              <a:rPr lang="en-US" dirty="0" smtClean="0"/>
              <a:t>Reconstruct </a:t>
            </a:r>
            <a:r>
              <a:rPr lang="en-US" dirty="0"/>
              <a:t>the shortest paths by </a:t>
            </a:r>
            <a:r>
              <a:rPr lang="en-US" b="1" u="sng" dirty="0"/>
              <a:t>using a predecessor </a:t>
            </a:r>
            <a:r>
              <a:rPr lang="en-US" b="1" u="sng" dirty="0" smtClean="0"/>
              <a:t>matrix (P) </a:t>
            </a:r>
            <a:r>
              <a:rPr lang="en-US" b="1" u="sng" dirty="0"/>
              <a:t>to trace the sequence of nodes </a:t>
            </a:r>
            <a:r>
              <a:rPr lang="en-US" dirty="0"/>
              <a:t>along the optimal path.</a:t>
            </a:r>
          </a:p>
          <a:p>
            <a:pPr algn="just"/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36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98981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99" name="Rectangle 95">
            <a:extLst>
              <a:ext uri="{FF2B5EF4-FFF2-40B4-BE49-F238E27FC236}">
                <a16:creationId xmlns:a16="http://schemas.microsoft.com/office/drawing/2014/main" id="{01A79766-198E-8D46-9D1A-B3ED26E34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349345" cy="628073"/>
          </a:xfrm>
          <a:noFill/>
          <a:ln/>
        </p:spPr>
        <p:txBody>
          <a:bodyPr vert="horz" lIns="0" tIns="45720" rIns="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b="0" dirty="0">
                <a:latin typeface="+mn-lt"/>
                <a:ea typeface="新細明體" panose="02020500000000000000" pitchFamily="18" charset="-120"/>
                <a:cs typeface="Times New Roman" panose="02020603050405020304" pitchFamily="18" charset="0"/>
              </a:rPr>
              <a:t>The Principle of Optimality</a:t>
            </a:r>
            <a:endParaRPr lang="en-US" altLang="en-QA" b="0" dirty="0">
              <a:latin typeface="+mn-lt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98590" name="Rectangle 286">
            <a:extLst>
              <a:ext uri="{FF2B5EF4-FFF2-40B4-BE49-F238E27FC236}">
                <a16:creationId xmlns:a16="http://schemas.microsoft.com/office/drawing/2014/main" id="{2A104E0B-7107-B54E-9327-35890E41A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6364" y="1069109"/>
            <a:ext cx="11623963" cy="5715000"/>
          </a:xfrm>
          <a:noFill/>
          <a:ln/>
        </p:spPr>
        <p:txBody>
          <a:bodyPr/>
          <a:lstStyle/>
          <a:p>
            <a:r>
              <a:rPr lang="en-US" altLang="zh-TW" b="1" u="sng" dirty="0" smtClean="0">
                <a:solidFill>
                  <a:srgbClr val="00B05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Definition</a:t>
            </a:r>
            <a:r>
              <a:rPr lang="en-US" altLang="zh-TW" u="sng" dirty="0" smtClean="0">
                <a:solidFill>
                  <a:srgbClr val="00B05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  <a:r>
              <a:rPr lang="en-US" altLang="zh-TW" dirty="0" smtClean="0">
                <a:solidFill>
                  <a:srgbClr val="00B05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  </a:t>
            </a:r>
          </a:p>
          <a:p>
            <a:pPr lvl="1"/>
            <a:r>
              <a:rPr lang="en-US" altLang="zh-TW" b="1" u="sng" dirty="0" smtClean="0">
                <a:solidFill>
                  <a:srgbClr val="0070C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The </a:t>
            </a:r>
            <a:r>
              <a:rPr lang="en-US" altLang="zh-TW" b="1" u="sng" dirty="0">
                <a:solidFill>
                  <a:srgbClr val="0070C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principle of optimality </a:t>
            </a:r>
            <a:r>
              <a:rPr lang="en-US" altLang="zh-TW" dirty="0" smtClean="0">
                <a:ea typeface="新細明體" panose="02020500000000000000" pitchFamily="18" charset="-120"/>
                <a:cs typeface="Times New Roman" panose="02020603050405020304" pitchFamily="18" charset="0"/>
              </a:rPr>
              <a:t>applies to </a:t>
            </a:r>
            <a:r>
              <a:rPr lang="en-US" altLang="zh-TW" dirty="0">
                <a:ea typeface="新細明體" panose="02020500000000000000" pitchFamily="18" charset="-120"/>
                <a:cs typeface="Times New Roman" panose="02020603050405020304" pitchFamily="18" charset="0"/>
              </a:rPr>
              <a:t>a problem </a:t>
            </a:r>
            <a:endParaRPr lang="en-US" altLang="zh-TW" dirty="0" smtClean="0"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  <a:cs typeface="Times New Roman" panose="02020603050405020304" pitchFamily="18" charset="0"/>
              </a:rPr>
              <a:t>if </a:t>
            </a:r>
            <a:r>
              <a:rPr lang="en-US" altLang="zh-TW" dirty="0">
                <a:ea typeface="新細明體" panose="02020500000000000000" pitchFamily="18" charset="-120"/>
                <a:cs typeface="Times New Roman" panose="02020603050405020304" pitchFamily="18" charset="0"/>
              </a:rPr>
              <a:t>an </a:t>
            </a:r>
            <a:r>
              <a:rPr lang="en-US" altLang="zh-TW" b="1" u="sng" dirty="0">
                <a:solidFill>
                  <a:srgbClr val="C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optimal solution </a:t>
            </a:r>
            <a:r>
              <a:rPr lang="en-US" altLang="zh-TW" dirty="0">
                <a:ea typeface="新細明體" panose="02020500000000000000" pitchFamily="18" charset="-120"/>
                <a:cs typeface="Times New Roman" panose="02020603050405020304" pitchFamily="18" charset="0"/>
              </a:rPr>
              <a:t>to </a:t>
            </a:r>
            <a:r>
              <a:rPr lang="en-US" altLang="zh-TW" dirty="0" smtClean="0">
                <a:ea typeface="新細明體" panose="02020500000000000000" pitchFamily="18" charset="-120"/>
                <a:cs typeface="Times New Roman" panose="02020603050405020304" pitchFamily="18" charset="0"/>
              </a:rPr>
              <a:t>the </a:t>
            </a:r>
            <a:r>
              <a:rPr lang="en-US" altLang="zh-TW" dirty="0">
                <a:ea typeface="新細明體" panose="02020500000000000000" pitchFamily="18" charset="-120"/>
                <a:cs typeface="Times New Roman" panose="02020603050405020304" pitchFamily="18" charset="0"/>
              </a:rPr>
              <a:t>problem </a:t>
            </a:r>
            <a:r>
              <a:rPr lang="en-US" altLang="zh-TW" u="sng" dirty="0">
                <a:solidFill>
                  <a:srgbClr val="00B05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always </a:t>
            </a:r>
            <a:r>
              <a:rPr lang="en-US" altLang="zh-TW" u="sng" dirty="0" smtClean="0">
                <a:solidFill>
                  <a:srgbClr val="00B05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includes </a:t>
            </a:r>
            <a:r>
              <a:rPr lang="en-US" altLang="zh-TW" u="sng" dirty="0">
                <a:solidFill>
                  <a:srgbClr val="00B05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optimal solutions to all </a:t>
            </a:r>
            <a:r>
              <a:rPr lang="en-US" altLang="zh-TW" u="sng" dirty="0" smtClean="0">
                <a:solidFill>
                  <a:srgbClr val="00B05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sub problems</a:t>
            </a:r>
            <a:endParaRPr lang="en-US" altLang="zh-TW" u="sng" dirty="0">
              <a:solidFill>
                <a:srgbClr val="00B050"/>
              </a:solidFill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TW" sz="1400" u="sng" dirty="0"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u="sng" dirty="0">
                <a:solidFill>
                  <a:srgbClr val="0070C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Principle of optimality:</a:t>
            </a:r>
            <a:r>
              <a:rPr lang="en-US" altLang="zh-TW" dirty="0">
                <a:solidFill>
                  <a:srgbClr val="0070C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lang="en-US" altLang="zh-TW" dirty="0" smtClean="0">
              <a:solidFill>
                <a:srgbClr val="0070C0"/>
              </a:solidFill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  <a:cs typeface="Times New Roman" panose="02020603050405020304" pitchFamily="18" charset="0"/>
              </a:rPr>
              <a:t>Suppose </a:t>
            </a:r>
            <a:r>
              <a:rPr lang="en-US" altLang="zh-TW" dirty="0">
                <a:ea typeface="新細明體" panose="02020500000000000000" pitchFamily="18" charset="-120"/>
                <a:cs typeface="Times New Roman" panose="02020603050405020304" pitchFamily="18" charset="0"/>
              </a:rPr>
              <a:t>that in solving a problem, we have to make a sequence of decisions </a:t>
            </a: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</a:t>
            </a:r>
            <a:r>
              <a:rPr lang="en-US" altLang="zh-TW" baseline="-30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, D</a:t>
            </a:r>
            <a:r>
              <a:rPr lang="en-US" altLang="zh-TW" baseline="-30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, …, D</a:t>
            </a:r>
            <a:r>
              <a:rPr lang="en-US" altLang="zh-TW" i="1" baseline="-30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endParaRPr lang="en-US" altLang="zh-TW" dirty="0" smtClean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  <a:cs typeface="Times New Roman" panose="02020603050405020304" pitchFamily="18" charset="0"/>
              </a:rPr>
              <a:t>If </a:t>
            </a:r>
            <a:r>
              <a:rPr lang="en-US" altLang="zh-TW" dirty="0">
                <a:ea typeface="新細明體" panose="02020500000000000000" pitchFamily="18" charset="-120"/>
                <a:cs typeface="Times New Roman" panose="02020603050405020304" pitchFamily="18" charset="0"/>
              </a:rPr>
              <a:t>this sequence is optimal, then </a:t>
            </a:r>
            <a:r>
              <a:rPr lang="en-US" altLang="zh-TW" b="1" u="sng" dirty="0">
                <a:ea typeface="新細明體" panose="02020500000000000000" pitchFamily="18" charset="-120"/>
                <a:cs typeface="Times New Roman" panose="02020603050405020304" pitchFamily="18" charset="0"/>
              </a:rPr>
              <a:t>the last </a:t>
            </a:r>
            <a:r>
              <a:rPr lang="en-US" altLang="zh-TW" b="1" i="1" u="sng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k</a:t>
            </a:r>
            <a:r>
              <a:rPr lang="en-US" altLang="zh-TW" b="1" u="sng" dirty="0">
                <a:ea typeface="新細明體" panose="02020500000000000000" pitchFamily="18" charset="-120"/>
                <a:cs typeface="Times New Roman" panose="02020603050405020304" pitchFamily="18" charset="0"/>
              </a:rPr>
              <a:t> decisions </a:t>
            </a:r>
            <a:r>
              <a:rPr lang="en-US" altLang="zh-TW" dirty="0">
                <a:ea typeface="新細明體" panose="02020500000000000000" pitchFamily="18" charset="-120"/>
                <a:cs typeface="Times New Roman" panose="02020603050405020304" pitchFamily="18" charset="0"/>
              </a:rPr>
              <a:t>must be </a:t>
            </a:r>
            <a:r>
              <a:rPr lang="en-US" altLang="zh-TW" dirty="0" smtClean="0">
                <a:ea typeface="新細明體" panose="02020500000000000000" pitchFamily="18" charset="-120"/>
                <a:cs typeface="Times New Roman" panose="02020603050405020304" pitchFamily="18" charset="0"/>
              </a:rPr>
              <a:t>optimal (</a:t>
            </a:r>
            <a:r>
              <a:rPr lang="en-US" altLang="zh-TW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 </a:t>
            </a: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  <a:sym typeface="Symbol" pitchFamily="2" charset="2"/>
              </a:rPr>
              <a:t></a:t>
            </a: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  <a:sym typeface="Symbol" pitchFamily="2" charset="2"/>
              </a:rPr>
              <a:t></a:t>
            </a: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i="1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n)</a:t>
            </a:r>
            <a:endParaRPr lang="en-US" altLang="zh-TW" sz="1400" dirty="0"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TW" dirty="0" smtClean="0"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ea typeface="新細明體" panose="02020500000000000000" pitchFamily="18" charset="-120"/>
                <a:cs typeface="Times New Roman" panose="02020603050405020304" pitchFamily="18" charset="0"/>
              </a:rPr>
              <a:t>e.g., </a:t>
            </a:r>
            <a:r>
              <a:rPr lang="en-US" altLang="zh-TW" b="1" u="sng" dirty="0">
                <a:ea typeface="新細明體" panose="02020500000000000000" pitchFamily="18" charset="-120"/>
                <a:cs typeface="Times New Roman" panose="02020603050405020304" pitchFamily="18" charset="0"/>
              </a:rPr>
              <a:t>the shortest path </a:t>
            </a:r>
            <a:r>
              <a:rPr lang="en-US" altLang="zh-TW" b="1" u="sng" dirty="0" smtClean="0">
                <a:ea typeface="新細明體" panose="02020500000000000000" pitchFamily="18" charset="-120"/>
                <a:cs typeface="Times New Roman" panose="02020603050405020304" pitchFamily="18" charset="0"/>
              </a:rPr>
              <a:t>problem</a:t>
            </a:r>
          </a:p>
          <a:p>
            <a:pPr lvl="1"/>
            <a:r>
              <a:rPr lang="en-US" altLang="zh-TW" sz="2400" dirty="0" smtClean="0">
                <a:ea typeface="新細明體" panose="02020500000000000000" pitchFamily="18" charset="-120"/>
                <a:cs typeface="Times New Roman" panose="02020603050405020304" pitchFamily="18" charset="0"/>
              </a:rPr>
              <a:t>If </a:t>
            </a:r>
            <a:r>
              <a:rPr lang="en-US" altLang="zh-TW" sz="2400" b="1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</a:t>
            </a:r>
            <a:r>
              <a:rPr lang="en-US" altLang="zh-TW" sz="24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, </a:t>
            </a:r>
            <a:r>
              <a:rPr lang="en-US" altLang="zh-TW" sz="2400" b="1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</a:t>
            </a:r>
            <a:r>
              <a:rPr lang="en-US" altLang="zh-TW" sz="2400" b="1" baseline="-30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r>
              <a:rPr lang="en-US" altLang="zh-TW" sz="24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, </a:t>
            </a:r>
            <a:r>
              <a:rPr lang="en-US" altLang="zh-TW" sz="2400" b="1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</a:t>
            </a:r>
            <a:r>
              <a:rPr lang="en-US" altLang="zh-TW" sz="2400" b="1" baseline="-30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  <a:r>
              <a:rPr lang="en-US" altLang="zh-TW" sz="24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, …,</a:t>
            </a:r>
            <a:r>
              <a:rPr lang="en-US" altLang="zh-TW" sz="2400" b="1" i="1" dirty="0" err="1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</a:t>
            </a:r>
            <a:r>
              <a:rPr lang="en-US" altLang="zh-TW" sz="2400" b="1" baseline="-25000" dirty="0" err="1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k</a:t>
            </a:r>
            <a:r>
              <a:rPr lang="en-US" altLang="zh-TW" sz="24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, …, </a:t>
            </a:r>
            <a:r>
              <a:rPr lang="en-US" altLang="zh-TW" sz="2400" b="1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j</a:t>
            </a:r>
            <a:r>
              <a:rPr lang="en-US" altLang="zh-TW" sz="24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ea typeface="新細明體" panose="02020500000000000000" pitchFamily="18" charset="-120"/>
                <a:cs typeface="Times New Roman" panose="02020603050405020304" pitchFamily="18" charset="0"/>
              </a:rPr>
              <a:t>is </a:t>
            </a:r>
            <a:r>
              <a:rPr lang="en-US" altLang="zh-TW" sz="2400" b="1" dirty="0">
                <a:ea typeface="新細明體" panose="02020500000000000000" pitchFamily="18" charset="-120"/>
                <a:cs typeface="Times New Roman" panose="02020603050405020304" pitchFamily="18" charset="0"/>
              </a:rPr>
              <a:t>a shortest path </a:t>
            </a:r>
            <a:r>
              <a:rPr lang="en-US" altLang="zh-TW" sz="2400" dirty="0">
                <a:ea typeface="新細明體" panose="02020500000000000000" pitchFamily="18" charset="-120"/>
                <a:cs typeface="Times New Roman" panose="02020603050405020304" pitchFamily="18" charset="0"/>
              </a:rPr>
              <a:t>from </a:t>
            </a:r>
            <a:r>
              <a:rPr lang="en-US" altLang="zh-TW" sz="2400" i="1" dirty="0">
                <a:solidFill>
                  <a:srgbClr val="0070C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to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400" i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j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dirty="0" smtClean="0">
                <a:ea typeface="新細明體" panose="02020500000000000000" pitchFamily="18" charset="-120"/>
                <a:cs typeface="Times New Roman" panose="02020603050405020304" pitchFamily="18" charset="0"/>
              </a:rPr>
              <a:t>then </a:t>
            </a:r>
            <a:r>
              <a:rPr lang="en-US" altLang="zh-TW" sz="2400" dirty="0">
                <a:ea typeface="新細明體" panose="02020500000000000000" pitchFamily="18" charset="-120"/>
                <a:cs typeface="Times New Roman" panose="02020603050405020304" pitchFamily="18" charset="0"/>
              </a:rPr>
              <a:t>the path </a:t>
            </a:r>
            <a:r>
              <a:rPr lang="en-US" altLang="zh-TW" sz="2400" i="1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C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to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400" i="1" dirty="0" err="1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</a:t>
            </a:r>
            <a:r>
              <a:rPr lang="en-US" altLang="zh-TW" sz="2400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ea typeface="新細明體" panose="02020500000000000000" pitchFamily="18" charset="-120"/>
                <a:cs typeface="Times New Roman" panose="02020603050405020304" pitchFamily="18" charset="0"/>
              </a:rPr>
              <a:t>and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400" i="1" dirty="0" err="1">
                <a:solidFill>
                  <a:srgbClr val="00B05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</a:t>
            </a:r>
            <a:r>
              <a:rPr lang="en-US" altLang="zh-TW" sz="2400" i="1" baseline="-25000" dirty="0" err="1">
                <a:solidFill>
                  <a:srgbClr val="00B05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00B05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to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400" i="1" dirty="0">
                <a:solidFill>
                  <a:srgbClr val="00B05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j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400" b="1" dirty="0">
                <a:ea typeface="新細明體" panose="02020500000000000000" pitchFamily="18" charset="-120"/>
                <a:cs typeface="Times New Roman" panose="02020603050405020304" pitchFamily="18" charset="0"/>
              </a:rPr>
              <a:t>are </a:t>
            </a:r>
            <a:r>
              <a:rPr lang="en-US" altLang="zh-TW" sz="2400" b="1" u="sng" dirty="0">
                <a:ea typeface="新細明體" panose="02020500000000000000" pitchFamily="18" charset="-120"/>
                <a:cs typeface="Times New Roman" panose="02020603050405020304" pitchFamily="18" charset="0"/>
              </a:rPr>
              <a:t>also shortest </a:t>
            </a:r>
            <a:r>
              <a:rPr lang="en-US" altLang="zh-TW" sz="2400" b="1" u="sng" dirty="0" smtClean="0">
                <a:ea typeface="新細明體" panose="02020500000000000000" pitchFamily="18" charset="-120"/>
                <a:cs typeface="Times New Roman" panose="02020603050405020304" pitchFamily="18" charset="0"/>
              </a:rPr>
              <a:t>paths</a:t>
            </a:r>
            <a:endParaRPr lang="en-US" altLang="zh-TW" sz="2400" b="1" u="sng" dirty="0"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TW" u="sng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37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93904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8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8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8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8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8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8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8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8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85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85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85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85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85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85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85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85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4">
            <a:extLst>
              <a:ext uri="{FF2B5EF4-FFF2-40B4-BE49-F238E27FC236}">
                <a16:creationId xmlns:a16="http://schemas.microsoft.com/office/drawing/2014/main" id="{35EFFC95-6B0A-9742-8DCE-A9C7C71691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118" y="64660"/>
            <a:ext cx="9850582" cy="528458"/>
          </a:xfrm>
          <a:noFill/>
          <a:ln/>
        </p:spPr>
        <p:txBody>
          <a:bodyPr vert="horz" lIns="0" tIns="45720" rIns="0" bIns="45720" rtlCol="0" anchor="ctr">
            <a:normAutofit fontScale="90000"/>
          </a:bodyPr>
          <a:lstStyle/>
          <a:p>
            <a:r>
              <a:rPr lang="en-US" altLang="en-QA" b="0" dirty="0">
                <a:latin typeface="+mn-lt"/>
                <a:cs typeface="Times New Roman" panose="02020603050405020304" pitchFamily="18" charset="0"/>
              </a:rPr>
              <a:t>Dynamic Programming and Principle of Optimality</a:t>
            </a:r>
          </a:p>
        </p:txBody>
      </p:sp>
      <p:sp>
        <p:nvSpPr>
          <p:cNvPr id="94233" name="Rectangle 25">
            <a:extLst>
              <a:ext uri="{FF2B5EF4-FFF2-40B4-BE49-F238E27FC236}">
                <a16:creationId xmlns:a16="http://schemas.microsoft.com/office/drawing/2014/main" id="{4DBEF002-B7DE-A146-81D5-1433399A3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118" y="692931"/>
            <a:ext cx="10572241" cy="3329201"/>
          </a:xfrm>
          <a:noFill/>
          <a:ln/>
        </p:spPr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If the </a:t>
            </a:r>
            <a:r>
              <a:rPr lang="en-US" altLang="zh-TW" u="sng" dirty="0">
                <a:solidFill>
                  <a:srgbClr val="00B050"/>
                </a:solidFill>
                <a:ea typeface="新細明體" panose="02020500000000000000" pitchFamily="18" charset="-120"/>
              </a:rPr>
              <a:t>principle of optimality </a:t>
            </a:r>
            <a:r>
              <a:rPr lang="en-US" altLang="zh-TW" dirty="0">
                <a:ea typeface="新細明體" panose="02020500000000000000" pitchFamily="18" charset="-120"/>
              </a:rPr>
              <a:t>holds in a given </a:t>
            </a:r>
            <a:r>
              <a:rPr lang="en-US" altLang="zh-TW" dirty="0" smtClean="0">
                <a:ea typeface="新細明體" panose="02020500000000000000" pitchFamily="18" charset="-120"/>
              </a:rPr>
              <a:t>problem</a:t>
            </a:r>
          </a:p>
          <a:p>
            <a:pPr lvl="1"/>
            <a:r>
              <a:rPr lang="en-US" altLang="zh-TW" sz="2400" dirty="0" smtClean="0">
                <a:ea typeface="新細明體" panose="02020500000000000000" pitchFamily="18" charset="-120"/>
              </a:rPr>
              <a:t>we </a:t>
            </a:r>
            <a:r>
              <a:rPr lang="en-US" altLang="zh-TW" sz="2400" dirty="0">
                <a:ea typeface="新細明體" panose="02020500000000000000" pitchFamily="18" charset="-120"/>
              </a:rPr>
              <a:t>can find </a:t>
            </a:r>
            <a:r>
              <a:rPr lang="en-US" altLang="zh-TW" sz="2400" b="1" u="sng" dirty="0">
                <a:solidFill>
                  <a:srgbClr val="0070C0"/>
                </a:solidFill>
                <a:ea typeface="新細明體" panose="02020500000000000000" pitchFamily="18" charset="-120"/>
              </a:rPr>
              <a:t>a recursive </a:t>
            </a:r>
            <a:r>
              <a:rPr lang="en-US" altLang="zh-TW" sz="2400" b="1" u="sng" dirty="0" smtClean="0">
                <a:solidFill>
                  <a:srgbClr val="0070C0"/>
                </a:solidFill>
                <a:ea typeface="新細明體" panose="02020500000000000000" pitchFamily="18" charset="-120"/>
              </a:rPr>
              <a:t>property</a:t>
            </a:r>
            <a:endParaRPr lang="en-US" altLang="zh-TW" sz="2400" b="1" u="sng" dirty="0">
              <a:solidFill>
                <a:srgbClr val="0070C0"/>
              </a:solidFill>
              <a:ea typeface="新細明體" panose="02020500000000000000" pitchFamily="18" charset="-120"/>
            </a:endParaRPr>
          </a:p>
          <a:p>
            <a:endParaRPr lang="en-US" altLang="zh-TW" sz="1400" dirty="0">
              <a:ea typeface="新細明體" panose="02020500000000000000" pitchFamily="18" charset="-120"/>
            </a:endParaRPr>
          </a:p>
          <a:p>
            <a:r>
              <a:rPr lang="en-US" altLang="zh-TW" u="sng" dirty="0">
                <a:solidFill>
                  <a:srgbClr val="0070C0"/>
                </a:solidFill>
                <a:ea typeface="新細明體" panose="02020500000000000000" pitchFamily="18" charset="-120"/>
              </a:rPr>
              <a:t>The recursive property </a:t>
            </a:r>
            <a:r>
              <a:rPr lang="en-US" altLang="zh-TW" dirty="0">
                <a:ea typeface="新細明體" panose="02020500000000000000" pitchFamily="18" charset="-120"/>
              </a:rPr>
              <a:t>gives an optimal solution to </a:t>
            </a:r>
            <a:r>
              <a:rPr lang="en-US" altLang="zh-TW" dirty="0" smtClean="0">
                <a:ea typeface="新細明體" panose="02020500000000000000" pitchFamily="18" charset="-120"/>
              </a:rPr>
              <a:t>a problem</a:t>
            </a:r>
          </a:p>
          <a:p>
            <a:pPr lvl="1"/>
            <a:r>
              <a:rPr lang="en-US" altLang="zh-TW" sz="2400" dirty="0" smtClean="0">
                <a:ea typeface="新細明體" panose="02020500000000000000" pitchFamily="18" charset="-120"/>
              </a:rPr>
              <a:t>in </a:t>
            </a:r>
            <a:r>
              <a:rPr lang="en-US" altLang="zh-TW" sz="2400" dirty="0">
                <a:ea typeface="新細明體" panose="02020500000000000000" pitchFamily="18" charset="-120"/>
              </a:rPr>
              <a:t>terms of optimal solutions to </a:t>
            </a:r>
            <a:r>
              <a:rPr lang="en-US" altLang="zh-TW" sz="2400" dirty="0" smtClean="0">
                <a:ea typeface="新細明體" panose="02020500000000000000" pitchFamily="18" charset="-120"/>
              </a:rPr>
              <a:t>smaller problems</a:t>
            </a:r>
            <a:endParaRPr lang="en-US" altLang="zh-TW" sz="2400" dirty="0">
              <a:ea typeface="新細明體" panose="02020500000000000000" pitchFamily="18" charset="-120"/>
            </a:endParaRPr>
          </a:p>
          <a:p>
            <a:endParaRPr lang="en-US" altLang="zh-TW" sz="1400" dirty="0">
              <a:ea typeface="新細明體" panose="02020500000000000000" pitchFamily="18" charset="-120"/>
            </a:endParaRPr>
          </a:p>
          <a:p>
            <a:r>
              <a:rPr lang="en-US" altLang="zh-TW" dirty="0">
                <a:ea typeface="新細明體" panose="02020500000000000000" pitchFamily="18" charset="-120"/>
              </a:rPr>
              <a:t>Before using dynamic </a:t>
            </a:r>
            <a:r>
              <a:rPr lang="en-US" altLang="zh-TW" dirty="0" smtClean="0">
                <a:ea typeface="新細明體" panose="02020500000000000000" pitchFamily="18" charset="-120"/>
              </a:rPr>
              <a:t>programming</a:t>
            </a:r>
          </a:p>
          <a:p>
            <a:pPr lvl="1"/>
            <a:r>
              <a:rPr lang="en-US" altLang="zh-TW" sz="2400" dirty="0" smtClean="0">
                <a:ea typeface="新細明體" panose="02020500000000000000" pitchFamily="18" charset="-120"/>
              </a:rPr>
              <a:t>it </a:t>
            </a:r>
            <a:r>
              <a:rPr lang="en-US" altLang="zh-TW" sz="2400" dirty="0">
                <a:ea typeface="新細明體" panose="02020500000000000000" pitchFamily="18" charset="-120"/>
              </a:rPr>
              <a:t>is necessary to show that the </a:t>
            </a:r>
            <a:r>
              <a:rPr lang="en-US" altLang="zh-TW" sz="2400" u="sng" dirty="0">
                <a:solidFill>
                  <a:srgbClr val="00B050"/>
                </a:solidFill>
                <a:ea typeface="新細明體" panose="02020500000000000000" pitchFamily="18" charset="-120"/>
              </a:rPr>
              <a:t>principle of optimality </a:t>
            </a:r>
            <a:r>
              <a:rPr lang="en-US" altLang="zh-TW" sz="2400" u="sng" dirty="0" smtClean="0">
                <a:solidFill>
                  <a:srgbClr val="00B050"/>
                </a:solidFill>
                <a:ea typeface="新細明體" panose="02020500000000000000" pitchFamily="18" charset="-120"/>
              </a:rPr>
              <a:t>holds</a:t>
            </a:r>
            <a:endParaRPr lang="en-US" altLang="zh-TW" sz="2400" u="sng" dirty="0">
              <a:solidFill>
                <a:srgbClr val="00B050"/>
              </a:solidFill>
              <a:ea typeface="新細明體" panose="02020500000000000000" pitchFamily="18" charset="-120"/>
            </a:endParaRPr>
          </a:p>
          <a:p>
            <a:endParaRPr lang="en-US" altLang="zh-TW" u="sng" dirty="0">
              <a:ea typeface="新細明體" panose="02020500000000000000" pitchFamily="18" charset="-12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311EAC-DCC4-3145-94BB-419A567966B9}"/>
              </a:ext>
            </a:extLst>
          </p:cNvPr>
          <p:cNvGrpSpPr/>
          <p:nvPr/>
        </p:nvGrpSpPr>
        <p:grpSpPr>
          <a:xfrm>
            <a:off x="588496" y="4265821"/>
            <a:ext cx="3821113" cy="1808163"/>
            <a:chOff x="1810871" y="4409697"/>
            <a:chExt cx="3821113" cy="1808163"/>
          </a:xfrm>
        </p:grpSpPr>
        <p:sp>
          <p:nvSpPr>
            <p:cNvPr id="94235" name="Oval 27">
              <a:extLst>
                <a:ext uri="{FF2B5EF4-FFF2-40B4-BE49-F238E27FC236}">
                  <a16:creationId xmlns:a16="http://schemas.microsoft.com/office/drawing/2014/main" id="{73D573E8-70E2-144F-AFF6-319C1E0EA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871" y="4591500"/>
              <a:ext cx="536575" cy="54118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200" i="1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1</a:t>
              </a:r>
              <a:endParaRPr lang="en-US" altLang="en-QA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94236" name="Oval 28">
              <a:extLst>
                <a:ext uri="{FF2B5EF4-FFF2-40B4-BE49-F238E27FC236}">
                  <a16:creationId xmlns:a16="http://schemas.microsoft.com/office/drawing/2014/main" id="{F65ACAA0-A674-9F4E-A73A-6D6D66DBE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8850" y="4513680"/>
              <a:ext cx="618322" cy="6190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/>
            <a:p>
              <a:pPr eaLnBrk="0" hangingPunct="0"/>
              <a:r>
                <a:rPr lang="en-US" altLang="en-QA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 dirty="0">
                  <a:latin typeface="Times New Roman" panose="02020603050405020304" pitchFamily="18" charset="0"/>
                </a:rPr>
                <a:t>2</a:t>
              </a:r>
              <a:endParaRPr lang="en-US" altLang="en-QA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4237" name="Oval 29">
              <a:extLst>
                <a:ext uri="{FF2B5EF4-FFF2-40B4-BE49-F238E27FC236}">
                  <a16:creationId xmlns:a16="http://schemas.microsoft.com/office/drawing/2014/main" id="{29F335B2-A782-8D49-8B13-E8FC9F5F1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5409" y="4612640"/>
              <a:ext cx="536575" cy="5425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/>
            <a:p>
              <a:pPr eaLnBrk="0" hangingPunct="0"/>
              <a:r>
                <a:rPr lang="en-US" altLang="en-QA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 dirty="0">
                  <a:latin typeface="Times New Roman" panose="02020603050405020304" pitchFamily="18" charset="0"/>
                </a:rPr>
                <a:t>4</a:t>
              </a:r>
              <a:endParaRPr lang="en-US" altLang="en-QA" sz="1000" dirty="0">
                <a:latin typeface="Times New Roman" panose="02020603050405020304" pitchFamily="18" charset="0"/>
              </a:endParaRPr>
            </a:p>
          </p:txBody>
        </p:sp>
        <p:sp>
          <p:nvSpPr>
            <p:cNvPr id="94238" name="Oval 30">
              <a:extLst>
                <a:ext uri="{FF2B5EF4-FFF2-40B4-BE49-F238E27FC236}">
                  <a16:creationId xmlns:a16="http://schemas.microsoft.com/office/drawing/2014/main" id="{E46D0EDE-98B4-AC44-AD2E-6D833B028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596" y="5675270"/>
              <a:ext cx="536575" cy="5425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000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3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94239" name="Line 31">
              <a:extLst>
                <a:ext uri="{FF2B5EF4-FFF2-40B4-BE49-F238E27FC236}">
                  <a16:creationId xmlns:a16="http://schemas.microsoft.com/office/drawing/2014/main" id="{B61BC429-288C-6D41-99E6-DC4A256610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76009" y="5018524"/>
              <a:ext cx="1157288" cy="744123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94240" name="Line 32">
              <a:extLst>
                <a:ext uri="{FF2B5EF4-FFF2-40B4-BE49-F238E27FC236}">
                  <a16:creationId xmlns:a16="http://schemas.microsoft.com/office/drawing/2014/main" id="{16E351EA-704D-7A4B-9AFC-F7EF20CCD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774" y="4777353"/>
              <a:ext cx="1076036" cy="863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94241" name="Line 33">
              <a:extLst>
                <a:ext uri="{FF2B5EF4-FFF2-40B4-BE49-F238E27FC236}">
                  <a16:creationId xmlns:a16="http://schemas.microsoft.com/office/drawing/2014/main" id="{FC09ED21-ECD1-8E45-9F59-62AE86D258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2409" y="4815582"/>
              <a:ext cx="1143000" cy="0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94242" name="Line 34">
              <a:extLst>
                <a:ext uri="{FF2B5EF4-FFF2-40B4-BE49-F238E27FC236}">
                  <a16:creationId xmlns:a16="http://schemas.microsoft.com/office/drawing/2014/main" id="{750C0A0F-06B2-614E-ADC2-2E2D5DA87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0009" y="5086173"/>
              <a:ext cx="0" cy="6102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94243" name="Text Box 35">
              <a:extLst>
                <a:ext uri="{FF2B5EF4-FFF2-40B4-BE49-F238E27FC236}">
                  <a16:creationId xmlns:a16="http://schemas.microsoft.com/office/drawing/2014/main" id="{FE313B2C-C010-F44D-9575-89D65353A6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9609" y="4477345"/>
              <a:ext cx="393700" cy="376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94244" name="Text Box 36">
              <a:extLst>
                <a:ext uri="{FF2B5EF4-FFF2-40B4-BE49-F238E27FC236}">
                  <a16:creationId xmlns:a16="http://schemas.microsoft.com/office/drawing/2014/main" id="{4F07F1E5-2D0A-CF48-8A8B-98EB58C31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9409" y="5086173"/>
              <a:ext cx="357188" cy="339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4245" name="Text Box 37">
              <a:extLst>
                <a:ext uri="{FF2B5EF4-FFF2-40B4-BE49-F238E27FC236}">
                  <a16:creationId xmlns:a16="http://schemas.microsoft.com/office/drawing/2014/main" id="{4E178F3E-C603-F24F-BD1C-1C9748846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7659" y="4409697"/>
              <a:ext cx="320675" cy="376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4246" name="Text Box 38">
              <a:extLst>
                <a:ext uri="{FF2B5EF4-FFF2-40B4-BE49-F238E27FC236}">
                  <a16:creationId xmlns:a16="http://schemas.microsoft.com/office/drawing/2014/main" id="{897E74D1-8C25-024E-9C4C-043D9BBB1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2546" y="5220058"/>
              <a:ext cx="322263" cy="339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4247" name="Line 39">
              <a:extLst>
                <a:ext uri="{FF2B5EF4-FFF2-40B4-BE49-F238E27FC236}">
                  <a16:creationId xmlns:a16="http://schemas.microsoft.com/office/drawing/2014/main" id="{6DC54420-6D3D-5346-BA1B-3F88B3278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7921" y="5132680"/>
              <a:ext cx="0" cy="538361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94248" name="Text Box 40">
              <a:extLst>
                <a:ext uri="{FF2B5EF4-FFF2-40B4-BE49-F238E27FC236}">
                  <a16:creationId xmlns:a16="http://schemas.microsoft.com/office/drawing/2014/main" id="{0A40137A-24ED-1745-8452-E29057DB0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2300" y="5272924"/>
              <a:ext cx="275924" cy="288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94249" name="Text Box 41">
            <a:extLst>
              <a:ext uri="{FF2B5EF4-FFF2-40B4-BE49-F238E27FC236}">
                <a16:creationId xmlns:a16="http://schemas.microsoft.com/office/drawing/2014/main" id="{D3ED84BE-0893-0244-9FD2-7F2382A80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1709" y="4333469"/>
            <a:ext cx="695804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tr-TR" altLang="en-QA" sz="2400" b="1" u="sng" dirty="0" smtClean="0">
                <a:cs typeface="Times New Roman" panose="02020603050405020304" pitchFamily="18" charset="0"/>
              </a:rPr>
              <a:t>Example</a:t>
            </a:r>
            <a:r>
              <a:rPr lang="en-US" altLang="en-QA" sz="2400" b="1" u="sng" dirty="0" smtClean="0">
                <a:cs typeface="Times New Roman" panose="02020603050405020304" pitchFamily="18" charset="0"/>
              </a:rPr>
              <a:t>: </a:t>
            </a:r>
            <a:r>
              <a:rPr lang="en-US" altLang="en-QA" sz="2400" b="1" dirty="0" smtClean="0">
                <a:solidFill>
                  <a:srgbClr val="7030A0"/>
                </a:solidFill>
                <a:cs typeface="Times New Roman" panose="02020603050405020304" pitchFamily="18" charset="0"/>
              </a:rPr>
              <a:t>Longest </a:t>
            </a:r>
            <a:r>
              <a:rPr lang="en-US" altLang="en-QA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Path </a:t>
            </a:r>
            <a:r>
              <a:rPr lang="en-US" altLang="en-QA" sz="2400" dirty="0">
                <a:cs typeface="Times New Roman" panose="02020603050405020304" pitchFamily="18" charset="0"/>
              </a:rPr>
              <a:t>(</a:t>
            </a:r>
            <a:r>
              <a:rPr lang="en-US" altLang="en-QA" sz="2400" u="sng" dirty="0">
                <a:solidFill>
                  <a:srgbClr val="C00000"/>
                </a:solidFill>
                <a:cs typeface="Times New Roman" panose="02020603050405020304" pitchFamily="18" charset="0"/>
              </a:rPr>
              <a:t>only simple </a:t>
            </a:r>
            <a:r>
              <a:rPr lang="en-US" altLang="en-QA" sz="2400" u="sng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paths, no cycle!</a:t>
            </a:r>
            <a:r>
              <a:rPr lang="en-US" altLang="en-QA" sz="2400" dirty="0" smtClean="0">
                <a:cs typeface="Times New Roman" panose="02020603050405020304" pitchFamily="18" charset="0"/>
              </a:rPr>
              <a:t>)</a:t>
            </a:r>
            <a:endParaRPr lang="en-US" altLang="en-QA" sz="2400" dirty="0">
              <a:cs typeface="Times New Roman" panose="02020603050405020304" pitchFamily="18" charset="0"/>
            </a:endParaRPr>
          </a:p>
          <a:p>
            <a:r>
              <a:rPr lang="en-US" altLang="en-QA" sz="2400" dirty="0">
                <a:cs typeface="Times New Roman" panose="02020603050405020304" pitchFamily="18" charset="0"/>
              </a:rPr>
              <a:t>from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>
                <a:cs typeface="Times New Roman" panose="02020603050405020304" pitchFamily="18" charset="0"/>
              </a:rPr>
              <a:t>to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>
                <a:cs typeface="Times New Roman" panose="02020603050405020304" pitchFamily="18" charset="0"/>
              </a:rPr>
              <a:t>is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QA" sz="24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en-QA" sz="2400" i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4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en-QA" sz="2400" i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QA" sz="24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en-QA" sz="2400" i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7</a:t>
            </a:r>
            <a:endParaRPr lang="en-US" altLang="en-Q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QA" sz="2400" dirty="0">
                <a:cs typeface="Times New Roman" panose="02020603050405020304" pitchFamily="18" charset="0"/>
              </a:rPr>
              <a:t>However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QA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en-QA" sz="2400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QA" sz="2400" dirty="0">
                <a:cs typeface="Times New Roman" panose="02020603050405020304" pitchFamily="18" charset="0"/>
              </a:rPr>
              <a:t>is </a:t>
            </a:r>
            <a:r>
              <a:rPr lang="en-US" altLang="en-QA" sz="2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not longest </a:t>
            </a:r>
            <a:r>
              <a:rPr lang="en-US" altLang="en-QA" sz="2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path </a:t>
            </a:r>
            <a:r>
              <a:rPr lang="en-US" altLang="en-QA" sz="2400" dirty="0" smtClean="0">
                <a:cs typeface="Times New Roman" panose="02020603050405020304" pitchFamily="18" charset="0"/>
              </a:rPr>
              <a:t>(just 1)</a:t>
            </a:r>
            <a:endParaRPr lang="en-US" altLang="en-QA" sz="2400" u="sng" dirty="0">
              <a:cs typeface="Times New Roman" panose="02020603050405020304" pitchFamily="18" charset="0"/>
            </a:endParaRPr>
          </a:p>
          <a:p>
            <a:r>
              <a:rPr lang="en-US" altLang="en-QA" sz="2400" dirty="0">
                <a:cs typeface="Times New Roman" panose="02020603050405020304" pitchFamily="18" charset="0"/>
              </a:rPr>
              <a:t>from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dirty="0">
                <a:cs typeface="Times New Roman" panose="02020603050405020304" pitchFamily="18" charset="0"/>
              </a:rPr>
              <a:t>to</a:t>
            </a:r>
            <a:r>
              <a:rPr lang="en-US" altLang="en-Q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400" dirty="0">
                <a:cs typeface="Times New Roman" panose="02020603050405020304" pitchFamily="18" charset="0"/>
              </a:rPr>
              <a:t>. Consider</a:t>
            </a:r>
            <a:r>
              <a:rPr lang="en-US" altLang="en-QA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QA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QA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sz="24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en-QA" sz="24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QA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en-QA" sz="24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Q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4</a:t>
            </a:r>
            <a:endParaRPr lang="en-US" altLang="en-Q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1709" y="6291057"/>
            <a:ext cx="7490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 smtClean="0">
                <a:solidFill>
                  <a:srgbClr val="00B050"/>
                </a:solidFill>
              </a:rPr>
              <a:t>The principle of optimality </a:t>
            </a:r>
            <a:r>
              <a:rPr lang="en-US" sz="2400" u="sng" dirty="0" smtClean="0">
                <a:solidFill>
                  <a:srgbClr val="FF0000"/>
                </a:solidFill>
              </a:rPr>
              <a:t>does not apply </a:t>
            </a:r>
            <a:r>
              <a:rPr lang="en-US" sz="2400" dirty="0" smtClean="0"/>
              <a:t>in this example !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38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162196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4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4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4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4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4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4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4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33E2796C-A0CD-2C4D-82C2-57950A34BB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717" y="77490"/>
            <a:ext cx="9156915" cy="473372"/>
          </a:xfrm>
        </p:spPr>
        <p:txBody>
          <a:bodyPr>
            <a:normAutofit fontScale="90000"/>
          </a:bodyPr>
          <a:lstStyle/>
          <a:p>
            <a:r>
              <a:rPr lang="en-US" altLang="en-QA" sz="3600" b="0" u="sng" dirty="0" smtClean="0">
                <a:latin typeface="+mn-lt"/>
                <a:cs typeface="Times New Roman" panose="02020603050405020304" pitchFamily="18" charset="0"/>
              </a:rPr>
              <a:t>The </a:t>
            </a:r>
            <a:r>
              <a:rPr lang="en-US" altLang="en-QA" sz="3600" b="0" u="sng" dirty="0">
                <a:latin typeface="+mn-lt"/>
                <a:cs typeface="Times New Roman" panose="02020603050405020304" pitchFamily="18" charset="0"/>
              </a:rPr>
              <a:t>Traveling Salesperson </a:t>
            </a:r>
            <a:r>
              <a:rPr lang="en-US" altLang="en-QA" sz="3600" b="0" u="sng" dirty="0" smtClean="0">
                <a:latin typeface="+mn-lt"/>
                <a:cs typeface="Times New Roman" panose="02020603050405020304" pitchFamily="18" charset="0"/>
              </a:rPr>
              <a:t>Problem (TSP)</a:t>
            </a:r>
            <a:endParaRPr lang="en-US" altLang="en-QA" sz="3600" b="0" u="sng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5B66CCCA-C939-4E4D-B3D0-32F0AF3F68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8618" y="990600"/>
            <a:ext cx="11442608" cy="3810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QA" dirty="0">
                <a:cs typeface="Times New Roman" panose="02020603050405020304" pitchFamily="18" charset="0"/>
              </a:rPr>
              <a:t>A </a:t>
            </a:r>
            <a:r>
              <a:rPr lang="en-US" altLang="en-QA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sales</a:t>
            </a:r>
            <a:r>
              <a:rPr lang="tr-TR" altLang="en-QA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person</a:t>
            </a:r>
            <a:r>
              <a:rPr lang="en-US" altLang="en-QA" dirty="0" smtClean="0">
                <a:cs typeface="Times New Roman" panose="02020603050405020304" pitchFamily="18" charset="0"/>
              </a:rPr>
              <a:t> </a:t>
            </a:r>
            <a:r>
              <a:rPr lang="en-US" altLang="en-QA" dirty="0">
                <a:cs typeface="Times New Roman" panose="02020603050405020304" pitchFamily="18" charset="0"/>
              </a:rPr>
              <a:t>has </a:t>
            </a:r>
            <a:r>
              <a:rPr lang="en-US" altLang="en-QA" u="sng" dirty="0">
                <a:solidFill>
                  <a:srgbClr val="0070C0"/>
                </a:solidFill>
                <a:cs typeface="Times New Roman" panose="02020603050405020304" pitchFamily="18" charset="0"/>
              </a:rPr>
              <a:t>a number of cities </a:t>
            </a:r>
            <a:r>
              <a:rPr lang="en-US" altLang="en-QA" dirty="0">
                <a:cs typeface="Times New Roman" panose="02020603050405020304" pitchFamily="18" charset="0"/>
              </a:rPr>
              <a:t>he must visit, find the shortest route (tour</a:t>
            </a:r>
            <a:r>
              <a:rPr lang="en-US" altLang="en-QA" dirty="0" smtClean="0">
                <a:cs typeface="Times New Roman" panose="02020603050405020304" pitchFamily="18" charset="0"/>
              </a:rPr>
              <a:t>)</a:t>
            </a:r>
            <a:endParaRPr lang="en-US" altLang="en-QA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5000"/>
              </a:spcBef>
            </a:pPr>
            <a:r>
              <a:rPr lang="en-US" altLang="en-QA" sz="2400" dirty="0">
                <a:solidFill>
                  <a:srgbClr val="00B050"/>
                </a:solidFill>
                <a:cs typeface="Times New Roman" panose="02020603050405020304" pitchFamily="18" charset="0"/>
              </a:rPr>
              <a:t>Starts</a:t>
            </a:r>
            <a:r>
              <a:rPr lang="en-US" altLang="en-QA" sz="2400" dirty="0">
                <a:cs typeface="Times New Roman" panose="02020603050405020304" pitchFamily="18" charset="0"/>
              </a:rPr>
              <a:t> and </a:t>
            </a:r>
            <a:r>
              <a:rPr lang="en-US" altLang="en-QA" sz="2400" dirty="0">
                <a:solidFill>
                  <a:srgbClr val="00B050"/>
                </a:solidFill>
                <a:cs typeface="Times New Roman" panose="02020603050405020304" pitchFamily="18" charset="0"/>
              </a:rPr>
              <a:t>ends</a:t>
            </a:r>
            <a:r>
              <a:rPr lang="en-US" altLang="en-QA" sz="2400" dirty="0">
                <a:cs typeface="Times New Roman" panose="02020603050405020304" pitchFamily="18" charset="0"/>
              </a:rPr>
              <a:t> at the </a:t>
            </a:r>
            <a:r>
              <a:rPr lang="en-US" altLang="en-QA" sz="2400" dirty="0">
                <a:solidFill>
                  <a:srgbClr val="00B050"/>
                </a:solidFill>
                <a:cs typeface="Times New Roman" panose="02020603050405020304" pitchFamily="18" charset="0"/>
              </a:rPr>
              <a:t>same </a:t>
            </a:r>
            <a:r>
              <a:rPr lang="en-US" altLang="en-QA" sz="2400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city</a:t>
            </a:r>
            <a:endParaRPr lang="en-US" altLang="en-QA" sz="2400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5000"/>
              </a:spcBef>
            </a:pPr>
            <a:r>
              <a:rPr lang="en-US" altLang="en-QA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Visits all </a:t>
            </a:r>
            <a:r>
              <a:rPr lang="en-US" altLang="en-QA" sz="240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cities</a:t>
            </a:r>
            <a:endParaRPr lang="en-US" altLang="en-QA" sz="2400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5000"/>
              </a:spcBef>
            </a:pPr>
            <a:r>
              <a:rPr lang="en-US" altLang="en-QA" sz="2400" dirty="0">
                <a:cs typeface="Times New Roman" panose="02020603050405020304" pitchFamily="18" charset="0"/>
              </a:rPr>
              <a:t>Each city is visited </a:t>
            </a:r>
            <a:r>
              <a:rPr lang="en-US" altLang="en-QA" sz="2400" u="sng" dirty="0">
                <a:solidFill>
                  <a:srgbClr val="0070C0"/>
                </a:solidFill>
                <a:cs typeface="Times New Roman" panose="02020603050405020304" pitchFamily="18" charset="0"/>
              </a:rPr>
              <a:t>exactly </a:t>
            </a:r>
            <a:r>
              <a:rPr lang="en-US" altLang="en-QA" sz="2400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once </a:t>
            </a:r>
            <a:r>
              <a:rPr lang="en-US" altLang="en-QA" sz="2400" b="1" dirty="0" smtClean="0">
                <a:cs typeface="Times New Roman" panose="02020603050405020304" pitchFamily="18" charset="0"/>
              </a:rPr>
              <a:t>(</a:t>
            </a:r>
            <a:r>
              <a:rPr lang="en-US" altLang="en-QA" sz="2400" b="1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Paris</a:t>
            </a:r>
            <a:r>
              <a:rPr lang="en-US" altLang="en-QA" sz="2400" b="1" dirty="0" smtClean="0">
                <a:cs typeface="Times New Roman" panose="02020603050405020304" pitchFamily="18" charset="0"/>
              </a:rPr>
              <a:t>, Brussels, Amsterdam, Berlin, Vienna, </a:t>
            </a:r>
            <a:r>
              <a:rPr lang="en-US" altLang="en-QA" sz="2400" b="1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Paris</a:t>
            </a:r>
            <a:r>
              <a:rPr lang="en-US" altLang="en-QA" sz="2400" b="1" dirty="0" smtClean="0">
                <a:cs typeface="Times New Roman" panose="02020603050405020304" pitchFamily="18" charset="0"/>
              </a:rPr>
              <a:t>)</a:t>
            </a:r>
            <a:endParaRPr lang="en-US" altLang="en-QA" sz="24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QA" dirty="0">
                <a:cs typeface="Times New Roman" panose="02020603050405020304" pitchFamily="18" charset="0"/>
              </a:rPr>
              <a:t>Possible tours </a:t>
            </a:r>
            <a:r>
              <a:rPr lang="en-US" altLang="en-QA" dirty="0">
                <a:solidFill>
                  <a:srgbClr val="7030A0"/>
                </a:solidFill>
                <a:cs typeface="Times New Roman" panose="02020603050405020304" pitchFamily="18" charset="0"/>
              </a:rPr>
              <a:t>from</a:t>
            </a:r>
            <a:r>
              <a:rPr lang="en-US" altLang="en-QA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QA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 to </a:t>
            </a:r>
            <a:r>
              <a:rPr lang="en-US" altLang="en-QA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QA" baseline="-25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22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26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Q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QA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QA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21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altLang="en-Q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altLang="en-QA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QA" u="sng" dirty="0">
                <a:solidFill>
                  <a:srgbClr val="00B050"/>
                </a:solidFill>
                <a:cs typeface="Times New Roman" panose="02020603050405020304" pitchFamily="18" charset="0"/>
              </a:rPr>
              <a:t>Optimal (shortest) Tour</a:t>
            </a:r>
            <a:endParaRPr lang="en-US" altLang="en-QA" sz="1000" u="sng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216094" name="Rectangle 30">
            <a:extLst>
              <a:ext uri="{FF2B5EF4-FFF2-40B4-BE49-F238E27FC236}">
                <a16:creationId xmlns:a16="http://schemas.microsoft.com/office/drawing/2014/main" id="{3AF12720-AAD3-8745-AC6D-417497C1C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1" y="1414850"/>
            <a:ext cx="6274675" cy="36933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QA" sz="2000" u="sng" dirty="0">
                <a:solidFill>
                  <a:srgbClr val="0070C0"/>
                </a:solidFill>
                <a:cs typeface="Times New Roman" panose="02020603050405020304" pitchFamily="18" charset="0"/>
              </a:rPr>
              <a:t>Traveling Salesperson </a:t>
            </a:r>
            <a:r>
              <a:rPr lang="en-US" altLang="en-QA" sz="2000" dirty="0">
                <a:cs typeface="Times New Roman" panose="02020603050405020304" pitchFamily="18" charset="0"/>
              </a:rPr>
              <a:t>problem is an optimization p</a:t>
            </a:r>
            <a:r>
              <a:rPr lang="en-US" altLang="en-QA" sz="2000" dirty="0" smtClean="0">
                <a:cs typeface="Times New Roman" panose="02020603050405020304" pitchFamily="18" charset="0"/>
              </a:rPr>
              <a:t>roblem</a:t>
            </a:r>
            <a:endParaRPr lang="en-US" altLang="en-QA" sz="2000" dirty="0">
              <a:cs typeface="Times New Roman" panose="02020603050405020304" pitchFamily="18" charset="0"/>
            </a:endParaRPr>
          </a:p>
        </p:txBody>
      </p:sp>
      <p:grpSp>
        <p:nvGrpSpPr>
          <p:cNvPr id="216168" name="Group 104">
            <a:extLst>
              <a:ext uri="{FF2B5EF4-FFF2-40B4-BE49-F238E27FC236}">
                <a16:creationId xmlns:a16="http://schemas.microsoft.com/office/drawing/2014/main" id="{E1C58D38-0812-3E47-9509-92BCED523CDF}"/>
              </a:ext>
            </a:extLst>
          </p:cNvPr>
          <p:cNvGrpSpPr>
            <a:grpSpLocks/>
          </p:cNvGrpSpPr>
          <p:nvPr/>
        </p:nvGrpSpPr>
        <p:grpSpPr bwMode="auto">
          <a:xfrm>
            <a:off x="633608" y="4664075"/>
            <a:ext cx="2514600" cy="2193925"/>
            <a:chOff x="1104" y="2938"/>
            <a:chExt cx="1584" cy="1382"/>
          </a:xfrm>
        </p:grpSpPr>
        <p:sp>
          <p:nvSpPr>
            <p:cNvPr id="216091" name="Text Box 27">
              <a:extLst>
                <a:ext uri="{FF2B5EF4-FFF2-40B4-BE49-F238E27FC236}">
                  <a16:creationId xmlns:a16="http://schemas.microsoft.com/office/drawing/2014/main" id="{F1C2EBAF-F7D2-FE46-81F4-83615CFE1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16069" name="Oval 5">
              <a:extLst>
                <a:ext uri="{FF2B5EF4-FFF2-40B4-BE49-F238E27FC236}">
                  <a16:creationId xmlns:a16="http://schemas.microsoft.com/office/drawing/2014/main" id="{4F1C95CB-3ED7-C540-B7D9-597113468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200" i="1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1</a:t>
              </a:r>
              <a:endParaRPr lang="en-US" altLang="en-QA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16070" name="Oval 6">
              <a:extLst>
                <a:ext uri="{FF2B5EF4-FFF2-40B4-BE49-F238E27FC236}">
                  <a16:creationId xmlns:a16="http://schemas.microsoft.com/office/drawing/2014/main" id="{578A8E1F-4BE4-6747-A9A3-72FDA29B6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/>
            <a:p>
              <a:pPr eaLnBrk="0" hangingPunct="0"/>
              <a:r>
                <a:rPr lang="en-US" altLang="en-QA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 dirty="0">
                  <a:latin typeface="Times New Roman" panose="02020603050405020304" pitchFamily="18" charset="0"/>
                </a:rPr>
                <a:t>2</a:t>
              </a:r>
              <a:endParaRPr lang="en-US" altLang="en-QA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16071" name="Oval 7">
              <a:extLst>
                <a:ext uri="{FF2B5EF4-FFF2-40B4-BE49-F238E27FC236}">
                  <a16:creationId xmlns:a16="http://schemas.microsoft.com/office/drawing/2014/main" id="{D6141CD6-B34E-FE4C-A972-46157B9BC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/>
            <a:p>
              <a:pPr eaLnBrk="0" hangingPunct="0"/>
              <a:r>
                <a:rPr lang="en-US" altLang="en-QA" i="1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4</a:t>
              </a:r>
              <a:endParaRPr lang="en-US" altLang="en-QA" sz="1000">
                <a:latin typeface="Times New Roman" panose="02020603050405020304" pitchFamily="18" charset="0"/>
              </a:endParaRPr>
            </a:p>
          </p:txBody>
        </p:sp>
        <p:sp>
          <p:nvSpPr>
            <p:cNvPr id="216072" name="Oval 8">
              <a:extLst>
                <a:ext uri="{FF2B5EF4-FFF2-40B4-BE49-F238E27FC236}">
                  <a16:creationId xmlns:a16="http://schemas.microsoft.com/office/drawing/2014/main" id="{E696B887-D2FC-7E4C-80AA-6F3624DCF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/>
            <a:p>
              <a:pPr eaLnBrk="0" hangingPunct="0"/>
              <a:r>
                <a:rPr lang="en-US" altLang="en-QA" sz="1000">
                  <a:latin typeface="Times New Roman" panose="02020603050405020304" pitchFamily="18" charset="0"/>
                </a:rPr>
                <a:t> </a:t>
              </a:r>
              <a:r>
                <a:rPr lang="en-US" altLang="en-QA" sz="2400" i="1">
                  <a:latin typeface="Times New Roman" panose="02020603050405020304" pitchFamily="18" charset="0"/>
                </a:rPr>
                <a:t>v</a:t>
              </a:r>
              <a:r>
                <a:rPr lang="en-US" altLang="en-QA" sz="2400" baseline="-25000">
                  <a:latin typeface="Times New Roman" panose="02020603050405020304" pitchFamily="18" charset="0"/>
                </a:rPr>
                <a:t>3</a:t>
              </a:r>
              <a:endParaRPr lang="en-US" altLang="en-QA" sz="2400">
                <a:latin typeface="Times New Roman" panose="02020603050405020304" pitchFamily="18" charset="0"/>
              </a:endParaRPr>
            </a:p>
          </p:txBody>
        </p:sp>
        <p:sp>
          <p:nvSpPr>
            <p:cNvPr id="216076" name="Line 12">
              <a:extLst>
                <a:ext uri="{FF2B5EF4-FFF2-40B4-BE49-F238E27FC236}">
                  <a16:creationId xmlns:a16="http://schemas.microsoft.com/office/drawing/2014/main" id="{0B250321-FC4A-B24E-9C1E-B5846512A2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16077" name="Line 13">
              <a:extLst>
                <a:ext uri="{FF2B5EF4-FFF2-40B4-BE49-F238E27FC236}">
                  <a16:creationId xmlns:a16="http://schemas.microsoft.com/office/drawing/2014/main" id="{065D6D34-E3A9-0F47-8812-BC97EDFFE7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16079" name="Line 15">
              <a:extLst>
                <a:ext uri="{FF2B5EF4-FFF2-40B4-BE49-F238E27FC236}">
                  <a16:creationId xmlns:a16="http://schemas.microsoft.com/office/drawing/2014/main" id="{F2FACA42-44D9-F844-930D-CD29037EE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16080" name="Line 16">
              <a:extLst>
                <a:ext uri="{FF2B5EF4-FFF2-40B4-BE49-F238E27FC236}">
                  <a16:creationId xmlns:a16="http://schemas.microsoft.com/office/drawing/2014/main" id="{10C3694C-249D-604D-A0BA-2DD057ADC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16081" name="Line 17">
              <a:extLst>
                <a:ext uri="{FF2B5EF4-FFF2-40B4-BE49-F238E27FC236}">
                  <a16:creationId xmlns:a16="http://schemas.microsoft.com/office/drawing/2014/main" id="{4506F99D-09F7-4B4B-A0ED-BDADC0043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16082" name="Line 18">
              <a:extLst>
                <a:ext uri="{FF2B5EF4-FFF2-40B4-BE49-F238E27FC236}">
                  <a16:creationId xmlns:a16="http://schemas.microsoft.com/office/drawing/2014/main" id="{5F841120-F69F-824D-85B0-447AD7C5F1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16085" name="Text Box 21">
              <a:extLst>
                <a:ext uri="{FF2B5EF4-FFF2-40B4-BE49-F238E27FC236}">
                  <a16:creationId xmlns:a16="http://schemas.microsoft.com/office/drawing/2014/main" id="{917E2A08-8170-5542-A375-89D430901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16089" name="Text Box 25">
              <a:extLst>
                <a:ext uri="{FF2B5EF4-FFF2-40B4-BE49-F238E27FC236}">
                  <a16:creationId xmlns:a16="http://schemas.microsoft.com/office/drawing/2014/main" id="{FA05130A-FAC9-654F-A9B7-88948C37B6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16090" name="Text Box 26">
              <a:extLst>
                <a:ext uri="{FF2B5EF4-FFF2-40B4-BE49-F238E27FC236}">
                  <a16:creationId xmlns:a16="http://schemas.microsoft.com/office/drawing/2014/main" id="{32608B82-DAE6-E64A-A8C9-8FDD4475A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6092" name="Text Box 28">
              <a:extLst>
                <a:ext uri="{FF2B5EF4-FFF2-40B4-BE49-F238E27FC236}">
                  <a16:creationId xmlns:a16="http://schemas.microsoft.com/office/drawing/2014/main" id="{57CF6062-E5A6-BB42-ADEB-558A27E58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16095" name="Text Box 31">
              <a:extLst>
                <a:ext uri="{FF2B5EF4-FFF2-40B4-BE49-F238E27FC236}">
                  <a16:creationId xmlns:a16="http://schemas.microsoft.com/office/drawing/2014/main" id="{3201651F-F0B7-5049-A803-F369A1868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16096" name="Line 32">
              <a:extLst>
                <a:ext uri="{FF2B5EF4-FFF2-40B4-BE49-F238E27FC236}">
                  <a16:creationId xmlns:a16="http://schemas.microsoft.com/office/drawing/2014/main" id="{837522B7-F4AE-4E45-9E66-B73AD6CE56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16097" name="Text Box 33">
              <a:extLst>
                <a:ext uri="{FF2B5EF4-FFF2-40B4-BE49-F238E27FC236}">
                  <a16:creationId xmlns:a16="http://schemas.microsoft.com/office/drawing/2014/main" id="{6299BB15-370E-C040-A9CB-036DCACB2F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216098" name="Line 34">
              <a:extLst>
                <a:ext uri="{FF2B5EF4-FFF2-40B4-BE49-F238E27FC236}">
                  <a16:creationId xmlns:a16="http://schemas.microsoft.com/office/drawing/2014/main" id="{3B685ECE-2128-5B41-9FBD-EB89980B58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16099" name="Text Box 35">
              <a:extLst>
                <a:ext uri="{FF2B5EF4-FFF2-40B4-BE49-F238E27FC236}">
                  <a16:creationId xmlns:a16="http://schemas.microsoft.com/office/drawing/2014/main" id="{63080E8B-826D-B34E-BCFF-D88B1A37A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16100" name="Line 36">
              <a:extLst>
                <a:ext uri="{FF2B5EF4-FFF2-40B4-BE49-F238E27FC236}">
                  <a16:creationId xmlns:a16="http://schemas.microsoft.com/office/drawing/2014/main" id="{6FE95382-5DAE-9E48-B479-BFC258EAA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QA"/>
            </a:p>
          </p:txBody>
        </p:sp>
        <p:sp>
          <p:nvSpPr>
            <p:cNvPr id="216101" name="Text Box 37">
              <a:extLst>
                <a:ext uri="{FF2B5EF4-FFF2-40B4-BE49-F238E27FC236}">
                  <a16:creationId xmlns:a16="http://schemas.microsoft.com/office/drawing/2014/main" id="{4EC7F369-B44F-6F4E-973D-81865A819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en-QA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16166" name="Group 102">
            <a:extLst>
              <a:ext uri="{FF2B5EF4-FFF2-40B4-BE49-F238E27FC236}">
                <a16:creationId xmlns:a16="http://schemas.microsoft.com/office/drawing/2014/main" id="{EF4FDC42-B4C4-324B-A66C-F787A23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44651"/>
              </p:ext>
            </p:extLst>
          </p:nvPr>
        </p:nvGraphicFramePr>
        <p:xfrm>
          <a:off x="3598658" y="4800600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159967476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410014398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85283436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494388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826509173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210286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9</a:t>
                      </a:r>
                      <a:endParaRPr kumimoji="0" lang="en-US" altLang="en-QA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46388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168599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72471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2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Q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015703"/>
                  </a:ext>
                </a:extLst>
              </a:tr>
            </a:tbl>
          </a:graphicData>
        </a:graphic>
      </p:graphicFrame>
      <p:sp>
        <p:nvSpPr>
          <p:cNvPr id="216169" name="Rectangle 105">
            <a:extLst>
              <a:ext uri="{FF2B5EF4-FFF2-40B4-BE49-F238E27FC236}">
                <a16:creationId xmlns:a16="http://schemas.microsoft.com/office/drawing/2014/main" id="{069EA6EA-BCCE-024F-9FD4-039B4C4D3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685" y="2895600"/>
            <a:ext cx="6889315" cy="66172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QA" sz="2000" b="1" u="sng" dirty="0">
                <a:cs typeface="Times New Roman" panose="02020603050405020304" pitchFamily="18" charset="0"/>
              </a:rPr>
              <a:t>Note</a:t>
            </a:r>
            <a:r>
              <a:rPr lang="en-US" altLang="en-QA" sz="2000" dirty="0">
                <a:cs typeface="Times New Roman" panose="02020603050405020304" pitchFamily="18" charset="0"/>
              </a:rPr>
              <a:t>: Starting city is irrelevant to the length of the optimal tour.  </a:t>
            </a:r>
          </a:p>
          <a:p>
            <a:pPr>
              <a:lnSpc>
                <a:spcPct val="90000"/>
              </a:lnSpc>
              <a:spcBef>
                <a:spcPct val="5000"/>
              </a:spcBef>
            </a:pPr>
            <a:r>
              <a:rPr lang="en-US" altLang="en-QA" sz="2000" dirty="0">
                <a:cs typeface="Times New Roman" panose="02020603050405020304" pitchFamily="18" charset="0"/>
              </a:rPr>
              <a:t>A Tour is a Cycle (Hamiltonian Circuit)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607" y="4541840"/>
            <a:ext cx="5650281" cy="228297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39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87199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6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6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6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6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6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6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6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6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6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6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94" grpId="0" animBg="1"/>
      <p:bldP spid="21616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7" y="8444"/>
            <a:ext cx="9144000" cy="48776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0" dirty="0">
                <a:latin typeface="+mn-lt"/>
                <a:cs typeface="Times New Roman" panose="02020603050405020304" pitchFamily="18" charset="0"/>
              </a:rPr>
              <a:t>Trivial Algorithm For Traveling Salesperson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9674" y="611659"/>
            <a:ext cx="919361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Shortest route </a:t>
            </a:r>
            <a:r>
              <a:rPr lang="en-US" altLang="en-US" sz="20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from </a:t>
            </a:r>
            <a:r>
              <a:rPr lang="en-US" alt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 back to </a:t>
            </a:r>
            <a:r>
              <a:rPr lang="en-US" alt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passing by all other vertices </a:t>
            </a:r>
            <a:r>
              <a:rPr lang="en-US" altLang="en-US" sz="20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exactly </a:t>
            </a:r>
            <a:r>
              <a:rPr lang="en-US" altLang="en-US" sz="2000" dirty="0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once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 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There could be </a:t>
            </a:r>
            <a:r>
              <a:rPr lang="en-US" altLang="en-US" sz="2000" u="sng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many optimal solutions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. We need to </a:t>
            </a:r>
            <a:r>
              <a:rPr lang="en-US" altLang="en-US" sz="2000" b="1" u="sng" dirty="0">
                <a:latin typeface="+mn-lt"/>
                <a:cs typeface="Times New Roman" panose="02020603050405020304" pitchFamily="18" charset="0"/>
              </a:rPr>
              <a:t>find one of </a:t>
            </a:r>
            <a:r>
              <a:rPr lang="en-US" altLang="en-US" sz="2000" b="1" u="sng" dirty="0" smtClean="0">
                <a:latin typeface="+mn-lt"/>
                <a:cs typeface="Times New Roman" panose="02020603050405020304" pitchFamily="18" charset="0"/>
              </a:rPr>
              <a:t>them</a:t>
            </a:r>
            <a:endParaRPr lang="en-US" altLang="en-US" sz="2000" b="1" u="sng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0724" name="Rectangle 29"/>
          <p:cNvSpPr>
            <a:spLocks noChangeArrowheads="1"/>
          </p:cNvSpPr>
          <p:nvPr/>
        </p:nvSpPr>
        <p:spPr bwMode="auto">
          <a:xfrm>
            <a:off x="56834" y="1432838"/>
            <a:ext cx="7898219" cy="2529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u="sng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Trivial Algorithm</a:t>
            </a:r>
            <a:r>
              <a:rPr lang="en-US" altLang="en-US" sz="2000" u="sng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b="1" u="sng" dirty="0" smtClean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Idea</a:t>
            </a:r>
            <a:endParaRPr lang="en-US" altLang="en-US" sz="2000" u="sng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	Consider all possible tours and find the optimal 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one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	   - from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+mn-lt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to all neighbor vertices (adjacent vertices): </a:t>
            </a:r>
            <a:r>
              <a:rPr lang="en-US" altLang="en-US" sz="2000" dirty="0" smtClean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(</a:t>
            </a:r>
            <a:r>
              <a:rPr lang="en-US" altLang="en-US" sz="20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 smtClean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-1) 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choices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	   - from any of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-1 neighbors to their neighbors, …etc.  </a:t>
            </a:r>
            <a:r>
              <a:rPr lang="en-US" altLang="en-US" sz="20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(</a:t>
            </a:r>
            <a:r>
              <a:rPr lang="en-US" altLang="en-US" sz="20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 smtClean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-2) 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choices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     Total number of paths: (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-1)(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-2) …. 1 = </a:t>
            </a:r>
            <a:r>
              <a:rPr lang="en-US" altLang="en-US" sz="20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(</a:t>
            </a: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- 1) ! </a:t>
            </a:r>
          </a:p>
          <a:p>
            <a:pPr eaLnBrk="1" hangingPunct="1">
              <a:buFontTx/>
              <a:buNone/>
            </a:pP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09625" y="2186430"/>
            <a:ext cx="25268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u="sng" dirty="0">
                <a:solidFill>
                  <a:srgbClr val="0070C0"/>
                </a:solidFill>
                <a:cs typeface="Times New Roman" panose="02020603050405020304" pitchFamily="18" charset="0"/>
              </a:rPr>
              <a:t>All possible tours: </a:t>
            </a:r>
            <a:r>
              <a:rPr lang="en-US" altLang="en-US" b="1" dirty="0">
                <a:solidFill>
                  <a:srgbClr val="C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b="1" dirty="0">
                <a:solidFill>
                  <a:srgbClr val="C00000"/>
                </a:solidFill>
                <a:cs typeface="Times New Roman" panose="02020603050405020304" pitchFamily="18" charset="0"/>
              </a:rPr>
              <a:t>-1)! </a:t>
            </a:r>
          </a:p>
          <a:p>
            <a:pPr algn="ctr"/>
            <a:r>
              <a:rPr lang="en-US" altLang="en-US" dirty="0">
                <a:cs typeface="Times New Roman" panose="02020603050405020304" pitchFamily="18" charset="0"/>
              </a:rPr>
              <a:t>3 ! = 3 * 2 * 1 = 6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480812" y="4864968"/>
            <a:ext cx="2520085" cy="1938919"/>
            <a:chOff x="2495234" y="4609807"/>
            <a:chExt cx="2520085" cy="1938919"/>
          </a:xfrm>
        </p:grpSpPr>
        <p:sp>
          <p:nvSpPr>
            <p:cNvPr id="30728" name="Text Box 34"/>
            <p:cNvSpPr txBox="1">
              <a:spLocks noChangeArrowheads="1"/>
            </p:cNvSpPr>
            <p:nvPr/>
          </p:nvSpPr>
          <p:spPr bwMode="auto">
            <a:xfrm>
              <a:off x="3570914" y="4609807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0729" name="Oval 35"/>
            <p:cNvSpPr>
              <a:spLocks noChangeArrowheads="1"/>
            </p:cNvSpPr>
            <p:nvPr/>
          </p:nvSpPr>
          <p:spPr bwMode="auto">
            <a:xfrm>
              <a:off x="2495234" y="4638963"/>
              <a:ext cx="606425" cy="6365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0730" name="Oval 36"/>
            <p:cNvSpPr>
              <a:spLocks noChangeArrowheads="1"/>
            </p:cNvSpPr>
            <p:nvPr/>
          </p:nvSpPr>
          <p:spPr bwMode="auto">
            <a:xfrm>
              <a:off x="4314509" y="4638963"/>
              <a:ext cx="606425" cy="6365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 dirty="0">
                  <a:latin typeface="Times New Roman" panose="02020603050405020304" pitchFamily="18" charset="0"/>
                </a:rPr>
                <a:t>2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0731" name="Oval 37"/>
            <p:cNvSpPr>
              <a:spLocks noChangeArrowheads="1"/>
            </p:cNvSpPr>
            <p:nvPr/>
          </p:nvSpPr>
          <p:spPr bwMode="auto">
            <a:xfrm>
              <a:off x="2495234" y="5912138"/>
              <a:ext cx="606425" cy="6365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0732" name="Oval 38"/>
            <p:cNvSpPr>
              <a:spLocks noChangeArrowheads="1"/>
            </p:cNvSpPr>
            <p:nvPr/>
          </p:nvSpPr>
          <p:spPr bwMode="auto">
            <a:xfrm>
              <a:off x="4314509" y="5912138"/>
              <a:ext cx="606425" cy="6365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70C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dirty="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 dirty="0">
                  <a:latin typeface="Times New Roman" panose="02020603050405020304" pitchFamily="18" charset="0"/>
                </a:rPr>
                <a:t>3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0733" name="Line 39"/>
            <p:cNvSpPr>
              <a:spLocks noChangeShapeType="1"/>
            </p:cNvSpPr>
            <p:nvPr/>
          </p:nvSpPr>
          <p:spPr bwMode="auto">
            <a:xfrm flipV="1">
              <a:off x="3069186" y="5188670"/>
              <a:ext cx="1319213" cy="854075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Line 40"/>
            <p:cNvSpPr>
              <a:spLocks noChangeShapeType="1"/>
            </p:cNvSpPr>
            <p:nvPr/>
          </p:nvSpPr>
          <p:spPr bwMode="auto">
            <a:xfrm flipV="1">
              <a:off x="3117680" y="4864968"/>
              <a:ext cx="1188720" cy="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5" name="Line 41"/>
            <p:cNvSpPr>
              <a:spLocks noChangeShapeType="1"/>
            </p:cNvSpPr>
            <p:nvPr/>
          </p:nvSpPr>
          <p:spPr bwMode="auto">
            <a:xfrm>
              <a:off x="2738121" y="5275550"/>
              <a:ext cx="0" cy="6365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6" name="Line 42"/>
            <p:cNvSpPr>
              <a:spLocks noChangeShapeType="1"/>
            </p:cNvSpPr>
            <p:nvPr/>
          </p:nvSpPr>
          <p:spPr bwMode="auto">
            <a:xfrm>
              <a:off x="4697096" y="5275550"/>
              <a:ext cx="0" cy="636588"/>
            </a:xfrm>
            <a:prstGeom prst="line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7" name="Line 43"/>
            <p:cNvSpPr>
              <a:spLocks noChangeShapeType="1"/>
            </p:cNvSpPr>
            <p:nvPr/>
          </p:nvSpPr>
          <p:spPr bwMode="auto">
            <a:xfrm flipV="1">
              <a:off x="3101659" y="6190525"/>
              <a:ext cx="1212850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8" name="Line 44"/>
            <p:cNvSpPr>
              <a:spLocks noChangeShapeType="1"/>
            </p:cNvSpPr>
            <p:nvPr/>
          </p:nvSpPr>
          <p:spPr bwMode="auto">
            <a:xfrm flipV="1">
              <a:off x="3101659" y="4964543"/>
              <a:ext cx="1212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Text Box 45"/>
            <p:cNvSpPr txBox="1">
              <a:spLocks noChangeArrowheads="1"/>
            </p:cNvSpPr>
            <p:nvPr/>
          </p:nvSpPr>
          <p:spPr bwMode="auto">
            <a:xfrm>
              <a:off x="3522038" y="6289221"/>
              <a:ext cx="282001" cy="22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0740" name="Text Box 46"/>
            <p:cNvSpPr txBox="1">
              <a:spLocks noChangeArrowheads="1"/>
            </p:cNvSpPr>
            <p:nvPr/>
          </p:nvSpPr>
          <p:spPr bwMode="auto">
            <a:xfrm>
              <a:off x="3939210" y="5350445"/>
              <a:ext cx="403225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0741" name="Text Box 47"/>
            <p:cNvSpPr txBox="1">
              <a:spLocks noChangeArrowheads="1"/>
            </p:cNvSpPr>
            <p:nvPr/>
          </p:nvSpPr>
          <p:spPr bwMode="auto">
            <a:xfrm>
              <a:off x="3546590" y="4910199"/>
              <a:ext cx="363538" cy="425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0742" name="Text Box 48"/>
            <p:cNvSpPr txBox="1">
              <a:spLocks noChangeArrowheads="1"/>
            </p:cNvSpPr>
            <p:nvPr/>
          </p:nvSpPr>
          <p:spPr bwMode="auto">
            <a:xfrm>
              <a:off x="4651781" y="5434740"/>
              <a:ext cx="363538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0743" name="Text Box 49"/>
            <p:cNvSpPr txBox="1">
              <a:spLocks noChangeArrowheads="1"/>
            </p:cNvSpPr>
            <p:nvPr/>
          </p:nvSpPr>
          <p:spPr bwMode="auto">
            <a:xfrm>
              <a:off x="2557745" y="5492489"/>
              <a:ext cx="403225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0744" name="Line 50"/>
            <p:cNvSpPr>
              <a:spLocks noChangeShapeType="1"/>
            </p:cNvSpPr>
            <p:nvPr/>
          </p:nvSpPr>
          <p:spPr bwMode="auto">
            <a:xfrm flipV="1">
              <a:off x="4544696" y="5278725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5" name="Text Box 51"/>
            <p:cNvSpPr txBox="1">
              <a:spLocks noChangeArrowheads="1"/>
            </p:cNvSpPr>
            <p:nvPr/>
          </p:nvSpPr>
          <p:spPr bwMode="auto">
            <a:xfrm>
              <a:off x="4295749" y="5424336"/>
              <a:ext cx="4572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0746" name="Line 52"/>
            <p:cNvSpPr>
              <a:spLocks noChangeShapeType="1"/>
            </p:cNvSpPr>
            <p:nvPr/>
          </p:nvSpPr>
          <p:spPr bwMode="auto">
            <a:xfrm flipV="1">
              <a:off x="2981731" y="5103668"/>
              <a:ext cx="1371600" cy="874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7" name="Text Box 53"/>
            <p:cNvSpPr txBox="1">
              <a:spLocks noChangeArrowheads="1"/>
            </p:cNvSpPr>
            <p:nvPr/>
          </p:nvSpPr>
          <p:spPr bwMode="auto">
            <a:xfrm>
              <a:off x="3744288" y="5166729"/>
              <a:ext cx="403225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0748" name="Line 54"/>
            <p:cNvSpPr>
              <a:spLocks noChangeShapeType="1"/>
            </p:cNvSpPr>
            <p:nvPr/>
          </p:nvSpPr>
          <p:spPr bwMode="auto">
            <a:xfrm>
              <a:off x="2984474" y="5219265"/>
              <a:ext cx="1371600" cy="83820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Text Box 55"/>
            <p:cNvSpPr txBox="1">
              <a:spLocks noChangeArrowheads="1"/>
            </p:cNvSpPr>
            <p:nvPr/>
          </p:nvSpPr>
          <p:spPr bwMode="auto">
            <a:xfrm>
              <a:off x="3110166" y="5343421"/>
              <a:ext cx="403225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1" name="Line 41"/>
            <p:cNvSpPr>
              <a:spLocks noChangeShapeType="1"/>
            </p:cNvSpPr>
            <p:nvPr/>
          </p:nvSpPr>
          <p:spPr bwMode="auto">
            <a:xfrm>
              <a:off x="2854266" y="5271323"/>
              <a:ext cx="0" cy="636588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54"/>
            <p:cNvSpPr>
              <a:spLocks noChangeShapeType="1"/>
            </p:cNvSpPr>
            <p:nvPr/>
          </p:nvSpPr>
          <p:spPr bwMode="auto">
            <a:xfrm>
              <a:off x="3030221" y="5136729"/>
              <a:ext cx="1371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43"/>
            <p:cNvSpPr>
              <a:spLocks noChangeShapeType="1"/>
            </p:cNvSpPr>
            <p:nvPr/>
          </p:nvSpPr>
          <p:spPr bwMode="auto">
            <a:xfrm flipV="1">
              <a:off x="3109596" y="6286106"/>
              <a:ext cx="12128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 Box 55"/>
            <p:cNvSpPr txBox="1">
              <a:spLocks noChangeArrowheads="1"/>
            </p:cNvSpPr>
            <p:nvPr/>
          </p:nvSpPr>
          <p:spPr bwMode="auto">
            <a:xfrm>
              <a:off x="3219888" y="5068495"/>
              <a:ext cx="403225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91" name="Text Box 49"/>
            <p:cNvSpPr txBox="1">
              <a:spLocks noChangeArrowheads="1"/>
            </p:cNvSpPr>
            <p:nvPr/>
          </p:nvSpPr>
          <p:spPr bwMode="auto">
            <a:xfrm>
              <a:off x="2792372" y="5492489"/>
              <a:ext cx="403225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92" name="Text Box 45"/>
            <p:cNvSpPr txBox="1">
              <a:spLocks noChangeArrowheads="1"/>
            </p:cNvSpPr>
            <p:nvPr/>
          </p:nvSpPr>
          <p:spPr bwMode="auto">
            <a:xfrm>
              <a:off x="3522038" y="5981597"/>
              <a:ext cx="282001" cy="22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199586" y="2799991"/>
            <a:ext cx="4871405" cy="4106649"/>
            <a:chOff x="7199586" y="2751351"/>
            <a:chExt cx="4871405" cy="4106649"/>
          </a:xfrm>
        </p:grpSpPr>
        <p:sp>
          <p:nvSpPr>
            <p:cNvPr id="34" name="Oval 82"/>
            <p:cNvSpPr>
              <a:spLocks noChangeArrowheads="1"/>
            </p:cNvSpPr>
            <p:nvPr/>
          </p:nvSpPr>
          <p:spPr bwMode="auto">
            <a:xfrm>
              <a:off x="9758176" y="2751351"/>
              <a:ext cx="442913" cy="4365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5" name="Oval 83"/>
            <p:cNvSpPr>
              <a:spLocks noChangeArrowheads="1"/>
            </p:cNvSpPr>
            <p:nvPr/>
          </p:nvSpPr>
          <p:spPr bwMode="auto">
            <a:xfrm>
              <a:off x="8261611" y="3602251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36" name="AutoShape 84"/>
            <p:cNvCxnSpPr>
              <a:cxnSpLocks noChangeShapeType="1"/>
              <a:stCxn id="34" idx="4"/>
              <a:endCxn id="35" idx="0"/>
            </p:cNvCxnSpPr>
            <p:nvPr/>
          </p:nvCxnSpPr>
          <p:spPr bwMode="auto">
            <a:xfrm flipH="1">
              <a:off x="8461636" y="3187914"/>
              <a:ext cx="1517997" cy="4143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" name="Oval 89"/>
            <p:cNvSpPr>
              <a:spLocks noChangeArrowheads="1"/>
            </p:cNvSpPr>
            <p:nvPr/>
          </p:nvSpPr>
          <p:spPr bwMode="auto">
            <a:xfrm>
              <a:off x="9785313" y="3589551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42" name="AutoShape 90"/>
            <p:cNvCxnSpPr>
              <a:cxnSpLocks noChangeShapeType="1"/>
              <a:stCxn id="34" idx="4"/>
              <a:endCxn id="41" idx="0"/>
            </p:cNvCxnSpPr>
            <p:nvPr/>
          </p:nvCxnSpPr>
          <p:spPr bwMode="auto">
            <a:xfrm>
              <a:off x="9979633" y="3187914"/>
              <a:ext cx="4118" cy="4016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" name="Oval 97"/>
            <p:cNvSpPr>
              <a:spLocks noChangeArrowheads="1"/>
            </p:cNvSpPr>
            <p:nvPr/>
          </p:nvSpPr>
          <p:spPr bwMode="auto">
            <a:xfrm>
              <a:off x="11266301" y="3591139"/>
              <a:ext cx="400050" cy="4143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50" name="AutoShape 98"/>
            <p:cNvCxnSpPr>
              <a:cxnSpLocks noChangeShapeType="1"/>
              <a:stCxn id="34" idx="4"/>
              <a:endCxn id="49" idx="0"/>
            </p:cNvCxnSpPr>
            <p:nvPr/>
          </p:nvCxnSpPr>
          <p:spPr bwMode="auto">
            <a:xfrm>
              <a:off x="9980426" y="3197439"/>
              <a:ext cx="1485900" cy="3841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109"/>
            <p:cNvCxnSpPr>
              <a:cxnSpLocks noChangeShapeType="1"/>
              <a:stCxn id="41" idx="4"/>
              <a:endCxn id="63" idx="0"/>
            </p:cNvCxnSpPr>
            <p:nvPr/>
          </p:nvCxnSpPr>
          <p:spPr bwMode="auto">
            <a:xfrm flipH="1">
              <a:off x="9686095" y="4005476"/>
              <a:ext cx="297656" cy="53184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AutoShape 110"/>
            <p:cNvCxnSpPr>
              <a:cxnSpLocks noChangeShapeType="1"/>
              <a:stCxn id="41" idx="4"/>
              <a:endCxn id="64" idx="0"/>
            </p:cNvCxnSpPr>
            <p:nvPr/>
          </p:nvCxnSpPr>
          <p:spPr bwMode="auto">
            <a:xfrm>
              <a:off x="9983751" y="4005476"/>
              <a:ext cx="282574" cy="53184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3" name="Oval 111"/>
            <p:cNvSpPr>
              <a:spLocks noChangeArrowheads="1"/>
            </p:cNvSpPr>
            <p:nvPr/>
          </p:nvSpPr>
          <p:spPr bwMode="auto">
            <a:xfrm>
              <a:off x="9486863" y="4537321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4" name="Oval 112"/>
            <p:cNvSpPr>
              <a:spLocks noChangeArrowheads="1"/>
            </p:cNvSpPr>
            <p:nvPr/>
          </p:nvSpPr>
          <p:spPr bwMode="auto">
            <a:xfrm>
              <a:off x="10066300" y="4537321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66" name="AutoShape 109"/>
            <p:cNvCxnSpPr>
              <a:cxnSpLocks noChangeShapeType="1"/>
              <a:stCxn id="35" idx="4"/>
              <a:endCxn id="68" idx="0"/>
            </p:cNvCxnSpPr>
            <p:nvPr/>
          </p:nvCxnSpPr>
          <p:spPr bwMode="auto">
            <a:xfrm flipH="1">
              <a:off x="8157025" y="4018176"/>
              <a:ext cx="304611" cy="53184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AutoShape 110"/>
            <p:cNvCxnSpPr>
              <a:cxnSpLocks noChangeShapeType="1"/>
              <a:stCxn id="35" idx="4"/>
              <a:endCxn id="69" idx="0"/>
            </p:cNvCxnSpPr>
            <p:nvPr/>
          </p:nvCxnSpPr>
          <p:spPr bwMode="auto">
            <a:xfrm>
              <a:off x="8461636" y="4018176"/>
              <a:ext cx="275619" cy="53184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8" name="Oval 111"/>
            <p:cNvSpPr>
              <a:spLocks noChangeArrowheads="1"/>
            </p:cNvSpPr>
            <p:nvPr/>
          </p:nvSpPr>
          <p:spPr bwMode="auto">
            <a:xfrm>
              <a:off x="7957793" y="4550021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9" name="Oval 112"/>
            <p:cNvSpPr>
              <a:spLocks noChangeArrowheads="1"/>
            </p:cNvSpPr>
            <p:nvPr/>
          </p:nvSpPr>
          <p:spPr bwMode="auto">
            <a:xfrm>
              <a:off x="8537230" y="4550021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70" name="AutoShape 109"/>
            <p:cNvCxnSpPr>
              <a:cxnSpLocks noChangeShapeType="1"/>
              <a:stCxn id="49" idx="4"/>
              <a:endCxn id="72" idx="0"/>
            </p:cNvCxnSpPr>
            <p:nvPr/>
          </p:nvCxnSpPr>
          <p:spPr bwMode="auto">
            <a:xfrm flipH="1">
              <a:off x="11165354" y="4005477"/>
              <a:ext cx="300972" cy="51361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AutoShape 110"/>
            <p:cNvCxnSpPr>
              <a:cxnSpLocks noChangeShapeType="1"/>
              <a:stCxn id="49" idx="4"/>
              <a:endCxn id="73" idx="0"/>
            </p:cNvCxnSpPr>
            <p:nvPr/>
          </p:nvCxnSpPr>
          <p:spPr bwMode="auto">
            <a:xfrm>
              <a:off x="11466326" y="4005477"/>
              <a:ext cx="279258" cy="51361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" name="Oval 111"/>
            <p:cNvSpPr>
              <a:spLocks noChangeArrowheads="1"/>
            </p:cNvSpPr>
            <p:nvPr/>
          </p:nvSpPr>
          <p:spPr bwMode="auto">
            <a:xfrm>
              <a:off x="10966122" y="4519088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3" name="Oval 112"/>
            <p:cNvSpPr>
              <a:spLocks noChangeArrowheads="1"/>
            </p:cNvSpPr>
            <p:nvPr/>
          </p:nvSpPr>
          <p:spPr bwMode="auto">
            <a:xfrm>
              <a:off x="11545559" y="4519088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4" name="Oval 89"/>
            <p:cNvSpPr>
              <a:spLocks noChangeArrowheads="1"/>
            </p:cNvSpPr>
            <p:nvPr/>
          </p:nvSpPr>
          <p:spPr bwMode="auto">
            <a:xfrm>
              <a:off x="7956194" y="5322221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75" name="AutoShape 90"/>
            <p:cNvCxnSpPr>
              <a:cxnSpLocks noChangeShapeType="1"/>
              <a:stCxn id="68" idx="4"/>
              <a:endCxn id="74" idx="0"/>
            </p:cNvCxnSpPr>
            <p:nvPr/>
          </p:nvCxnSpPr>
          <p:spPr bwMode="auto">
            <a:xfrm flipH="1">
              <a:off x="8154632" y="4962771"/>
              <a:ext cx="2393" cy="3594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6" name="Oval 89"/>
            <p:cNvSpPr>
              <a:spLocks noChangeArrowheads="1"/>
            </p:cNvSpPr>
            <p:nvPr/>
          </p:nvSpPr>
          <p:spPr bwMode="auto">
            <a:xfrm>
              <a:off x="8541863" y="5312681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77" name="AutoShape 90"/>
            <p:cNvCxnSpPr>
              <a:cxnSpLocks noChangeShapeType="1"/>
              <a:stCxn id="69" idx="4"/>
              <a:endCxn id="76" idx="0"/>
            </p:cNvCxnSpPr>
            <p:nvPr/>
          </p:nvCxnSpPr>
          <p:spPr bwMode="auto">
            <a:xfrm>
              <a:off x="8737255" y="4965946"/>
              <a:ext cx="3046" cy="34673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8" name="Oval 89"/>
            <p:cNvSpPr>
              <a:spLocks noChangeArrowheads="1"/>
            </p:cNvSpPr>
            <p:nvPr/>
          </p:nvSpPr>
          <p:spPr bwMode="auto">
            <a:xfrm>
              <a:off x="9482933" y="5308732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79" name="AutoShape 90"/>
            <p:cNvCxnSpPr>
              <a:cxnSpLocks noChangeShapeType="1"/>
              <a:stCxn id="63" idx="4"/>
              <a:endCxn id="78" idx="0"/>
            </p:cNvCxnSpPr>
            <p:nvPr/>
          </p:nvCxnSpPr>
          <p:spPr bwMode="auto">
            <a:xfrm flipH="1">
              <a:off x="9681371" y="4950071"/>
              <a:ext cx="4724" cy="3586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0" name="Oval 89"/>
            <p:cNvSpPr>
              <a:spLocks noChangeArrowheads="1"/>
            </p:cNvSpPr>
            <p:nvPr/>
          </p:nvSpPr>
          <p:spPr bwMode="auto">
            <a:xfrm>
              <a:off x="10066299" y="5308732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81" name="AutoShape 90"/>
            <p:cNvCxnSpPr>
              <a:cxnSpLocks noChangeShapeType="1"/>
              <a:stCxn id="64" idx="4"/>
              <a:endCxn id="80" idx="0"/>
            </p:cNvCxnSpPr>
            <p:nvPr/>
          </p:nvCxnSpPr>
          <p:spPr bwMode="auto">
            <a:xfrm flipH="1">
              <a:off x="10264737" y="4953246"/>
              <a:ext cx="1588" cy="35548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2" name="Oval 89"/>
            <p:cNvSpPr>
              <a:spLocks noChangeArrowheads="1"/>
            </p:cNvSpPr>
            <p:nvPr/>
          </p:nvSpPr>
          <p:spPr bwMode="auto">
            <a:xfrm>
              <a:off x="10972259" y="5301344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83" name="AutoShape 90"/>
            <p:cNvCxnSpPr>
              <a:cxnSpLocks noChangeShapeType="1"/>
              <a:stCxn id="72" idx="4"/>
              <a:endCxn id="82" idx="0"/>
            </p:cNvCxnSpPr>
            <p:nvPr/>
          </p:nvCxnSpPr>
          <p:spPr bwMode="auto">
            <a:xfrm>
              <a:off x="11165354" y="4931838"/>
              <a:ext cx="5343" cy="36950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4" name="Oval 89"/>
            <p:cNvSpPr>
              <a:spLocks noChangeArrowheads="1"/>
            </p:cNvSpPr>
            <p:nvPr/>
          </p:nvSpPr>
          <p:spPr bwMode="auto">
            <a:xfrm>
              <a:off x="11553382" y="5299418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85" name="AutoShape 90"/>
            <p:cNvCxnSpPr>
              <a:cxnSpLocks noChangeShapeType="1"/>
              <a:stCxn id="73" idx="4"/>
              <a:endCxn id="84" idx="0"/>
            </p:cNvCxnSpPr>
            <p:nvPr/>
          </p:nvCxnSpPr>
          <p:spPr bwMode="auto">
            <a:xfrm>
              <a:off x="11745584" y="4935013"/>
              <a:ext cx="6236" cy="36440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4" name="Text Box 34"/>
            <p:cNvSpPr txBox="1">
              <a:spLocks noChangeArrowheads="1"/>
            </p:cNvSpPr>
            <p:nvPr/>
          </p:nvSpPr>
          <p:spPr bwMode="auto">
            <a:xfrm>
              <a:off x="8642902" y="3259053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5" name="Text Box 34"/>
            <p:cNvSpPr txBox="1">
              <a:spLocks noChangeArrowheads="1"/>
            </p:cNvSpPr>
            <p:nvPr/>
          </p:nvSpPr>
          <p:spPr bwMode="auto">
            <a:xfrm>
              <a:off x="9746424" y="3259054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96" name="Text Box 34"/>
            <p:cNvSpPr txBox="1">
              <a:spLocks noChangeArrowheads="1"/>
            </p:cNvSpPr>
            <p:nvPr/>
          </p:nvSpPr>
          <p:spPr bwMode="auto">
            <a:xfrm>
              <a:off x="10921740" y="3225115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97" name="Text Box 34"/>
            <p:cNvSpPr txBox="1">
              <a:spLocks noChangeArrowheads="1"/>
            </p:cNvSpPr>
            <p:nvPr/>
          </p:nvSpPr>
          <p:spPr bwMode="auto">
            <a:xfrm>
              <a:off x="8048829" y="4119775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98" name="Text Box 34"/>
            <p:cNvSpPr txBox="1">
              <a:spLocks noChangeArrowheads="1"/>
            </p:cNvSpPr>
            <p:nvPr/>
          </p:nvSpPr>
          <p:spPr bwMode="auto">
            <a:xfrm>
              <a:off x="8557261" y="4119029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99" name="Text Box 34"/>
            <p:cNvSpPr txBox="1">
              <a:spLocks noChangeArrowheads="1"/>
            </p:cNvSpPr>
            <p:nvPr/>
          </p:nvSpPr>
          <p:spPr bwMode="auto">
            <a:xfrm>
              <a:off x="9572830" y="4119025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0" name="Text Box 34"/>
            <p:cNvSpPr txBox="1">
              <a:spLocks noChangeArrowheads="1"/>
            </p:cNvSpPr>
            <p:nvPr/>
          </p:nvSpPr>
          <p:spPr bwMode="auto">
            <a:xfrm>
              <a:off x="10098336" y="4129654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1" name="Text Box 34"/>
            <p:cNvSpPr txBox="1">
              <a:spLocks noChangeArrowheads="1"/>
            </p:cNvSpPr>
            <p:nvPr/>
          </p:nvSpPr>
          <p:spPr bwMode="auto">
            <a:xfrm>
              <a:off x="11041417" y="4119017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02" name="Text Box 34"/>
            <p:cNvSpPr txBox="1">
              <a:spLocks noChangeArrowheads="1"/>
            </p:cNvSpPr>
            <p:nvPr/>
          </p:nvSpPr>
          <p:spPr bwMode="auto">
            <a:xfrm>
              <a:off x="11594629" y="4119013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3" name="Text Box 34"/>
            <p:cNvSpPr txBox="1">
              <a:spLocks noChangeArrowheads="1"/>
            </p:cNvSpPr>
            <p:nvPr/>
          </p:nvSpPr>
          <p:spPr bwMode="auto">
            <a:xfrm>
              <a:off x="7935114" y="4979614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4" name="Text Box 34"/>
            <p:cNvSpPr txBox="1">
              <a:spLocks noChangeArrowheads="1"/>
            </p:cNvSpPr>
            <p:nvPr/>
          </p:nvSpPr>
          <p:spPr bwMode="auto">
            <a:xfrm>
              <a:off x="8699887" y="4987190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05" name="Text Box 34"/>
            <p:cNvSpPr txBox="1">
              <a:spLocks noChangeArrowheads="1"/>
            </p:cNvSpPr>
            <p:nvPr/>
          </p:nvSpPr>
          <p:spPr bwMode="auto">
            <a:xfrm>
              <a:off x="9461885" y="4987188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6" name="Text Box 34"/>
            <p:cNvSpPr txBox="1">
              <a:spLocks noChangeArrowheads="1"/>
            </p:cNvSpPr>
            <p:nvPr/>
          </p:nvSpPr>
          <p:spPr bwMode="auto">
            <a:xfrm>
              <a:off x="10237743" y="4987184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7" name="Text Box 34"/>
            <p:cNvSpPr txBox="1">
              <a:spLocks noChangeArrowheads="1"/>
            </p:cNvSpPr>
            <p:nvPr/>
          </p:nvSpPr>
          <p:spPr bwMode="auto">
            <a:xfrm>
              <a:off x="10956799" y="4973325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8" name="Text Box 34"/>
            <p:cNvSpPr txBox="1">
              <a:spLocks noChangeArrowheads="1"/>
            </p:cNvSpPr>
            <p:nvPr/>
          </p:nvSpPr>
          <p:spPr bwMode="auto">
            <a:xfrm>
              <a:off x="11706333" y="4973324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38" name="Oval 89"/>
            <p:cNvSpPr>
              <a:spLocks noChangeArrowheads="1"/>
            </p:cNvSpPr>
            <p:nvPr/>
          </p:nvSpPr>
          <p:spPr bwMode="auto">
            <a:xfrm>
              <a:off x="7956194" y="6105166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139" name="AutoShape 90"/>
            <p:cNvCxnSpPr>
              <a:cxnSpLocks noChangeShapeType="1"/>
              <a:stCxn id="74" idx="4"/>
              <a:endCxn id="138" idx="0"/>
            </p:cNvCxnSpPr>
            <p:nvPr/>
          </p:nvCxnSpPr>
          <p:spPr bwMode="auto">
            <a:xfrm>
              <a:off x="8154632" y="5738146"/>
              <a:ext cx="0" cy="36702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0" name="Oval 89"/>
            <p:cNvSpPr>
              <a:spLocks noChangeArrowheads="1"/>
            </p:cNvSpPr>
            <p:nvPr/>
          </p:nvSpPr>
          <p:spPr bwMode="auto">
            <a:xfrm>
              <a:off x="8541863" y="6095626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141" name="AutoShape 90"/>
            <p:cNvCxnSpPr>
              <a:cxnSpLocks noChangeShapeType="1"/>
              <a:stCxn id="76" idx="4"/>
              <a:endCxn id="140" idx="0"/>
            </p:cNvCxnSpPr>
            <p:nvPr/>
          </p:nvCxnSpPr>
          <p:spPr bwMode="auto">
            <a:xfrm>
              <a:off x="8740301" y="5728606"/>
              <a:ext cx="0" cy="36702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2" name="Oval 89"/>
            <p:cNvSpPr>
              <a:spLocks noChangeArrowheads="1"/>
            </p:cNvSpPr>
            <p:nvPr/>
          </p:nvSpPr>
          <p:spPr bwMode="auto">
            <a:xfrm>
              <a:off x="9482933" y="6091677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143" name="AutoShape 90"/>
            <p:cNvCxnSpPr>
              <a:cxnSpLocks noChangeShapeType="1"/>
              <a:stCxn id="78" idx="4"/>
              <a:endCxn id="142" idx="0"/>
            </p:cNvCxnSpPr>
            <p:nvPr/>
          </p:nvCxnSpPr>
          <p:spPr bwMode="auto">
            <a:xfrm>
              <a:off x="9681371" y="5724657"/>
              <a:ext cx="0" cy="36702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4" name="Oval 89"/>
            <p:cNvSpPr>
              <a:spLocks noChangeArrowheads="1"/>
            </p:cNvSpPr>
            <p:nvPr/>
          </p:nvSpPr>
          <p:spPr bwMode="auto">
            <a:xfrm>
              <a:off x="10066299" y="6091677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145" name="AutoShape 90"/>
            <p:cNvCxnSpPr>
              <a:cxnSpLocks noChangeShapeType="1"/>
              <a:stCxn id="80" idx="4"/>
              <a:endCxn id="144" idx="0"/>
            </p:cNvCxnSpPr>
            <p:nvPr/>
          </p:nvCxnSpPr>
          <p:spPr bwMode="auto">
            <a:xfrm>
              <a:off x="10264737" y="5724657"/>
              <a:ext cx="0" cy="36702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6" name="Oval 89"/>
            <p:cNvSpPr>
              <a:spLocks noChangeArrowheads="1"/>
            </p:cNvSpPr>
            <p:nvPr/>
          </p:nvSpPr>
          <p:spPr bwMode="auto">
            <a:xfrm>
              <a:off x="10972259" y="6084289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147" name="AutoShape 90"/>
            <p:cNvCxnSpPr>
              <a:cxnSpLocks noChangeShapeType="1"/>
              <a:stCxn id="82" idx="4"/>
              <a:endCxn id="146" idx="0"/>
            </p:cNvCxnSpPr>
            <p:nvPr/>
          </p:nvCxnSpPr>
          <p:spPr bwMode="auto">
            <a:xfrm>
              <a:off x="11170697" y="5717269"/>
              <a:ext cx="0" cy="36702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8" name="Oval 89"/>
            <p:cNvSpPr>
              <a:spLocks noChangeArrowheads="1"/>
            </p:cNvSpPr>
            <p:nvPr/>
          </p:nvSpPr>
          <p:spPr bwMode="auto">
            <a:xfrm>
              <a:off x="11561002" y="6082363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6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149" name="AutoShape 90"/>
            <p:cNvCxnSpPr>
              <a:cxnSpLocks noChangeShapeType="1"/>
              <a:stCxn id="84" idx="4"/>
              <a:endCxn id="148" idx="0"/>
            </p:cNvCxnSpPr>
            <p:nvPr/>
          </p:nvCxnSpPr>
          <p:spPr bwMode="auto">
            <a:xfrm>
              <a:off x="11751820" y="5715343"/>
              <a:ext cx="7620" cy="36702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0" name="Text Box 34"/>
            <p:cNvSpPr txBox="1">
              <a:spLocks noChangeArrowheads="1"/>
            </p:cNvSpPr>
            <p:nvPr/>
          </p:nvSpPr>
          <p:spPr bwMode="auto">
            <a:xfrm>
              <a:off x="7910133" y="5739848"/>
              <a:ext cx="363538" cy="357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51" name="Text Box 34"/>
            <p:cNvSpPr txBox="1">
              <a:spLocks noChangeArrowheads="1"/>
            </p:cNvSpPr>
            <p:nvPr/>
          </p:nvSpPr>
          <p:spPr bwMode="auto">
            <a:xfrm>
              <a:off x="8692625" y="5739522"/>
              <a:ext cx="363538" cy="312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52" name="Text Box 34"/>
            <p:cNvSpPr txBox="1">
              <a:spLocks noChangeArrowheads="1"/>
            </p:cNvSpPr>
            <p:nvPr/>
          </p:nvSpPr>
          <p:spPr bwMode="auto">
            <a:xfrm>
              <a:off x="9454834" y="5755885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53" name="Text Box 34"/>
            <p:cNvSpPr txBox="1">
              <a:spLocks noChangeArrowheads="1"/>
            </p:cNvSpPr>
            <p:nvPr/>
          </p:nvSpPr>
          <p:spPr bwMode="auto">
            <a:xfrm>
              <a:off x="10213765" y="5755886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4" name="Text Box 34"/>
            <p:cNvSpPr txBox="1">
              <a:spLocks noChangeArrowheads="1"/>
            </p:cNvSpPr>
            <p:nvPr/>
          </p:nvSpPr>
          <p:spPr bwMode="auto">
            <a:xfrm>
              <a:off x="10956799" y="5740743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5" name="Text Box 34"/>
            <p:cNvSpPr txBox="1">
              <a:spLocks noChangeArrowheads="1"/>
            </p:cNvSpPr>
            <p:nvPr/>
          </p:nvSpPr>
          <p:spPr bwMode="auto">
            <a:xfrm>
              <a:off x="11707453" y="5740743"/>
              <a:ext cx="36353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62" name="Text Box 34"/>
            <p:cNvSpPr txBox="1">
              <a:spLocks noChangeArrowheads="1"/>
            </p:cNvSpPr>
            <p:nvPr/>
          </p:nvSpPr>
          <p:spPr bwMode="auto">
            <a:xfrm>
              <a:off x="7199586" y="6500796"/>
              <a:ext cx="1136814" cy="327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 smtClean="0">
                  <a:solidFill>
                    <a:srgbClr val="00B050"/>
                  </a:solidFill>
                  <a:latin typeface="Times New Roman" panose="02020603050405020304" pitchFamily="18" charset="0"/>
                </a:rPr>
                <a:t>2+6+3+6=17</a:t>
              </a:r>
              <a:endParaRPr lang="en-US" altLang="en-US" sz="1400" b="1" dirty="0">
                <a:solidFill>
                  <a:srgbClr val="00B05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" name="Text Box 34"/>
            <p:cNvSpPr txBox="1">
              <a:spLocks noChangeArrowheads="1"/>
            </p:cNvSpPr>
            <p:nvPr/>
          </p:nvSpPr>
          <p:spPr bwMode="auto">
            <a:xfrm>
              <a:off x="8549587" y="6498288"/>
              <a:ext cx="363538" cy="357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18</a:t>
              </a:r>
            </a:p>
          </p:txBody>
        </p:sp>
        <p:sp>
          <p:nvSpPr>
            <p:cNvPr id="164" name="Text Box 34"/>
            <p:cNvSpPr txBox="1">
              <a:spLocks noChangeArrowheads="1"/>
            </p:cNvSpPr>
            <p:nvPr/>
          </p:nvSpPr>
          <p:spPr bwMode="auto">
            <a:xfrm>
              <a:off x="9499601" y="6486189"/>
              <a:ext cx="363538" cy="357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26</a:t>
              </a:r>
            </a:p>
          </p:txBody>
        </p:sp>
        <p:sp>
          <p:nvSpPr>
            <p:cNvPr id="165" name="Text Box 34"/>
            <p:cNvSpPr txBox="1">
              <a:spLocks noChangeArrowheads="1"/>
            </p:cNvSpPr>
            <p:nvPr/>
          </p:nvSpPr>
          <p:spPr bwMode="auto">
            <a:xfrm>
              <a:off x="10086077" y="6471228"/>
              <a:ext cx="363538" cy="357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66" name="Text Box 34"/>
            <p:cNvSpPr txBox="1">
              <a:spLocks noChangeArrowheads="1"/>
            </p:cNvSpPr>
            <p:nvPr/>
          </p:nvSpPr>
          <p:spPr bwMode="auto">
            <a:xfrm>
              <a:off x="11001047" y="6500795"/>
              <a:ext cx="363538" cy="357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21</a:t>
              </a:r>
            </a:p>
          </p:txBody>
        </p:sp>
        <p:sp>
          <p:nvSpPr>
            <p:cNvPr id="167" name="Text Box 34"/>
            <p:cNvSpPr txBox="1">
              <a:spLocks noChangeArrowheads="1"/>
            </p:cNvSpPr>
            <p:nvPr/>
          </p:nvSpPr>
          <p:spPr bwMode="auto">
            <a:xfrm>
              <a:off x="11582071" y="6500795"/>
              <a:ext cx="363538" cy="357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latin typeface="Times New Roman" panose="02020603050405020304" pitchFamily="18" charset="0"/>
                </a:rPr>
                <a:t>19</a:t>
              </a:r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6621817" y="3688503"/>
            <a:ext cx="16875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b="1" dirty="0">
                <a:cs typeface="Times New Roman" panose="02020603050405020304" pitchFamily="18" charset="0"/>
              </a:rPr>
              <a:t>1</a:t>
            </a:r>
            <a:r>
              <a:rPr lang="en-US" altLang="en-US" sz="1400" b="1" baseline="30000" dirty="0">
                <a:cs typeface="Times New Roman" panose="02020603050405020304" pitchFamily="18" charset="0"/>
              </a:rPr>
              <a:t>st</a:t>
            </a:r>
            <a:r>
              <a:rPr lang="en-US" altLang="en-US" sz="1400" b="1" dirty="0">
                <a:cs typeface="Times New Roman" panose="02020603050405020304" pitchFamily="18" charset="0"/>
              </a:rPr>
              <a:t> Level: </a:t>
            </a:r>
            <a:r>
              <a:rPr lang="en-US" altLang="en-US" sz="1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400" dirty="0">
                <a:solidFill>
                  <a:srgbClr val="0070C0"/>
                </a:solidFill>
                <a:cs typeface="Times New Roman" panose="02020603050405020304" pitchFamily="18" charset="0"/>
              </a:rPr>
              <a:t>-1</a:t>
            </a:r>
            <a:r>
              <a:rPr lang="en-US" altLang="en-US" sz="1400" dirty="0">
                <a:cs typeface="Times New Roman" panose="02020603050405020304" pitchFamily="18" charset="0"/>
              </a:rPr>
              <a:t> choices</a:t>
            </a:r>
            <a:endParaRPr lang="en-US" sz="1400" dirty="0"/>
          </a:p>
        </p:txBody>
      </p:sp>
      <p:sp>
        <p:nvSpPr>
          <p:cNvPr id="110" name="Rectangle 109"/>
          <p:cNvSpPr/>
          <p:nvPr/>
        </p:nvSpPr>
        <p:spPr>
          <a:xfrm>
            <a:off x="6311681" y="4629346"/>
            <a:ext cx="17273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b="1" dirty="0">
                <a:cs typeface="Times New Roman" panose="02020603050405020304" pitchFamily="18" charset="0"/>
              </a:rPr>
              <a:t>2</a:t>
            </a:r>
            <a:r>
              <a:rPr lang="en-US" altLang="en-US" sz="1400" b="1" baseline="30000" dirty="0">
                <a:cs typeface="Times New Roman" panose="02020603050405020304" pitchFamily="18" charset="0"/>
              </a:rPr>
              <a:t>nd</a:t>
            </a:r>
            <a:r>
              <a:rPr lang="en-US" altLang="en-US" sz="1400" b="1" dirty="0">
                <a:cs typeface="Times New Roman" panose="02020603050405020304" pitchFamily="18" charset="0"/>
              </a:rPr>
              <a:t> Level: </a:t>
            </a:r>
            <a:r>
              <a:rPr lang="en-US" altLang="en-US" sz="1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400" dirty="0">
                <a:solidFill>
                  <a:srgbClr val="0070C0"/>
                </a:solidFill>
                <a:cs typeface="Times New Roman" panose="02020603050405020304" pitchFamily="18" charset="0"/>
              </a:rPr>
              <a:t>-2</a:t>
            </a:r>
            <a:r>
              <a:rPr lang="en-US" altLang="en-US" sz="1400" dirty="0">
                <a:cs typeface="Times New Roman" panose="02020603050405020304" pitchFamily="18" charset="0"/>
              </a:rPr>
              <a:t> choices</a:t>
            </a:r>
            <a:endParaRPr lang="en-US" sz="1400" dirty="0"/>
          </a:p>
        </p:txBody>
      </p:sp>
      <p:sp>
        <p:nvSpPr>
          <p:cNvPr id="111" name="Rectangle 110"/>
          <p:cNvSpPr/>
          <p:nvPr/>
        </p:nvSpPr>
        <p:spPr>
          <a:xfrm>
            <a:off x="6270336" y="5413991"/>
            <a:ext cx="17636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b="1" dirty="0" smtClean="0">
                <a:cs typeface="Times New Roman" panose="02020603050405020304" pitchFamily="18" charset="0"/>
              </a:rPr>
              <a:t>3rd </a:t>
            </a:r>
            <a:r>
              <a:rPr lang="en-US" altLang="en-US" sz="1400" b="1" dirty="0">
                <a:cs typeface="Times New Roman" panose="02020603050405020304" pitchFamily="18" charset="0"/>
              </a:rPr>
              <a:t>Level: </a:t>
            </a:r>
            <a:r>
              <a:rPr lang="en-US" altLang="en-US" sz="1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400" dirty="0">
                <a:solidFill>
                  <a:srgbClr val="0070C0"/>
                </a:solidFill>
                <a:cs typeface="Times New Roman" panose="02020603050405020304" pitchFamily="18" charset="0"/>
              </a:rPr>
              <a:t>-3</a:t>
            </a:r>
            <a:r>
              <a:rPr lang="en-US" altLang="en-US" sz="1400" dirty="0">
                <a:cs typeface="Times New Roman" panose="02020603050405020304" pitchFamily="18" charset="0"/>
              </a:rPr>
              <a:t> choices</a:t>
            </a:r>
            <a:endParaRPr lang="en-US" sz="1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40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416103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9" grpId="0"/>
      <p:bldP spid="110" grpId="0"/>
      <p:bldP spid="1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2" name="Group 157"/>
          <p:cNvGrpSpPr>
            <a:grpSpLocks/>
          </p:cNvGrpSpPr>
          <p:nvPr/>
        </p:nvGrpSpPr>
        <p:grpSpPr bwMode="auto">
          <a:xfrm>
            <a:off x="755515" y="1238318"/>
            <a:ext cx="2514600" cy="2193925"/>
            <a:chOff x="1104" y="2938"/>
            <a:chExt cx="1584" cy="1382"/>
          </a:xfrm>
        </p:grpSpPr>
        <p:sp>
          <p:nvSpPr>
            <p:cNvPr id="32802" name="Text Box 158"/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03" name="Oval 159"/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2804" name="Oval 160"/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5" name="Oval 161"/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2806" name="Oval 162"/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7" name="Line 163"/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164"/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165"/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166"/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167"/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168"/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Text Box 169"/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814" name="Text Box 170"/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815" name="Text Box 171"/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16" name="Text Box 172"/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7" name="Text Box 173"/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8" name="Line 174"/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Text Box 175"/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2820" name="Line 176"/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Text Box 177"/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22" name="Line 178"/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Text Box 179"/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20340" name="Group 180"/>
          <p:cNvGraphicFramePr>
            <a:graphicFrameLocks noGrp="1"/>
          </p:cNvGraphicFramePr>
          <p:nvPr/>
        </p:nvGraphicFramePr>
        <p:xfrm>
          <a:off x="847590" y="3991111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307460763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6173862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43807618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51432765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500635299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6778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98191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269416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73162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491856"/>
                  </a:ext>
                </a:extLst>
              </a:tr>
            </a:tbl>
          </a:graphicData>
        </a:graphic>
      </p:graphicFrame>
      <p:sp>
        <p:nvSpPr>
          <p:cNvPr id="147" name="Rectangle 146"/>
          <p:cNvSpPr/>
          <p:nvPr/>
        </p:nvSpPr>
        <p:spPr>
          <a:xfrm>
            <a:off x="4426584" y="6184356"/>
            <a:ext cx="7470485" cy="294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rgbClr val="C00000"/>
                </a:solidFill>
                <a:cs typeface="Times New Roman" panose="02020603050405020304" pitchFamily="18" charset="0"/>
              </a:rPr>
              <a:t>Solve in a Bottom up fashion: Start from bottom of the tree and solve as you move up</a:t>
            </a:r>
            <a:endParaRPr lang="en-US" sz="1600" dirty="0">
              <a:solidFill>
                <a:srgbClr val="C00000"/>
              </a:solidFill>
            </a:endParaRPr>
          </a:p>
        </p:txBody>
      </p:sp>
      <p:grpSp>
        <p:nvGrpSpPr>
          <p:cNvPr id="32769" name="Group 32768"/>
          <p:cNvGrpSpPr/>
          <p:nvPr/>
        </p:nvGrpSpPr>
        <p:grpSpPr>
          <a:xfrm>
            <a:off x="5664261" y="1880565"/>
            <a:ext cx="5672359" cy="4012940"/>
            <a:chOff x="5664261" y="2211306"/>
            <a:chExt cx="5672359" cy="4012940"/>
          </a:xfrm>
        </p:grpSpPr>
        <p:sp>
          <p:nvSpPr>
            <p:cNvPr id="31" name="Oval 82"/>
            <p:cNvSpPr>
              <a:spLocks noChangeArrowheads="1"/>
            </p:cNvSpPr>
            <p:nvPr/>
          </p:nvSpPr>
          <p:spPr bwMode="auto">
            <a:xfrm>
              <a:off x="8244483" y="2211306"/>
              <a:ext cx="442913" cy="4365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" name="Oval 83"/>
            <p:cNvSpPr>
              <a:spLocks noChangeArrowheads="1"/>
            </p:cNvSpPr>
            <p:nvPr/>
          </p:nvSpPr>
          <p:spPr bwMode="auto">
            <a:xfrm>
              <a:off x="6164238" y="3159486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33" name="AutoShape 84"/>
            <p:cNvCxnSpPr>
              <a:cxnSpLocks noChangeShapeType="1"/>
              <a:stCxn id="31" idx="4"/>
              <a:endCxn id="32" idx="0"/>
            </p:cNvCxnSpPr>
            <p:nvPr/>
          </p:nvCxnSpPr>
          <p:spPr bwMode="auto">
            <a:xfrm flipH="1">
              <a:off x="6364263" y="2647869"/>
              <a:ext cx="2101677" cy="51161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" name="Oval 89"/>
            <p:cNvSpPr>
              <a:spLocks noChangeArrowheads="1"/>
            </p:cNvSpPr>
            <p:nvPr/>
          </p:nvSpPr>
          <p:spPr bwMode="auto">
            <a:xfrm>
              <a:off x="8271620" y="3146786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35" name="AutoShape 90"/>
            <p:cNvCxnSpPr>
              <a:cxnSpLocks noChangeShapeType="1"/>
              <a:stCxn id="31" idx="4"/>
              <a:endCxn id="34" idx="0"/>
            </p:cNvCxnSpPr>
            <p:nvPr/>
          </p:nvCxnSpPr>
          <p:spPr bwMode="auto">
            <a:xfrm>
              <a:off x="8465940" y="2647869"/>
              <a:ext cx="4118" cy="49891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" name="Oval 97"/>
            <p:cNvSpPr>
              <a:spLocks noChangeArrowheads="1"/>
            </p:cNvSpPr>
            <p:nvPr/>
          </p:nvSpPr>
          <p:spPr bwMode="auto">
            <a:xfrm>
              <a:off x="10433568" y="3148374"/>
              <a:ext cx="400050" cy="4143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37" name="AutoShape 98"/>
            <p:cNvCxnSpPr>
              <a:cxnSpLocks noChangeShapeType="1"/>
              <a:stCxn id="31" idx="4"/>
              <a:endCxn id="36" idx="0"/>
            </p:cNvCxnSpPr>
            <p:nvPr/>
          </p:nvCxnSpPr>
          <p:spPr bwMode="auto">
            <a:xfrm>
              <a:off x="8465940" y="2647869"/>
              <a:ext cx="2167653" cy="50050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109"/>
            <p:cNvCxnSpPr>
              <a:cxnSpLocks noChangeShapeType="1"/>
              <a:stCxn id="34" idx="4"/>
              <a:endCxn id="40" idx="0"/>
            </p:cNvCxnSpPr>
            <p:nvPr/>
          </p:nvCxnSpPr>
          <p:spPr bwMode="auto">
            <a:xfrm flipH="1">
              <a:off x="7968114" y="3562711"/>
              <a:ext cx="501944" cy="580485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110"/>
            <p:cNvCxnSpPr>
              <a:cxnSpLocks noChangeShapeType="1"/>
              <a:stCxn id="34" idx="4"/>
              <a:endCxn id="41" idx="0"/>
            </p:cNvCxnSpPr>
            <p:nvPr/>
          </p:nvCxnSpPr>
          <p:spPr bwMode="auto">
            <a:xfrm>
              <a:off x="8470058" y="3562711"/>
              <a:ext cx="477134" cy="58048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" name="Oval 111"/>
            <p:cNvSpPr>
              <a:spLocks noChangeArrowheads="1"/>
            </p:cNvSpPr>
            <p:nvPr/>
          </p:nvSpPr>
          <p:spPr bwMode="auto">
            <a:xfrm>
              <a:off x="7768882" y="4143196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1" name="Oval 112"/>
            <p:cNvSpPr>
              <a:spLocks noChangeArrowheads="1"/>
            </p:cNvSpPr>
            <p:nvPr/>
          </p:nvSpPr>
          <p:spPr bwMode="auto">
            <a:xfrm>
              <a:off x="8747167" y="4143196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42" name="AutoShape 109"/>
            <p:cNvCxnSpPr>
              <a:cxnSpLocks noChangeShapeType="1"/>
              <a:stCxn id="32" idx="4"/>
              <a:endCxn id="44" idx="0"/>
            </p:cNvCxnSpPr>
            <p:nvPr/>
          </p:nvCxnSpPr>
          <p:spPr bwMode="auto">
            <a:xfrm flipH="1">
              <a:off x="5865092" y="3575411"/>
              <a:ext cx="499171" cy="580485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110"/>
            <p:cNvCxnSpPr>
              <a:cxnSpLocks noChangeShapeType="1"/>
              <a:stCxn id="32" idx="4"/>
              <a:endCxn id="45" idx="0"/>
            </p:cNvCxnSpPr>
            <p:nvPr/>
          </p:nvCxnSpPr>
          <p:spPr bwMode="auto">
            <a:xfrm>
              <a:off x="6364263" y="3575411"/>
              <a:ext cx="470179" cy="58048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" name="Oval 111"/>
            <p:cNvSpPr>
              <a:spLocks noChangeArrowheads="1"/>
            </p:cNvSpPr>
            <p:nvPr/>
          </p:nvSpPr>
          <p:spPr bwMode="auto">
            <a:xfrm>
              <a:off x="5665860" y="4155896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5" name="Oval 112"/>
            <p:cNvSpPr>
              <a:spLocks noChangeArrowheads="1"/>
            </p:cNvSpPr>
            <p:nvPr/>
          </p:nvSpPr>
          <p:spPr bwMode="auto">
            <a:xfrm>
              <a:off x="6634417" y="4155896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46" name="AutoShape 109"/>
            <p:cNvCxnSpPr>
              <a:cxnSpLocks noChangeShapeType="1"/>
              <a:stCxn id="36" idx="4"/>
              <a:endCxn id="48" idx="0"/>
            </p:cNvCxnSpPr>
            <p:nvPr/>
          </p:nvCxnSpPr>
          <p:spPr bwMode="auto">
            <a:xfrm flipH="1">
              <a:off x="10138061" y="3562712"/>
              <a:ext cx="495532" cy="562251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110"/>
            <p:cNvCxnSpPr>
              <a:cxnSpLocks noChangeShapeType="1"/>
              <a:stCxn id="36" idx="4"/>
              <a:endCxn id="49" idx="0"/>
            </p:cNvCxnSpPr>
            <p:nvPr/>
          </p:nvCxnSpPr>
          <p:spPr bwMode="auto">
            <a:xfrm>
              <a:off x="10633593" y="3562712"/>
              <a:ext cx="503002" cy="562251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" name="Oval 111"/>
            <p:cNvSpPr>
              <a:spLocks noChangeArrowheads="1"/>
            </p:cNvSpPr>
            <p:nvPr/>
          </p:nvSpPr>
          <p:spPr bwMode="auto">
            <a:xfrm>
              <a:off x="9938829" y="4124963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9" name="Oval 112"/>
            <p:cNvSpPr>
              <a:spLocks noChangeArrowheads="1"/>
            </p:cNvSpPr>
            <p:nvPr/>
          </p:nvSpPr>
          <p:spPr bwMode="auto">
            <a:xfrm>
              <a:off x="10936570" y="4124963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" name="Oval 89"/>
            <p:cNvSpPr>
              <a:spLocks noChangeArrowheads="1"/>
            </p:cNvSpPr>
            <p:nvPr/>
          </p:nvSpPr>
          <p:spPr bwMode="auto">
            <a:xfrm>
              <a:off x="5664261" y="4976736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51" name="AutoShape 90"/>
            <p:cNvCxnSpPr>
              <a:cxnSpLocks noChangeShapeType="1"/>
              <a:stCxn id="44" idx="4"/>
              <a:endCxn id="50" idx="0"/>
            </p:cNvCxnSpPr>
            <p:nvPr/>
          </p:nvCxnSpPr>
          <p:spPr bwMode="auto">
            <a:xfrm flipH="1">
              <a:off x="5862699" y="4568646"/>
              <a:ext cx="2393" cy="40809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2" name="Oval 89"/>
            <p:cNvSpPr>
              <a:spLocks noChangeArrowheads="1"/>
            </p:cNvSpPr>
            <p:nvPr/>
          </p:nvSpPr>
          <p:spPr bwMode="auto">
            <a:xfrm>
              <a:off x="6639050" y="4967196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53" name="AutoShape 90"/>
            <p:cNvCxnSpPr>
              <a:cxnSpLocks noChangeShapeType="1"/>
              <a:stCxn id="45" idx="4"/>
              <a:endCxn id="52" idx="0"/>
            </p:cNvCxnSpPr>
            <p:nvPr/>
          </p:nvCxnSpPr>
          <p:spPr bwMode="auto">
            <a:xfrm>
              <a:off x="6834442" y="4571821"/>
              <a:ext cx="3046" cy="39537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4" name="Oval 89"/>
            <p:cNvSpPr>
              <a:spLocks noChangeArrowheads="1"/>
            </p:cNvSpPr>
            <p:nvPr/>
          </p:nvSpPr>
          <p:spPr bwMode="auto">
            <a:xfrm>
              <a:off x="7764952" y="4963247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55" name="AutoShape 90"/>
            <p:cNvCxnSpPr>
              <a:cxnSpLocks noChangeShapeType="1"/>
              <a:stCxn id="40" idx="4"/>
              <a:endCxn id="54" idx="0"/>
            </p:cNvCxnSpPr>
            <p:nvPr/>
          </p:nvCxnSpPr>
          <p:spPr bwMode="auto">
            <a:xfrm flipH="1">
              <a:off x="7963390" y="4555946"/>
              <a:ext cx="4724" cy="407301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" name="Oval 89"/>
            <p:cNvSpPr>
              <a:spLocks noChangeArrowheads="1"/>
            </p:cNvSpPr>
            <p:nvPr/>
          </p:nvSpPr>
          <p:spPr bwMode="auto">
            <a:xfrm>
              <a:off x="8747166" y="4963247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57" name="AutoShape 90"/>
            <p:cNvCxnSpPr>
              <a:cxnSpLocks noChangeShapeType="1"/>
              <a:stCxn id="41" idx="4"/>
              <a:endCxn id="56" idx="0"/>
            </p:cNvCxnSpPr>
            <p:nvPr/>
          </p:nvCxnSpPr>
          <p:spPr bwMode="auto">
            <a:xfrm flipH="1">
              <a:off x="8945604" y="4559121"/>
              <a:ext cx="1588" cy="404126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8" name="Oval 89"/>
            <p:cNvSpPr>
              <a:spLocks noChangeArrowheads="1"/>
            </p:cNvSpPr>
            <p:nvPr/>
          </p:nvSpPr>
          <p:spPr bwMode="auto">
            <a:xfrm>
              <a:off x="9935238" y="4955859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59" name="AutoShape 90"/>
            <p:cNvCxnSpPr>
              <a:cxnSpLocks noChangeShapeType="1"/>
              <a:stCxn id="48" idx="4"/>
              <a:endCxn id="58" idx="0"/>
            </p:cNvCxnSpPr>
            <p:nvPr/>
          </p:nvCxnSpPr>
          <p:spPr bwMode="auto">
            <a:xfrm flipH="1">
              <a:off x="10133676" y="4537713"/>
              <a:ext cx="4385" cy="418146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0" name="Oval 89"/>
            <p:cNvSpPr>
              <a:spLocks noChangeArrowheads="1"/>
            </p:cNvSpPr>
            <p:nvPr/>
          </p:nvSpPr>
          <p:spPr bwMode="auto">
            <a:xfrm>
              <a:off x="10934665" y="4953933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61" name="AutoShape 90"/>
            <p:cNvCxnSpPr>
              <a:cxnSpLocks noChangeShapeType="1"/>
              <a:stCxn id="49" idx="4"/>
              <a:endCxn id="60" idx="0"/>
            </p:cNvCxnSpPr>
            <p:nvPr/>
          </p:nvCxnSpPr>
          <p:spPr bwMode="auto">
            <a:xfrm flipH="1">
              <a:off x="11133103" y="4540888"/>
              <a:ext cx="3492" cy="41304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Oval 89"/>
            <p:cNvSpPr>
              <a:spLocks noChangeArrowheads="1"/>
            </p:cNvSpPr>
            <p:nvPr/>
          </p:nvSpPr>
          <p:spPr bwMode="auto">
            <a:xfrm>
              <a:off x="5664261" y="5808321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78" name="AutoShape 90"/>
            <p:cNvCxnSpPr>
              <a:cxnSpLocks noChangeShapeType="1"/>
              <a:stCxn id="50" idx="4"/>
              <a:endCxn id="77" idx="0"/>
            </p:cNvCxnSpPr>
            <p:nvPr/>
          </p:nvCxnSpPr>
          <p:spPr bwMode="auto">
            <a:xfrm>
              <a:off x="5862699" y="5392661"/>
              <a:ext cx="0" cy="41566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9" name="Oval 89"/>
            <p:cNvSpPr>
              <a:spLocks noChangeArrowheads="1"/>
            </p:cNvSpPr>
            <p:nvPr/>
          </p:nvSpPr>
          <p:spPr bwMode="auto">
            <a:xfrm>
              <a:off x="6639050" y="5798781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0" name="AutoShape 90"/>
            <p:cNvCxnSpPr>
              <a:cxnSpLocks noChangeShapeType="1"/>
              <a:stCxn id="52" idx="4"/>
              <a:endCxn id="79" idx="0"/>
            </p:cNvCxnSpPr>
            <p:nvPr/>
          </p:nvCxnSpPr>
          <p:spPr bwMode="auto">
            <a:xfrm>
              <a:off x="6837488" y="5383121"/>
              <a:ext cx="0" cy="415660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" name="Oval 89"/>
            <p:cNvSpPr>
              <a:spLocks noChangeArrowheads="1"/>
            </p:cNvSpPr>
            <p:nvPr/>
          </p:nvSpPr>
          <p:spPr bwMode="auto">
            <a:xfrm>
              <a:off x="7764952" y="5794832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2" name="AutoShape 90"/>
            <p:cNvCxnSpPr>
              <a:cxnSpLocks noChangeShapeType="1"/>
              <a:stCxn id="54" idx="4"/>
              <a:endCxn id="81" idx="0"/>
            </p:cNvCxnSpPr>
            <p:nvPr/>
          </p:nvCxnSpPr>
          <p:spPr bwMode="auto">
            <a:xfrm>
              <a:off x="7963390" y="5379172"/>
              <a:ext cx="0" cy="41566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3" name="Oval 89"/>
            <p:cNvSpPr>
              <a:spLocks noChangeArrowheads="1"/>
            </p:cNvSpPr>
            <p:nvPr/>
          </p:nvSpPr>
          <p:spPr bwMode="auto">
            <a:xfrm>
              <a:off x="8747166" y="5794832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4" name="AutoShape 90"/>
            <p:cNvCxnSpPr>
              <a:cxnSpLocks noChangeShapeType="1"/>
              <a:stCxn id="56" idx="4"/>
              <a:endCxn id="83" idx="0"/>
            </p:cNvCxnSpPr>
            <p:nvPr/>
          </p:nvCxnSpPr>
          <p:spPr bwMode="auto">
            <a:xfrm>
              <a:off x="8945604" y="5379172"/>
              <a:ext cx="0" cy="415660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5" name="Oval 89"/>
            <p:cNvSpPr>
              <a:spLocks noChangeArrowheads="1"/>
            </p:cNvSpPr>
            <p:nvPr/>
          </p:nvSpPr>
          <p:spPr bwMode="auto">
            <a:xfrm>
              <a:off x="9935238" y="5787444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6" name="AutoShape 90"/>
            <p:cNvCxnSpPr>
              <a:cxnSpLocks noChangeShapeType="1"/>
              <a:stCxn id="58" idx="4"/>
              <a:endCxn id="85" idx="0"/>
            </p:cNvCxnSpPr>
            <p:nvPr/>
          </p:nvCxnSpPr>
          <p:spPr bwMode="auto">
            <a:xfrm>
              <a:off x="10133676" y="5371784"/>
              <a:ext cx="0" cy="41566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Oval 89"/>
            <p:cNvSpPr>
              <a:spLocks noChangeArrowheads="1"/>
            </p:cNvSpPr>
            <p:nvPr/>
          </p:nvSpPr>
          <p:spPr bwMode="auto">
            <a:xfrm>
              <a:off x="10932557" y="5785518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8" name="AutoShape 90"/>
            <p:cNvCxnSpPr>
              <a:cxnSpLocks noChangeShapeType="1"/>
              <a:stCxn id="60" idx="4"/>
              <a:endCxn id="87" idx="0"/>
            </p:cNvCxnSpPr>
            <p:nvPr/>
          </p:nvCxnSpPr>
          <p:spPr bwMode="auto">
            <a:xfrm flipH="1">
              <a:off x="11130995" y="5369858"/>
              <a:ext cx="2108" cy="415660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4" name="Rectangle 2">
            <a:extLst>
              <a:ext uri="{FF2B5EF4-FFF2-40B4-BE49-F238E27FC236}">
                <a16:creationId xmlns:a16="http://schemas.microsoft.com/office/drawing/2014/main" id="{C3930A42-D967-9046-BEE5-F06FF3916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3453" y="0"/>
            <a:ext cx="10070165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0" dirty="0">
                <a:latin typeface="+mn-lt"/>
                <a:cs typeface="Times New Roman" panose="02020603050405020304" pitchFamily="18" charset="0"/>
              </a:rPr>
              <a:t>Traveling Salesperson: Finding The Recursive Property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41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35034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3453" y="0"/>
            <a:ext cx="10070165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0" dirty="0">
                <a:latin typeface="+mn-lt"/>
                <a:cs typeface="Times New Roman" panose="02020603050405020304" pitchFamily="18" charset="0"/>
              </a:rPr>
              <a:t>Traveling Salesperson: Finding The Recursive Property (cont.)</a:t>
            </a:r>
          </a:p>
        </p:txBody>
      </p:sp>
      <p:grpSp>
        <p:nvGrpSpPr>
          <p:cNvPr id="32772" name="Group 157"/>
          <p:cNvGrpSpPr>
            <a:grpSpLocks/>
          </p:cNvGrpSpPr>
          <p:nvPr/>
        </p:nvGrpSpPr>
        <p:grpSpPr bwMode="auto">
          <a:xfrm>
            <a:off x="755515" y="1238318"/>
            <a:ext cx="2514600" cy="2193925"/>
            <a:chOff x="1104" y="2938"/>
            <a:chExt cx="1584" cy="1382"/>
          </a:xfrm>
        </p:grpSpPr>
        <p:sp>
          <p:nvSpPr>
            <p:cNvPr id="32802" name="Text Box 158"/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03" name="Oval 159"/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2804" name="Oval 160"/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5" name="Oval 161"/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2806" name="Oval 162"/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7" name="Line 163"/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164"/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165"/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166"/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167"/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168"/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Text Box 169"/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814" name="Text Box 170"/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815" name="Text Box 171"/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16" name="Text Box 172"/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7" name="Text Box 173"/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8" name="Line 174"/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Text Box 175"/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2820" name="Line 176"/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Text Box 177"/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22" name="Line 178"/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Text Box 179"/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20340" name="Group 180"/>
          <p:cNvGraphicFramePr>
            <a:graphicFrameLocks noGrp="1"/>
          </p:cNvGraphicFramePr>
          <p:nvPr/>
        </p:nvGraphicFramePr>
        <p:xfrm>
          <a:off x="847590" y="3991111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307460763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6173862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43807618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51432765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500635299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6778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98191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269416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73162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491856"/>
                  </a:ext>
                </a:extLst>
              </a:tr>
            </a:tbl>
          </a:graphicData>
        </a:graphic>
      </p:graphicFrame>
      <p:sp>
        <p:nvSpPr>
          <p:cNvPr id="147" name="Rectangle 146"/>
          <p:cNvSpPr/>
          <p:nvPr/>
        </p:nvSpPr>
        <p:spPr>
          <a:xfrm>
            <a:off x="4426584" y="6184356"/>
            <a:ext cx="7470485" cy="294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rgbClr val="C00000"/>
                </a:solidFill>
                <a:cs typeface="Times New Roman" panose="02020603050405020304" pitchFamily="18" charset="0"/>
              </a:rPr>
              <a:t>Solve in a Bottom up fashion: Start from bottom of the tree and solve as you move up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6" name="Text Box 34"/>
          <p:cNvSpPr txBox="1">
            <a:spLocks noChangeArrowheads="1"/>
          </p:cNvSpPr>
          <p:nvPr/>
        </p:nvSpPr>
        <p:spPr bwMode="auto">
          <a:xfrm>
            <a:off x="5475552" y="4569544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grpSp>
        <p:nvGrpSpPr>
          <p:cNvPr id="32769" name="Group 32768"/>
          <p:cNvGrpSpPr/>
          <p:nvPr/>
        </p:nvGrpSpPr>
        <p:grpSpPr>
          <a:xfrm>
            <a:off x="5664261" y="1880565"/>
            <a:ext cx="5672359" cy="4012940"/>
            <a:chOff x="5664261" y="2211306"/>
            <a:chExt cx="5672359" cy="4012940"/>
          </a:xfrm>
        </p:grpSpPr>
        <p:sp>
          <p:nvSpPr>
            <p:cNvPr id="31" name="Oval 82"/>
            <p:cNvSpPr>
              <a:spLocks noChangeArrowheads="1"/>
            </p:cNvSpPr>
            <p:nvPr/>
          </p:nvSpPr>
          <p:spPr bwMode="auto">
            <a:xfrm>
              <a:off x="8244483" y="2211306"/>
              <a:ext cx="442913" cy="4365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" name="Oval 83"/>
            <p:cNvSpPr>
              <a:spLocks noChangeArrowheads="1"/>
            </p:cNvSpPr>
            <p:nvPr/>
          </p:nvSpPr>
          <p:spPr bwMode="auto">
            <a:xfrm>
              <a:off x="6164238" y="3159486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33" name="AutoShape 84"/>
            <p:cNvCxnSpPr>
              <a:cxnSpLocks noChangeShapeType="1"/>
              <a:stCxn id="31" idx="4"/>
              <a:endCxn id="32" idx="0"/>
            </p:cNvCxnSpPr>
            <p:nvPr/>
          </p:nvCxnSpPr>
          <p:spPr bwMode="auto">
            <a:xfrm flipH="1">
              <a:off x="6364263" y="2647869"/>
              <a:ext cx="2101677" cy="51161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" name="Oval 89"/>
            <p:cNvSpPr>
              <a:spLocks noChangeArrowheads="1"/>
            </p:cNvSpPr>
            <p:nvPr/>
          </p:nvSpPr>
          <p:spPr bwMode="auto">
            <a:xfrm>
              <a:off x="8271620" y="3146786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35" name="AutoShape 90"/>
            <p:cNvCxnSpPr>
              <a:cxnSpLocks noChangeShapeType="1"/>
              <a:stCxn id="31" idx="4"/>
              <a:endCxn id="34" idx="0"/>
            </p:cNvCxnSpPr>
            <p:nvPr/>
          </p:nvCxnSpPr>
          <p:spPr bwMode="auto">
            <a:xfrm>
              <a:off x="8465940" y="2647869"/>
              <a:ext cx="4118" cy="49891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" name="Oval 97"/>
            <p:cNvSpPr>
              <a:spLocks noChangeArrowheads="1"/>
            </p:cNvSpPr>
            <p:nvPr/>
          </p:nvSpPr>
          <p:spPr bwMode="auto">
            <a:xfrm>
              <a:off x="10433568" y="3148374"/>
              <a:ext cx="400050" cy="4143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37" name="AutoShape 98"/>
            <p:cNvCxnSpPr>
              <a:cxnSpLocks noChangeShapeType="1"/>
              <a:stCxn id="31" idx="4"/>
              <a:endCxn id="36" idx="0"/>
            </p:cNvCxnSpPr>
            <p:nvPr/>
          </p:nvCxnSpPr>
          <p:spPr bwMode="auto">
            <a:xfrm>
              <a:off x="8465940" y="2647869"/>
              <a:ext cx="2167653" cy="50050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109"/>
            <p:cNvCxnSpPr>
              <a:cxnSpLocks noChangeShapeType="1"/>
              <a:stCxn id="34" idx="4"/>
              <a:endCxn id="40" idx="0"/>
            </p:cNvCxnSpPr>
            <p:nvPr/>
          </p:nvCxnSpPr>
          <p:spPr bwMode="auto">
            <a:xfrm flipH="1">
              <a:off x="7968114" y="3562711"/>
              <a:ext cx="501944" cy="580485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110"/>
            <p:cNvCxnSpPr>
              <a:cxnSpLocks noChangeShapeType="1"/>
              <a:stCxn id="34" idx="4"/>
              <a:endCxn id="41" idx="0"/>
            </p:cNvCxnSpPr>
            <p:nvPr/>
          </p:nvCxnSpPr>
          <p:spPr bwMode="auto">
            <a:xfrm>
              <a:off x="8470058" y="3562711"/>
              <a:ext cx="477134" cy="58048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" name="Oval 111"/>
            <p:cNvSpPr>
              <a:spLocks noChangeArrowheads="1"/>
            </p:cNvSpPr>
            <p:nvPr/>
          </p:nvSpPr>
          <p:spPr bwMode="auto">
            <a:xfrm>
              <a:off x="7768882" y="4143196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1" name="Oval 112"/>
            <p:cNvSpPr>
              <a:spLocks noChangeArrowheads="1"/>
            </p:cNvSpPr>
            <p:nvPr/>
          </p:nvSpPr>
          <p:spPr bwMode="auto">
            <a:xfrm>
              <a:off x="8747167" y="4143196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42" name="AutoShape 109"/>
            <p:cNvCxnSpPr>
              <a:cxnSpLocks noChangeShapeType="1"/>
              <a:stCxn id="32" idx="4"/>
              <a:endCxn id="44" idx="0"/>
            </p:cNvCxnSpPr>
            <p:nvPr/>
          </p:nvCxnSpPr>
          <p:spPr bwMode="auto">
            <a:xfrm flipH="1">
              <a:off x="5865092" y="3575411"/>
              <a:ext cx="499171" cy="580485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110"/>
            <p:cNvCxnSpPr>
              <a:cxnSpLocks noChangeShapeType="1"/>
              <a:stCxn id="32" idx="4"/>
              <a:endCxn id="45" idx="0"/>
            </p:cNvCxnSpPr>
            <p:nvPr/>
          </p:nvCxnSpPr>
          <p:spPr bwMode="auto">
            <a:xfrm>
              <a:off x="6364263" y="3575411"/>
              <a:ext cx="470179" cy="58048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" name="Oval 111"/>
            <p:cNvSpPr>
              <a:spLocks noChangeArrowheads="1"/>
            </p:cNvSpPr>
            <p:nvPr/>
          </p:nvSpPr>
          <p:spPr bwMode="auto">
            <a:xfrm>
              <a:off x="5665860" y="4155896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5" name="Oval 112"/>
            <p:cNvSpPr>
              <a:spLocks noChangeArrowheads="1"/>
            </p:cNvSpPr>
            <p:nvPr/>
          </p:nvSpPr>
          <p:spPr bwMode="auto">
            <a:xfrm>
              <a:off x="6634417" y="4155896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46" name="AutoShape 109"/>
            <p:cNvCxnSpPr>
              <a:cxnSpLocks noChangeShapeType="1"/>
              <a:stCxn id="36" idx="4"/>
              <a:endCxn id="48" idx="0"/>
            </p:cNvCxnSpPr>
            <p:nvPr/>
          </p:nvCxnSpPr>
          <p:spPr bwMode="auto">
            <a:xfrm flipH="1">
              <a:off x="10138061" y="3562712"/>
              <a:ext cx="495532" cy="562251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110"/>
            <p:cNvCxnSpPr>
              <a:cxnSpLocks noChangeShapeType="1"/>
              <a:stCxn id="36" idx="4"/>
              <a:endCxn id="49" idx="0"/>
            </p:cNvCxnSpPr>
            <p:nvPr/>
          </p:nvCxnSpPr>
          <p:spPr bwMode="auto">
            <a:xfrm>
              <a:off x="10633593" y="3562712"/>
              <a:ext cx="503002" cy="562251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" name="Oval 111"/>
            <p:cNvSpPr>
              <a:spLocks noChangeArrowheads="1"/>
            </p:cNvSpPr>
            <p:nvPr/>
          </p:nvSpPr>
          <p:spPr bwMode="auto">
            <a:xfrm>
              <a:off x="9938829" y="4124963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9" name="Oval 112"/>
            <p:cNvSpPr>
              <a:spLocks noChangeArrowheads="1"/>
            </p:cNvSpPr>
            <p:nvPr/>
          </p:nvSpPr>
          <p:spPr bwMode="auto">
            <a:xfrm>
              <a:off x="10936570" y="4124963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" name="Oval 89"/>
            <p:cNvSpPr>
              <a:spLocks noChangeArrowheads="1"/>
            </p:cNvSpPr>
            <p:nvPr/>
          </p:nvSpPr>
          <p:spPr bwMode="auto">
            <a:xfrm>
              <a:off x="5664261" y="4976736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51" name="AutoShape 90"/>
            <p:cNvCxnSpPr>
              <a:cxnSpLocks noChangeShapeType="1"/>
              <a:stCxn id="44" idx="4"/>
              <a:endCxn id="50" idx="0"/>
            </p:cNvCxnSpPr>
            <p:nvPr/>
          </p:nvCxnSpPr>
          <p:spPr bwMode="auto">
            <a:xfrm flipH="1">
              <a:off x="5862699" y="4568646"/>
              <a:ext cx="2393" cy="40809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2" name="Oval 89"/>
            <p:cNvSpPr>
              <a:spLocks noChangeArrowheads="1"/>
            </p:cNvSpPr>
            <p:nvPr/>
          </p:nvSpPr>
          <p:spPr bwMode="auto">
            <a:xfrm>
              <a:off x="6639050" y="4967196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53" name="AutoShape 90"/>
            <p:cNvCxnSpPr>
              <a:cxnSpLocks noChangeShapeType="1"/>
              <a:stCxn id="45" idx="4"/>
              <a:endCxn id="52" idx="0"/>
            </p:cNvCxnSpPr>
            <p:nvPr/>
          </p:nvCxnSpPr>
          <p:spPr bwMode="auto">
            <a:xfrm>
              <a:off x="6834442" y="4571821"/>
              <a:ext cx="3046" cy="39537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4" name="Oval 89"/>
            <p:cNvSpPr>
              <a:spLocks noChangeArrowheads="1"/>
            </p:cNvSpPr>
            <p:nvPr/>
          </p:nvSpPr>
          <p:spPr bwMode="auto">
            <a:xfrm>
              <a:off x="7764952" y="4963247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55" name="AutoShape 90"/>
            <p:cNvCxnSpPr>
              <a:cxnSpLocks noChangeShapeType="1"/>
              <a:stCxn id="40" idx="4"/>
              <a:endCxn id="54" idx="0"/>
            </p:cNvCxnSpPr>
            <p:nvPr/>
          </p:nvCxnSpPr>
          <p:spPr bwMode="auto">
            <a:xfrm flipH="1">
              <a:off x="7963390" y="4555946"/>
              <a:ext cx="4724" cy="407301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" name="Oval 89"/>
            <p:cNvSpPr>
              <a:spLocks noChangeArrowheads="1"/>
            </p:cNvSpPr>
            <p:nvPr/>
          </p:nvSpPr>
          <p:spPr bwMode="auto">
            <a:xfrm>
              <a:off x="8747166" y="4963247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57" name="AutoShape 90"/>
            <p:cNvCxnSpPr>
              <a:cxnSpLocks noChangeShapeType="1"/>
              <a:stCxn id="41" idx="4"/>
              <a:endCxn id="56" idx="0"/>
            </p:cNvCxnSpPr>
            <p:nvPr/>
          </p:nvCxnSpPr>
          <p:spPr bwMode="auto">
            <a:xfrm flipH="1">
              <a:off x="8945604" y="4559121"/>
              <a:ext cx="1588" cy="404126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8" name="Oval 89"/>
            <p:cNvSpPr>
              <a:spLocks noChangeArrowheads="1"/>
            </p:cNvSpPr>
            <p:nvPr/>
          </p:nvSpPr>
          <p:spPr bwMode="auto">
            <a:xfrm>
              <a:off x="9935238" y="4955859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59" name="AutoShape 90"/>
            <p:cNvCxnSpPr>
              <a:cxnSpLocks noChangeShapeType="1"/>
              <a:stCxn id="48" idx="4"/>
              <a:endCxn id="58" idx="0"/>
            </p:cNvCxnSpPr>
            <p:nvPr/>
          </p:nvCxnSpPr>
          <p:spPr bwMode="auto">
            <a:xfrm flipH="1">
              <a:off x="10133676" y="4537713"/>
              <a:ext cx="4385" cy="418146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0" name="Oval 89"/>
            <p:cNvSpPr>
              <a:spLocks noChangeArrowheads="1"/>
            </p:cNvSpPr>
            <p:nvPr/>
          </p:nvSpPr>
          <p:spPr bwMode="auto">
            <a:xfrm>
              <a:off x="10934665" y="4953933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61" name="AutoShape 90"/>
            <p:cNvCxnSpPr>
              <a:cxnSpLocks noChangeShapeType="1"/>
              <a:stCxn id="49" idx="4"/>
              <a:endCxn id="60" idx="0"/>
            </p:cNvCxnSpPr>
            <p:nvPr/>
          </p:nvCxnSpPr>
          <p:spPr bwMode="auto">
            <a:xfrm flipH="1">
              <a:off x="11133103" y="4540888"/>
              <a:ext cx="3492" cy="41304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Oval 89"/>
            <p:cNvSpPr>
              <a:spLocks noChangeArrowheads="1"/>
            </p:cNvSpPr>
            <p:nvPr/>
          </p:nvSpPr>
          <p:spPr bwMode="auto">
            <a:xfrm>
              <a:off x="5664261" y="5808321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78" name="AutoShape 90"/>
            <p:cNvCxnSpPr>
              <a:cxnSpLocks noChangeShapeType="1"/>
              <a:stCxn id="50" idx="4"/>
              <a:endCxn id="77" idx="0"/>
            </p:cNvCxnSpPr>
            <p:nvPr/>
          </p:nvCxnSpPr>
          <p:spPr bwMode="auto">
            <a:xfrm>
              <a:off x="5862699" y="5392661"/>
              <a:ext cx="0" cy="41566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9" name="Oval 89"/>
            <p:cNvSpPr>
              <a:spLocks noChangeArrowheads="1"/>
            </p:cNvSpPr>
            <p:nvPr/>
          </p:nvSpPr>
          <p:spPr bwMode="auto">
            <a:xfrm>
              <a:off x="6639050" y="5798781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0" name="AutoShape 90"/>
            <p:cNvCxnSpPr>
              <a:cxnSpLocks noChangeShapeType="1"/>
              <a:stCxn id="52" idx="4"/>
              <a:endCxn id="79" idx="0"/>
            </p:cNvCxnSpPr>
            <p:nvPr/>
          </p:nvCxnSpPr>
          <p:spPr bwMode="auto">
            <a:xfrm>
              <a:off x="6837488" y="5383121"/>
              <a:ext cx="0" cy="415660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" name="Oval 89"/>
            <p:cNvSpPr>
              <a:spLocks noChangeArrowheads="1"/>
            </p:cNvSpPr>
            <p:nvPr/>
          </p:nvSpPr>
          <p:spPr bwMode="auto">
            <a:xfrm>
              <a:off x="7764952" y="5794832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2" name="AutoShape 90"/>
            <p:cNvCxnSpPr>
              <a:cxnSpLocks noChangeShapeType="1"/>
              <a:stCxn id="54" idx="4"/>
              <a:endCxn id="81" idx="0"/>
            </p:cNvCxnSpPr>
            <p:nvPr/>
          </p:nvCxnSpPr>
          <p:spPr bwMode="auto">
            <a:xfrm>
              <a:off x="7963390" y="5379172"/>
              <a:ext cx="0" cy="41566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3" name="Oval 89"/>
            <p:cNvSpPr>
              <a:spLocks noChangeArrowheads="1"/>
            </p:cNvSpPr>
            <p:nvPr/>
          </p:nvSpPr>
          <p:spPr bwMode="auto">
            <a:xfrm>
              <a:off x="8747166" y="5794832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4" name="AutoShape 90"/>
            <p:cNvCxnSpPr>
              <a:cxnSpLocks noChangeShapeType="1"/>
              <a:stCxn id="56" idx="4"/>
              <a:endCxn id="83" idx="0"/>
            </p:cNvCxnSpPr>
            <p:nvPr/>
          </p:nvCxnSpPr>
          <p:spPr bwMode="auto">
            <a:xfrm>
              <a:off x="8945604" y="5379172"/>
              <a:ext cx="0" cy="415660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5" name="Oval 89"/>
            <p:cNvSpPr>
              <a:spLocks noChangeArrowheads="1"/>
            </p:cNvSpPr>
            <p:nvPr/>
          </p:nvSpPr>
          <p:spPr bwMode="auto">
            <a:xfrm>
              <a:off x="9935238" y="5787444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6" name="AutoShape 90"/>
            <p:cNvCxnSpPr>
              <a:cxnSpLocks noChangeShapeType="1"/>
              <a:stCxn id="58" idx="4"/>
              <a:endCxn id="85" idx="0"/>
            </p:cNvCxnSpPr>
            <p:nvPr/>
          </p:nvCxnSpPr>
          <p:spPr bwMode="auto">
            <a:xfrm>
              <a:off x="10133676" y="5371784"/>
              <a:ext cx="0" cy="41566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Oval 89"/>
            <p:cNvSpPr>
              <a:spLocks noChangeArrowheads="1"/>
            </p:cNvSpPr>
            <p:nvPr/>
          </p:nvSpPr>
          <p:spPr bwMode="auto">
            <a:xfrm>
              <a:off x="10932557" y="5785518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8" name="AutoShape 90"/>
            <p:cNvCxnSpPr>
              <a:cxnSpLocks noChangeShapeType="1"/>
              <a:stCxn id="60" idx="4"/>
              <a:endCxn id="87" idx="0"/>
            </p:cNvCxnSpPr>
            <p:nvPr/>
          </p:nvCxnSpPr>
          <p:spPr bwMode="auto">
            <a:xfrm flipH="1">
              <a:off x="11130995" y="5369858"/>
              <a:ext cx="2108" cy="415660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0" name="Rectangle 129"/>
          <p:cNvSpPr/>
          <p:nvPr/>
        </p:nvSpPr>
        <p:spPr>
          <a:xfrm>
            <a:off x="4335510" y="4569544"/>
            <a:ext cx="12813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dirty="0">
                <a:cs typeface="Times New Roman" panose="02020603050405020304" pitchFamily="18" charset="0"/>
              </a:rPr>
              <a:t>Distance to go </a:t>
            </a:r>
          </a:p>
          <a:p>
            <a:r>
              <a:rPr lang="en-US" altLang="en-US" sz="1400" dirty="0">
                <a:cs typeface="Times New Roman" panose="02020603050405020304" pitchFamily="18" charset="0"/>
              </a:rPr>
              <a:t>from 4 to 1 = </a:t>
            </a:r>
            <a:r>
              <a:rPr lang="en-US" altLang="en-US" sz="1400" b="1" dirty="0">
                <a:solidFill>
                  <a:srgbClr val="00B050"/>
                </a:solidFill>
                <a:cs typeface="Times New Roman" panose="02020603050405020304" pitchFamily="18" charset="0"/>
              </a:rPr>
              <a:t>6</a:t>
            </a:r>
            <a:endParaRPr lang="en-US" sz="1400" b="1" dirty="0">
              <a:solidFill>
                <a:srgbClr val="00B050"/>
              </a:solidFill>
            </a:endParaRPr>
          </a:p>
        </p:txBody>
      </p:sp>
      <p:sp>
        <p:nvSpPr>
          <p:cNvPr id="131" name="Text Box 34"/>
          <p:cNvSpPr txBox="1">
            <a:spLocks noChangeArrowheads="1"/>
          </p:cNvSpPr>
          <p:nvPr/>
        </p:nvSpPr>
        <p:spPr bwMode="auto">
          <a:xfrm>
            <a:off x="6431671" y="4566148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Aft>
                <a:spcPct val="0"/>
              </a:spcAft>
              <a:buNone/>
            </a:pPr>
            <a:r>
              <a:rPr lang="en-US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2" name="Text Box 34"/>
          <p:cNvSpPr txBox="1">
            <a:spLocks noChangeArrowheads="1"/>
          </p:cNvSpPr>
          <p:nvPr/>
        </p:nvSpPr>
        <p:spPr bwMode="auto">
          <a:xfrm>
            <a:off x="7583698" y="4561290"/>
            <a:ext cx="253776" cy="3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Aft>
                <a:spcPct val="0"/>
              </a:spcAft>
              <a:buNone/>
            </a:pPr>
            <a:r>
              <a:rPr lang="en-US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</a:p>
        </p:txBody>
      </p:sp>
      <p:sp>
        <p:nvSpPr>
          <p:cNvPr id="133" name="Text Box 34"/>
          <p:cNvSpPr txBox="1">
            <a:spLocks noChangeArrowheads="1"/>
          </p:cNvSpPr>
          <p:nvPr/>
        </p:nvSpPr>
        <p:spPr bwMode="auto">
          <a:xfrm>
            <a:off x="8562948" y="4567774"/>
            <a:ext cx="253776" cy="3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Aft>
                <a:spcPct val="0"/>
              </a:spcAft>
              <a:buNone/>
            </a:pPr>
            <a:r>
              <a:rPr lang="en-US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34" name="Text Box 34"/>
          <p:cNvSpPr txBox="1">
            <a:spLocks noChangeArrowheads="1"/>
          </p:cNvSpPr>
          <p:nvPr/>
        </p:nvSpPr>
        <p:spPr bwMode="auto">
          <a:xfrm>
            <a:off x="9756210" y="4564530"/>
            <a:ext cx="253776" cy="3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Aft>
                <a:spcPct val="0"/>
              </a:spcAft>
              <a:buNone/>
            </a:pPr>
            <a:r>
              <a:rPr lang="en-US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35" name="Text Box 34"/>
          <p:cNvSpPr txBox="1">
            <a:spLocks noChangeArrowheads="1"/>
          </p:cNvSpPr>
          <p:nvPr/>
        </p:nvSpPr>
        <p:spPr bwMode="auto">
          <a:xfrm>
            <a:off x="10725731" y="4561288"/>
            <a:ext cx="253776" cy="3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Aft>
                <a:spcPct val="0"/>
              </a:spcAft>
              <a:buNone/>
            </a:pPr>
            <a:r>
              <a:rPr lang="en-US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42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27668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2" name="Group 157"/>
          <p:cNvGrpSpPr>
            <a:grpSpLocks/>
          </p:cNvGrpSpPr>
          <p:nvPr/>
        </p:nvGrpSpPr>
        <p:grpSpPr bwMode="auto">
          <a:xfrm>
            <a:off x="755515" y="1238318"/>
            <a:ext cx="2514600" cy="2193925"/>
            <a:chOff x="1104" y="2938"/>
            <a:chExt cx="1584" cy="1382"/>
          </a:xfrm>
        </p:grpSpPr>
        <p:sp>
          <p:nvSpPr>
            <p:cNvPr id="32802" name="Text Box 158"/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03" name="Oval 159"/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2804" name="Oval 160"/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5" name="Oval 161"/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2806" name="Oval 162"/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7" name="Line 163"/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164"/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165"/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166"/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167"/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168"/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Text Box 169"/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814" name="Text Box 170"/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815" name="Text Box 171"/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16" name="Text Box 172"/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7" name="Text Box 173"/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8" name="Line 174"/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Text Box 175"/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2820" name="Line 176"/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Text Box 177"/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22" name="Line 178"/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Text Box 179"/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20340" name="Group 180"/>
          <p:cNvGraphicFramePr>
            <a:graphicFrameLocks noGrp="1"/>
          </p:cNvGraphicFramePr>
          <p:nvPr/>
        </p:nvGraphicFramePr>
        <p:xfrm>
          <a:off x="847590" y="3991111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307460763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6173862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43807618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51432765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500635299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6778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98191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269416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73162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491856"/>
                  </a:ext>
                </a:extLst>
              </a:tr>
            </a:tbl>
          </a:graphicData>
        </a:graphic>
      </p:graphicFrame>
      <p:sp>
        <p:nvSpPr>
          <p:cNvPr id="147" name="Rectangle 146"/>
          <p:cNvSpPr/>
          <p:nvPr/>
        </p:nvSpPr>
        <p:spPr>
          <a:xfrm>
            <a:off x="4426584" y="6184356"/>
            <a:ext cx="7470485" cy="294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rgbClr val="C00000"/>
                </a:solidFill>
                <a:cs typeface="Times New Roman" panose="02020603050405020304" pitchFamily="18" charset="0"/>
              </a:rPr>
              <a:t>Solve in a Bottom up fashion: Start from bottom of the tree and solve as you move up</a:t>
            </a:r>
            <a:endParaRPr lang="en-US" sz="1600" dirty="0">
              <a:solidFill>
                <a:srgbClr val="C00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908480" y="1880565"/>
            <a:ext cx="7428140" cy="4012940"/>
            <a:chOff x="3908480" y="2211306"/>
            <a:chExt cx="7428140" cy="4012940"/>
          </a:xfrm>
        </p:grpSpPr>
        <p:sp>
          <p:nvSpPr>
            <p:cNvPr id="76" name="Text Box 34"/>
            <p:cNvSpPr txBox="1">
              <a:spLocks noChangeArrowheads="1"/>
            </p:cNvSpPr>
            <p:nvPr/>
          </p:nvSpPr>
          <p:spPr bwMode="auto">
            <a:xfrm>
              <a:off x="5475552" y="4900285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grpSp>
          <p:nvGrpSpPr>
            <p:cNvPr id="32769" name="Group 32768"/>
            <p:cNvGrpSpPr/>
            <p:nvPr/>
          </p:nvGrpSpPr>
          <p:grpSpPr>
            <a:xfrm>
              <a:off x="5664261" y="2211306"/>
              <a:ext cx="5672359" cy="4012940"/>
              <a:chOff x="5664261" y="2211306"/>
              <a:chExt cx="5672359" cy="4012940"/>
            </a:xfrm>
          </p:grpSpPr>
          <p:sp>
            <p:nvSpPr>
              <p:cNvPr id="31" name="Oval 82"/>
              <p:cNvSpPr>
                <a:spLocks noChangeArrowheads="1"/>
              </p:cNvSpPr>
              <p:nvPr/>
            </p:nvSpPr>
            <p:spPr bwMode="auto">
              <a:xfrm>
                <a:off x="8244483" y="2211306"/>
                <a:ext cx="442913" cy="43656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" name="Oval 83"/>
              <p:cNvSpPr>
                <a:spLocks noChangeArrowheads="1"/>
              </p:cNvSpPr>
              <p:nvPr/>
            </p:nvSpPr>
            <p:spPr bwMode="auto">
              <a:xfrm>
                <a:off x="6164238" y="315948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33" name="AutoShape 84"/>
              <p:cNvCxnSpPr>
                <a:cxnSpLocks noChangeShapeType="1"/>
                <a:stCxn id="31" idx="4"/>
                <a:endCxn id="32" idx="0"/>
              </p:cNvCxnSpPr>
              <p:nvPr/>
            </p:nvCxnSpPr>
            <p:spPr bwMode="auto">
              <a:xfrm flipH="1">
                <a:off x="6364263" y="2647869"/>
                <a:ext cx="2101677" cy="51161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4" name="Oval 89"/>
              <p:cNvSpPr>
                <a:spLocks noChangeArrowheads="1"/>
              </p:cNvSpPr>
              <p:nvPr/>
            </p:nvSpPr>
            <p:spPr bwMode="auto">
              <a:xfrm>
                <a:off x="8271620" y="314678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35" name="AutoShape 90"/>
              <p:cNvCxnSpPr>
                <a:cxnSpLocks noChangeShapeType="1"/>
                <a:stCxn id="31" idx="4"/>
                <a:endCxn id="34" idx="0"/>
              </p:cNvCxnSpPr>
              <p:nvPr/>
            </p:nvCxnSpPr>
            <p:spPr bwMode="auto">
              <a:xfrm>
                <a:off x="8465940" y="2647869"/>
                <a:ext cx="4118" cy="49891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6" name="Oval 97"/>
              <p:cNvSpPr>
                <a:spLocks noChangeArrowheads="1"/>
              </p:cNvSpPr>
              <p:nvPr/>
            </p:nvSpPr>
            <p:spPr bwMode="auto">
              <a:xfrm>
                <a:off x="10433568" y="3148374"/>
                <a:ext cx="400050" cy="4143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37" name="AutoShape 98"/>
              <p:cNvCxnSpPr>
                <a:cxnSpLocks noChangeShapeType="1"/>
                <a:stCxn id="31" idx="4"/>
                <a:endCxn id="36" idx="0"/>
              </p:cNvCxnSpPr>
              <p:nvPr/>
            </p:nvCxnSpPr>
            <p:spPr bwMode="auto">
              <a:xfrm>
                <a:off x="8465940" y="2647869"/>
                <a:ext cx="2167653" cy="50050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" name="AutoShape 109"/>
              <p:cNvCxnSpPr>
                <a:cxnSpLocks noChangeShapeType="1"/>
                <a:stCxn id="34" idx="4"/>
                <a:endCxn id="40" idx="0"/>
              </p:cNvCxnSpPr>
              <p:nvPr/>
            </p:nvCxnSpPr>
            <p:spPr bwMode="auto">
              <a:xfrm flipH="1">
                <a:off x="7968114" y="3562711"/>
                <a:ext cx="501944" cy="580485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AutoShape 110"/>
              <p:cNvCxnSpPr>
                <a:cxnSpLocks noChangeShapeType="1"/>
                <a:stCxn id="34" idx="4"/>
                <a:endCxn id="41" idx="0"/>
              </p:cNvCxnSpPr>
              <p:nvPr/>
            </p:nvCxnSpPr>
            <p:spPr bwMode="auto">
              <a:xfrm>
                <a:off x="8470058" y="3562711"/>
                <a:ext cx="477134" cy="58048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0" name="Oval 111"/>
              <p:cNvSpPr>
                <a:spLocks noChangeArrowheads="1"/>
              </p:cNvSpPr>
              <p:nvPr/>
            </p:nvSpPr>
            <p:spPr bwMode="auto">
              <a:xfrm>
                <a:off x="7768882" y="4143196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1" name="Oval 112"/>
              <p:cNvSpPr>
                <a:spLocks noChangeArrowheads="1"/>
              </p:cNvSpPr>
              <p:nvPr/>
            </p:nvSpPr>
            <p:spPr bwMode="auto">
              <a:xfrm>
                <a:off x="8747167" y="414319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42" name="AutoShape 109"/>
              <p:cNvCxnSpPr>
                <a:cxnSpLocks noChangeShapeType="1"/>
                <a:stCxn id="32" idx="4"/>
                <a:endCxn id="44" idx="0"/>
              </p:cNvCxnSpPr>
              <p:nvPr/>
            </p:nvCxnSpPr>
            <p:spPr bwMode="auto">
              <a:xfrm flipH="1">
                <a:off x="5865092" y="3575411"/>
                <a:ext cx="499171" cy="580485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AutoShape 110"/>
              <p:cNvCxnSpPr>
                <a:cxnSpLocks noChangeShapeType="1"/>
                <a:stCxn id="32" idx="4"/>
                <a:endCxn id="45" idx="0"/>
              </p:cNvCxnSpPr>
              <p:nvPr/>
            </p:nvCxnSpPr>
            <p:spPr bwMode="auto">
              <a:xfrm>
                <a:off x="6364263" y="3575411"/>
                <a:ext cx="470179" cy="58048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4" name="Oval 111"/>
              <p:cNvSpPr>
                <a:spLocks noChangeArrowheads="1"/>
              </p:cNvSpPr>
              <p:nvPr/>
            </p:nvSpPr>
            <p:spPr bwMode="auto">
              <a:xfrm>
                <a:off x="5665860" y="4155896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5" name="Oval 112"/>
              <p:cNvSpPr>
                <a:spLocks noChangeArrowheads="1"/>
              </p:cNvSpPr>
              <p:nvPr/>
            </p:nvSpPr>
            <p:spPr bwMode="auto">
              <a:xfrm>
                <a:off x="6634417" y="415589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46" name="AutoShape 109"/>
              <p:cNvCxnSpPr>
                <a:cxnSpLocks noChangeShapeType="1"/>
                <a:stCxn id="36" idx="4"/>
                <a:endCxn id="48" idx="0"/>
              </p:cNvCxnSpPr>
              <p:nvPr/>
            </p:nvCxnSpPr>
            <p:spPr bwMode="auto">
              <a:xfrm flipH="1">
                <a:off x="10138061" y="3562712"/>
                <a:ext cx="495532" cy="56225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7" name="AutoShape 110"/>
              <p:cNvCxnSpPr>
                <a:cxnSpLocks noChangeShapeType="1"/>
                <a:stCxn id="36" idx="4"/>
                <a:endCxn id="49" idx="0"/>
              </p:cNvCxnSpPr>
              <p:nvPr/>
            </p:nvCxnSpPr>
            <p:spPr bwMode="auto">
              <a:xfrm>
                <a:off x="10633593" y="3562712"/>
                <a:ext cx="503002" cy="562251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8" name="Oval 111"/>
              <p:cNvSpPr>
                <a:spLocks noChangeArrowheads="1"/>
              </p:cNvSpPr>
              <p:nvPr/>
            </p:nvSpPr>
            <p:spPr bwMode="auto">
              <a:xfrm>
                <a:off x="9938829" y="4124963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9" name="Oval 112"/>
              <p:cNvSpPr>
                <a:spLocks noChangeArrowheads="1"/>
              </p:cNvSpPr>
              <p:nvPr/>
            </p:nvSpPr>
            <p:spPr bwMode="auto">
              <a:xfrm>
                <a:off x="10936570" y="4124963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0" name="Oval 89"/>
              <p:cNvSpPr>
                <a:spLocks noChangeArrowheads="1"/>
              </p:cNvSpPr>
              <p:nvPr/>
            </p:nvSpPr>
            <p:spPr bwMode="auto">
              <a:xfrm>
                <a:off x="5664261" y="497673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51" name="AutoShape 90"/>
              <p:cNvCxnSpPr>
                <a:cxnSpLocks noChangeShapeType="1"/>
                <a:stCxn id="44" idx="4"/>
                <a:endCxn id="50" idx="0"/>
              </p:cNvCxnSpPr>
              <p:nvPr/>
            </p:nvCxnSpPr>
            <p:spPr bwMode="auto">
              <a:xfrm flipH="1">
                <a:off x="5862699" y="4568646"/>
                <a:ext cx="2393" cy="40809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2" name="Oval 89"/>
              <p:cNvSpPr>
                <a:spLocks noChangeArrowheads="1"/>
              </p:cNvSpPr>
              <p:nvPr/>
            </p:nvSpPr>
            <p:spPr bwMode="auto">
              <a:xfrm>
                <a:off x="6639050" y="496719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53" name="AutoShape 90"/>
              <p:cNvCxnSpPr>
                <a:cxnSpLocks noChangeShapeType="1"/>
                <a:stCxn id="45" idx="4"/>
                <a:endCxn id="52" idx="0"/>
              </p:cNvCxnSpPr>
              <p:nvPr/>
            </p:nvCxnSpPr>
            <p:spPr bwMode="auto">
              <a:xfrm>
                <a:off x="6834442" y="4571821"/>
                <a:ext cx="3046" cy="39537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4" name="Oval 89"/>
              <p:cNvSpPr>
                <a:spLocks noChangeArrowheads="1"/>
              </p:cNvSpPr>
              <p:nvPr/>
            </p:nvSpPr>
            <p:spPr bwMode="auto">
              <a:xfrm>
                <a:off x="7764952" y="4963247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55" name="AutoShape 90"/>
              <p:cNvCxnSpPr>
                <a:cxnSpLocks noChangeShapeType="1"/>
                <a:stCxn id="40" idx="4"/>
                <a:endCxn id="54" idx="0"/>
              </p:cNvCxnSpPr>
              <p:nvPr/>
            </p:nvCxnSpPr>
            <p:spPr bwMode="auto">
              <a:xfrm flipH="1">
                <a:off x="7963390" y="4555946"/>
                <a:ext cx="4724" cy="40730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6" name="Oval 89"/>
              <p:cNvSpPr>
                <a:spLocks noChangeArrowheads="1"/>
              </p:cNvSpPr>
              <p:nvPr/>
            </p:nvSpPr>
            <p:spPr bwMode="auto">
              <a:xfrm>
                <a:off x="8747166" y="4963247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57" name="AutoShape 90"/>
              <p:cNvCxnSpPr>
                <a:cxnSpLocks noChangeShapeType="1"/>
                <a:stCxn id="41" idx="4"/>
                <a:endCxn id="56" idx="0"/>
              </p:cNvCxnSpPr>
              <p:nvPr/>
            </p:nvCxnSpPr>
            <p:spPr bwMode="auto">
              <a:xfrm flipH="1">
                <a:off x="8945604" y="4559121"/>
                <a:ext cx="1588" cy="404126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8" name="Oval 89"/>
              <p:cNvSpPr>
                <a:spLocks noChangeArrowheads="1"/>
              </p:cNvSpPr>
              <p:nvPr/>
            </p:nvSpPr>
            <p:spPr bwMode="auto">
              <a:xfrm>
                <a:off x="9935238" y="4955859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59" name="AutoShape 90"/>
              <p:cNvCxnSpPr>
                <a:cxnSpLocks noChangeShapeType="1"/>
                <a:stCxn id="48" idx="4"/>
                <a:endCxn id="58" idx="0"/>
              </p:cNvCxnSpPr>
              <p:nvPr/>
            </p:nvCxnSpPr>
            <p:spPr bwMode="auto">
              <a:xfrm flipH="1">
                <a:off x="10133676" y="4537713"/>
                <a:ext cx="4385" cy="418146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0" name="Oval 89"/>
              <p:cNvSpPr>
                <a:spLocks noChangeArrowheads="1"/>
              </p:cNvSpPr>
              <p:nvPr/>
            </p:nvSpPr>
            <p:spPr bwMode="auto">
              <a:xfrm>
                <a:off x="10934665" y="4953933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61" name="AutoShape 90"/>
              <p:cNvCxnSpPr>
                <a:cxnSpLocks noChangeShapeType="1"/>
                <a:stCxn id="49" idx="4"/>
                <a:endCxn id="60" idx="0"/>
              </p:cNvCxnSpPr>
              <p:nvPr/>
            </p:nvCxnSpPr>
            <p:spPr bwMode="auto">
              <a:xfrm flipH="1">
                <a:off x="11133103" y="4540888"/>
                <a:ext cx="3492" cy="41304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77" name="Oval 89"/>
              <p:cNvSpPr>
                <a:spLocks noChangeArrowheads="1"/>
              </p:cNvSpPr>
              <p:nvPr/>
            </p:nvSpPr>
            <p:spPr bwMode="auto">
              <a:xfrm>
                <a:off x="5664261" y="5808321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78" name="AutoShape 90"/>
              <p:cNvCxnSpPr>
                <a:cxnSpLocks noChangeShapeType="1"/>
                <a:stCxn id="50" idx="4"/>
                <a:endCxn id="77" idx="0"/>
              </p:cNvCxnSpPr>
              <p:nvPr/>
            </p:nvCxnSpPr>
            <p:spPr bwMode="auto">
              <a:xfrm>
                <a:off x="5862699" y="5392661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79" name="Oval 89"/>
              <p:cNvSpPr>
                <a:spLocks noChangeArrowheads="1"/>
              </p:cNvSpPr>
              <p:nvPr/>
            </p:nvSpPr>
            <p:spPr bwMode="auto">
              <a:xfrm>
                <a:off x="6639050" y="5798781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0" name="AutoShape 90"/>
              <p:cNvCxnSpPr>
                <a:cxnSpLocks noChangeShapeType="1"/>
                <a:stCxn id="52" idx="4"/>
                <a:endCxn id="79" idx="0"/>
              </p:cNvCxnSpPr>
              <p:nvPr/>
            </p:nvCxnSpPr>
            <p:spPr bwMode="auto">
              <a:xfrm>
                <a:off x="6837488" y="5383121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1" name="Oval 89"/>
              <p:cNvSpPr>
                <a:spLocks noChangeArrowheads="1"/>
              </p:cNvSpPr>
              <p:nvPr/>
            </p:nvSpPr>
            <p:spPr bwMode="auto">
              <a:xfrm>
                <a:off x="7764952" y="5794832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2" name="AutoShape 90"/>
              <p:cNvCxnSpPr>
                <a:cxnSpLocks noChangeShapeType="1"/>
                <a:stCxn id="54" idx="4"/>
                <a:endCxn id="81" idx="0"/>
              </p:cNvCxnSpPr>
              <p:nvPr/>
            </p:nvCxnSpPr>
            <p:spPr bwMode="auto">
              <a:xfrm>
                <a:off x="7963390" y="5379172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3" name="Oval 89"/>
              <p:cNvSpPr>
                <a:spLocks noChangeArrowheads="1"/>
              </p:cNvSpPr>
              <p:nvPr/>
            </p:nvSpPr>
            <p:spPr bwMode="auto">
              <a:xfrm>
                <a:off x="8747166" y="5794832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4" name="AutoShape 90"/>
              <p:cNvCxnSpPr>
                <a:cxnSpLocks noChangeShapeType="1"/>
                <a:stCxn id="56" idx="4"/>
                <a:endCxn id="83" idx="0"/>
              </p:cNvCxnSpPr>
              <p:nvPr/>
            </p:nvCxnSpPr>
            <p:spPr bwMode="auto">
              <a:xfrm>
                <a:off x="8945604" y="5379172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5" name="Oval 89"/>
              <p:cNvSpPr>
                <a:spLocks noChangeArrowheads="1"/>
              </p:cNvSpPr>
              <p:nvPr/>
            </p:nvSpPr>
            <p:spPr bwMode="auto">
              <a:xfrm>
                <a:off x="9935238" y="5787444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6" name="AutoShape 90"/>
              <p:cNvCxnSpPr>
                <a:cxnSpLocks noChangeShapeType="1"/>
                <a:stCxn id="58" idx="4"/>
                <a:endCxn id="85" idx="0"/>
              </p:cNvCxnSpPr>
              <p:nvPr/>
            </p:nvCxnSpPr>
            <p:spPr bwMode="auto">
              <a:xfrm>
                <a:off x="10133676" y="5371784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7" name="Oval 89"/>
              <p:cNvSpPr>
                <a:spLocks noChangeArrowheads="1"/>
              </p:cNvSpPr>
              <p:nvPr/>
            </p:nvSpPr>
            <p:spPr bwMode="auto">
              <a:xfrm>
                <a:off x="10932557" y="5785518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8" name="AutoShape 90"/>
              <p:cNvCxnSpPr>
                <a:cxnSpLocks noChangeShapeType="1"/>
                <a:stCxn id="60" idx="4"/>
                <a:endCxn id="87" idx="0"/>
              </p:cNvCxnSpPr>
              <p:nvPr/>
            </p:nvCxnSpPr>
            <p:spPr bwMode="auto">
              <a:xfrm flipH="1">
                <a:off x="11130995" y="5369858"/>
                <a:ext cx="2108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0" name="Rectangle 129"/>
            <p:cNvSpPr/>
            <p:nvPr/>
          </p:nvSpPr>
          <p:spPr>
            <a:xfrm>
              <a:off x="4335510" y="4900285"/>
              <a:ext cx="128131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400" dirty="0">
                  <a:cs typeface="Times New Roman" panose="02020603050405020304" pitchFamily="18" charset="0"/>
                </a:rPr>
                <a:t>Distance to go </a:t>
              </a:r>
            </a:p>
            <a:p>
              <a:r>
                <a:rPr lang="en-US" altLang="en-US" sz="1400" dirty="0">
                  <a:cs typeface="Times New Roman" panose="02020603050405020304" pitchFamily="18" charset="0"/>
                </a:rPr>
                <a:t>from 4 to 1 =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6</a:t>
              </a:r>
              <a:endParaRPr lang="en-US" sz="1400" b="1" dirty="0">
                <a:solidFill>
                  <a:srgbClr val="00B050"/>
                </a:solidFill>
              </a:endParaRPr>
            </a:p>
          </p:txBody>
        </p:sp>
        <p:sp>
          <p:nvSpPr>
            <p:cNvPr id="131" name="Text Box 34"/>
            <p:cNvSpPr txBox="1">
              <a:spLocks noChangeArrowheads="1"/>
            </p:cNvSpPr>
            <p:nvPr/>
          </p:nvSpPr>
          <p:spPr bwMode="auto">
            <a:xfrm>
              <a:off x="6431671" y="4896889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32" name="Text Box 34"/>
            <p:cNvSpPr txBox="1">
              <a:spLocks noChangeArrowheads="1"/>
            </p:cNvSpPr>
            <p:nvPr/>
          </p:nvSpPr>
          <p:spPr bwMode="auto">
            <a:xfrm>
              <a:off x="7583698" y="4892031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6</a:t>
              </a:r>
            </a:p>
          </p:txBody>
        </p:sp>
        <p:sp>
          <p:nvSpPr>
            <p:cNvPr id="133" name="Text Box 34"/>
            <p:cNvSpPr txBox="1">
              <a:spLocks noChangeArrowheads="1"/>
            </p:cNvSpPr>
            <p:nvPr/>
          </p:nvSpPr>
          <p:spPr bwMode="auto">
            <a:xfrm>
              <a:off x="8562948" y="4898515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34" name="Text Box 34"/>
            <p:cNvSpPr txBox="1">
              <a:spLocks noChangeArrowheads="1"/>
            </p:cNvSpPr>
            <p:nvPr/>
          </p:nvSpPr>
          <p:spPr bwMode="auto">
            <a:xfrm>
              <a:off x="9756210" y="4895271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35" name="Text Box 34"/>
            <p:cNvSpPr txBox="1">
              <a:spLocks noChangeArrowheads="1"/>
            </p:cNvSpPr>
            <p:nvPr/>
          </p:nvSpPr>
          <p:spPr bwMode="auto">
            <a:xfrm>
              <a:off x="10725731" y="4892029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3908480" y="4154147"/>
              <a:ext cx="1931939" cy="6093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Distance from 3 to 1 =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from </a:t>
              </a:r>
              <a:r>
                <a:rPr lang="en-US" altLang="en-US" sz="1400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3 to 4 </a:t>
              </a:r>
              <a:r>
                <a:rPr lang="en-US" altLang="en-US" sz="1400" dirty="0">
                  <a:cs typeface="Times New Roman" panose="02020603050405020304" pitchFamily="18" charset="0"/>
                </a:rPr>
                <a:t>+ </a:t>
              </a:r>
              <a:r>
                <a:rPr lang="en-US" altLang="en-US" sz="1400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4 to 1 </a:t>
              </a:r>
              <a:r>
                <a:rPr lang="en-US" altLang="en-US" sz="1400" dirty="0">
                  <a:cs typeface="Times New Roman" panose="02020603050405020304" pitchFamily="18" charset="0"/>
                </a:rPr>
                <a:t>= 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cs typeface="Times New Roman" panose="02020603050405020304" pitchFamily="18" charset="0"/>
                </a:rPr>
                <a:t>             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8</a:t>
              </a:r>
              <a:r>
                <a:rPr lang="en-US" altLang="en-US" sz="1400" b="1" dirty="0">
                  <a:cs typeface="Times New Roman" panose="02020603050405020304" pitchFamily="18" charset="0"/>
                </a:rPr>
                <a:t>     +</a:t>
              </a:r>
              <a:r>
                <a:rPr lang="en-US" altLang="en-US" sz="1400" dirty="0">
                  <a:cs typeface="Times New Roman" panose="02020603050405020304" pitchFamily="18" charset="0"/>
                </a:rPr>
                <a:t>     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cs typeface="Times New Roman" panose="02020603050405020304" pitchFamily="18" charset="0"/>
                </a:rPr>
                <a:t>     = 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32768" name="Rectangle 32767"/>
            <p:cNvSpPr/>
            <p:nvPr/>
          </p:nvSpPr>
          <p:spPr>
            <a:xfrm>
              <a:off x="5169720" y="3969854"/>
              <a:ext cx="729687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8+6=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6080264" y="3976861"/>
              <a:ext cx="755326" cy="2671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7235657" y="3973617"/>
              <a:ext cx="729687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4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10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8272217" y="3979727"/>
              <a:ext cx="638316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3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1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485198" y="3959411"/>
              <a:ext cx="638316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7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1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8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0425288" y="3963883"/>
              <a:ext cx="815036" cy="2671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</p:grpSp>
      <p:sp>
        <p:nvSpPr>
          <p:cNvPr id="89" name="Rectangle 2">
            <a:extLst>
              <a:ext uri="{FF2B5EF4-FFF2-40B4-BE49-F238E27FC236}">
                <a16:creationId xmlns:a16="http://schemas.microsoft.com/office/drawing/2014/main" id="{E69EE51F-0934-9047-AFE4-A709BFF02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3453" y="0"/>
            <a:ext cx="10070165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0" u="sng" dirty="0" smtClean="0">
                <a:latin typeface="+mn-lt"/>
                <a:cs typeface="Times New Roman" panose="02020603050405020304" pitchFamily="18" charset="0"/>
              </a:rPr>
              <a:t>Example (from the Textbook)</a:t>
            </a:r>
            <a:endParaRPr lang="en-US" altLang="en-US" sz="2800" b="0" u="sng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43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16067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2" name="Group 157"/>
          <p:cNvGrpSpPr>
            <a:grpSpLocks/>
          </p:cNvGrpSpPr>
          <p:nvPr/>
        </p:nvGrpSpPr>
        <p:grpSpPr bwMode="auto">
          <a:xfrm>
            <a:off x="755515" y="1238318"/>
            <a:ext cx="2514600" cy="2193925"/>
            <a:chOff x="1104" y="2938"/>
            <a:chExt cx="1584" cy="1382"/>
          </a:xfrm>
        </p:grpSpPr>
        <p:sp>
          <p:nvSpPr>
            <p:cNvPr id="32802" name="Text Box 158"/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03" name="Oval 159"/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2804" name="Oval 160"/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5" name="Oval 161"/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2806" name="Oval 162"/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7" name="Line 163"/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164"/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165"/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166"/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167"/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168"/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Text Box 169"/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814" name="Text Box 170"/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815" name="Text Box 171"/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16" name="Text Box 172"/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7" name="Text Box 173"/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8" name="Line 174"/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Text Box 175"/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2820" name="Line 176"/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Text Box 177"/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22" name="Line 178"/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Text Box 179"/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20340" name="Group 180"/>
          <p:cNvGraphicFramePr>
            <a:graphicFrameLocks noGrp="1"/>
          </p:cNvGraphicFramePr>
          <p:nvPr/>
        </p:nvGraphicFramePr>
        <p:xfrm>
          <a:off x="847590" y="3991111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307460763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6173862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43807618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51432765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500635299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6778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98191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269416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73162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491856"/>
                  </a:ext>
                </a:extLst>
              </a:tr>
            </a:tbl>
          </a:graphicData>
        </a:graphic>
      </p:graphicFrame>
      <p:sp>
        <p:nvSpPr>
          <p:cNvPr id="147" name="Rectangle 146"/>
          <p:cNvSpPr/>
          <p:nvPr/>
        </p:nvSpPr>
        <p:spPr>
          <a:xfrm>
            <a:off x="4426584" y="6184356"/>
            <a:ext cx="7470485" cy="294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rgbClr val="C00000"/>
                </a:solidFill>
                <a:cs typeface="Times New Roman" panose="02020603050405020304" pitchFamily="18" charset="0"/>
              </a:rPr>
              <a:t>Solve in a Bottom up fashion: Start from bottom of the tree and solve as you move up</a:t>
            </a:r>
            <a:endParaRPr lang="en-US" sz="1600" dirty="0">
              <a:solidFill>
                <a:srgbClr val="C00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908480" y="1880565"/>
            <a:ext cx="8211489" cy="4012940"/>
            <a:chOff x="3908480" y="2211306"/>
            <a:chExt cx="8211489" cy="4012940"/>
          </a:xfrm>
        </p:grpSpPr>
        <p:sp>
          <p:nvSpPr>
            <p:cNvPr id="76" name="Text Box 34"/>
            <p:cNvSpPr txBox="1">
              <a:spLocks noChangeArrowheads="1"/>
            </p:cNvSpPr>
            <p:nvPr/>
          </p:nvSpPr>
          <p:spPr bwMode="auto">
            <a:xfrm>
              <a:off x="5475552" y="4900285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grpSp>
          <p:nvGrpSpPr>
            <p:cNvPr id="32769" name="Group 32768"/>
            <p:cNvGrpSpPr/>
            <p:nvPr/>
          </p:nvGrpSpPr>
          <p:grpSpPr>
            <a:xfrm>
              <a:off x="5664261" y="2211306"/>
              <a:ext cx="5672359" cy="4012940"/>
              <a:chOff x="5664261" y="2211306"/>
              <a:chExt cx="5672359" cy="4012940"/>
            </a:xfrm>
          </p:grpSpPr>
          <p:sp>
            <p:nvSpPr>
              <p:cNvPr id="31" name="Oval 82"/>
              <p:cNvSpPr>
                <a:spLocks noChangeArrowheads="1"/>
              </p:cNvSpPr>
              <p:nvPr/>
            </p:nvSpPr>
            <p:spPr bwMode="auto">
              <a:xfrm>
                <a:off x="8244483" y="2211306"/>
                <a:ext cx="442913" cy="43656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" name="Oval 83"/>
              <p:cNvSpPr>
                <a:spLocks noChangeArrowheads="1"/>
              </p:cNvSpPr>
              <p:nvPr/>
            </p:nvSpPr>
            <p:spPr bwMode="auto">
              <a:xfrm>
                <a:off x="6164238" y="315948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33" name="AutoShape 84"/>
              <p:cNvCxnSpPr>
                <a:cxnSpLocks noChangeShapeType="1"/>
                <a:stCxn id="31" idx="4"/>
                <a:endCxn id="32" idx="0"/>
              </p:cNvCxnSpPr>
              <p:nvPr/>
            </p:nvCxnSpPr>
            <p:spPr bwMode="auto">
              <a:xfrm flipH="1">
                <a:off x="6364263" y="2647869"/>
                <a:ext cx="2101677" cy="51161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4" name="Oval 89"/>
              <p:cNvSpPr>
                <a:spLocks noChangeArrowheads="1"/>
              </p:cNvSpPr>
              <p:nvPr/>
            </p:nvSpPr>
            <p:spPr bwMode="auto">
              <a:xfrm>
                <a:off x="8271620" y="314678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35" name="AutoShape 90"/>
              <p:cNvCxnSpPr>
                <a:cxnSpLocks noChangeShapeType="1"/>
                <a:stCxn id="31" idx="4"/>
                <a:endCxn id="34" idx="0"/>
              </p:cNvCxnSpPr>
              <p:nvPr/>
            </p:nvCxnSpPr>
            <p:spPr bwMode="auto">
              <a:xfrm>
                <a:off x="8465940" y="2647869"/>
                <a:ext cx="4118" cy="49891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6" name="Oval 97"/>
              <p:cNvSpPr>
                <a:spLocks noChangeArrowheads="1"/>
              </p:cNvSpPr>
              <p:nvPr/>
            </p:nvSpPr>
            <p:spPr bwMode="auto">
              <a:xfrm>
                <a:off x="10433568" y="3148374"/>
                <a:ext cx="400050" cy="4143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37" name="AutoShape 98"/>
              <p:cNvCxnSpPr>
                <a:cxnSpLocks noChangeShapeType="1"/>
                <a:stCxn id="31" idx="4"/>
                <a:endCxn id="36" idx="0"/>
              </p:cNvCxnSpPr>
              <p:nvPr/>
            </p:nvCxnSpPr>
            <p:spPr bwMode="auto">
              <a:xfrm>
                <a:off x="8465940" y="2647869"/>
                <a:ext cx="2167653" cy="50050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" name="AutoShape 109"/>
              <p:cNvCxnSpPr>
                <a:cxnSpLocks noChangeShapeType="1"/>
                <a:stCxn id="34" idx="4"/>
                <a:endCxn id="40" idx="0"/>
              </p:cNvCxnSpPr>
              <p:nvPr/>
            </p:nvCxnSpPr>
            <p:spPr bwMode="auto">
              <a:xfrm flipH="1">
                <a:off x="7968114" y="3562711"/>
                <a:ext cx="501944" cy="580485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AutoShape 110"/>
              <p:cNvCxnSpPr>
                <a:cxnSpLocks noChangeShapeType="1"/>
                <a:stCxn id="34" idx="4"/>
                <a:endCxn id="41" idx="0"/>
              </p:cNvCxnSpPr>
              <p:nvPr/>
            </p:nvCxnSpPr>
            <p:spPr bwMode="auto">
              <a:xfrm>
                <a:off x="8470058" y="3562711"/>
                <a:ext cx="477134" cy="58048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0" name="Oval 111"/>
              <p:cNvSpPr>
                <a:spLocks noChangeArrowheads="1"/>
              </p:cNvSpPr>
              <p:nvPr/>
            </p:nvSpPr>
            <p:spPr bwMode="auto">
              <a:xfrm>
                <a:off x="7768882" y="4143196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1" name="Oval 112"/>
              <p:cNvSpPr>
                <a:spLocks noChangeArrowheads="1"/>
              </p:cNvSpPr>
              <p:nvPr/>
            </p:nvSpPr>
            <p:spPr bwMode="auto">
              <a:xfrm>
                <a:off x="8747167" y="414319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42" name="AutoShape 109"/>
              <p:cNvCxnSpPr>
                <a:cxnSpLocks noChangeShapeType="1"/>
                <a:stCxn id="32" idx="4"/>
                <a:endCxn id="44" idx="0"/>
              </p:cNvCxnSpPr>
              <p:nvPr/>
            </p:nvCxnSpPr>
            <p:spPr bwMode="auto">
              <a:xfrm flipH="1">
                <a:off x="5865092" y="3575411"/>
                <a:ext cx="499171" cy="580485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AutoShape 110"/>
              <p:cNvCxnSpPr>
                <a:cxnSpLocks noChangeShapeType="1"/>
                <a:stCxn id="32" idx="4"/>
                <a:endCxn id="45" idx="0"/>
              </p:cNvCxnSpPr>
              <p:nvPr/>
            </p:nvCxnSpPr>
            <p:spPr bwMode="auto">
              <a:xfrm>
                <a:off x="6364263" y="3575411"/>
                <a:ext cx="470179" cy="58048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4" name="Oval 111"/>
              <p:cNvSpPr>
                <a:spLocks noChangeArrowheads="1"/>
              </p:cNvSpPr>
              <p:nvPr/>
            </p:nvSpPr>
            <p:spPr bwMode="auto">
              <a:xfrm>
                <a:off x="5665860" y="4155896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5" name="Oval 112"/>
              <p:cNvSpPr>
                <a:spLocks noChangeArrowheads="1"/>
              </p:cNvSpPr>
              <p:nvPr/>
            </p:nvSpPr>
            <p:spPr bwMode="auto">
              <a:xfrm>
                <a:off x="6634417" y="415589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46" name="AutoShape 109"/>
              <p:cNvCxnSpPr>
                <a:cxnSpLocks noChangeShapeType="1"/>
                <a:stCxn id="36" idx="4"/>
                <a:endCxn id="48" idx="0"/>
              </p:cNvCxnSpPr>
              <p:nvPr/>
            </p:nvCxnSpPr>
            <p:spPr bwMode="auto">
              <a:xfrm flipH="1">
                <a:off x="10138061" y="3562712"/>
                <a:ext cx="495532" cy="56225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7" name="AutoShape 110"/>
              <p:cNvCxnSpPr>
                <a:cxnSpLocks noChangeShapeType="1"/>
                <a:stCxn id="36" idx="4"/>
                <a:endCxn id="49" idx="0"/>
              </p:cNvCxnSpPr>
              <p:nvPr/>
            </p:nvCxnSpPr>
            <p:spPr bwMode="auto">
              <a:xfrm>
                <a:off x="10633593" y="3562712"/>
                <a:ext cx="503002" cy="562251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8" name="Oval 111"/>
              <p:cNvSpPr>
                <a:spLocks noChangeArrowheads="1"/>
              </p:cNvSpPr>
              <p:nvPr/>
            </p:nvSpPr>
            <p:spPr bwMode="auto">
              <a:xfrm>
                <a:off x="9938829" y="4124963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9" name="Oval 112"/>
              <p:cNvSpPr>
                <a:spLocks noChangeArrowheads="1"/>
              </p:cNvSpPr>
              <p:nvPr/>
            </p:nvSpPr>
            <p:spPr bwMode="auto">
              <a:xfrm>
                <a:off x="10936570" y="4124963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0" name="Oval 89"/>
              <p:cNvSpPr>
                <a:spLocks noChangeArrowheads="1"/>
              </p:cNvSpPr>
              <p:nvPr/>
            </p:nvSpPr>
            <p:spPr bwMode="auto">
              <a:xfrm>
                <a:off x="5664261" y="497673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51" name="AutoShape 90"/>
              <p:cNvCxnSpPr>
                <a:cxnSpLocks noChangeShapeType="1"/>
                <a:stCxn id="44" idx="4"/>
                <a:endCxn id="50" idx="0"/>
              </p:cNvCxnSpPr>
              <p:nvPr/>
            </p:nvCxnSpPr>
            <p:spPr bwMode="auto">
              <a:xfrm flipH="1">
                <a:off x="5862699" y="4568646"/>
                <a:ext cx="2393" cy="40809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2" name="Oval 89"/>
              <p:cNvSpPr>
                <a:spLocks noChangeArrowheads="1"/>
              </p:cNvSpPr>
              <p:nvPr/>
            </p:nvSpPr>
            <p:spPr bwMode="auto">
              <a:xfrm>
                <a:off x="6639050" y="496719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53" name="AutoShape 90"/>
              <p:cNvCxnSpPr>
                <a:cxnSpLocks noChangeShapeType="1"/>
                <a:stCxn id="45" idx="4"/>
                <a:endCxn id="52" idx="0"/>
              </p:cNvCxnSpPr>
              <p:nvPr/>
            </p:nvCxnSpPr>
            <p:spPr bwMode="auto">
              <a:xfrm>
                <a:off x="6834442" y="4571821"/>
                <a:ext cx="3046" cy="39537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4" name="Oval 89"/>
              <p:cNvSpPr>
                <a:spLocks noChangeArrowheads="1"/>
              </p:cNvSpPr>
              <p:nvPr/>
            </p:nvSpPr>
            <p:spPr bwMode="auto">
              <a:xfrm>
                <a:off x="7764952" y="4963247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55" name="AutoShape 90"/>
              <p:cNvCxnSpPr>
                <a:cxnSpLocks noChangeShapeType="1"/>
                <a:stCxn id="40" idx="4"/>
                <a:endCxn id="54" idx="0"/>
              </p:cNvCxnSpPr>
              <p:nvPr/>
            </p:nvCxnSpPr>
            <p:spPr bwMode="auto">
              <a:xfrm flipH="1">
                <a:off x="7963390" y="4555946"/>
                <a:ext cx="4724" cy="40730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6" name="Oval 89"/>
              <p:cNvSpPr>
                <a:spLocks noChangeArrowheads="1"/>
              </p:cNvSpPr>
              <p:nvPr/>
            </p:nvSpPr>
            <p:spPr bwMode="auto">
              <a:xfrm>
                <a:off x="8747166" y="4963247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57" name="AutoShape 90"/>
              <p:cNvCxnSpPr>
                <a:cxnSpLocks noChangeShapeType="1"/>
                <a:stCxn id="41" idx="4"/>
                <a:endCxn id="56" idx="0"/>
              </p:cNvCxnSpPr>
              <p:nvPr/>
            </p:nvCxnSpPr>
            <p:spPr bwMode="auto">
              <a:xfrm flipH="1">
                <a:off x="8945604" y="4559121"/>
                <a:ext cx="1588" cy="404126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8" name="Oval 89"/>
              <p:cNvSpPr>
                <a:spLocks noChangeArrowheads="1"/>
              </p:cNvSpPr>
              <p:nvPr/>
            </p:nvSpPr>
            <p:spPr bwMode="auto">
              <a:xfrm>
                <a:off x="9935238" y="4955859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59" name="AutoShape 90"/>
              <p:cNvCxnSpPr>
                <a:cxnSpLocks noChangeShapeType="1"/>
                <a:stCxn id="48" idx="4"/>
                <a:endCxn id="58" idx="0"/>
              </p:cNvCxnSpPr>
              <p:nvPr/>
            </p:nvCxnSpPr>
            <p:spPr bwMode="auto">
              <a:xfrm flipH="1">
                <a:off x="10133676" y="4537713"/>
                <a:ext cx="4385" cy="418146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0" name="Oval 89"/>
              <p:cNvSpPr>
                <a:spLocks noChangeArrowheads="1"/>
              </p:cNvSpPr>
              <p:nvPr/>
            </p:nvSpPr>
            <p:spPr bwMode="auto">
              <a:xfrm>
                <a:off x="10934665" y="4953933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61" name="AutoShape 90"/>
              <p:cNvCxnSpPr>
                <a:cxnSpLocks noChangeShapeType="1"/>
                <a:stCxn id="49" idx="4"/>
                <a:endCxn id="60" idx="0"/>
              </p:cNvCxnSpPr>
              <p:nvPr/>
            </p:nvCxnSpPr>
            <p:spPr bwMode="auto">
              <a:xfrm flipH="1">
                <a:off x="11133103" y="4540888"/>
                <a:ext cx="3492" cy="41304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77" name="Oval 89"/>
              <p:cNvSpPr>
                <a:spLocks noChangeArrowheads="1"/>
              </p:cNvSpPr>
              <p:nvPr/>
            </p:nvSpPr>
            <p:spPr bwMode="auto">
              <a:xfrm>
                <a:off x="5664261" y="5808321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78" name="AutoShape 90"/>
              <p:cNvCxnSpPr>
                <a:cxnSpLocks noChangeShapeType="1"/>
                <a:stCxn id="50" idx="4"/>
                <a:endCxn id="77" idx="0"/>
              </p:cNvCxnSpPr>
              <p:nvPr/>
            </p:nvCxnSpPr>
            <p:spPr bwMode="auto">
              <a:xfrm>
                <a:off x="5862699" y="5392661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79" name="Oval 89"/>
              <p:cNvSpPr>
                <a:spLocks noChangeArrowheads="1"/>
              </p:cNvSpPr>
              <p:nvPr/>
            </p:nvSpPr>
            <p:spPr bwMode="auto">
              <a:xfrm>
                <a:off x="6639050" y="5798781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0" name="AutoShape 90"/>
              <p:cNvCxnSpPr>
                <a:cxnSpLocks noChangeShapeType="1"/>
                <a:stCxn id="52" idx="4"/>
                <a:endCxn id="79" idx="0"/>
              </p:cNvCxnSpPr>
              <p:nvPr/>
            </p:nvCxnSpPr>
            <p:spPr bwMode="auto">
              <a:xfrm>
                <a:off x="6837488" y="5383121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1" name="Oval 89"/>
              <p:cNvSpPr>
                <a:spLocks noChangeArrowheads="1"/>
              </p:cNvSpPr>
              <p:nvPr/>
            </p:nvSpPr>
            <p:spPr bwMode="auto">
              <a:xfrm>
                <a:off x="7764952" y="5794832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2" name="AutoShape 90"/>
              <p:cNvCxnSpPr>
                <a:cxnSpLocks noChangeShapeType="1"/>
                <a:stCxn id="54" idx="4"/>
                <a:endCxn id="81" idx="0"/>
              </p:cNvCxnSpPr>
              <p:nvPr/>
            </p:nvCxnSpPr>
            <p:spPr bwMode="auto">
              <a:xfrm>
                <a:off x="7963390" y="5379172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3" name="Oval 89"/>
              <p:cNvSpPr>
                <a:spLocks noChangeArrowheads="1"/>
              </p:cNvSpPr>
              <p:nvPr/>
            </p:nvSpPr>
            <p:spPr bwMode="auto">
              <a:xfrm>
                <a:off x="8747166" y="5794832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4" name="AutoShape 90"/>
              <p:cNvCxnSpPr>
                <a:cxnSpLocks noChangeShapeType="1"/>
                <a:stCxn id="56" idx="4"/>
                <a:endCxn id="83" idx="0"/>
              </p:cNvCxnSpPr>
              <p:nvPr/>
            </p:nvCxnSpPr>
            <p:spPr bwMode="auto">
              <a:xfrm>
                <a:off x="8945604" y="5379172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5" name="Oval 89"/>
              <p:cNvSpPr>
                <a:spLocks noChangeArrowheads="1"/>
              </p:cNvSpPr>
              <p:nvPr/>
            </p:nvSpPr>
            <p:spPr bwMode="auto">
              <a:xfrm>
                <a:off x="9935238" y="5787444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6" name="AutoShape 90"/>
              <p:cNvCxnSpPr>
                <a:cxnSpLocks noChangeShapeType="1"/>
                <a:stCxn id="58" idx="4"/>
                <a:endCxn id="85" idx="0"/>
              </p:cNvCxnSpPr>
              <p:nvPr/>
            </p:nvCxnSpPr>
            <p:spPr bwMode="auto">
              <a:xfrm>
                <a:off x="10133676" y="5371784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7" name="Oval 89"/>
              <p:cNvSpPr>
                <a:spLocks noChangeArrowheads="1"/>
              </p:cNvSpPr>
              <p:nvPr/>
            </p:nvSpPr>
            <p:spPr bwMode="auto">
              <a:xfrm>
                <a:off x="10932557" y="5785518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8" name="AutoShape 90"/>
              <p:cNvCxnSpPr>
                <a:cxnSpLocks noChangeShapeType="1"/>
                <a:stCxn id="60" idx="4"/>
                <a:endCxn id="87" idx="0"/>
              </p:cNvCxnSpPr>
              <p:nvPr/>
            </p:nvCxnSpPr>
            <p:spPr bwMode="auto">
              <a:xfrm flipH="1">
                <a:off x="11130995" y="5369858"/>
                <a:ext cx="2108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0" name="Rectangle 129"/>
            <p:cNvSpPr/>
            <p:nvPr/>
          </p:nvSpPr>
          <p:spPr>
            <a:xfrm>
              <a:off x="4335510" y="4900285"/>
              <a:ext cx="128131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400" dirty="0">
                  <a:cs typeface="Times New Roman" panose="02020603050405020304" pitchFamily="18" charset="0"/>
                </a:rPr>
                <a:t>Distance to go </a:t>
              </a:r>
            </a:p>
            <a:p>
              <a:r>
                <a:rPr lang="en-US" altLang="en-US" sz="1400" dirty="0">
                  <a:cs typeface="Times New Roman" panose="02020603050405020304" pitchFamily="18" charset="0"/>
                </a:rPr>
                <a:t>from 4 to 1 =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6</a:t>
              </a:r>
              <a:endParaRPr lang="en-US" sz="1400" b="1" dirty="0">
                <a:solidFill>
                  <a:srgbClr val="00B050"/>
                </a:solidFill>
              </a:endParaRPr>
            </a:p>
          </p:txBody>
        </p:sp>
        <p:sp>
          <p:nvSpPr>
            <p:cNvPr id="131" name="Text Box 34"/>
            <p:cNvSpPr txBox="1">
              <a:spLocks noChangeArrowheads="1"/>
            </p:cNvSpPr>
            <p:nvPr/>
          </p:nvSpPr>
          <p:spPr bwMode="auto">
            <a:xfrm>
              <a:off x="6431671" y="4896889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32" name="Text Box 34"/>
            <p:cNvSpPr txBox="1">
              <a:spLocks noChangeArrowheads="1"/>
            </p:cNvSpPr>
            <p:nvPr/>
          </p:nvSpPr>
          <p:spPr bwMode="auto">
            <a:xfrm>
              <a:off x="7583698" y="4892031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6</a:t>
              </a:r>
            </a:p>
          </p:txBody>
        </p:sp>
        <p:sp>
          <p:nvSpPr>
            <p:cNvPr id="133" name="Text Box 34"/>
            <p:cNvSpPr txBox="1">
              <a:spLocks noChangeArrowheads="1"/>
            </p:cNvSpPr>
            <p:nvPr/>
          </p:nvSpPr>
          <p:spPr bwMode="auto">
            <a:xfrm>
              <a:off x="8562948" y="4898515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34" name="Text Box 34"/>
            <p:cNvSpPr txBox="1">
              <a:spLocks noChangeArrowheads="1"/>
            </p:cNvSpPr>
            <p:nvPr/>
          </p:nvSpPr>
          <p:spPr bwMode="auto">
            <a:xfrm>
              <a:off x="9756210" y="4895271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35" name="Text Box 34"/>
            <p:cNvSpPr txBox="1">
              <a:spLocks noChangeArrowheads="1"/>
            </p:cNvSpPr>
            <p:nvPr/>
          </p:nvSpPr>
          <p:spPr bwMode="auto">
            <a:xfrm>
              <a:off x="10725731" y="4892029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3908480" y="4154147"/>
              <a:ext cx="1931939" cy="6093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Distance from 3 to 1 =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from </a:t>
              </a:r>
              <a:r>
                <a:rPr lang="en-US" altLang="en-US" sz="1400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3 to 4 </a:t>
              </a:r>
              <a:r>
                <a:rPr lang="en-US" altLang="en-US" sz="1400" dirty="0">
                  <a:cs typeface="Times New Roman" panose="02020603050405020304" pitchFamily="18" charset="0"/>
                </a:rPr>
                <a:t>+ </a:t>
              </a:r>
              <a:r>
                <a:rPr lang="en-US" altLang="en-US" sz="1400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4 to 1 </a:t>
              </a:r>
              <a:r>
                <a:rPr lang="en-US" altLang="en-US" sz="1400" dirty="0">
                  <a:cs typeface="Times New Roman" panose="02020603050405020304" pitchFamily="18" charset="0"/>
                </a:rPr>
                <a:t>= 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cs typeface="Times New Roman" panose="02020603050405020304" pitchFamily="18" charset="0"/>
                </a:rPr>
                <a:t>             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8</a:t>
              </a:r>
              <a:r>
                <a:rPr lang="en-US" altLang="en-US" sz="1400" b="1" dirty="0">
                  <a:cs typeface="Times New Roman" panose="02020603050405020304" pitchFamily="18" charset="0"/>
                </a:rPr>
                <a:t>     +</a:t>
              </a:r>
              <a:r>
                <a:rPr lang="en-US" altLang="en-US" sz="1400" dirty="0">
                  <a:cs typeface="Times New Roman" panose="02020603050405020304" pitchFamily="18" charset="0"/>
                </a:rPr>
                <a:t>     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cs typeface="Times New Roman" panose="02020603050405020304" pitchFamily="18" charset="0"/>
                </a:rPr>
                <a:t>     = 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32768" name="Rectangle 32767"/>
            <p:cNvSpPr/>
            <p:nvPr/>
          </p:nvSpPr>
          <p:spPr>
            <a:xfrm>
              <a:off x="5169720" y="3969854"/>
              <a:ext cx="729687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8+6=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6080264" y="3976861"/>
              <a:ext cx="755326" cy="2671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7235657" y="3973617"/>
              <a:ext cx="729687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4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10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8272217" y="3979727"/>
              <a:ext cx="638316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3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1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485198" y="3959411"/>
              <a:ext cx="638316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7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1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8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0425288" y="3963883"/>
              <a:ext cx="815036" cy="2671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4649661" y="2252494"/>
              <a:ext cx="2178252" cy="7817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Distance from 2 to 1 =</a:t>
              </a:r>
            </a:p>
            <a:p>
              <a:pPr marL="58738" indent="-58738"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minimum of:</a:t>
              </a:r>
            </a:p>
            <a:p>
              <a:pPr marL="58738" indent="-58738">
                <a:lnSpc>
                  <a:spcPct val="80000"/>
                </a:lnSpc>
                <a:buFontTx/>
                <a:buChar char="-"/>
              </a:pPr>
              <a:r>
                <a:rPr lang="en-US" altLang="en-US" sz="1400" dirty="0">
                  <a:solidFill>
                    <a:schemeClr val="accent2">
                      <a:lumMod val="75000"/>
                    </a:schemeClr>
                  </a:solidFill>
                  <a:cs typeface="Times New Roman" panose="02020603050405020304" pitchFamily="18" charset="0"/>
                </a:rPr>
                <a:t>from 2 to 3 </a:t>
              </a:r>
              <a:r>
                <a:rPr lang="en-US" altLang="en-US" sz="14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dirty="0">
                  <a:solidFill>
                    <a:schemeClr val="accent2">
                      <a:lumMod val="75000"/>
                    </a:schemeClr>
                  </a:solidFill>
                  <a:cs typeface="Times New Roman" panose="02020603050405020304" pitchFamily="18" charset="0"/>
                </a:rPr>
                <a:t> 3 to 1 </a:t>
              </a:r>
              <a:r>
                <a:rPr lang="en-US" altLang="en-US" sz="1400" dirty="0">
                  <a:cs typeface="Times New Roman" panose="02020603050405020304" pitchFamily="18" charset="0"/>
                </a:rPr>
                <a:t>=</a:t>
              </a:r>
            </a:p>
            <a:p>
              <a:pPr marL="58738" indent="-58738">
                <a:lnSpc>
                  <a:spcPct val="80000"/>
                </a:lnSpc>
                <a:buFontTx/>
                <a:buChar char="-"/>
              </a:pPr>
              <a:r>
                <a:rPr lang="en-US" altLang="en-US" sz="1400" dirty="0">
                  <a:solidFill>
                    <a:srgbClr val="A27B00"/>
                  </a:solidFill>
                  <a:cs typeface="Times New Roman" panose="02020603050405020304" pitchFamily="18" charset="0"/>
                </a:rPr>
                <a:t>from 2 to 4 </a:t>
              </a:r>
              <a:r>
                <a:rPr lang="en-US" altLang="en-US" sz="14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+ </a:t>
              </a:r>
              <a:r>
                <a:rPr lang="en-US" altLang="en-US" sz="1400" dirty="0">
                  <a:solidFill>
                    <a:srgbClr val="A27B00"/>
                  </a:solidFill>
                  <a:cs typeface="Times New Roman" panose="02020603050405020304" pitchFamily="18" charset="0"/>
                </a:rPr>
                <a:t>4 to 1 =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7583698" y="2925550"/>
              <a:ext cx="1797287" cy="2677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(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7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cs typeface="Times New Roman" panose="02020603050405020304" pitchFamily="18" charset="0"/>
                </a:rPr>
                <a:t>10 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8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4 )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 = 12</a:t>
              </a:r>
              <a:endParaRPr 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0489412" y="2943774"/>
              <a:ext cx="1630557" cy="2670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( </a:t>
              </a:r>
              <a:r>
                <a:rPr lang="en-US" altLang="en-US" sz="1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cs typeface="Times New Roman" panose="02020603050405020304" pitchFamily="18" charset="0"/>
                </a:rPr>
                <a:t>8 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3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 )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sz="1400" b="1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658528" y="2953938"/>
              <a:ext cx="1824538" cy="2646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(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cs typeface="Times New Roman" panose="02020603050405020304" pitchFamily="18" charset="0"/>
                </a:rPr>
                <a:t>14 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4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 )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 = 20</a:t>
              </a:r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93" name="Rectangle 2">
            <a:extLst>
              <a:ext uri="{FF2B5EF4-FFF2-40B4-BE49-F238E27FC236}">
                <a16:creationId xmlns:a16="http://schemas.microsoft.com/office/drawing/2014/main" id="{CA6913D4-90D6-2340-828D-BA8EE9651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3453" y="0"/>
            <a:ext cx="10070165" cy="838200"/>
          </a:xfrm>
        </p:spPr>
        <p:txBody>
          <a:bodyPr>
            <a:normAutofit/>
          </a:bodyPr>
          <a:lstStyle/>
          <a:p>
            <a:r>
              <a:rPr lang="en-US" altLang="en-US" sz="2800" u="sng" dirty="0" smtClean="0">
                <a:cs typeface="Times New Roman" panose="02020603050405020304" pitchFamily="18" charset="0"/>
              </a:rPr>
              <a:t>Example </a:t>
            </a:r>
            <a:r>
              <a:rPr lang="en-US" altLang="en-US" sz="2800" u="sng" dirty="0">
                <a:cs typeface="Times New Roman" panose="02020603050405020304" pitchFamily="18" charset="0"/>
              </a:rPr>
              <a:t>(from the Textbook)</a:t>
            </a:r>
            <a:endParaRPr lang="en-US" altLang="en-US" sz="2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44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96787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2" name="Group 157"/>
          <p:cNvGrpSpPr>
            <a:grpSpLocks/>
          </p:cNvGrpSpPr>
          <p:nvPr/>
        </p:nvGrpSpPr>
        <p:grpSpPr bwMode="auto">
          <a:xfrm>
            <a:off x="755515" y="1238318"/>
            <a:ext cx="2514600" cy="2193925"/>
            <a:chOff x="1104" y="2938"/>
            <a:chExt cx="1584" cy="1382"/>
          </a:xfrm>
        </p:grpSpPr>
        <p:sp>
          <p:nvSpPr>
            <p:cNvPr id="32802" name="Text Box 158"/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03" name="Oval 159"/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2804" name="Oval 160"/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5" name="Oval 161"/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2806" name="Oval 162"/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7" name="Line 163"/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164"/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165"/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166"/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167"/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168"/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Text Box 169"/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814" name="Text Box 170"/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815" name="Text Box 171"/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16" name="Text Box 172"/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7" name="Text Box 173"/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8" name="Line 174"/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Text Box 175"/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2820" name="Line 176"/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Text Box 177"/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22" name="Line 178"/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Text Box 179"/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20340" name="Group 180"/>
          <p:cNvGraphicFramePr>
            <a:graphicFrameLocks noGrp="1"/>
          </p:cNvGraphicFramePr>
          <p:nvPr/>
        </p:nvGraphicFramePr>
        <p:xfrm>
          <a:off x="847590" y="3991111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307460763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6173862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43807618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51432765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500635299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6778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98191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269416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73162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491856"/>
                  </a:ext>
                </a:extLst>
              </a:tr>
            </a:tbl>
          </a:graphicData>
        </a:graphic>
      </p:graphicFrame>
      <p:sp>
        <p:nvSpPr>
          <p:cNvPr id="147" name="Rectangle 146"/>
          <p:cNvSpPr/>
          <p:nvPr/>
        </p:nvSpPr>
        <p:spPr>
          <a:xfrm>
            <a:off x="4426584" y="6184356"/>
            <a:ext cx="7470485" cy="294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rgbClr val="C00000"/>
                </a:solidFill>
                <a:cs typeface="Times New Roman" panose="02020603050405020304" pitchFamily="18" charset="0"/>
              </a:rPr>
              <a:t>Solve in a Bottom up fashion: Start from bottom of the tree and solve as you move up</a:t>
            </a:r>
            <a:endParaRPr lang="en-US" sz="1600" dirty="0">
              <a:solidFill>
                <a:srgbClr val="C00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908480" y="1596213"/>
            <a:ext cx="8211489" cy="4297292"/>
            <a:chOff x="3908480" y="1926954"/>
            <a:chExt cx="8211489" cy="4297292"/>
          </a:xfrm>
        </p:grpSpPr>
        <p:sp>
          <p:nvSpPr>
            <p:cNvPr id="76" name="Text Box 34"/>
            <p:cNvSpPr txBox="1">
              <a:spLocks noChangeArrowheads="1"/>
            </p:cNvSpPr>
            <p:nvPr/>
          </p:nvSpPr>
          <p:spPr bwMode="auto">
            <a:xfrm>
              <a:off x="5475552" y="4900285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grpSp>
          <p:nvGrpSpPr>
            <p:cNvPr id="32769" name="Group 32768"/>
            <p:cNvGrpSpPr/>
            <p:nvPr/>
          </p:nvGrpSpPr>
          <p:grpSpPr>
            <a:xfrm>
              <a:off x="5664261" y="2211306"/>
              <a:ext cx="5672359" cy="4012940"/>
              <a:chOff x="5664261" y="2211306"/>
              <a:chExt cx="5672359" cy="4012940"/>
            </a:xfrm>
          </p:grpSpPr>
          <p:sp>
            <p:nvSpPr>
              <p:cNvPr id="31" name="Oval 82"/>
              <p:cNvSpPr>
                <a:spLocks noChangeArrowheads="1"/>
              </p:cNvSpPr>
              <p:nvPr/>
            </p:nvSpPr>
            <p:spPr bwMode="auto">
              <a:xfrm>
                <a:off x="8244483" y="2211306"/>
                <a:ext cx="442913" cy="43656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" name="Oval 83"/>
              <p:cNvSpPr>
                <a:spLocks noChangeArrowheads="1"/>
              </p:cNvSpPr>
              <p:nvPr/>
            </p:nvSpPr>
            <p:spPr bwMode="auto">
              <a:xfrm>
                <a:off x="6164238" y="315948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33" name="AutoShape 84"/>
              <p:cNvCxnSpPr>
                <a:cxnSpLocks noChangeShapeType="1"/>
                <a:stCxn id="31" idx="4"/>
                <a:endCxn id="32" idx="0"/>
              </p:cNvCxnSpPr>
              <p:nvPr/>
            </p:nvCxnSpPr>
            <p:spPr bwMode="auto">
              <a:xfrm flipH="1">
                <a:off x="6364263" y="2647869"/>
                <a:ext cx="2101677" cy="51161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4" name="Oval 89"/>
              <p:cNvSpPr>
                <a:spLocks noChangeArrowheads="1"/>
              </p:cNvSpPr>
              <p:nvPr/>
            </p:nvSpPr>
            <p:spPr bwMode="auto">
              <a:xfrm>
                <a:off x="8271620" y="314678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35" name="AutoShape 90"/>
              <p:cNvCxnSpPr>
                <a:cxnSpLocks noChangeShapeType="1"/>
                <a:stCxn id="31" idx="4"/>
                <a:endCxn id="34" idx="0"/>
              </p:cNvCxnSpPr>
              <p:nvPr/>
            </p:nvCxnSpPr>
            <p:spPr bwMode="auto">
              <a:xfrm>
                <a:off x="8465940" y="2647869"/>
                <a:ext cx="4118" cy="49891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6" name="Oval 97"/>
              <p:cNvSpPr>
                <a:spLocks noChangeArrowheads="1"/>
              </p:cNvSpPr>
              <p:nvPr/>
            </p:nvSpPr>
            <p:spPr bwMode="auto">
              <a:xfrm>
                <a:off x="10433568" y="3148374"/>
                <a:ext cx="400050" cy="4143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37" name="AutoShape 98"/>
              <p:cNvCxnSpPr>
                <a:cxnSpLocks noChangeShapeType="1"/>
                <a:stCxn id="31" idx="4"/>
                <a:endCxn id="36" idx="0"/>
              </p:cNvCxnSpPr>
              <p:nvPr/>
            </p:nvCxnSpPr>
            <p:spPr bwMode="auto">
              <a:xfrm>
                <a:off x="8465940" y="2647869"/>
                <a:ext cx="2167653" cy="50050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" name="AutoShape 109"/>
              <p:cNvCxnSpPr>
                <a:cxnSpLocks noChangeShapeType="1"/>
                <a:stCxn id="34" idx="4"/>
                <a:endCxn id="40" idx="0"/>
              </p:cNvCxnSpPr>
              <p:nvPr/>
            </p:nvCxnSpPr>
            <p:spPr bwMode="auto">
              <a:xfrm flipH="1">
                <a:off x="7968114" y="3562711"/>
                <a:ext cx="501944" cy="580485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AutoShape 110"/>
              <p:cNvCxnSpPr>
                <a:cxnSpLocks noChangeShapeType="1"/>
                <a:stCxn id="34" idx="4"/>
                <a:endCxn id="41" idx="0"/>
              </p:cNvCxnSpPr>
              <p:nvPr/>
            </p:nvCxnSpPr>
            <p:spPr bwMode="auto">
              <a:xfrm>
                <a:off x="8470058" y="3562711"/>
                <a:ext cx="477134" cy="58048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0" name="Oval 111"/>
              <p:cNvSpPr>
                <a:spLocks noChangeArrowheads="1"/>
              </p:cNvSpPr>
              <p:nvPr/>
            </p:nvSpPr>
            <p:spPr bwMode="auto">
              <a:xfrm>
                <a:off x="7768882" y="4143196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1" name="Oval 112"/>
              <p:cNvSpPr>
                <a:spLocks noChangeArrowheads="1"/>
              </p:cNvSpPr>
              <p:nvPr/>
            </p:nvSpPr>
            <p:spPr bwMode="auto">
              <a:xfrm>
                <a:off x="8747167" y="414319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42" name="AutoShape 109"/>
              <p:cNvCxnSpPr>
                <a:cxnSpLocks noChangeShapeType="1"/>
                <a:stCxn id="32" idx="4"/>
                <a:endCxn id="44" idx="0"/>
              </p:cNvCxnSpPr>
              <p:nvPr/>
            </p:nvCxnSpPr>
            <p:spPr bwMode="auto">
              <a:xfrm flipH="1">
                <a:off x="5865092" y="3575411"/>
                <a:ext cx="499171" cy="580485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AutoShape 110"/>
              <p:cNvCxnSpPr>
                <a:cxnSpLocks noChangeShapeType="1"/>
                <a:stCxn id="32" idx="4"/>
                <a:endCxn id="45" idx="0"/>
              </p:cNvCxnSpPr>
              <p:nvPr/>
            </p:nvCxnSpPr>
            <p:spPr bwMode="auto">
              <a:xfrm>
                <a:off x="6364263" y="3575411"/>
                <a:ext cx="470179" cy="58048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4" name="Oval 111"/>
              <p:cNvSpPr>
                <a:spLocks noChangeArrowheads="1"/>
              </p:cNvSpPr>
              <p:nvPr/>
            </p:nvSpPr>
            <p:spPr bwMode="auto">
              <a:xfrm>
                <a:off x="5665860" y="4155896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5" name="Oval 112"/>
              <p:cNvSpPr>
                <a:spLocks noChangeArrowheads="1"/>
              </p:cNvSpPr>
              <p:nvPr/>
            </p:nvSpPr>
            <p:spPr bwMode="auto">
              <a:xfrm>
                <a:off x="6634417" y="415589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46" name="AutoShape 109"/>
              <p:cNvCxnSpPr>
                <a:cxnSpLocks noChangeShapeType="1"/>
                <a:stCxn id="36" idx="4"/>
                <a:endCxn id="48" idx="0"/>
              </p:cNvCxnSpPr>
              <p:nvPr/>
            </p:nvCxnSpPr>
            <p:spPr bwMode="auto">
              <a:xfrm flipH="1">
                <a:off x="10138061" y="3562712"/>
                <a:ext cx="495532" cy="56225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7" name="AutoShape 110"/>
              <p:cNvCxnSpPr>
                <a:cxnSpLocks noChangeShapeType="1"/>
                <a:stCxn id="36" idx="4"/>
                <a:endCxn id="49" idx="0"/>
              </p:cNvCxnSpPr>
              <p:nvPr/>
            </p:nvCxnSpPr>
            <p:spPr bwMode="auto">
              <a:xfrm>
                <a:off x="10633593" y="3562712"/>
                <a:ext cx="503002" cy="562251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8" name="Oval 111"/>
              <p:cNvSpPr>
                <a:spLocks noChangeArrowheads="1"/>
              </p:cNvSpPr>
              <p:nvPr/>
            </p:nvSpPr>
            <p:spPr bwMode="auto">
              <a:xfrm>
                <a:off x="9938829" y="4124963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9" name="Oval 112"/>
              <p:cNvSpPr>
                <a:spLocks noChangeArrowheads="1"/>
              </p:cNvSpPr>
              <p:nvPr/>
            </p:nvSpPr>
            <p:spPr bwMode="auto">
              <a:xfrm>
                <a:off x="10936570" y="4124963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0" name="Oval 89"/>
              <p:cNvSpPr>
                <a:spLocks noChangeArrowheads="1"/>
              </p:cNvSpPr>
              <p:nvPr/>
            </p:nvSpPr>
            <p:spPr bwMode="auto">
              <a:xfrm>
                <a:off x="5664261" y="497673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51" name="AutoShape 90"/>
              <p:cNvCxnSpPr>
                <a:cxnSpLocks noChangeShapeType="1"/>
                <a:stCxn id="44" idx="4"/>
                <a:endCxn id="50" idx="0"/>
              </p:cNvCxnSpPr>
              <p:nvPr/>
            </p:nvCxnSpPr>
            <p:spPr bwMode="auto">
              <a:xfrm flipH="1">
                <a:off x="5862699" y="4568646"/>
                <a:ext cx="2393" cy="40809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2" name="Oval 89"/>
              <p:cNvSpPr>
                <a:spLocks noChangeArrowheads="1"/>
              </p:cNvSpPr>
              <p:nvPr/>
            </p:nvSpPr>
            <p:spPr bwMode="auto">
              <a:xfrm>
                <a:off x="6639050" y="496719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53" name="AutoShape 90"/>
              <p:cNvCxnSpPr>
                <a:cxnSpLocks noChangeShapeType="1"/>
                <a:stCxn id="45" idx="4"/>
                <a:endCxn id="52" idx="0"/>
              </p:cNvCxnSpPr>
              <p:nvPr/>
            </p:nvCxnSpPr>
            <p:spPr bwMode="auto">
              <a:xfrm>
                <a:off x="6834442" y="4571821"/>
                <a:ext cx="3046" cy="39537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4" name="Oval 89"/>
              <p:cNvSpPr>
                <a:spLocks noChangeArrowheads="1"/>
              </p:cNvSpPr>
              <p:nvPr/>
            </p:nvSpPr>
            <p:spPr bwMode="auto">
              <a:xfrm>
                <a:off x="7764952" y="4963247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55" name="AutoShape 90"/>
              <p:cNvCxnSpPr>
                <a:cxnSpLocks noChangeShapeType="1"/>
                <a:stCxn id="40" idx="4"/>
                <a:endCxn id="54" idx="0"/>
              </p:cNvCxnSpPr>
              <p:nvPr/>
            </p:nvCxnSpPr>
            <p:spPr bwMode="auto">
              <a:xfrm flipH="1">
                <a:off x="7963390" y="4555946"/>
                <a:ext cx="4724" cy="40730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6" name="Oval 89"/>
              <p:cNvSpPr>
                <a:spLocks noChangeArrowheads="1"/>
              </p:cNvSpPr>
              <p:nvPr/>
            </p:nvSpPr>
            <p:spPr bwMode="auto">
              <a:xfrm>
                <a:off x="8747166" y="4963247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57" name="AutoShape 90"/>
              <p:cNvCxnSpPr>
                <a:cxnSpLocks noChangeShapeType="1"/>
                <a:stCxn id="41" idx="4"/>
                <a:endCxn id="56" idx="0"/>
              </p:cNvCxnSpPr>
              <p:nvPr/>
            </p:nvCxnSpPr>
            <p:spPr bwMode="auto">
              <a:xfrm flipH="1">
                <a:off x="8945604" y="4559121"/>
                <a:ext cx="1588" cy="404126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8" name="Oval 89"/>
              <p:cNvSpPr>
                <a:spLocks noChangeArrowheads="1"/>
              </p:cNvSpPr>
              <p:nvPr/>
            </p:nvSpPr>
            <p:spPr bwMode="auto">
              <a:xfrm>
                <a:off x="9935238" y="4955859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59" name="AutoShape 90"/>
              <p:cNvCxnSpPr>
                <a:cxnSpLocks noChangeShapeType="1"/>
                <a:stCxn id="48" idx="4"/>
                <a:endCxn id="58" idx="0"/>
              </p:cNvCxnSpPr>
              <p:nvPr/>
            </p:nvCxnSpPr>
            <p:spPr bwMode="auto">
              <a:xfrm flipH="1">
                <a:off x="10133676" y="4537713"/>
                <a:ext cx="4385" cy="418146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0" name="Oval 89"/>
              <p:cNvSpPr>
                <a:spLocks noChangeArrowheads="1"/>
              </p:cNvSpPr>
              <p:nvPr/>
            </p:nvSpPr>
            <p:spPr bwMode="auto">
              <a:xfrm>
                <a:off x="10934665" y="4953933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61" name="AutoShape 90"/>
              <p:cNvCxnSpPr>
                <a:cxnSpLocks noChangeShapeType="1"/>
                <a:stCxn id="49" idx="4"/>
                <a:endCxn id="60" idx="0"/>
              </p:cNvCxnSpPr>
              <p:nvPr/>
            </p:nvCxnSpPr>
            <p:spPr bwMode="auto">
              <a:xfrm flipH="1">
                <a:off x="11133103" y="4540888"/>
                <a:ext cx="3492" cy="41304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77" name="Oval 89"/>
              <p:cNvSpPr>
                <a:spLocks noChangeArrowheads="1"/>
              </p:cNvSpPr>
              <p:nvPr/>
            </p:nvSpPr>
            <p:spPr bwMode="auto">
              <a:xfrm>
                <a:off x="5664261" y="5808321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78" name="AutoShape 90"/>
              <p:cNvCxnSpPr>
                <a:cxnSpLocks noChangeShapeType="1"/>
                <a:stCxn id="50" idx="4"/>
                <a:endCxn id="77" idx="0"/>
              </p:cNvCxnSpPr>
              <p:nvPr/>
            </p:nvCxnSpPr>
            <p:spPr bwMode="auto">
              <a:xfrm>
                <a:off x="5862699" y="5392661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79" name="Oval 89"/>
              <p:cNvSpPr>
                <a:spLocks noChangeArrowheads="1"/>
              </p:cNvSpPr>
              <p:nvPr/>
            </p:nvSpPr>
            <p:spPr bwMode="auto">
              <a:xfrm>
                <a:off x="6639050" y="5798781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0" name="AutoShape 90"/>
              <p:cNvCxnSpPr>
                <a:cxnSpLocks noChangeShapeType="1"/>
                <a:stCxn id="52" idx="4"/>
                <a:endCxn id="79" idx="0"/>
              </p:cNvCxnSpPr>
              <p:nvPr/>
            </p:nvCxnSpPr>
            <p:spPr bwMode="auto">
              <a:xfrm>
                <a:off x="6837488" y="5383121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1" name="Oval 89"/>
              <p:cNvSpPr>
                <a:spLocks noChangeArrowheads="1"/>
              </p:cNvSpPr>
              <p:nvPr/>
            </p:nvSpPr>
            <p:spPr bwMode="auto">
              <a:xfrm>
                <a:off x="7764952" y="5794832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2" name="AutoShape 90"/>
              <p:cNvCxnSpPr>
                <a:cxnSpLocks noChangeShapeType="1"/>
                <a:stCxn id="54" idx="4"/>
                <a:endCxn id="81" idx="0"/>
              </p:cNvCxnSpPr>
              <p:nvPr/>
            </p:nvCxnSpPr>
            <p:spPr bwMode="auto">
              <a:xfrm>
                <a:off x="7963390" y="5379172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3" name="Oval 89"/>
              <p:cNvSpPr>
                <a:spLocks noChangeArrowheads="1"/>
              </p:cNvSpPr>
              <p:nvPr/>
            </p:nvSpPr>
            <p:spPr bwMode="auto">
              <a:xfrm>
                <a:off x="8747166" y="5794832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4" name="AutoShape 90"/>
              <p:cNvCxnSpPr>
                <a:cxnSpLocks noChangeShapeType="1"/>
                <a:stCxn id="56" idx="4"/>
                <a:endCxn id="83" idx="0"/>
              </p:cNvCxnSpPr>
              <p:nvPr/>
            </p:nvCxnSpPr>
            <p:spPr bwMode="auto">
              <a:xfrm>
                <a:off x="8945604" y="5379172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5" name="Oval 89"/>
              <p:cNvSpPr>
                <a:spLocks noChangeArrowheads="1"/>
              </p:cNvSpPr>
              <p:nvPr/>
            </p:nvSpPr>
            <p:spPr bwMode="auto">
              <a:xfrm>
                <a:off x="9935238" y="5787444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6" name="AutoShape 90"/>
              <p:cNvCxnSpPr>
                <a:cxnSpLocks noChangeShapeType="1"/>
                <a:stCxn id="58" idx="4"/>
                <a:endCxn id="85" idx="0"/>
              </p:cNvCxnSpPr>
              <p:nvPr/>
            </p:nvCxnSpPr>
            <p:spPr bwMode="auto">
              <a:xfrm>
                <a:off x="10133676" y="5371784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7" name="Oval 89"/>
              <p:cNvSpPr>
                <a:spLocks noChangeArrowheads="1"/>
              </p:cNvSpPr>
              <p:nvPr/>
            </p:nvSpPr>
            <p:spPr bwMode="auto">
              <a:xfrm>
                <a:off x="10932557" y="5785518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8" name="AutoShape 90"/>
              <p:cNvCxnSpPr>
                <a:cxnSpLocks noChangeShapeType="1"/>
                <a:stCxn id="60" idx="4"/>
                <a:endCxn id="87" idx="0"/>
              </p:cNvCxnSpPr>
              <p:nvPr/>
            </p:nvCxnSpPr>
            <p:spPr bwMode="auto">
              <a:xfrm flipH="1">
                <a:off x="11130995" y="5369858"/>
                <a:ext cx="2108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0" name="Rectangle 129"/>
            <p:cNvSpPr/>
            <p:nvPr/>
          </p:nvSpPr>
          <p:spPr>
            <a:xfrm>
              <a:off x="4335510" y="4900285"/>
              <a:ext cx="128131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400" dirty="0">
                  <a:cs typeface="Times New Roman" panose="02020603050405020304" pitchFamily="18" charset="0"/>
                </a:rPr>
                <a:t>Distance to go </a:t>
              </a:r>
            </a:p>
            <a:p>
              <a:r>
                <a:rPr lang="en-US" altLang="en-US" sz="1400" dirty="0">
                  <a:cs typeface="Times New Roman" panose="02020603050405020304" pitchFamily="18" charset="0"/>
                </a:rPr>
                <a:t>from 4 to 1 =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6</a:t>
              </a:r>
              <a:endParaRPr lang="en-US" sz="1400" b="1" dirty="0">
                <a:solidFill>
                  <a:srgbClr val="00B050"/>
                </a:solidFill>
              </a:endParaRPr>
            </a:p>
          </p:txBody>
        </p:sp>
        <p:sp>
          <p:nvSpPr>
            <p:cNvPr id="131" name="Text Box 34"/>
            <p:cNvSpPr txBox="1">
              <a:spLocks noChangeArrowheads="1"/>
            </p:cNvSpPr>
            <p:nvPr/>
          </p:nvSpPr>
          <p:spPr bwMode="auto">
            <a:xfrm>
              <a:off x="6431671" y="4896889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32" name="Text Box 34"/>
            <p:cNvSpPr txBox="1">
              <a:spLocks noChangeArrowheads="1"/>
            </p:cNvSpPr>
            <p:nvPr/>
          </p:nvSpPr>
          <p:spPr bwMode="auto">
            <a:xfrm>
              <a:off x="7583698" y="4892031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6</a:t>
              </a:r>
            </a:p>
          </p:txBody>
        </p:sp>
        <p:sp>
          <p:nvSpPr>
            <p:cNvPr id="133" name="Text Box 34"/>
            <p:cNvSpPr txBox="1">
              <a:spLocks noChangeArrowheads="1"/>
            </p:cNvSpPr>
            <p:nvPr/>
          </p:nvSpPr>
          <p:spPr bwMode="auto">
            <a:xfrm>
              <a:off x="8562948" y="4898515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34" name="Text Box 34"/>
            <p:cNvSpPr txBox="1">
              <a:spLocks noChangeArrowheads="1"/>
            </p:cNvSpPr>
            <p:nvPr/>
          </p:nvSpPr>
          <p:spPr bwMode="auto">
            <a:xfrm>
              <a:off x="9756210" y="4895271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35" name="Text Box 34"/>
            <p:cNvSpPr txBox="1">
              <a:spLocks noChangeArrowheads="1"/>
            </p:cNvSpPr>
            <p:nvPr/>
          </p:nvSpPr>
          <p:spPr bwMode="auto">
            <a:xfrm>
              <a:off x="10725731" y="4892029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3908480" y="4154147"/>
              <a:ext cx="1931939" cy="6093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Distance from 3 to 1 =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from </a:t>
              </a:r>
              <a:r>
                <a:rPr lang="en-US" altLang="en-US" sz="1400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3 to 4 </a:t>
              </a:r>
              <a:r>
                <a:rPr lang="en-US" altLang="en-US" sz="1400" dirty="0">
                  <a:cs typeface="Times New Roman" panose="02020603050405020304" pitchFamily="18" charset="0"/>
                </a:rPr>
                <a:t>+ </a:t>
              </a:r>
              <a:r>
                <a:rPr lang="en-US" altLang="en-US" sz="1400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4 to 1 </a:t>
              </a:r>
              <a:r>
                <a:rPr lang="en-US" altLang="en-US" sz="1400" dirty="0">
                  <a:cs typeface="Times New Roman" panose="02020603050405020304" pitchFamily="18" charset="0"/>
                </a:rPr>
                <a:t>= 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cs typeface="Times New Roman" panose="02020603050405020304" pitchFamily="18" charset="0"/>
                </a:rPr>
                <a:t>             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8</a:t>
              </a:r>
              <a:r>
                <a:rPr lang="en-US" altLang="en-US" sz="1400" b="1" dirty="0">
                  <a:cs typeface="Times New Roman" panose="02020603050405020304" pitchFamily="18" charset="0"/>
                </a:rPr>
                <a:t>     +</a:t>
              </a:r>
              <a:r>
                <a:rPr lang="en-US" altLang="en-US" sz="1400" dirty="0">
                  <a:cs typeface="Times New Roman" panose="02020603050405020304" pitchFamily="18" charset="0"/>
                </a:rPr>
                <a:t>     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cs typeface="Times New Roman" panose="02020603050405020304" pitchFamily="18" charset="0"/>
                </a:rPr>
                <a:t>     = 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32768" name="Rectangle 32767"/>
            <p:cNvSpPr/>
            <p:nvPr/>
          </p:nvSpPr>
          <p:spPr>
            <a:xfrm>
              <a:off x="5169720" y="3969854"/>
              <a:ext cx="729687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8+6=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6080264" y="3976861"/>
              <a:ext cx="755326" cy="2671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7235657" y="3973617"/>
              <a:ext cx="729687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4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10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8272217" y="3979727"/>
              <a:ext cx="638316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3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1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485198" y="3959411"/>
              <a:ext cx="638316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7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1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8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0425288" y="3963883"/>
              <a:ext cx="815036" cy="2671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4649661" y="2252494"/>
              <a:ext cx="2178252" cy="7817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Distance from 2 to 1 =</a:t>
              </a:r>
            </a:p>
            <a:p>
              <a:pPr marL="58738" indent="-58738"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minimum of:</a:t>
              </a:r>
            </a:p>
            <a:p>
              <a:pPr marL="58738" indent="-58738">
                <a:lnSpc>
                  <a:spcPct val="80000"/>
                </a:lnSpc>
                <a:buFontTx/>
                <a:buChar char="-"/>
              </a:pPr>
              <a:r>
                <a:rPr lang="en-US" altLang="en-US" sz="1400" dirty="0">
                  <a:solidFill>
                    <a:schemeClr val="accent2">
                      <a:lumMod val="75000"/>
                    </a:schemeClr>
                  </a:solidFill>
                  <a:cs typeface="Times New Roman" panose="02020603050405020304" pitchFamily="18" charset="0"/>
                </a:rPr>
                <a:t>from 2 to 3 + 3 to 1 </a:t>
              </a:r>
              <a:r>
                <a:rPr lang="en-US" altLang="en-US" sz="1400" dirty="0">
                  <a:cs typeface="Times New Roman" panose="02020603050405020304" pitchFamily="18" charset="0"/>
                </a:rPr>
                <a:t>=</a:t>
              </a:r>
            </a:p>
            <a:p>
              <a:pPr marL="58738" indent="-58738">
                <a:lnSpc>
                  <a:spcPct val="80000"/>
                </a:lnSpc>
                <a:buFontTx/>
                <a:buChar char="-"/>
              </a:pPr>
              <a:r>
                <a:rPr lang="en-US" altLang="en-US" sz="1400" dirty="0">
                  <a:solidFill>
                    <a:srgbClr val="A27B00"/>
                  </a:solidFill>
                  <a:cs typeface="Times New Roman" panose="02020603050405020304" pitchFamily="18" charset="0"/>
                </a:rPr>
                <a:t>from 2 to 4 + 4 to 1 =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7583698" y="2925550"/>
              <a:ext cx="1787669" cy="2677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(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7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cs typeface="Times New Roman" panose="02020603050405020304" pitchFamily="18" charset="0"/>
                </a:rPr>
                <a:t>10 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8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4 )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 = 12</a:t>
              </a:r>
              <a:endParaRPr 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0489412" y="2943774"/>
              <a:ext cx="1630557" cy="2665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( </a:t>
              </a:r>
              <a:r>
                <a:rPr lang="en-US" altLang="en-US" sz="1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cs typeface="Times New Roman" panose="02020603050405020304" pitchFamily="18" charset="0"/>
                </a:rPr>
                <a:t>8 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3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 )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sz="1400" b="1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658528" y="2953938"/>
              <a:ext cx="1824538" cy="2646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(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cs typeface="Times New Roman" panose="02020603050405020304" pitchFamily="18" charset="0"/>
                </a:rPr>
                <a:t>14 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4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 )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 = 20</a:t>
              </a:r>
              <a:endParaRPr 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267644" y="1926954"/>
              <a:ext cx="2416046" cy="2671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(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2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+20</a:t>
              </a:r>
              <a:r>
                <a:rPr lang="en-US" altLang="en-US" sz="1400" b="1" dirty="0">
                  <a:solidFill>
                    <a:srgbClr val="4472C4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9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+12, </a:t>
              </a:r>
              <a:r>
                <a:rPr lang="en-US" altLang="en-US" sz="1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+ </a:t>
              </a:r>
              <a:r>
                <a:rPr lang="en-US" altLang="en-US" sz="14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 = 21</a:t>
              </a:r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94" name="Rectangle 2">
            <a:extLst>
              <a:ext uri="{FF2B5EF4-FFF2-40B4-BE49-F238E27FC236}">
                <a16:creationId xmlns:a16="http://schemas.microsoft.com/office/drawing/2014/main" id="{0E0585FB-6356-1649-AB54-E52D3EF1D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3453" y="0"/>
            <a:ext cx="10070165" cy="838200"/>
          </a:xfrm>
        </p:spPr>
        <p:txBody>
          <a:bodyPr>
            <a:normAutofit/>
          </a:bodyPr>
          <a:lstStyle/>
          <a:p>
            <a:r>
              <a:rPr lang="en-US" altLang="en-US" sz="2800" u="sng" dirty="0" smtClean="0">
                <a:cs typeface="Times New Roman" panose="02020603050405020304" pitchFamily="18" charset="0"/>
              </a:rPr>
              <a:t>Example </a:t>
            </a:r>
            <a:r>
              <a:rPr lang="en-US" altLang="en-US" sz="2800" u="sng" dirty="0">
                <a:cs typeface="Times New Roman" panose="02020603050405020304" pitchFamily="18" charset="0"/>
              </a:rPr>
              <a:t>(from the Textbook)</a:t>
            </a:r>
            <a:endParaRPr lang="en-US" altLang="en-US" sz="2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45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80746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47591" y="0"/>
            <a:ext cx="10131916" cy="838200"/>
          </a:xfrm>
        </p:spPr>
        <p:txBody>
          <a:bodyPr>
            <a:normAutofit/>
          </a:bodyPr>
          <a:lstStyle/>
          <a:p>
            <a:r>
              <a:rPr lang="en-US" altLang="en-US" sz="2800" u="sng" dirty="0" smtClean="0">
                <a:cs typeface="Times New Roman" panose="02020603050405020304" pitchFamily="18" charset="0"/>
              </a:rPr>
              <a:t>Example </a:t>
            </a:r>
            <a:r>
              <a:rPr lang="en-US" altLang="en-US" sz="2800" u="sng" dirty="0">
                <a:cs typeface="Times New Roman" panose="02020603050405020304" pitchFamily="18" charset="0"/>
              </a:rPr>
              <a:t>(from the Textbook)</a:t>
            </a:r>
            <a:endParaRPr lang="en-US" altLang="en-US" sz="2800" dirty="0"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32772" name="Group 157"/>
          <p:cNvGrpSpPr>
            <a:grpSpLocks/>
          </p:cNvGrpSpPr>
          <p:nvPr/>
        </p:nvGrpSpPr>
        <p:grpSpPr bwMode="auto">
          <a:xfrm>
            <a:off x="755515" y="1238318"/>
            <a:ext cx="2514600" cy="2193925"/>
            <a:chOff x="1104" y="2938"/>
            <a:chExt cx="1584" cy="1382"/>
          </a:xfrm>
        </p:grpSpPr>
        <p:sp>
          <p:nvSpPr>
            <p:cNvPr id="32802" name="Text Box 158"/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03" name="Oval 159"/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2804" name="Oval 160"/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5" name="Oval 161"/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2806" name="Oval 162"/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7" name="Line 163"/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164"/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165"/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166"/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167"/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168"/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Text Box 169"/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814" name="Text Box 170"/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815" name="Text Box 171"/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16" name="Text Box 172"/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7" name="Text Box 173"/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8" name="Line 174"/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Text Box 175"/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2820" name="Line 176"/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Text Box 177"/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22" name="Line 178"/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Text Box 179"/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20340" name="Group 180"/>
          <p:cNvGraphicFramePr>
            <a:graphicFrameLocks noGrp="1"/>
          </p:cNvGraphicFramePr>
          <p:nvPr/>
        </p:nvGraphicFramePr>
        <p:xfrm>
          <a:off x="847590" y="3991111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307460763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6173862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43807618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51432765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500635299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6778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98191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269416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73162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491856"/>
                  </a:ext>
                </a:extLst>
              </a:tr>
            </a:tbl>
          </a:graphicData>
        </a:graphic>
      </p:graphicFrame>
      <p:sp>
        <p:nvSpPr>
          <p:cNvPr id="147" name="Rectangle 146"/>
          <p:cNvSpPr/>
          <p:nvPr/>
        </p:nvSpPr>
        <p:spPr>
          <a:xfrm>
            <a:off x="4426584" y="6544281"/>
            <a:ext cx="7470485" cy="294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rgbClr val="C00000"/>
                </a:solidFill>
                <a:cs typeface="Times New Roman" panose="02020603050405020304" pitchFamily="18" charset="0"/>
              </a:rPr>
              <a:t>Solve in a Bottom up fashion: Start from bottom of the tree and solve as you move up</a:t>
            </a:r>
            <a:endParaRPr lang="en-US" sz="1600" dirty="0">
              <a:solidFill>
                <a:srgbClr val="C00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908480" y="2072874"/>
            <a:ext cx="8211489" cy="4297292"/>
            <a:chOff x="3908480" y="1926954"/>
            <a:chExt cx="8211489" cy="4297292"/>
          </a:xfrm>
        </p:grpSpPr>
        <p:sp>
          <p:nvSpPr>
            <p:cNvPr id="76" name="Text Box 34"/>
            <p:cNvSpPr txBox="1">
              <a:spLocks noChangeArrowheads="1"/>
            </p:cNvSpPr>
            <p:nvPr/>
          </p:nvSpPr>
          <p:spPr bwMode="auto">
            <a:xfrm>
              <a:off x="5475552" y="4900285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grpSp>
          <p:nvGrpSpPr>
            <p:cNvPr id="32769" name="Group 32768"/>
            <p:cNvGrpSpPr/>
            <p:nvPr/>
          </p:nvGrpSpPr>
          <p:grpSpPr>
            <a:xfrm>
              <a:off x="5664261" y="2211306"/>
              <a:ext cx="5672359" cy="4012940"/>
              <a:chOff x="5664261" y="2211306"/>
              <a:chExt cx="5672359" cy="4012940"/>
            </a:xfrm>
          </p:grpSpPr>
          <p:sp>
            <p:nvSpPr>
              <p:cNvPr id="31" name="Oval 82"/>
              <p:cNvSpPr>
                <a:spLocks noChangeArrowheads="1"/>
              </p:cNvSpPr>
              <p:nvPr/>
            </p:nvSpPr>
            <p:spPr bwMode="auto">
              <a:xfrm>
                <a:off x="8244483" y="2211306"/>
                <a:ext cx="442913" cy="43656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" name="Oval 83"/>
              <p:cNvSpPr>
                <a:spLocks noChangeArrowheads="1"/>
              </p:cNvSpPr>
              <p:nvPr/>
            </p:nvSpPr>
            <p:spPr bwMode="auto">
              <a:xfrm>
                <a:off x="6164238" y="315948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33" name="AutoShape 84"/>
              <p:cNvCxnSpPr>
                <a:cxnSpLocks noChangeShapeType="1"/>
                <a:stCxn id="31" idx="4"/>
                <a:endCxn id="32" idx="0"/>
              </p:cNvCxnSpPr>
              <p:nvPr/>
            </p:nvCxnSpPr>
            <p:spPr bwMode="auto">
              <a:xfrm flipH="1">
                <a:off x="6364263" y="2647869"/>
                <a:ext cx="2101677" cy="51161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4" name="Oval 89"/>
              <p:cNvSpPr>
                <a:spLocks noChangeArrowheads="1"/>
              </p:cNvSpPr>
              <p:nvPr/>
            </p:nvSpPr>
            <p:spPr bwMode="auto">
              <a:xfrm>
                <a:off x="8271620" y="314678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35" name="AutoShape 90"/>
              <p:cNvCxnSpPr>
                <a:cxnSpLocks noChangeShapeType="1"/>
                <a:stCxn id="31" idx="4"/>
                <a:endCxn id="34" idx="0"/>
              </p:cNvCxnSpPr>
              <p:nvPr/>
            </p:nvCxnSpPr>
            <p:spPr bwMode="auto">
              <a:xfrm>
                <a:off x="8465940" y="2647869"/>
                <a:ext cx="4118" cy="49891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6" name="Oval 97"/>
              <p:cNvSpPr>
                <a:spLocks noChangeArrowheads="1"/>
              </p:cNvSpPr>
              <p:nvPr/>
            </p:nvSpPr>
            <p:spPr bwMode="auto">
              <a:xfrm>
                <a:off x="10433568" y="3148374"/>
                <a:ext cx="400050" cy="4143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37" name="AutoShape 98"/>
              <p:cNvCxnSpPr>
                <a:cxnSpLocks noChangeShapeType="1"/>
                <a:stCxn id="31" idx="4"/>
                <a:endCxn id="36" idx="0"/>
              </p:cNvCxnSpPr>
              <p:nvPr/>
            </p:nvCxnSpPr>
            <p:spPr bwMode="auto">
              <a:xfrm>
                <a:off x="8465940" y="2647869"/>
                <a:ext cx="2167653" cy="50050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" name="AutoShape 109"/>
              <p:cNvCxnSpPr>
                <a:cxnSpLocks noChangeShapeType="1"/>
                <a:stCxn id="34" idx="4"/>
                <a:endCxn id="40" idx="0"/>
              </p:cNvCxnSpPr>
              <p:nvPr/>
            </p:nvCxnSpPr>
            <p:spPr bwMode="auto">
              <a:xfrm flipH="1">
                <a:off x="7968114" y="3562711"/>
                <a:ext cx="501944" cy="580485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AutoShape 110"/>
              <p:cNvCxnSpPr>
                <a:cxnSpLocks noChangeShapeType="1"/>
                <a:stCxn id="34" idx="4"/>
                <a:endCxn id="41" idx="0"/>
              </p:cNvCxnSpPr>
              <p:nvPr/>
            </p:nvCxnSpPr>
            <p:spPr bwMode="auto">
              <a:xfrm>
                <a:off x="8470058" y="3562711"/>
                <a:ext cx="477134" cy="58048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0" name="Oval 111"/>
              <p:cNvSpPr>
                <a:spLocks noChangeArrowheads="1"/>
              </p:cNvSpPr>
              <p:nvPr/>
            </p:nvSpPr>
            <p:spPr bwMode="auto">
              <a:xfrm>
                <a:off x="7768882" y="4143196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1" name="Oval 112"/>
              <p:cNvSpPr>
                <a:spLocks noChangeArrowheads="1"/>
              </p:cNvSpPr>
              <p:nvPr/>
            </p:nvSpPr>
            <p:spPr bwMode="auto">
              <a:xfrm>
                <a:off x="8747167" y="414319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42" name="AutoShape 109"/>
              <p:cNvCxnSpPr>
                <a:cxnSpLocks noChangeShapeType="1"/>
                <a:stCxn id="32" idx="4"/>
                <a:endCxn id="44" idx="0"/>
              </p:cNvCxnSpPr>
              <p:nvPr/>
            </p:nvCxnSpPr>
            <p:spPr bwMode="auto">
              <a:xfrm flipH="1">
                <a:off x="5865092" y="3575411"/>
                <a:ext cx="499171" cy="580485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AutoShape 110"/>
              <p:cNvCxnSpPr>
                <a:cxnSpLocks noChangeShapeType="1"/>
                <a:stCxn id="32" idx="4"/>
                <a:endCxn id="45" idx="0"/>
              </p:cNvCxnSpPr>
              <p:nvPr/>
            </p:nvCxnSpPr>
            <p:spPr bwMode="auto">
              <a:xfrm>
                <a:off x="6364263" y="3575411"/>
                <a:ext cx="470179" cy="58048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4" name="Oval 111"/>
              <p:cNvSpPr>
                <a:spLocks noChangeArrowheads="1"/>
              </p:cNvSpPr>
              <p:nvPr/>
            </p:nvSpPr>
            <p:spPr bwMode="auto">
              <a:xfrm>
                <a:off x="5665860" y="4155896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5" name="Oval 112"/>
              <p:cNvSpPr>
                <a:spLocks noChangeArrowheads="1"/>
              </p:cNvSpPr>
              <p:nvPr/>
            </p:nvSpPr>
            <p:spPr bwMode="auto">
              <a:xfrm>
                <a:off x="6634417" y="4155896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46" name="AutoShape 109"/>
              <p:cNvCxnSpPr>
                <a:cxnSpLocks noChangeShapeType="1"/>
                <a:stCxn id="36" idx="4"/>
                <a:endCxn id="48" idx="0"/>
              </p:cNvCxnSpPr>
              <p:nvPr/>
            </p:nvCxnSpPr>
            <p:spPr bwMode="auto">
              <a:xfrm flipH="1">
                <a:off x="10138061" y="3562712"/>
                <a:ext cx="495532" cy="56225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7" name="AutoShape 110"/>
              <p:cNvCxnSpPr>
                <a:cxnSpLocks noChangeShapeType="1"/>
                <a:stCxn id="36" idx="4"/>
                <a:endCxn id="49" idx="0"/>
              </p:cNvCxnSpPr>
              <p:nvPr/>
            </p:nvCxnSpPr>
            <p:spPr bwMode="auto">
              <a:xfrm>
                <a:off x="10633593" y="3562712"/>
                <a:ext cx="503002" cy="562251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8" name="Oval 111"/>
              <p:cNvSpPr>
                <a:spLocks noChangeArrowheads="1"/>
              </p:cNvSpPr>
              <p:nvPr/>
            </p:nvSpPr>
            <p:spPr bwMode="auto">
              <a:xfrm>
                <a:off x="9938829" y="4124963"/>
                <a:ext cx="398463" cy="4127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9" name="Oval 112"/>
              <p:cNvSpPr>
                <a:spLocks noChangeArrowheads="1"/>
              </p:cNvSpPr>
              <p:nvPr/>
            </p:nvSpPr>
            <p:spPr bwMode="auto">
              <a:xfrm>
                <a:off x="10936570" y="4124963"/>
                <a:ext cx="400050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0" name="Oval 89"/>
              <p:cNvSpPr>
                <a:spLocks noChangeArrowheads="1"/>
              </p:cNvSpPr>
              <p:nvPr/>
            </p:nvSpPr>
            <p:spPr bwMode="auto">
              <a:xfrm>
                <a:off x="5664261" y="497673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51" name="AutoShape 90"/>
              <p:cNvCxnSpPr>
                <a:cxnSpLocks noChangeShapeType="1"/>
                <a:stCxn id="44" idx="4"/>
                <a:endCxn id="50" idx="0"/>
              </p:cNvCxnSpPr>
              <p:nvPr/>
            </p:nvCxnSpPr>
            <p:spPr bwMode="auto">
              <a:xfrm flipH="1">
                <a:off x="5862699" y="4568646"/>
                <a:ext cx="2393" cy="40809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2" name="Oval 89"/>
              <p:cNvSpPr>
                <a:spLocks noChangeArrowheads="1"/>
              </p:cNvSpPr>
              <p:nvPr/>
            </p:nvSpPr>
            <p:spPr bwMode="auto">
              <a:xfrm>
                <a:off x="6639050" y="4967196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53" name="AutoShape 90"/>
              <p:cNvCxnSpPr>
                <a:cxnSpLocks noChangeShapeType="1"/>
                <a:stCxn id="45" idx="4"/>
                <a:endCxn id="52" idx="0"/>
              </p:cNvCxnSpPr>
              <p:nvPr/>
            </p:nvCxnSpPr>
            <p:spPr bwMode="auto">
              <a:xfrm>
                <a:off x="6834442" y="4571821"/>
                <a:ext cx="3046" cy="39537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4" name="Oval 89"/>
              <p:cNvSpPr>
                <a:spLocks noChangeArrowheads="1"/>
              </p:cNvSpPr>
              <p:nvPr/>
            </p:nvSpPr>
            <p:spPr bwMode="auto">
              <a:xfrm>
                <a:off x="7764952" y="4963247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55" name="AutoShape 90"/>
              <p:cNvCxnSpPr>
                <a:cxnSpLocks noChangeShapeType="1"/>
                <a:stCxn id="40" idx="4"/>
                <a:endCxn id="54" idx="0"/>
              </p:cNvCxnSpPr>
              <p:nvPr/>
            </p:nvCxnSpPr>
            <p:spPr bwMode="auto">
              <a:xfrm flipH="1">
                <a:off x="7963390" y="4555946"/>
                <a:ext cx="4724" cy="40730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6" name="Oval 89"/>
              <p:cNvSpPr>
                <a:spLocks noChangeArrowheads="1"/>
              </p:cNvSpPr>
              <p:nvPr/>
            </p:nvSpPr>
            <p:spPr bwMode="auto">
              <a:xfrm>
                <a:off x="8747166" y="4963247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57" name="AutoShape 90"/>
              <p:cNvCxnSpPr>
                <a:cxnSpLocks noChangeShapeType="1"/>
                <a:stCxn id="41" idx="4"/>
                <a:endCxn id="56" idx="0"/>
              </p:cNvCxnSpPr>
              <p:nvPr/>
            </p:nvCxnSpPr>
            <p:spPr bwMode="auto">
              <a:xfrm flipH="1">
                <a:off x="8945604" y="4559121"/>
                <a:ext cx="1588" cy="404126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8" name="Oval 89"/>
              <p:cNvSpPr>
                <a:spLocks noChangeArrowheads="1"/>
              </p:cNvSpPr>
              <p:nvPr/>
            </p:nvSpPr>
            <p:spPr bwMode="auto">
              <a:xfrm>
                <a:off x="9935238" y="4955859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59" name="AutoShape 90"/>
              <p:cNvCxnSpPr>
                <a:cxnSpLocks noChangeShapeType="1"/>
                <a:stCxn id="48" idx="4"/>
                <a:endCxn id="58" idx="0"/>
              </p:cNvCxnSpPr>
              <p:nvPr/>
            </p:nvCxnSpPr>
            <p:spPr bwMode="auto">
              <a:xfrm flipH="1">
                <a:off x="10133676" y="4537713"/>
                <a:ext cx="4385" cy="418146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0" name="Oval 89"/>
              <p:cNvSpPr>
                <a:spLocks noChangeArrowheads="1"/>
              </p:cNvSpPr>
              <p:nvPr/>
            </p:nvSpPr>
            <p:spPr bwMode="auto">
              <a:xfrm>
                <a:off x="10934665" y="4953933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61" name="AutoShape 90"/>
              <p:cNvCxnSpPr>
                <a:cxnSpLocks noChangeShapeType="1"/>
                <a:stCxn id="49" idx="4"/>
                <a:endCxn id="60" idx="0"/>
              </p:cNvCxnSpPr>
              <p:nvPr/>
            </p:nvCxnSpPr>
            <p:spPr bwMode="auto">
              <a:xfrm flipH="1">
                <a:off x="11133103" y="4540888"/>
                <a:ext cx="3492" cy="413045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77" name="Oval 89"/>
              <p:cNvSpPr>
                <a:spLocks noChangeArrowheads="1"/>
              </p:cNvSpPr>
              <p:nvPr/>
            </p:nvSpPr>
            <p:spPr bwMode="auto">
              <a:xfrm>
                <a:off x="5664261" y="5808321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78" name="AutoShape 90"/>
              <p:cNvCxnSpPr>
                <a:cxnSpLocks noChangeShapeType="1"/>
                <a:stCxn id="50" idx="4"/>
                <a:endCxn id="77" idx="0"/>
              </p:cNvCxnSpPr>
              <p:nvPr/>
            </p:nvCxnSpPr>
            <p:spPr bwMode="auto">
              <a:xfrm>
                <a:off x="5862699" y="5392661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79" name="Oval 89"/>
              <p:cNvSpPr>
                <a:spLocks noChangeArrowheads="1"/>
              </p:cNvSpPr>
              <p:nvPr/>
            </p:nvSpPr>
            <p:spPr bwMode="auto">
              <a:xfrm>
                <a:off x="6639050" y="5798781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0" name="AutoShape 90"/>
              <p:cNvCxnSpPr>
                <a:cxnSpLocks noChangeShapeType="1"/>
                <a:stCxn id="52" idx="4"/>
                <a:endCxn id="79" idx="0"/>
              </p:cNvCxnSpPr>
              <p:nvPr/>
            </p:nvCxnSpPr>
            <p:spPr bwMode="auto">
              <a:xfrm>
                <a:off x="6837488" y="5383121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1" name="Oval 89"/>
              <p:cNvSpPr>
                <a:spLocks noChangeArrowheads="1"/>
              </p:cNvSpPr>
              <p:nvPr/>
            </p:nvSpPr>
            <p:spPr bwMode="auto">
              <a:xfrm>
                <a:off x="7764952" y="5794832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2" name="AutoShape 90"/>
              <p:cNvCxnSpPr>
                <a:cxnSpLocks noChangeShapeType="1"/>
                <a:stCxn id="54" idx="4"/>
                <a:endCxn id="81" idx="0"/>
              </p:cNvCxnSpPr>
              <p:nvPr/>
            </p:nvCxnSpPr>
            <p:spPr bwMode="auto">
              <a:xfrm>
                <a:off x="7963390" y="5379172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3" name="Oval 89"/>
              <p:cNvSpPr>
                <a:spLocks noChangeArrowheads="1"/>
              </p:cNvSpPr>
              <p:nvPr/>
            </p:nvSpPr>
            <p:spPr bwMode="auto">
              <a:xfrm>
                <a:off x="8747166" y="5794832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4" name="AutoShape 90"/>
              <p:cNvCxnSpPr>
                <a:cxnSpLocks noChangeShapeType="1"/>
                <a:stCxn id="56" idx="4"/>
                <a:endCxn id="83" idx="0"/>
              </p:cNvCxnSpPr>
              <p:nvPr/>
            </p:nvCxnSpPr>
            <p:spPr bwMode="auto">
              <a:xfrm>
                <a:off x="8945604" y="5379172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5" name="Oval 89"/>
              <p:cNvSpPr>
                <a:spLocks noChangeArrowheads="1"/>
              </p:cNvSpPr>
              <p:nvPr/>
            </p:nvSpPr>
            <p:spPr bwMode="auto">
              <a:xfrm>
                <a:off x="9935238" y="5787444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6" name="AutoShape 90"/>
              <p:cNvCxnSpPr>
                <a:cxnSpLocks noChangeShapeType="1"/>
                <a:stCxn id="58" idx="4"/>
                <a:endCxn id="85" idx="0"/>
              </p:cNvCxnSpPr>
              <p:nvPr/>
            </p:nvCxnSpPr>
            <p:spPr bwMode="auto">
              <a:xfrm>
                <a:off x="10133676" y="5371784"/>
                <a:ext cx="0" cy="41566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7" name="Oval 89"/>
              <p:cNvSpPr>
                <a:spLocks noChangeArrowheads="1"/>
              </p:cNvSpPr>
              <p:nvPr/>
            </p:nvSpPr>
            <p:spPr bwMode="auto">
              <a:xfrm>
                <a:off x="10932557" y="5785518"/>
                <a:ext cx="396875" cy="41592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1600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600" i="1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88" name="AutoShape 90"/>
              <p:cNvCxnSpPr>
                <a:cxnSpLocks noChangeShapeType="1"/>
                <a:stCxn id="60" idx="4"/>
                <a:endCxn id="87" idx="0"/>
              </p:cNvCxnSpPr>
              <p:nvPr/>
            </p:nvCxnSpPr>
            <p:spPr bwMode="auto">
              <a:xfrm flipH="1">
                <a:off x="11130995" y="5369858"/>
                <a:ext cx="2108" cy="415660"/>
              </a:xfrm>
              <a:prstGeom prst="straightConnector1">
                <a:avLst/>
              </a:prstGeom>
              <a:noFill/>
              <a:ln w="19050">
                <a:solidFill>
                  <a:srgbClr val="A27B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0" name="Rectangle 129"/>
            <p:cNvSpPr/>
            <p:nvPr/>
          </p:nvSpPr>
          <p:spPr>
            <a:xfrm>
              <a:off x="4335510" y="4900285"/>
              <a:ext cx="128131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400" dirty="0">
                  <a:cs typeface="Times New Roman" panose="02020603050405020304" pitchFamily="18" charset="0"/>
                </a:rPr>
                <a:t>Distance to go </a:t>
              </a:r>
            </a:p>
            <a:p>
              <a:r>
                <a:rPr lang="en-US" altLang="en-US" sz="1400" dirty="0">
                  <a:cs typeface="Times New Roman" panose="02020603050405020304" pitchFamily="18" charset="0"/>
                </a:rPr>
                <a:t>from 4 to 1 =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6</a:t>
              </a:r>
              <a:endParaRPr lang="en-US" sz="1400" b="1" dirty="0">
                <a:solidFill>
                  <a:srgbClr val="00B050"/>
                </a:solidFill>
              </a:endParaRPr>
            </a:p>
          </p:txBody>
        </p:sp>
        <p:sp>
          <p:nvSpPr>
            <p:cNvPr id="131" name="Text Box 34"/>
            <p:cNvSpPr txBox="1">
              <a:spLocks noChangeArrowheads="1"/>
            </p:cNvSpPr>
            <p:nvPr/>
          </p:nvSpPr>
          <p:spPr bwMode="auto">
            <a:xfrm>
              <a:off x="6431671" y="4896889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32" name="Text Box 34"/>
            <p:cNvSpPr txBox="1">
              <a:spLocks noChangeArrowheads="1"/>
            </p:cNvSpPr>
            <p:nvPr/>
          </p:nvSpPr>
          <p:spPr bwMode="auto">
            <a:xfrm>
              <a:off x="7583698" y="4892031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6</a:t>
              </a:r>
            </a:p>
          </p:txBody>
        </p:sp>
        <p:sp>
          <p:nvSpPr>
            <p:cNvPr id="133" name="Text Box 34"/>
            <p:cNvSpPr txBox="1">
              <a:spLocks noChangeArrowheads="1"/>
            </p:cNvSpPr>
            <p:nvPr/>
          </p:nvSpPr>
          <p:spPr bwMode="auto">
            <a:xfrm>
              <a:off x="8562948" y="4898515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34" name="Text Box 34"/>
            <p:cNvSpPr txBox="1">
              <a:spLocks noChangeArrowheads="1"/>
            </p:cNvSpPr>
            <p:nvPr/>
          </p:nvSpPr>
          <p:spPr bwMode="auto">
            <a:xfrm>
              <a:off x="9756210" y="4895271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35" name="Text Box 34"/>
            <p:cNvSpPr txBox="1">
              <a:spLocks noChangeArrowheads="1"/>
            </p:cNvSpPr>
            <p:nvPr/>
          </p:nvSpPr>
          <p:spPr bwMode="auto">
            <a:xfrm>
              <a:off x="10725731" y="4892029"/>
              <a:ext cx="253776" cy="3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 fontAlgn="base">
                <a:spcAft>
                  <a:spcPct val="0"/>
                </a:spcAft>
                <a:buNone/>
              </a:pP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3908480" y="4154147"/>
              <a:ext cx="1931939" cy="6093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Distance from 3 to 1 =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from </a:t>
              </a:r>
              <a:r>
                <a:rPr lang="en-US" altLang="en-US" sz="1400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3 to 4 </a:t>
              </a:r>
              <a:r>
                <a:rPr lang="en-US" altLang="en-US" sz="1400" dirty="0">
                  <a:cs typeface="Times New Roman" panose="02020603050405020304" pitchFamily="18" charset="0"/>
                </a:rPr>
                <a:t>+ </a:t>
              </a:r>
              <a:r>
                <a:rPr lang="en-US" altLang="en-US" sz="1400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4 to 1 </a:t>
              </a:r>
              <a:r>
                <a:rPr lang="en-US" altLang="en-US" sz="1400" dirty="0">
                  <a:cs typeface="Times New Roman" panose="02020603050405020304" pitchFamily="18" charset="0"/>
                </a:rPr>
                <a:t>= 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cs typeface="Times New Roman" panose="02020603050405020304" pitchFamily="18" charset="0"/>
                </a:rPr>
                <a:t>             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8</a:t>
              </a:r>
              <a:r>
                <a:rPr lang="en-US" altLang="en-US" sz="1400" b="1" dirty="0">
                  <a:cs typeface="Times New Roman" panose="02020603050405020304" pitchFamily="18" charset="0"/>
                </a:rPr>
                <a:t>     +</a:t>
              </a:r>
              <a:r>
                <a:rPr lang="en-US" altLang="en-US" sz="1400" dirty="0">
                  <a:cs typeface="Times New Roman" panose="02020603050405020304" pitchFamily="18" charset="0"/>
                </a:rPr>
                <a:t>     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cs typeface="Times New Roman" panose="02020603050405020304" pitchFamily="18" charset="0"/>
                </a:rPr>
                <a:t>     = 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32768" name="Rectangle 32767"/>
            <p:cNvSpPr/>
            <p:nvPr/>
          </p:nvSpPr>
          <p:spPr>
            <a:xfrm>
              <a:off x="5169720" y="3969854"/>
              <a:ext cx="729687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8+6=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6080264" y="3976861"/>
              <a:ext cx="755326" cy="2671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7235657" y="3973617"/>
              <a:ext cx="729687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4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10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8272217" y="3979727"/>
              <a:ext cx="638316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3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1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4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485198" y="3959411"/>
              <a:ext cx="638316" cy="268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7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1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cs typeface="Times New Roman" panose="02020603050405020304" pitchFamily="18" charset="0"/>
                </a:rPr>
                <a:t>8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0425288" y="3963883"/>
              <a:ext cx="815036" cy="2671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4649661" y="2252494"/>
              <a:ext cx="2178252" cy="7817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Distance from 2 to 1 =</a:t>
              </a:r>
            </a:p>
            <a:p>
              <a:pPr marL="58738" indent="-58738">
                <a:lnSpc>
                  <a:spcPct val="80000"/>
                </a:lnSpc>
              </a:pPr>
              <a:r>
                <a:rPr lang="en-US" altLang="en-US" sz="1400" dirty="0">
                  <a:cs typeface="Times New Roman" panose="02020603050405020304" pitchFamily="18" charset="0"/>
                </a:rPr>
                <a:t>minimum of:</a:t>
              </a:r>
            </a:p>
            <a:p>
              <a:pPr marL="58738" indent="-58738">
                <a:lnSpc>
                  <a:spcPct val="80000"/>
                </a:lnSpc>
                <a:buFontTx/>
                <a:buChar char="-"/>
              </a:pPr>
              <a:r>
                <a:rPr lang="en-US" altLang="en-US" sz="1400" dirty="0">
                  <a:solidFill>
                    <a:schemeClr val="accent2">
                      <a:lumMod val="75000"/>
                    </a:schemeClr>
                  </a:solidFill>
                  <a:cs typeface="Times New Roman" panose="02020603050405020304" pitchFamily="18" charset="0"/>
                </a:rPr>
                <a:t>from 2 to 3 + 3 to 1 </a:t>
              </a:r>
              <a:r>
                <a:rPr lang="en-US" altLang="en-US" sz="1400" dirty="0">
                  <a:cs typeface="Times New Roman" panose="02020603050405020304" pitchFamily="18" charset="0"/>
                </a:rPr>
                <a:t>=</a:t>
              </a:r>
            </a:p>
            <a:p>
              <a:pPr marL="58738" indent="-58738">
                <a:lnSpc>
                  <a:spcPct val="80000"/>
                </a:lnSpc>
                <a:buFontTx/>
                <a:buChar char="-"/>
              </a:pPr>
              <a:r>
                <a:rPr lang="en-US" altLang="en-US" sz="1400" dirty="0">
                  <a:solidFill>
                    <a:srgbClr val="A27B00"/>
                  </a:solidFill>
                  <a:cs typeface="Times New Roman" panose="02020603050405020304" pitchFamily="18" charset="0"/>
                </a:rPr>
                <a:t>from 2 to 4 + 4 to 1 =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7583698" y="2925550"/>
              <a:ext cx="1787669" cy="2677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(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7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cs typeface="Times New Roman" panose="02020603050405020304" pitchFamily="18" charset="0"/>
                </a:rPr>
                <a:t>10 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8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4 )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 = 12</a:t>
              </a:r>
              <a:endParaRPr 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0489412" y="2943774"/>
              <a:ext cx="1630557" cy="2665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( </a:t>
              </a:r>
              <a:r>
                <a:rPr lang="en-US" altLang="en-US" sz="1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cs typeface="Times New Roman" panose="02020603050405020304" pitchFamily="18" charset="0"/>
                </a:rPr>
                <a:t>8 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3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 )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=</a:t>
              </a:r>
              <a:r>
                <a:rPr lang="en-US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sz="1400" b="1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658528" y="2953938"/>
              <a:ext cx="1824538" cy="2646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(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6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cs typeface="Times New Roman" panose="02020603050405020304" pitchFamily="18" charset="0"/>
                </a:rPr>
                <a:t>14 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4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</a:t>
              </a:r>
              <a:r>
                <a:rPr lang="en-US" altLang="en-US" sz="14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 )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 = 20</a:t>
              </a:r>
              <a:endParaRPr lang="en-US" sz="1400" b="1" dirty="0">
                <a:solidFill>
                  <a:prstClr val="black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267644" y="1926954"/>
              <a:ext cx="2416046" cy="2671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altLang="en-US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(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2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+20</a:t>
              </a:r>
              <a:r>
                <a:rPr lang="en-US" altLang="en-US" sz="1400" b="1" dirty="0">
                  <a:solidFill>
                    <a:srgbClr val="4472C4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en-US" sz="1400" b="1" dirty="0">
                  <a:solidFill>
                    <a:srgbClr val="00B050"/>
                  </a:solidFill>
                  <a:cs typeface="Times New Roman" panose="02020603050405020304" pitchFamily="18" charset="0"/>
                </a:rPr>
                <a:t>9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+12, </a:t>
              </a:r>
              <a:r>
                <a:rPr lang="en-US" altLang="en-US" sz="1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+ </a:t>
              </a:r>
              <a:r>
                <a:rPr lang="en-US" altLang="en-US" sz="14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1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 = 21</a:t>
              </a:r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121239" y="1044371"/>
            <a:ext cx="7911876" cy="1028178"/>
            <a:chOff x="5119450" y="1073233"/>
            <a:chExt cx="7374588" cy="1028178"/>
          </a:xfrm>
          <a:solidFill>
            <a:srgbClr val="FFFF00"/>
          </a:solidFill>
        </p:grpSpPr>
        <p:sp>
          <p:nvSpPr>
            <p:cNvPr id="92" name="Rectangle 91"/>
            <p:cNvSpPr/>
            <p:nvPr/>
          </p:nvSpPr>
          <p:spPr>
            <a:xfrm>
              <a:off x="5119450" y="1073233"/>
              <a:ext cx="7374588" cy="72327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en-US" dirty="0">
                  <a:cs typeface="Times New Roman" panose="02020603050405020304" pitchFamily="18" charset="0"/>
                </a:rPr>
                <a:t>Distance from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cs typeface="Times New Roman" panose="02020603050405020304" pitchFamily="18" charset="0"/>
                </a:rPr>
                <a:t>1</a:t>
              </a:r>
              <a:r>
                <a:rPr lang="en-US" altLang="en-US" dirty="0">
                  <a:cs typeface="Times New Roman" panose="02020603050405020304" pitchFamily="18" charset="0"/>
                </a:rPr>
                <a:t> to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cs typeface="Times New Roman" panose="02020603050405020304" pitchFamily="18" charset="0"/>
                </a:rPr>
                <a:t>1</a:t>
              </a:r>
              <a:r>
                <a:rPr lang="en-US" altLang="en-US" dirty="0">
                  <a:cs typeface="Times New Roman" panose="02020603050405020304" pitchFamily="18" charset="0"/>
                </a:rPr>
                <a:t> passing by the set of vertices 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}: D[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{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] </a:t>
              </a:r>
            </a:p>
            <a:p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D[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{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]  =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W[1][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+ D</a:t>
              </a:r>
              <a:r>
                <a:rPr lang="en-US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, {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- {</a:t>
              </a:r>
              <a:r>
                <a:rPr lang="en-US" altLang="en-US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en-US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3" name="Text Box 229"/>
            <p:cNvSpPr txBox="1">
              <a:spLocks noChangeArrowheads="1"/>
            </p:cNvSpPr>
            <p:nvPr/>
          </p:nvSpPr>
          <p:spPr bwMode="auto">
            <a:xfrm>
              <a:off x="7367010" y="1774368"/>
              <a:ext cx="765302" cy="32704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64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i="1" dirty="0">
                  <a:latin typeface="+mn-lt"/>
                  <a:cs typeface="Times New Roman" panose="02020603050405020304" pitchFamily="18" charset="0"/>
                </a:rPr>
                <a:t>2 </a:t>
              </a:r>
              <a:r>
                <a:rPr lang="en-US" altLang="en-US" sz="1200" b="1" i="1" dirty="0"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rPr>
                <a:t></a:t>
              </a:r>
              <a:r>
                <a:rPr lang="en-US" altLang="en-US" sz="1400" b="1" i="1" dirty="0">
                  <a:latin typeface="+mn-lt"/>
                  <a:cs typeface="Times New Roman" panose="02020603050405020304" pitchFamily="18" charset="0"/>
                </a:rPr>
                <a:t>  </a:t>
              </a:r>
              <a:r>
                <a:rPr lang="en-US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1400" b="1" i="1" dirty="0"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n-US" altLang="en-US" sz="1200" b="1" i="1" dirty="0"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rPr>
                <a:t>  </a:t>
              </a:r>
              <a:r>
                <a:rPr lang="en-US" altLang="en-US" sz="1400" b="1" i="1" dirty="0"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endParaRPr lang="en-US" altLang="en-US" sz="1400" b="1" i="1" dirty="0">
                <a:latin typeface="+mn-lt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46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74976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59084" y="0"/>
            <a:ext cx="10008916" cy="762000"/>
          </a:xfrm>
        </p:spPr>
        <p:txBody>
          <a:bodyPr>
            <a:normAutofit/>
          </a:bodyPr>
          <a:lstStyle/>
          <a:p>
            <a:r>
              <a:rPr lang="en-US" altLang="en-US" sz="2800" u="sng" dirty="0" smtClean="0">
                <a:cs typeface="Times New Roman" panose="02020603050405020304" pitchFamily="18" charset="0"/>
              </a:rPr>
              <a:t>Example </a:t>
            </a:r>
            <a:r>
              <a:rPr lang="en-US" altLang="en-US" sz="2800" u="sng" dirty="0">
                <a:cs typeface="Times New Roman" panose="02020603050405020304" pitchFamily="18" charset="0"/>
              </a:rPr>
              <a:t>(from the Textbook)</a:t>
            </a:r>
            <a:endParaRPr lang="en-US" altLang="en-US" sz="2800" dirty="0"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33795" name="Group 158"/>
          <p:cNvGrpSpPr>
            <a:grpSpLocks/>
          </p:cNvGrpSpPr>
          <p:nvPr/>
        </p:nvGrpSpPr>
        <p:grpSpPr bwMode="auto">
          <a:xfrm>
            <a:off x="663211" y="1093001"/>
            <a:ext cx="2514600" cy="2193925"/>
            <a:chOff x="1104" y="2938"/>
            <a:chExt cx="1584" cy="1382"/>
          </a:xfrm>
        </p:grpSpPr>
        <p:sp>
          <p:nvSpPr>
            <p:cNvPr id="33832" name="Text Box 159"/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3833" name="Oval 160"/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3834" name="Oval 161"/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3835" name="Oval 162"/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3836" name="Oval 163"/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3837" name="Line 164"/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8" name="Line 165"/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9" name="Line 166"/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0" name="Line 167"/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1" name="Line 168"/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2" name="Line 169"/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3" name="Text Box 170"/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3844" name="Text Box 171"/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3845" name="Text Box 172"/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846" name="Text Box 173"/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3847" name="Text Box 174"/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3848" name="Line 175"/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9" name="Text Box 176"/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3850" name="Line 177"/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1" name="Text Box 178"/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3852" name="Line 179"/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3" name="Text Box 180"/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21365" name="Group 181"/>
          <p:cNvGraphicFramePr>
            <a:graphicFrameLocks noGrp="1"/>
          </p:cNvGraphicFramePr>
          <p:nvPr/>
        </p:nvGraphicFramePr>
        <p:xfrm>
          <a:off x="659084" y="4269664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43068728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57241664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73820619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84275450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750119242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65707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71128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043282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9887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899792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3966299" y="2322300"/>
            <a:ext cx="7562479" cy="1026030"/>
            <a:chOff x="4212077" y="2789229"/>
            <a:chExt cx="7230020" cy="1026030"/>
          </a:xfrm>
          <a:solidFill>
            <a:srgbClr val="FFC000"/>
          </a:solidFill>
        </p:grpSpPr>
        <p:sp>
          <p:nvSpPr>
            <p:cNvPr id="33830" name="Rectangle 92"/>
            <p:cNvSpPr>
              <a:spLocks noChangeArrowheads="1"/>
            </p:cNvSpPr>
            <p:nvPr/>
          </p:nvSpPr>
          <p:spPr bwMode="auto">
            <a:xfrm>
              <a:off x="4212077" y="2789229"/>
              <a:ext cx="7230020" cy="70788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FontTx/>
                <a:buNone/>
              </a:pPr>
              <a:r>
                <a:rPr lang="en-US" altLang="en-US" sz="2000" b="1" u="sng" dirty="0">
                  <a:latin typeface="+mn-lt"/>
                  <a:cs typeface="Times New Roman" panose="02020603050405020304" pitchFamily="18" charset="0"/>
                </a:rPr>
                <a:t>In general</a:t>
              </a:r>
              <a:r>
                <a:rPr lang="en-US" altLang="en-US" sz="2000" u="sng" dirty="0">
                  <a:latin typeface="+mn-lt"/>
                  <a:cs typeface="Times New Roman" panose="02020603050405020304" pitchFamily="18" charset="0"/>
                </a:rPr>
                <a:t>:</a:t>
              </a:r>
            </a:p>
            <a:p>
              <a:pPr eaLnBrk="1" hangingPunct="1">
                <a:lnSpc>
                  <a:spcPct val="90000"/>
                </a:lnSpc>
                <a:buFontTx/>
                <a:buNone/>
              </a:pPr>
              <a:r>
                <a:rPr lang="en-US" altLang="en-US" sz="2000" dirty="0">
                  <a:latin typeface="+mn-lt"/>
                  <a:cs typeface="Times New Roman" panose="02020603050405020304" pitchFamily="18" charset="0"/>
                </a:rPr>
                <a:t>   Length of an optimal tour =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 W[1][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+ D[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][V-{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, 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)</a:t>
              </a:r>
            </a:p>
          </p:txBody>
        </p:sp>
        <p:sp>
          <p:nvSpPr>
            <p:cNvPr id="33831" name="Text Box 229"/>
            <p:cNvSpPr txBox="1">
              <a:spLocks noChangeArrowheads="1"/>
            </p:cNvSpPr>
            <p:nvPr/>
          </p:nvSpPr>
          <p:spPr bwMode="auto">
            <a:xfrm>
              <a:off x="7295082" y="3457438"/>
              <a:ext cx="935173" cy="35782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tIns="64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latin typeface="+mn-lt"/>
                  <a:cs typeface="Times New Roman" panose="02020603050405020304" pitchFamily="18" charset="0"/>
                </a:rPr>
                <a:t>2 </a:t>
              </a:r>
              <a:r>
                <a:rPr lang="en-US" altLang="en-US" sz="1400" b="1" i="1" dirty="0"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rPr>
                <a:t></a:t>
              </a:r>
              <a:r>
                <a:rPr lang="en-US" altLang="en-US" sz="1600" b="1" i="1" dirty="0">
                  <a:latin typeface="+mn-lt"/>
                  <a:cs typeface="Times New Roman" panose="02020603050405020304" pitchFamily="18" charset="0"/>
                </a:rPr>
                <a:t>  j </a:t>
              </a:r>
              <a:r>
                <a:rPr lang="en-US" altLang="en-US" sz="1400" b="1" i="1" dirty="0"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rPr>
                <a:t>  </a:t>
              </a:r>
              <a:r>
                <a:rPr lang="en-US" altLang="en-US" sz="1600" b="1" i="1" dirty="0"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endParaRPr lang="en-US" altLang="en-US" sz="1600" b="1" i="1" dirty="0">
                <a:latin typeface="+mn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732864" y="5652033"/>
            <a:ext cx="6463456" cy="686681"/>
            <a:chOff x="2514600" y="5410204"/>
            <a:chExt cx="5841460" cy="686681"/>
          </a:xfrm>
          <a:solidFill>
            <a:srgbClr val="FFFF00"/>
          </a:solidFill>
        </p:grpSpPr>
        <p:sp>
          <p:nvSpPr>
            <p:cNvPr id="33828" name="Rectangle 232"/>
            <p:cNvSpPr>
              <a:spLocks noChangeArrowheads="1"/>
            </p:cNvSpPr>
            <p:nvPr/>
          </p:nvSpPr>
          <p:spPr bwMode="auto">
            <a:xfrm>
              <a:off x="2514600" y="5410204"/>
              <a:ext cx="5841460" cy="3693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][A] =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 W[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+ D[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][A-{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)        if A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 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3829" name="Text Box 234"/>
            <p:cNvSpPr txBox="1">
              <a:spLocks noChangeArrowheads="1"/>
            </p:cNvSpPr>
            <p:nvPr/>
          </p:nvSpPr>
          <p:spPr bwMode="auto">
            <a:xfrm>
              <a:off x="3742810" y="5758331"/>
              <a:ext cx="769919" cy="33855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j: </a:t>
              </a:r>
              <a:r>
                <a:rPr lang="en-US" altLang="en-US" sz="16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16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16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 </a:t>
              </a: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3826" name="Rectangle 236"/>
          <p:cNvSpPr>
            <a:spLocks noChangeArrowheads="1"/>
          </p:cNvSpPr>
          <p:nvPr/>
        </p:nvSpPr>
        <p:spPr bwMode="auto">
          <a:xfrm>
            <a:off x="4732864" y="6380569"/>
            <a:ext cx="2196627" cy="40011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W[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</a:t>
            </a:r>
          </a:p>
        </p:txBody>
      </p:sp>
      <p:sp>
        <p:nvSpPr>
          <p:cNvPr id="33827" name="Text Box 240"/>
          <p:cNvSpPr txBox="1">
            <a:spLocks noChangeArrowheads="1"/>
          </p:cNvSpPr>
          <p:nvPr/>
        </p:nvSpPr>
        <p:spPr bwMode="auto">
          <a:xfrm>
            <a:off x="3988167" y="5156390"/>
            <a:ext cx="3735959" cy="40011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  <a:ex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+mn-lt"/>
                <a:cs typeface="Times New Roman" panose="02020603050405020304" pitchFamily="18" charset="0"/>
              </a:rPr>
              <a:t>In general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for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1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and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not in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330211" y="970349"/>
            <a:ext cx="8699895" cy="1212046"/>
            <a:chOff x="4881870" y="1073233"/>
            <a:chExt cx="8229600" cy="1168720"/>
          </a:xfrm>
        </p:grpSpPr>
        <p:sp>
          <p:nvSpPr>
            <p:cNvPr id="37" name="Rectangle 36"/>
            <p:cNvSpPr/>
            <p:nvPr/>
          </p:nvSpPr>
          <p:spPr>
            <a:xfrm>
              <a:off x="4881870" y="1073233"/>
              <a:ext cx="8229600" cy="1038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en-US" b="1" u="sng" dirty="0">
                  <a:solidFill>
                    <a:srgbClr val="0070C0"/>
                  </a:solidFill>
                  <a:cs typeface="Times New Roman" panose="02020603050405020304" pitchFamily="18" charset="0"/>
                </a:rPr>
                <a:t>In the studied example</a:t>
              </a:r>
              <a:r>
                <a:rPr lang="en-US" altLang="en-US" u="sng" dirty="0">
                  <a:solidFill>
                    <a:srgbClr val="0070C0"/>
                  </a:solidFill>
                  <a:cs typeface="Times New Roman" panose="02020603050405020304" pitchFamily="18" charset="0"/>
                </a:rPr>
                <a:t>:</a:t>
              </a:r>
            </a:p>
            <a:p>
              <a:pPr>
                <a:spcAft>
                  <a:spcPts val="600"/>
                </a:spcAft>
              </a:pPr>
              <a:r>
                <a:rPr lang="en-US" altLang="en-US" dirty="0">
                  <a:cs typeface="Times New Roman" panose="02020603050405020304" pitchFamily="18" charset="0"/>
                </a:rPr>
                <a:t>Distance from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cs typeface="Times New Roman" panose="02020603050405020304" pitchFamily="18" charset="0"/>
                </a:rPr>
                <a:t>1</a:t>
              </a:r>
              <a:r>
                <a:rPr lang="en-US" altLang="en-US" dirty="0">
                  <a:cs typeface="Times New Roman" panose="02020603050405020304" pitchFamily="18" charset="0"/>
                </a:rPr>
                <a:t> to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cs typeface="Times New Roman" panose="02020603050405020304" pitchFamily="18" charset="0"/>
                </a:rPr>
                <a:t>1</a:t>
              </a:r>
              <a:r>
                <a:rPr lang="en-US" altLang="en-US" dirty="0">
                  <a:cs typeface="Times New Roman" panose="02020603050405020304" pitchFamily="18" charset="0"/>
                </a:rPr>
                <a:t> passing by the set of all other vertices 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}: D[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{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] </a:t>
              </a:r>
            </a:p>
            <a:p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D[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{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] =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W[1][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+ D</a:t>
              </a:r>
              <a:r>
                <a:rPr lang="en-US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, {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- {</a:t>
              </a:r>
              <a:r>
                <a:rPr lang="en-US" altLang="en-US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</a:t>
              </a:r>
              <a:r>
                <a:rPr lang="en-US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8" name="Text Box 229"/>
            <p:cNvSpPr txBox="1">
              <a:spLocks noChangeArrowheads="1"/>
            </p:cNvSpPr>
            <p:nvPr/>
          </p:nvSpPr>
          <p:spPr bwMode="auto">
            <a:xfrm>
              <a:off x="7157044" y="1926600"/>
              <a:ext cx="773642" cy="315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64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i="1" dirty="0">
                  <a:latin typeface="+mn-lt"/>
                  <a:cs typeface="Times New Roman" panose="02020603050405020304" pitchFamily="18" charset="0"/>
                </a:rPr>
                <a:t>2 </a:t>
              </a:r>
              <a:r>
                <a:rPr lang="en-US" altLang="en-US" sz="1200" b="1" i="1" dirty="0"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rPr>
                <a:t></a:t>
              </a:r>
              <a:r>
                <a:rPr lang="en-US" altLang="en-US" sz="1400" b="1" i="1" dirty="0">
                  <a:latin typeface="+mn-lt"/>
                  <a:cs typeface="Times New Roman" panose="02020603050405020304" pitchFamily="18" charset="0"/>
                </a:rPr>
                <a:t>  </a:t>
              </a:r>
              <a:r>
                <a:rPr lang="en-US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1400" b="1" i="1" dirty="0"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n-US" altLang="en-US" sz="1200" b="1" i="1" dirty="0"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rPr>
                <a:t>  </a:t>
              </a:r>
              <a:r>
                <a:rPr lang="en-US" altLang="en-US" sz="1400" b="1" i="1" dirty="0"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rPr>
                <a:t>4</a:t>
              </a:r>
              <a:endParaRPr lang="en-US" altLang="en-US" sz="1400" b="1" i="1" dirty="0">
                <a:latin typeface="+mn-lt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Rectangle 154"/>
          <p:cNvSpPr>
            <a:spLocks noChangeArrowheads="1"/>
          </p:cNvSpPr>
          <p:nvPr/>
        </p:nvSpPr>
        <p:spPr bwMode="auto">
          <a:xfrm>
            <a:off x="3966300" y="3276803"/>
            <a:ext cx="8063806" cy="1819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Let</a:t>
            </a:r>
            <a:r>
              <a:rPr lang="en-US" altLang="en-US" sz="20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= Set of all vertices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= A subset of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marL="1254125" indent="-1254125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][A] 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= length of a shortest path from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to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passing through each vertex in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exactly 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once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47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64945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26" grpId="0" animBg="1"/>
      <p:bldP spid="33827" grpId="0" animBg="1"/>
      <p:bldP spid="3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65872" y="0"/>
            <a:ext cx="10002128" cy="838200"/>
          </a:xfrm>
        </p:spPr>
        <p:txBody>
          <a:bodyPr>
            <a:normAutofit/>
          </a:bodyPr>
          <a:lstStyle/>
          <a:p>
            <a:r>
              <a:rPr lang="en-US" altLang="en-US" sz="2800" u="sng" dirty="0" smtClean="0">
                <a:cs typeface="Times New Roman" panose="02020603050405020304" pitchFamily="18" charset="0"/>
              </a:rPr>
              <a:t>Example </a:t>
            </a:r>
            <a:r>
              <a:rPr lang="en-US" altLang="en-US" sz="2800" u="sng" dirty="0">
                <a:cs typeface="Times New Roman" panose="02020603050405020304" pitchFamily="18" charset="0"/>
              </a:rPr>
              <a:t>(from the Textbook)</a:t>
            </a:r>
            <a:endParaRPr lang="en-US" altLang="en-US" sz="2800" dirty="0"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32772" name="Group 157"/>
          <p:cNvGrpSpPr>
            <a:grpSpLocks/>
          </p:cNvGrpSpPr>
          <p:nvPr/>
        </p:nvGrpSpPr>
        <p:grpSpPr bwMode="auto">
          <a:xfrm>
            <a:off x="415047" y="1234715"/>
            <a:ext cx="2514600" cy="2193925"/>
            <a:chOff x="1104" y="2938"/>
            <a:chExt cx="1584" cy="1382"/>
          </a:xfrm>
        </p:grpSpPr>
        <p:sp>
          <p:nvSpPr>
            <p:cNvPr id="32802" name="Text Box 158"/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03" name="Oval 159"/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2804" name="Oval 160"/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5" name="Oval 161"/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2806" name="Oval 162"/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807" name="Line 163"/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164"/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165"/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166"/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167"/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168"/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Text Box 169"/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814" name="Text Box 170"/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815" name="Text Box 171"/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16" name="Text Box 172"/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7" name="Text Box 173"/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18" name="Line 174"/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Text Box 175"/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2820" name="Line 176"/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Text Box 177"/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22" name="Line 178"/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Text Box 179"/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20340" name="Group 180"/>
          <p:cNvGraphicFramePr>
            <a:graphicFrameLocks noGrp="1"/>
          </p:cNvGraphicFramePr>
          <p:nvPr/>
        </p:nvGraphicFramePr>
        <p:xfrm>
          <a:off x="536760" y="4317250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307460763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6173862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43807618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51432765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500635299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6778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98191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269416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73162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491856"/>
                  </a:ext>
                </a:extLst>
              </a:tr>
            </a:tbl>
          </a:graphicData>
        </a:graphic>
      </p:graphicFrame>
      <p:sp>
        <p:nvSpPr>
          <p:cNvPr id="147" name="Rectangle 146"/>
          <p:cNvSpPr/>
          <p:nvPr/>
        </p:nvSpPr>
        <p:spPr>
          <a:xfrm>
            <a:off x="4111867" y="6583702"/>
            <a:ext cx="7470485" cy="294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rgbClr val="C00000"/>
                </a:solidFill>
                <a:cs typeface="Times New Roman" panose="02020603050405020304" pitchFamily="18" charset="0"/>
              </a:rPr>
              <a:t>Solve in a Bottom up fashion: Start from bottom of the tree and solve as you move up</a:t>
            </a:r>
            <a:endParaRPr lang="en-US" sz="1600" dirty="0">
              <a:solidFill>
                <a:srgbClr val="C00000"/>
              </a:solidFill>
            </a:endParaRPr>
          </a:p>
        </p:txBody>
      </p:sp>
      <p:grpSp>
        <p:nvGrpSpPr>
          <p:cNvPr id="32769" name="Group 32768"/>
          <p:cNvGrpSpPr/>
          <p:nvPr/>
        </p:nvGrpSpPr>
        <p:grpSpPr>
          <a:xfrm>
            <a:off x="5917181" y="2298860"/>
            <a:ext cx="5672359" cy="4012940"/>
            <a:chOff x="5664261" y="2211306"/>
            <a:chExt cx="5672359" cy="4012940"/>
          </a:xfrm>
        </p:grpSpPr>
        <p:sp>
          <p:nvSpPr>
            <p:cNvPr id="31" name="Oval 82"/>
            <p:cNvSpPr>
              <a:spLocks noChangeArrowheads="1"/>
            </p:cNvSpPr>
            <p:nvPr/>
          </p:nvSpPr>
          <p:spPr bwMode="auto">
            <a:xfrm>
              <a:off x="8244483" y="2211306"/>
              <a:ext cx="442913" cy="4365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" name="Oval 83"/>
            <p:cNvSpPr>
              <a:spLocks noChangeArrowheads="1"/>
            </p:cNvSpPr>
            <p:nvPr/>
          </p:nvSpPr>
          <p:spPr bwMode="auto">
            <a:xfrm>
              <a:off x="6164238" y="3159486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33" name="AutoShape 84"/>
            <p:cNvCxnSpPr>
              <a:cxnSpLocks noChangeShapeType="1"/>
              <a:stCxn id="31" idx="4"/>
              <a:endCxn id="32" idx="0"/>
            </p:cNvCxnSpPr>
            <p:nvPr/>
          </p:nvCxnSpPr>
          <p:spPr bwMode="auto">
            <a:xfrm flipH="1">
              <a:off x="6364263" y="2647869"/>
              <a:ext cx="2101677" cy="51161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" name="Oval 89"/>
            <p:cNvSpPr>
              <a:spLocks noChangeArrowheads="1"/>
            </p:cNvSpPr>
            <p:nvPr/>
          </p:nvSpPr>
          <p:spPr bwMode="auto">
            <a:xfrm>
              <a:off x="8271620" y="3146786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35" name="AutoShape 90"/>
            <p:cNvCxnSpPr>
              <a:cxnSpLocks noChangeShapeType="1"/>
              <a:stCxn id="31" idx="4"/>
              <a:endCxn id="34" idx="0"/>
            </p:cNvCxnSpPr>
            <p:nvPr/>
          </p:nvCxnSpPr>
          <p:spPr bwMode="auto">
            <a:xfrm>
              <a:off x="8465940" y="2647869"/>
              <a:ext cx="4118" cy="49891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" name="Oval 97"/>
            <p:cNvSpPr>
              <a:spLocks noChangeArrowheads="1"/>
            </p:cNvSpPr>
            <p:nvPr/>
          </p:nvSpPr>
          <p:spPr bwMode="auto">
            <a:xfrm>
              <a:off x="10433568" y="3148374"/>
              <a:ext cx="400050" cy="4143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37" name="AutoShape 98"/>
            <p:cNvCxnSpPr>
              <a:cxnSpLocks noChangeShapeType="1"/>
              <a:stCxn id="31" idx="4"/>
              <a:endCxn id="36" idx="0"/>
            </p:cNvCxnSpPr>
            <p:nvPr/>
          </p:nvCxnSpPr>
          <p:spPr bwMode="auto">
            <a:xfrm>
              <a:off x="8465940" y="2647869"/>
              <a:ext cx="2167653" cy="50050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109"/>
            <p:cNvCxnSpPr>
              <a:cxnSpLocks noChangeShapeType="1"/>
              <a:stCxn id="34" idx="4"/>
              <a:endCxn id="40" idx="0"/>
            </p:cNvCxnSpPr>
            <p:nvPr/>
          </p:nvCxnSpPr>
          <p:spPr bwMode="auto">
            <a:xfrm flipH="1">
              <a:off x="7968114" y="3562711"/>
              <a:ext cx="501944" cy="580485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110"/>
            <p:cNvCxnSpPr>
              <a:cxnSpLocks noChangeShapeType="1"/>
              <a:stCxn id="34" idx="4"/>
              <a:endCxn id="41" idx="0"/>
            </p:cNvCxnSpPr>
            <p:nvPr/>
          </p:nvCxnSpPr>
          <p:spPr bwMode="auto">
            <a:xfrm>
              <a:off x="8470058" y="3562711"/>
              <a:ext cx="477134" cy="58048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" name="Oval 111"/>
            <p:cNvSpPr>
              <a:spLocks noChangeArrowheads="1"/>
            </p:cNvSpPr>
            <p:nvPr/>
          </p:nvSpPr>
          <p:spPr bwMode="auto">
            <a:xfrm>
              <a:off x="7768882" y="4143196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1" name="Oval 112"/>
            <p:cNvSpPr>
              <a:spLocks noChangeArrowheads="1"/>
            </p:cNvSpPr>
            <p:nvPr/>
          </p:nvSpPr>
          <p:spPr bwMode="auto">
            <a:xfrm>
              <a:off x="8747167" y="4143196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42" name="AutoShape 109"/>
            <p:cNvCxnSpPr>
              <a:cxnSpLocks noChangeShapeType="1"/>
              <a:stCxn id="32" idx="4"/>
              <a:endCxn id="44" idx="0"/>
            </p:cNvCxnSpPr>
            <p:nvPr/>
          </p:nvCxnSpPr>
          <p:spPr bwMode="auto">
            <a:xfrm flipH="1">
              <a:off x="5865092" y="3575411"/>
              <a:ext cx="499171" cy="580485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110"/>
            <p:cNvCxnSpPr>
              <a:cxnSpLocks noChangeShapeType="1"/>
              <a:stCxn id="32" idx="4"/>
              <a:endCxn id="45" idx="0"/>
            </p:cNvCxnSpPr>
            <p:nvPr/>
          </p:nvCxnSpPr>
          <p:spPr bwMode="auto">
            <a:xfrm>
              <a:off x="6364263" y="3575411"/>
              <a:ext cx="470179" cy="58048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" name="Oval 111"/>
            <p:cNvSpPr>
              <a:spLocks noChangeArrowheads="1"/>
            </p:cNvSpPr>
            <p:nvPr/>
          </p:nvSpPr>
          <p:spPr bwMode="auto">
            <a:xfrm>
              <a:off x="5665860" y="4155896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5" name="Oval 112"/>
            <p:cNvSpPr>
              <a:spLocks noChangeArrowheads="1"/>
            </p:cNvSpPr>
            <p:nvPr/>
          </p:nvSpPr>
          <p:spPr bwMode="auto">
            <a:xfrm>
              <a:off x="6634417" y="4155896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46" name="AutoShape 109"/>
            <p:cNvCxnSpPr>
              <a:cxnSpLocks noChangeShapeType="1"/>
              <a:stCxn id="36" idx="4"/>
              <a:endCxn id="48" idx="0"/>
            </p:cNvCxnSpPr>
            <p:nvPr/>
          </p:nvCxnSpPr>
          <p:spPr bwMode="auto">
            <a:xfrm flipH="1">
              <a:off x="10138061" y="3562712"/>
              <a:ext cx="495532" cy="562251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110"/>
            <p:cNvCxnSpPr>
              <a:cxnSpLocks noChangeShapeType="1"/>
              <a:stCxn id="36" idx="4"/>
              <a:endCxn id="49" idx="0"/>
            </p:cNvCxnSpPr>
            <p:nvPr/>
          </p:nvCxnSpPr>
          <p:spPr bwMode="auto">
            <a:xfrm>
              <a:off x="10633593" y="3562712"/>
              <a:ext cx="503002" cy="562251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" name="Oval 111"/>
            <p:cNvSpPr>
              <a:spLocks noChangeArrowheads="1"/>
            </p:cNvSpPr>
            <p:nvPr/>
          </p:nvSpPr>
          <p:spPr bwMode="auto">
            <a:xfrm>
              <a:off x="9938829" y="4124963"/>
              <a:ext cx="398463" cy="4127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9" name="Oval 112"/>
            <p:cNvSpPr>
              <a:spLocks noChangeArrowheads="1"/>
            </p:cNvSpPr>
            <p:nvPr/>
          </p:nvSpPr>
          <p:spPr bwMode="auto">
            <a:xfrm>
              <a:off x="10936570" y="4124963"/>
              <a:ext cx="400050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" name="Oval 89"/>
            <p:cNvSpPr>
              <a:spLocks noChangeArrowheads="1"/>
            </p:cNvSpPr>
            <p:nvPr/>
          </p:nvSpPr>
          <p:spPr bwMode="auto">
            <a:xfrm>
              <a:off x="5664261" y="4976736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51" name="AutoShape 90"/>
            <p:cNvCxnSpPr>
              <a:cxnSpLocks noChangeShapeType="1"/>
              <a:stCxn id="44" idx="4"/>
              <a:endCxn id="50" idx="0"/>
            </p:cNvCxnSpPr>
            <p:nvPr/>
          </p:nvCxnSpPr>
          <p:spPr bwMode="auto">
            <a:xfrm flipH="1">
              <a:off x="5862699" y="4568646"/>
              <a:ext cx="2393" cy="40809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2" name="Oval 89"/>
            <p:cNvSpPr>
              <a:spLocks noChangeArrowheads="1"/>
            </p:cNvSpPr>
            <p:nvPr/>
          </p:nvSpPr>
          <p:spPr bwMode="auto">
            <a:xfrm>
              <a:off x="6639050" y="4967196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53" name="AutoShape 90"/>
            <p:cNvCxnSpPr>
              <a:cxnSpLocks noChangeShapeType="1"/>
              <a:stCxn id="45" idx="4"/>
              <a:endCxn id="52" idx="0"/>
            </p:cNvCxnSpPr>
            <p:nvPr/>
          </p:nvCxnSpPr>
          <p:spPr bwMode="auto">
            <a:xfrm>
              <a:off x="6834442" y="4571821"/>
              <a:ext cx="3046" cy="39537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4" name="Oval 89"/>
            <p:cNvSpPr>
              <a:spLocks noChangeArrowheads="1"/>
            </p:cNvSpPr>
            <p:nvPr/>
          </p:nvSpPr>
          <p:spPr bwMode="auto">
            <a:xfrm>
              <a:off x="7764952" y="4963247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55" name="AutoShape 90"/>
            <p:cNvCxnSpPr>
              <a:cxnSpLocks noChangeShapeType="1"/>
              <a:stCxn id="40" idx="4"/>
              <a:endCxn id="54" idx="0"/>
            </p:cNvCxnSpPr>
            <p:nvPr/>
          </p:nvCxnSpPr>
          <p:spPr bwMode="auto">
            <a:xfrm flipH="1">
              <a:off x="7963390" y="4555946"/>
              <a:ext cx="4724" cy="407301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" name="Oval 89"/>
            <p:cNvSpPr>
              <a:spLocks noChangeArrowheads="1"/>
            </p:cNvSpPr>
            <p:nvPr/>
          </p:nvSpPr>
          <p:spPr bwMode="auto">
            <a:xfrm>
              <a:off x="8747166" y="4963247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57" name="AutoShape 90"/>
            <p:cNvCxnSpPr>
              <a:cxnSpLocks noChangeShapeType="1"/>
              <a:stCxn id="41" idx="4"/>
              <a:endCxn id="56" idx="0"/>
            </p:cNvCxnSpPr>
            <p:nvPr/>
          </p:nvCxnSpPr>
          <p:spPr bwMode="auto">
            <a:xfrm flipH="1">
              <a:off x="8945604" y="4559121"/>
              <a:ext cx="1588" cy="404126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8" name="Oval 89"/>
            <p:cNvSpPr>
              <a:spLocks noChangeArrowheads="1"/>
            </p:cNvSpPr>
            <p:nvPr/>
          </p:nvSpPr>
          <p:spPr bwMode="auto">
            <a:xfrm>
              <a:off x="9935238" y="4955859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59" name="AutoShape 90"/>
            <p:cNvCxnSpPr>
              <a:cxnSpLocks noChangeShapeType="1"/>
              <a:stCxn id="48" idx="4"/>
              <a:endCxn id="58" idx="0"/>
            </p:cNvCxnSpPr>
            <p:nvPr/>
          </p:nvCxnSpPr>
          <p:spPr bwMode="auto">
            <a:xfrm flipH="1">
              <a:off x="10133676" y="4537713"/>
              <a:ext cx="4385" cy="418146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0" name="Oval 89"/>
            <p:cNvSpPr>
              <a:spLocks noChangeArrowheads="1"/>
            </p:cNvSpPr>
            <p:nvPr/>
          </p:nvSpPr>
          <p:spPr bwMode="auto">
            <a:xfrm>
              <a:off x="10934665" y="4953933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61" name="AutoShape 90"/>
            <p:cNvCxnSpPr>
              <a:cxnSpLocks noChangeShapeType="1"/>
              <a:stCxn id="49" idx="4"/>
              <a:endCxn id="60" idx="0"/>
            </p:cNvCxnSpPr>
            <p:nvPr/>
          </p:nvCxnSpPr>
          <p:spPr bwMode="auto">
            <a:xfrm flipH="1">
              <a:off x="11133103" y="4540888"/>
              <a:ext cx="3492" cy="413045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Oval 89"/>
            <p:cNvSpPr>
              <a:spLocks noChangeArrowheads="1"/>
            </p:cNvSpPr>
            <p:nvPr/>
          </p:nvSpPr>
          <p:spPr bwMode="auto">
            <a:xfrm>
              <a:off x="5664261" y="5808321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78" name="AutoShape 90"/>
            <p:cNvCxnSpPr>
              <a:cxnSpLocks noChangeShapeType="1"/>
              <a:stCxn id="50" idx="4"/>
              <a:endCxn id="77" idx="0"/>
            </p:cNvCxnSpPr>
            <p:nvPr/>
          </p:nvCxnSpPr>
          <p:spPr bwMode="auto">
            <a:xfrm>
              <a:off x="5862699" y="5392661"/>
              <a:ext cx="0" cy="41566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9" name="Oval 89"/>
            <p:cNvSpPr>
              <a:spLocks noChangeArrowheads="1"/>
            </p:cNvSpPr>
            <p:nvPr/>
          </p:nvSpPr>
          <p:spPr bwMode="auto">
            <a:xfrm>
              <a:off x="6639050" y="5798781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0" name="AutoShape 90"/>
            <p:cNvCxnSpPr>
              <a:cxnSpLocks noChangeShapeType="1"/>
              <a:stCxn id="52" idx="4"/>
              <a:endCxn id="79" idx="0"/>
            </p:cNvCxnSpPr>
            <p:nvPr/>
          </p:nvCxnSpPr>
          <p:spPr bwMode="auto">
            <a:xfrm>
              <a:off x="6837488" y="5383121"/>
              <a:ext cx="0" cy="415660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" name="Oval 89"/>
            <p:cNvSpPr>
              <a:spLocks noChangeArrowheads="1"/>
            </p:cNvSpPr>
            <p:nvPr/>
          </p:nvSpPr>
          <p:spPr bwMode="auto">
            <a:xfrm>
              <a:off x="7764952" y="5794832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2" name="AutoShape 90"/>
            <p:cNvCxnSpPr>
              <a:cxnSpLocks noChangeShapeType="1"/>
              <a:stCxn id="54" idx="4"/>
              <a:endCxn id="81" idx="0"/>
            </p:cNvCxnSpPr>
            <p:nvPr/>
          </p:nvCxnSpPr>
          <p:spPr bwMode="auto">
            <a:xfrm>
              <a:off x="7963390" y="5379172"/>
              <a:ext cx="0" cy="41566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3" name="Oval 89"/>
            <p:cNvSpPr>
              <a:spLocks noChangeArrowheads="1"/>
            </p:cNvSpPr>
            <p:nvPr/>
          </p:nvSpPr>
          <p:spPr bwMode="auto">
            <a:xfrm>
              <a:off x="8747166" y="5794832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4" name="AutoShape 90"/>
            <p:cNvCxnSpPr>
              <a:cxnSpLocks noChangeShapeType="1"/>
              <a:stCxn id="56" idx="4"/>
              <a:endCxn id="83" idx="0"/>
            </p:cNvCxnSpPr>
            <p:nvPr/>
          </p:nvCxnSpPr>
          <p:spPr bwMode="auto">
            <a:xfrm>
              <a:off x="8945604" y="5379172"/>
              <a:ext cx="0" cy="415660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5" name="Oval 89"/>
            <p:cNvSpPr>
              <a:spLocks noChangeArrowheads="1"/>
            </p:cNvSpPr>
            <p:nvPr/>
          </p:nvSpPr>
          <p:spPr bwMode="auto">
            <a:xfrm>
              <a:off x="9935238" y="5787444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6" name="AutoShape 90"/>
            <p:cNvCxnSpPr>
              <a:cxnSpLocks noChangeShapeType="1"/>
              <a:stCxn id="58" idx="4"/>
              <a:endCxn id="85" idx="0"/>
            </p:cNvCxnSpPr>
            <p:nvPr/>
          </p:nvCxnSpPr>
          <p:spPr bwMode="auto">
            <a:xfrm>
              <a:off x="10133676" y="5371784"/>
              <a:ext cx="0" cy="41566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Oval 89"/>
            <p:cNvSpPr>
              <a:spLocks noChangeArrowheads="1"/>
            </p:cNvSpPr>
            <p:nvPr/>
          </p:nvSpPr>
          <p:spPr bwMode="auto">
            <a:xfrm>
              <a:off x="10932557" y="5785518"/>
              <a:ext cx="396875" cy="4159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i="1" dirty="0">
                  <a:latin typeface="Times New Roman" panose="02020603050405020304" pitchFamily="18" charset="0"/>
                </a:rPr>
                <a:t>v</a:t>
              </a:r>
              <a:r>
                <a:rPr lang="en-US" altLang="en-US" sz="1600" i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88" name="AutoShape 90"/>
            <p:cNvCxnSpPr>
              <a:cxnSpLocks noChangeShapeType="1"/>
              <a:stCxn id="60" idx="4"/>
              <a:endCxn id="87" idx="0"/>
            </p:cNvCxnSpPr>
            <p:nvPr/>
          </p:nvCxnSpPr>
          <p:spPr bwMode="auto">
            <a:xfrm flipH="1">
              <a:off x="11130995" y="5369858"/>
              <a:ext cx="2108" cy="415660"/>
            </a:xfrm>
            <a:prstGeom prst="straightConnector1">
              <a:avLst/>
            </a:prstGeom>
            <a:noFill/>
            <a:ln w="19050">
              <a:solidFill>
                <a:srgbClr val="A27B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9" name="Rectangle 75"/>
          <p:cNvSpPr>
            <a:spLocks noChangeArrowheads="1"/>
          </p:cNvSpPr>
          <p:nvPr/>
        </p:nvSpPr>
        <p:spPr bwMode="auto">
          <a:xfrm>
            <a:off x="2997739" y="5119790"/>
            <a:ext cx="2995652" cy="566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1600" dirty="0">
                <a:latin typeface="+mn-lt"/>
                <a:cs typeface="Times New Roman" panose="02020603050405020304" pitchFamily="18" charset="0"/>
              </a:rPr>
              <a:t>No intermediate vertices: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 [</a:t>
            </a:r>
            <a:r>
              <a:rPr lang="en-US" altLang="en-US" sz="16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W [</a:t>
            </a:r>
            <a:r>
              <a:rPr lang="en-US" altLang="en-US" sz="16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[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ectangle 75"/>
          <p:cNvSpPr>
            <a:spLocks noChangeArrowheads="1"/>
          </p:cNvSpPr>
          <p:nvPr/>
        </p:nvSpPr>
        <p:spPr bwMode="auto">
          <a:xfrm>
            <a:off x="3495203" y="4289769"/>
            <a:ext cx="2493101" cy="21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1600" dirty="0">
                <a:latin typeface="+mn-lt"/>
                <a:cs typeface="Times New Roman" panose="02020603050405020304" pitchFamily="18" charset="0"/>
              </a:rPr>
              <a:t>Only 1 intermediate vertex:</a:t>
            </a:r>
          </a:p>
        </p:txBody>
      </p:sp>
      <p:sp>
        <p:nvSpPr>
          <p:cNvPr id="91" name="Rectangle 75"/>
          <p:cNvSpPr>
            <a:spLocks noChangeArrowheads="1"/>
          </p:cNvSpPr>
          <p:nvPr/>
        </p:nvSpPr>
        <p:spPr bwMode="auto">
          <a:xfrm>
            <a:off x="3871768" y="3284484"/>
            <a:ext cx="2675590" cy="313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1600" dirty="0">
                <a:latin typeface="+mn-lt"/>
                <a:cs typeface="Times New Roman" panose="02020603050405020304" pitchFamily="18" charset="0"/>
              </a:rPr>
              <a:t>Only 2 intermediate vertices: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 sz="200" dirty="0">
                <a:latin typeface="+mn-lt"/>
                <a:cs typeface="Times New Roman" panose="02020603050405020304" pitchFamily="18" charset="0"/>
              </a:rPr>
              <a:t> </a:t>
            </a:r>
            <a:endParaRPr lang="en-US" altLang="en-US" sz="1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92" name="Rectangle 75"/>
          <p:cNvSpPr>
            <a:spLocks noChangeArrowheads="1"/>
          </p:cNvSpPr>
          <p:nvPr/>
        </p:nvSpPr>
        <p:spPr bwMode="auto">
          <a:xfrm>
            <a:off x="5388617" y="2257237"/>
            <a:ext cx="3413586" cy="658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1600" dirty="0">
                <a:latin typeface="+mn-lt"/>
                <a:cs typeface="Times New Roman" panose="02020603050405020304" pitchFamily="18" charset="0"/>
              </a:rPr>
              <a:t>Use 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= 3</a:t>
            </a:r>
            <a:r>
              <a:rPr lang="en-US" altLang="en-US" sz="1600" dirty="0">
                <a:latin typeface="+mn-lt"/>
                <a:cs typeface="Times New Roman" panose="02020603050405020304" pitchFamily="18" charset="0"/>
              </a:rPr>
              <a:t> intermediate vertices: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00" dirty="0">
                <a:latin typeface="+mn-lt"/>
                <a:cs typeface="Times New Roman" panose="02020603050405020304" pitchFamily="18" charset="0"/>
              </a:rPr>
              <a:t> </a:t>
            </a:r>
            <a:endParaRPr lang="en-US" altLang="en-US" sz="1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1600" dirty="0">
                <a:latin typeface="+mn-lt"/>
                <a:cs typeface="Times New Roman" panose="02020603050405020304" pitchFamily="18" charset="0"/>
              </a:rPr>
              <a:t>                            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D[1] [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93" name="Rectangle 75"/>
          <p:cNvSpPr>
            <a:spLocks noChangeArrowheads="1"/>
          </p:cNvSpPr>
          <p:nvPr/>
        </p:nvSpPr>
        <p:spPr bwMode="auto">
          <a:xfrm>
            <a:off x="5245543" y="2905773"/>
            <a:ext cx="1571665" cy="26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D[2] [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" name="Rectangle 1"/>
          <p:cNvSpPr/>
          <p:nvPr/>
        </p:nvSpPr>
        <p:spPr>
          <a:xfrm>
            <a:off x="10720902" y="2923726"/>
            <a:ext cx="14654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D[4] [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81961" y="2978225"/>
            <a:ext cx="15167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D[3] [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70690" y="3994459"/>
            <a:ext cx="1117614" cy="2893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D[3] 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7" name="Rectangle 6"/>
          <p:cNvSpPr/>
          <p:nvPr/>
        </p:nvSpPr>
        <p:spPr>
          <a:xfrm>
            <a:off x="8823344" y="3926949"/>
            <a:ext cx="11176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D[4] 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36201" y="3912118"/>
            <a:ext cx="11176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D[4] 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75510" y="3923484"/>
            <a:ext cx="1117614" cy="2893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D[2] 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2653" y="3920663"/>
            <a:ext cx="11176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D[3] 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1122459" y="3911341"/>
            <a:ext cx="11176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D[2] 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245634" y="4768533"/>
            <a:ext cx="878767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D[4][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13698" y="4774001"/>
            <a:ext cx="878767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D[3][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71213" y="4771781"/>
            <a:ext cx="878767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D[4][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01541" y="4765924"/>
            <a:ext cx="878767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D[2][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526039" y="4740818"/>
            <a:ext cx="878767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D[2][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23863" y="4737930"/>
            <a:ext cx="878767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D[3][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4366656" y="1002214"/>
            <a:ext cx="6596591" cy="630509"/>
            <a:chOff x="2514600" y="5410204"/>
            <a:chExt cx="5841460" cy="630509"/>
          </a:xfrm>
          <a:solidFill>
            <a:srgbClr val="FFFF00"/>
          </a:solidFill>
        </p:grpSpPr>
        <p:sp>
          <p:nvSpPr>
            <p:cNvPr id="98" name="Rectangle 232"/>
            <p:cNvSpPr>
              <a:spLocks noChangeArrowheads="1"/>
            </p:cNvSpPr>
            <p:nvPr/>
          </p:nvSpPr>
          <p:spPr bwMode="auto">
            <a:xfrm>
              <a:off x="2514600" y="5410204"/>
              <a:ext cx="5841460" cy="3693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][A] =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 W[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+ D[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][A-{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)        if A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 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9" name="Text Box 234"/>
            <p:cNvSpPr txBox="1">
              <a:spLocks noChangeArrowheads="1"/>
            </p:cNvSpPr>
            <p:nvPr/>
          </p:nvSpPr>
          <p:spPr bwMode="auto">
            <a:xfrm>
              <a:off x="3637927" y="5702159"/>
              <a:ext cx="754381" cy="33855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j: </a:t>
              </a:r>
              <a:r>
                <a:rPr lang="en-US" altLang="en-US" sz="16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16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16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 </a:t>
              </a: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101" name="Rectangle 236"/>
          <p:cNvSpPr>
            <a:spLocks noChangeArrowheads="1"/>
          </p:cNvSpPr>
          <p:nvPr/>
        </p:nvSpPr>
        <p:spPr bwMode="auto">
          <a:xfrm>
            <a:off x="4366657" y="1688010"/>
            <a:ext cx="2196627" cy="40011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W[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87880"/>
            <a:ext cx="2743200" cy="365125"/>
          </a:xfrm>
        </p:spPr>
        <p:txBody>
          <a:bodyPr/>
          <a:lstStyle/>
          <a:p>
            <a:fld id="{2A15C4B8-587D-604C-A895-2C42811FDA20}" type="slidenum">
              <a:rPr lang="en-QA" smtClean="0"/>
              <a:t>48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64033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13990" y="0"/>
            <a:ext cx="11578010" cy="838200"/>
          </a:xfrm>
        </p:spPr>
        <p:txBody>
          <a:bodyPr>
            <a:normAutofit/>
          </a:bodyPr>
          <a:lstStyle/>
          <a:p>
            <a:r>
              <a:rPr lang="en-US" altLang="en-US" sz="2800" u="sng" dirty="0" smtClean="0">
                <a:cs typeface="Times New Roman" panose="02020603050405020304" pitchFamily="18" charset="0"/>
              </a:rPr>
              <a:t>Example </a:t>
            </a:r>
            <a:r>
              <a:rPr lang="en-US" altLang="en-US" sz="2800" u="sng" dirty="0">
                <a:cs typeface="Times New Roman" panose="02020603050405020304" pitchFamily="18" charset="0"/>
              </a:rPr>
              <a:t>(from the Textbook)</a:t>
            </a:r>
            <a:endParaRPr lang="en-US" altLang="en-US" sz="2800" dirty="0"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34819" name="Group 4"/>
          <p:cNvGrpSpPr>
            <a:grpSpLocks/>
          </p:cNvGrpSpPr>
          <p:nvPr/>
        </p:nvGrpSpPr>
        <p:grpSpPr bwMode="auto">
          <a:xfrm>
            <a:off x="363165" y="854076"/>
            <a:ext cx="2514600" cy="2193925"/>
            <a:chOff x="1104" y="2938"/>
            <a:chExt cx="1584" cy="1382"/>
          </a:xfrm>
        </p:grpSpPr>
        <p:sp>
          <p:nvSpPr>
            <p:cNvPr id="34851" name="Text Box 5"/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4852" name="Oval 6"/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4853" name="Oval 7"/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854" name="Oval 8"/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4855" name="Oval 9"/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856" name="Line 10"/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7" name="Line 11"/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8" name="Line 12"/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9" name="Line 13"/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0" name="Line 14"/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1" name="Line 15"/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2" name="Text Box 16"/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4863" name="Text Box 17"/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4864" name="Text Box 18"/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4865" name="Text Box 19"/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866" name="Text Box 20"/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867" name="Line 21"/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8" name="Text Box 22"/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4869" name="Line 23"/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0" name="Text Box 24"/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4871" name="Line 25"/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2" name="Text Box 26"/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22235" name="Group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911230"/>
              </p:ext>
            </p:extLst>
          </p:nvPr>
        </p:nvGraphicFramePr>
        <p:xfrm>
          <a:off x="3231396" y="914400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135209917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16149377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37350043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2290189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859083967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85968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98600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09121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42497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634453"/>
                  </a:ext>
                </a:extLst>
              </a:tr>
            </a:tbl>
          </a:graphicData>
        </a:graphic>
      </p:graphicFrame>
      <p:sp>
        <p:nvSpPr>
          <p:cNvPr id="34848" name="Rectangle 75"/>
          <p:cNvSpPr>
            <a:spLocks noChangeArrowheads="1"/>
          </p:cNvSpPr>
          <p:nvPr/>
        </p:nvSpPr>
        <p:spPr bwMode="auto">
          <a:xfrm>
            <a:off x="513978" y="3638651"/>
            <a:ext cx="3352800" cy="158118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u="sng" dirty="0">
                <a:latin typeface="+mn-lt"/>
                <a:cs typeface="Times New Roman" panose="02020603050405020304" pitchFamily="18" charset="0"/>
              </a:rPr>
              <a:t>Consider the </a:t>
            </a:r>
            <a:r>
              <a:rPr lang="en-US" altLang="en-US" sz="2000" b="1" u="sng" dirty="0">
                <a:latin typeface="+mn-lt"/>
                <a:cs typeface="Times New Roman" panose="02020603050405020304" pitchFamily="18" charset="0"/>
              </a:rPr>
              <a:t>empty </a:t>
            </a:r>
            <a:r>
              <a:rPr lang="en-US" altLang="en-US" sz="2000" b="1" u="sng" dirty="0" smtClean="0">
                <a:latin typeface="+mn-lt"/>
                <a:cs typeface="Times New Roman" panose="02020603050405020304" pitchFamily="18" charset="0"/>
              </a:rPr>
              <a:t>set</a:t>
            </a:r>
            <a:r>
              <a:rPr lang="en-US" altLang="en-US" sz="2000" u="sng" dirty="0" smtClean="0">
                <a:latin typeface="+mn-lt"/>
                <a:cs typeface="Times New Roman" panose="02020603050405020304" pitchFamily="18" charset="0"/>
              </a:rPr>
              <a:t>:</a:t>
            </a:r>
            <a:endParaRPr lang="en-US" altLang="en-US" sz="2000" u="sng" dirty="0">
              <a:latin typeface="+mn-lt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100" dirty="0">
                <a:latin typeface="+mn-lt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	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6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749447" y="3226526"/>
            <a:ext cx="6685807" cy="3392678"/>
            <a:chOff x="2276766" y="3289753"/>
            <a:chExt cx="5726282" cy="3117716"/>
          </a:xfrm>
          <a:solidFill>
            <a:srgbClr val="99CCFF"/>
          </a:solidFill>
        </p:grpSpPr>
        <p:sp>
          <p:nvSpPr>
            <p:cNvPr id="34849" name="Rectangle 76"/>
            <p:cNvSpPr>
              <a:spLocks noChangeArrowheads="1"/>
            </p:cNvSpPr>
            <p:nvPr/>
          </p:nvSpPr>
          <p:spPr bwMode="auto">
            <a:xfrm>
              <a:off x="2276766" y="3289753"/>
              <a:ext cx="5726282" cy="311771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FontTx/>
                <a:buNone/>
              </a:pPr>
              <a:r>
                <a:rPr lang="en-US" altLang="en-US" sz="2000" u="sng" dirty="0">
                  <a:latin typeface="+mn-lt"/>
                  <a:cs typeface="Times New Roman" panose="02020603050405020304" pitchFamily="18" charset="0"/>
                </a:rPr>
                <a:t>Consider all sets </a:t>
              </a:r>
              <a:r>
                <a:rPr lang="en-US" altLang="en-US" sz="2000" b="1" u="sng" dirty="0">
                  <a:latin typeface="+mn-lt"/>
                  <a:cs typeface="Times New Roman" panose="02020603050405020304" pitchFamily="18" charset="0"/>
                </a:rPr>
                <a:t>with </a:t>
              </a:r>
              <a:r>
                <a:rPr lang="en-US" altLang="en-US" sz="20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sz="2000" b="1" u="sng" dirty="0">
                  <a:latin typeface="+mn-lt"/>
                  <a:cs typeface="Times New Roman" panose="02020603050405020304" pitchFamily="18" charset="0"/>
                </a:rPr>
                <a:t> </a:t>
              </a:r>
              <a:r>
                <a:rPr lang="en-US" altLang="en-US" sz="2000" b="1" u="sng" dirty="0" smtClean="0">
                  <a:latin typeface="+mn-lt"/>
                  <a:cs typeface="Times New Roman" panose="02020603050405020304" pitchFamily="18" charset="0"/>
                </a:rPr>
                <a:t>element</a:t>
              </a:r>
              <a:r>
                <a:rPr lang="en-US" altLang="en-US" sz="2000" u="sng" dirty="0" smtClean="0">
                  <a:latin typeface="+mn-lt"/>
                  <a:cs typeface="Times New Roman" panose="02020603050405020304" pitchFamily="18" charset="0"/>
                </a:rPr>
                <a:t>:</a:t>
              </a:r>
              <a:endParaRPr lang="en-US" altLang="en-US" sz="2000" u="sng" dirty="0">
                <a:latin typeface="+mn-lt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90000"/>
                </a:lnSpc>
                <a:spcBef>
                  <a:spcPct val="10000"/>
                </a:spcBef>
                <a:buFontTx/>
                <a:buNone/>
              </a:pPr>
              <a:r>
                <a:rPr lang="en-US" altLang="en-US" sz="1000" dirty="0">
                  <a:latin typeface="+mn-lt"/>
                  <a:cs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ct val="90000"/>
                </a:lnSpc>
                <a:spcBef>
                  <a:spcPct val="5000"/>
                </a:spcBef>
                <a:buFontTx/>
                <a:buNone/>
              </a:pPr>
              <a:r>
                <a:rPr lang="en-US" altLang="en-US" sz="2000" dirty="0">
                  <a:latin typeface="+mn-lt"/>
                  <a:cs typeface="Times New Roman" panose="02020603050405020304" pitchFamily="18" charset="0"/>
                </a:rPr>
                <a:t>	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=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 W[3][j] + D[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- {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)</a:t>
              </a:r>
            </a:p>
            <a:p>
              <a:pPr eaLnBrk="1" hangingPunct="1">
                <a:lnSpc>
                  <a:spcPct val="90000"/>
                </a:lnSpc>
                <a:buFontTx/>
                <a:buNone/>
              </a:pPr>
              <a:endPara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90000"/>
                </a:lnSpc>
                <a:spcBef>
                  <a:spcPct val="1500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= W[3][2] + 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= 7 + 1 = 8</a:t>
              </a:r>
            </a:p>
            <a:p>
              <a:pPr eaLnBrk="1" hangingPunct="1">
                <a:lnSpc>
                  <a:spcPct val="95000"/>
                </a:lnSpc>
                <a:spcBef>
                  <a:spcPts val="100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= 4</a:t>
              </a:r>
              <a:endPara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95000"/>
                </a:lnSpc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=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95000"/>
                </a:lnSpc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=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  <a:p>
              <a:pPr eaLnBrk="1" hangingPunct="1">
                <a:lnSpc>
                  <a:spcPct val="95000"/>
                </a:lnSpc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= 10</a:t>
              </a:r>
            </a:p>
            <a:p>
              <a:pPr eaLnBrk="1" hangingPunct="1">
                <a:lnSpc>
                  <a:spcPct val="95000"/>
                </a:lnSpc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=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14</a:t>
              </a:r>
            </a:p>
          </p:txBody>
        </p:sp>
        <p:sp>
          <p:nvSpPr>
            <p:cNvPr id="34850" name="Rectangle 77"/>
            <p:cNvSpPr>
              <a:spLocks noChangeArrowheads="1"/>
            </p:cNvSpPr>
            <p:nvPr/>
          </p:nvSpPr>
          <p:spPr bwMode="auto">
            <a:xfrm>
              <a:off x="4079362" y="3930468"/>
              <a:ext cx="965329" cy="33855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j: </a:t>
              </a:r>
              <a:r>
                <a:rPr lang="en-US" altLang="en-US" sz="16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1600" b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{</a:t>
              </a: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en-US" sz="1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}</a:t>
              </a:r>
              <a:endPara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705341" y="1580071"/>
            <a:ext cx="6391814" cy="632186"/>
            <a:chOff x="2514600" y="5410204"/>
            <a:chExt cx="5841460" cy="632186"/>
          </a:xfrm>
          <a:solidFill>
            <a:srgbClr val="FFFF00"/>
          </a:solidFill>
        </p:grpSpPr>
        <p:sp>
          <p:nvSpPr>
            <p:cNvPr id="32" name="Rectangle 232"/>
            <p:cNvSpPr>
              <a:spLocks noChangeArrowheads="1"/>
            </p:cNvSpPr>
            <p:nvPr/>
          </p:nvSpPr>
          <p:spPr bwMode="auto">
            <a:xfrm>
              <a:off x="2514600" y="5410204"/>
              <a:ext cx="5841460" cy="3693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][A] =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 W[i][j] + D[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][A-{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)        if A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 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3" name="Text Box 234"/>
            <p:cNvSpPr txBox="1">
              <a:spLocks noChangeArrowheads="1"/>
            </p:cNvSpPr>
            <p:nvPr/>
          </p:nvSpPr>
          <p:spPr bwMode="auto">
            <a:xfrm>
              <a:off x="3663950" y="5703836"/>
              <a:ext cx="778549" cy="33855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j: </a:t>
              </a:r>
              <a:r>
                <a:rPr lang="en-US" altLang="en-US" sz="16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16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16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 </a:t>
              </a: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4" name="Rectangle 236"/>
          <p:cNvSpPr>
            <a:spLocks noChangeArrowheads="1"/>
          </p:cNvSpPr>
          <p:nvPr/>
        </p:nvSpPr>
        <p:spPr bwMode="auto">
          <a:xfrm>
            <a:off x="5728070" y="2257426"/>
            <a:ext cx="2196627" cy="40011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W[i][1] </a:t>
            </a:r>
          </a:p>
        </p:txBody>
      </p:sp>
      <p:sp>
        <p:nvSpPr>
          <p:cNvPr id="3" name="Rectangle 2"/>
          <p:cNvSpPr/>
          <p:nvPr/>
        </p:nvSpPr>
        <p:spPr>
          <a:xfrm>
            <a:off x="5728070" y="1154669"/>
            <a:ext cx="2143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u="sng" dirty="0">
                <a:cs typeface="Times New Roman" panose="02020603050405020304" pitchFamily="18" charset="0"/>
              </a:rPr>
              <a:t>Recursive property: </a:t>
            </a:r>
            <a:endParaRPr lang="en-US" b="1" u="sng" dirty="0"/>
          </a:p>
        </p:txBody>
      </p:sp>
      <p:sp>
        <p:nvSpPr>
          <p:cNvPr id="5" name="Rectangle 4"/>
          <p:cNvSpPr/>
          <p:nvPr/>
        </p:nvSpPr>
        <p:spPr>
          <a:xfrm>
            <a:off x="327708" y="3202433"/>
            <a:ext cx="2985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Solve in a Bottom up fashion: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49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15581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8" grpId="0" animBg="1"/>
      <p:bldP spid="34" grpId="0" animBg="1"/>
      <p:bldP spid="3" grpId="0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53037" y="0"/>
            <a:ext cx="9714963" cy="838200"/>
          </a:xfrm>
        </p:spPr>
        <p:txBody>
          <a:bodyPr>
            <a:normAutofit/>
          </a:bodyPr>
          <a:lstStyle/>
          <a:p>
            <a:r>
              <a:rPr lang="en-US" altLang="en-US" sz="2800" u="sng" dirty="0" smtClean="0">
                <a:cs typeface="Times New Roman" panose="02020603050405020304" pitchFamily="18" charset="0"/>
              </a:rPr>
              <a:t>Example </a:t>
            </a:r>
            <a:r>
              <a:rPr lang="en-US" altLang="en-US" sz="2800" u="sng" dirty="0">
                <a:cs typeface="Times New Roman" panose="02020603050405020304" pitchFamily="18" charset="0"/>
              </a:rPr>
              <a:t>(from the Textbook)</a:t>
            </a:r>
            <a:endParaRPr lang="en-US" altLang="en-US" sz="2800" dirty="0"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35843" name="Group 3"/>
          <p:cNvGrpSpPr>
            <a:grpSpLocks/>
          </p:cNvGrpSpPr>
          <p:nvPr/>
        </p:nvGrpSpPr>
        <p:grpSpPr bwMode="auto">
          <a:xfrm>
            <a:off x="2743200" y="854076"/>
            <a:ext cx="2514600" cy="2193925"/>
            <a:chOff x="1104" y="2938"/>
            <a:chExt cx="1584" cy="1382"/>
          </a:xfrm>
        </p:grpSpPr>
        <p:sp>
          <p:nvSpPr>
            <p:cNvPr id="35874" name="Text Box 4"/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5875" name="Oval 5"/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5876" name="Oval 6"/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5877" name="Oval 7"/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5878" name="Oval 8"/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5879" name="Line 9"/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0" name="Line 10"/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1" name="Line 11"/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2" name="Line 12"/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3" name="Line 13"/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4" name="Line 14"/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5" name="Text Box 15"/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5886" name="Text Box 16"/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5887" name="Text Box 17"/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5888" name="Text Box 18"/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5889" name="Text Box 19"/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5890" name="Line 20"/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91" name="Text Box 21"/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5892" name="Line 22"/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93" name="Text Box 23"/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5894" name="Line 24"/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95" name="Text Box 25"/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23258" name="Group 26"/>
          <p:cNvGraphicFramePr>
            <a:graphicFrameLocks noGrp="1"/>
          </p:cNvGraphicFramePr>
          <p:nvPr/>
        </p:nvGraphicFramePr>
        <p:xfrm>
          <a:off x="6972300" y="914400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374222975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1617513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7073049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4536048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4285128746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975417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5990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8978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971287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14487"/>
                  </a:ext>
                </a:extLst>
              </a:tr>
            </a:tbl>
          </a:graphicData>
        </a:graphic>
      </p:graphicFrame>
      <p:sp>
        <p:nvSpPr>
          <p:cNvPr id="35872" name="Rectangle 75"/>
          <p:cNvSpPr>
            <a:spLocks noChangeArrowheads="1"/>
          </p:cNvSpPr>
          <p:nvPr/>
        </p:nvSpPr>
        <p:spPr bwMode="auto">
          <a:xfrm>
            <a:off x="1676400" y="3312160"/>
            <a:ext cx="8991600" cy="336296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Consider all sets </a:t>
            </a:r>
            <a:r>
              <a:rPr lang="en-US" altLang="en-US" sz="2000" b="1" dirty="0">
                <a:latin typeface="+mn-lt"/>
                <a:cs typeface="Times New Roman" panose="02020603050405020304" pitchFamily="18" charset="0"/>
              </a:rPr>
              <a:t>with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b="1" dirty="0">
                <a:latin typeface="+mn-lt"/>
                <a:cs typeface="Times New Roman" panose="02020603050405020304" pitchFamily="18" charset="0"/>
              </a:rPr>
              <a:t> elements 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 sz="1100" dirty="0">
                <a:latin typeface="+mn-lt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 =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W[4][j] + D[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- {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 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=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W[4][2]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}]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W[4][3]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sz="20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sz="20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}])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=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 +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+ 8) =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 =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 + 10, 8 + 4) =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 =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+ 14, 4 +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20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873" name="Rectangle 76"/>
          <p:cNvSpPr>
            <a:spLocks noChangeArrowheads="1"/>
          </p:cNvSpPr>
          <p:nvPr/>
        </p:nvSpPr>
        <p:spPr bwMode="auto">
          <a:xfrm>
            <a:off x="3403962" y="3978912"/>
            <a:ext cx="114165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j:v</a:t>
            </a:r>
            <a:r>
              <a:rPr lang="en-US" alt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{</a:t>
            </a:r>
            <a:r>
              <a:rPr lang="en-US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2 ,</a:t>
            </a:r>
            <a:r>
              <a:rPr lang="en-US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39460" y="1088246"/>
            <a:ext cx="1858760" cy="1671227"/>
          </a:xfrm>
          <a:prstGeom prst="rect">
            <a:avLst/>
          </a:prstGeom>
          <a:solidFill>
            <a:srgbClr val="99CCFF"/>
          </a:solidFill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}]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8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5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 = 4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5000"/>
              </a:lnSpc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}] = 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 =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  <a:p>
            <a:pPr>
              <a:lnSpc>
                <a:spcPct val="95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 = 10</a:t>
            </a:r>
          </a:p>
          <a:p>
            <a:pPr>
              <a:lnSpc>
                <a:spcPct val="95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][{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 =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14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50</a:t>
            </a:fld>
            <a:endParaRPr lang="en-QA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6222124" y="1774826"/>
            <a:ext cx="3617336" cy="2660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8534400" y="1295402"/>
            <a:ext cx="1305060" cy="3139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10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72" grpId="0" animBg="1"/>
      <p:bldP spid="35873" grpId="0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953037" y="0"/>
            <a:ext cx="9689205" cy="838200"/>
          </a:xfrm>
        </p:spPr>
        <p:txBody>
          <a:bodyPr>
            <a:normAutofit/>
          </a:bodyPr>
          <a:lstStyle/>
          <a:p>
            <a:r>
              <a:rPr lang="en-US" altLang="en-US" u="sng" dirty="0" smtClean="0">
                <a:cs typeface="Times New Roman" panose="02020603050405020304" pitchFamily="18" charset="0"/>
              </a:rPr>
              <a:t>Example </a:t>
            </a:r>
            <a:r>
              <a:rPr lang="en-US" altLang="en-US" u="sng" dirty="0">
                <a:cs typeface="Times New Roman" panose="02020603050405020304" pitchFamily="18" charset="0"/>
              </a:rPr>
              <a:t>(from the Textbook)</a:t>
            </a:r>
            <a:endParaRPr lang="en-US" altLang="en-US" dirty="0"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36867" name="Group 3"/>
          <p:cNvGrpSpPr>
            <a:grpSpLocks/>
          </p:cNvGrpSpPr>
          <p:nvPr/>
        </p:nvGrpSpPr>
        <p:grpSpPr bwMode="auto">
          <a:xfrm>
            <a:off x="2743200" y="1158876"/>
            <a:ext cx="2514600" cy="2193925"/>
            <a:chOff x="1104" y="2938"/>
            <a:chExt cx="1584" cy="1382"/>
          </a:xfrm>
        </p:grpSpPr>
        <p:sp>
          <p:nvSpPr>
            <p:cNvPr id="36899" name="Text Box 4"/>
            <p:cNvSpPr txBox="1">
              <a:spLocks noChangeArrowheads="1"/>
            </p:cNvSpPr>
            <p:nvPr/>
          </p:nvSpPr>
          <p:spPr bwMode="auto">
            <a:xfrm>
              <a:off x="1787" y="2938"/>
              <a:ext cx="2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6900" name="Oval 5"/>
            <p:cNvSpPr>
              <a:spLocks noChangeArrowheads="1"/>
            </p:cNvSpPr>
            <p:nvPr/>
          </p:nvSpPr>
          <p:spPr bwMode="auto">
            <a:xfrm>
              <a:off x="1109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6901" name="Oval 6"/>
            <p:cNvSpPr>
              <a:spLocks noChangeArrowheads="1"/>
            </p:cNvSpPr>
            <p:nvPr/>
          </p:nvSpPr>
          <p:spPr bwMode="auto">
            <a:xfrm>
              <a:off x="2255" y="3053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72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6902" name="Oval 7"/>
            <p:cNvSpPr>
              <a:spLocks noChangeArrowheads="1"/>
            </p:cNvSpPr>
            <p:nvPr/>
          </p:nvSpPr>
          <p:spPr bwMode="auto">
            <a:xfrm>
              <a:off x="1109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18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4</a:t>
              </a: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36903" name="Oval 8"/>
            <p:cNvSpPr>
              <a:spLocks noChangeArrowheads="1"/>
            </p:cNvSpPr>
            <p:nvPr/>
          </p:nvSpPr>
          <p:spPr bwMode="auto">
            <a:xfrm>
              <a:off x="2255" y="3855"/>
              <a:ext cx="382" cy="40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r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v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6904" name="Line 9"/>
            <p:cNvSpPr>
              <a:spLocks noChangeShapeType="1"/>
            </p:cNvSpPr>
            <p:nvPr/>
          </p:nvSpPr>
          <p:spPr bwMode="auto">
            <a:xfrm flipV="1">
              <a:off x="1488" y="3408"/>
              <a:ext cx="831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Line 10"/>
            <p:cNvSpPr>
              <a:spLocks noChangeShapeType="1"/>
            </p:cNvSpPr>
            <p:nvPr/>
          </p:nvSpPr>
          <p:spPr bwMode="auto">
            <a:xfrm flipV="1">
              <a:off x="1440" y="3143"/>
              <a:ext cx="8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Line 11"/>
            <p:cNvSpPr>
              <a:spLocks noChangeShapeType="1"/>
            </p:cNvSpPr>
            <p:nvPr/>
          </p:nvSpPr>
          <p:spPr bwMode="auto">
            <a:xfrm>
              <a:off x="1262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Line 12"/>
            <p:cNvSpPr>
              <a:spLocks noChangeShapeType="1"/>
            </p:cNvSpPr>
            <p:nvPr/>
          </p:nvSpPr>
          <p:spPr bwMode="auto">
            <a:xfrm>
              <a:off x="2496" y="3454"/>
              <a:ext cx="0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8" name="Line 13"/>
            <p:cNvSpPr>
              <a:spLocks noChangeShapeType="1"/>
            </p:cNvSpPr>
            <p:nvPr/>
          </p:nvSpPr>
          <p:spPr bwMode="auto">
            <a:xfrm flipV="1">
              <a:off x="1491" y="4074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9" name="Line 14"/>
            <p:cNvSpPr>
              <a:spLocks noChangeShapeType="1"/>
            </p:cNvSpPr>
            <p:nvPr/>
          </p:nvSpPr>
          <p:spPr bwMode="auto">
            <a:xfrm flipV="1">
              <a:off x="1491" y="3293"/>
              <a:ext cx="7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0" name="Text Box 15"/>
            <p:cNvSpPr txBox="1">
              <a:spLocks noChangeArrowheads="1"/>
            </p:cNvSpPr>
            <p:nvPr/>
          </p:nvSpPr>
          <p:spPr bwMode="auto">
            <a:xfrm>
              <a:off x="1822" y="4042"/>
              <a:ext cx="2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6911" name="Text Box 16"/>
            <p:cNvSpPr txBox="1">
              <a:spLocks noChangeArrowheads="1"/>
            </p:cNvSpPr>
            <p:nvPr/>
          </p:nvSpPr>
          <p:spPr bwMode="auto">
            <a:xfrm>
              <a:off x="2002" y="349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6912" name="Text Box 17"/>
            <p:cNvSpPr txBox="1">
              <a:spLocks noChangeArrowheads="1"/>
            </p:cNvSpPr>
            <p:nvPr/>
          </p:nvSpPr>
          <p:spPr bwMode="auto">
            <a:xfrm>
              <a:off x="1797" y="3092"/>
              <a:ext cx="22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13" name="Text Box 18"/>
            <p:cNvSpPr txBox="1">
              <a:spLocks noChangeArrowheads="1"/>
            </p:cNvSpPr>
            <p:nvPr/>
          </p:nvSpPr>
          <p:spPr bwMode="auto">
            <a:xfrm>
              <a:off x="2459" y="3518"/>
              <a:ext cx="22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6914" name="Text Box 19"/>
            <p:cNvSpPr txBox="1">
              <a:spLocks noChangeArrowheads="1"/>
            </p:cNvSpPr>
            <p:nvPr/>
          </p:nvSpPr>
          <p:spPr bwMode="auto">
            <a:xfrm>
              <a:off x="1104" y="3504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6915" name="Line 20"/>
            <p:cNvSpPr>
              <a:spLocks noChangeShapeType="1"/>
            </p:cNvSpPr>
            <p:nvPr/>
          </p:nvSpPr>
          <p:spPr bwMode="auto">
            <a:xfrm flipV="1">
              <a:off x="2400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6" name="Text Box 21"/>
            <p:cNvSpPr txBox="1">
              <a:spLocks noChangeArrowheads="1"/>
            </p:cNvSpPr>
            <p:nvPr/>
          </p:nvSpPr>
          <p:spPr bwMode="auto">
            <a:xfrm>
              <a:off x="2208" y="3504"/>
              <a:ext cx="28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36917" name="Line 22"/>
            <p:cNvSpPr>
              <a:spLocks noChangeShapeType="1"/>
            </p:cNvSpPr>
            <p:nvPr/>
          </p:nvSpPr>
          <p:spPr bwMode="auto">
            <a:xfrm flipV="1">
              <a:off x="1398" y="3337"/>
              <a:ext cx="864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8" name="Text Box 23"/>
            <p:cNvSpPr txBox="1">
              <a:spLocks noChangeArrowheads="1"/>
            </p:cNvSpPr>
            <p:nvPr/>
          </p:nvSpPr>
          <p:spPr bwMode="auto">
            <a:xfrm>
              <a:off x="1810" y="3360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6919" name="Line 24"/>
            <p:cNvSpPr>
              <a:spLocks noChangeShapeType="1"/>
            </p:cNvSpPr>
            <p:nvPr/>
          </p:nvSpPr>
          <p:spPr bwMode="auto">
            <a:xfrm>
              <a:off x="1440" y="340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0" name="Text Box 25"/>
            <p:cNvSpPr txBox="1">
              <a:spLocks noChangeArrowheads="1"/>
            </p:cNvSpPr>
            <p:nvPr/>
          </p:nvSpPr>
          <p:spPr bwMode="auto">
            <a:xfrm>
              <a:off x="1906" y="3733"/>
              <a:ext cx="2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25306" name="Group 26"/>
          <p:cNvGraphicFramePr>
            <a:graphicFrameLocks noGrp="1"/>
          </p:cNvGraphicFramePr>
          <p:nvPr/>
        </p:nvGraphicFramePr>
        <p:xfrm>
          <a:off x="6972300" y="1219200"/>
          <a:ext cx="2095500" cy="1905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3164218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82543553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38376403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3130687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99691885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518187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98679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029227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7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3504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100" marR="38100" marT="19050" marB="1905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6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478969"/>
                  </a:ext>
                </a:extLst>
              </a:tr>
            </a:tbl>
          </a:graphicData>
        </a:graphic>
      </p:graphicFrame>
      <p:grpSp>
        <p:nvGrpSpPr>
          <p:cNvPr id="36896" name="Group 76"/>
          <p:cNvGrpSpPr>
            <a:grpSpLocks/>
          </p:cNvGrpSpPr>
          <p:nvPr/>
        </p:nvGrpSpPr>
        <p:grpSpPr bwMode="auto">
          <a:xfrm>
            <a:off x="1676400" y="3746500"/>
            <a:ext cx="8991600" cy="2743200"/>
            <a:chOff x="96" y="1928"/>
            <a:chExt cx="5664" cy="1728"/>
          </a:xfrm>
          <a:solidFill>
            <a:srgbClr val="FFC000"/>
          </a:solidFill>
        </p:grpSpPr>
        <p:sp>
          <p:nvSpPr>
            <p:cNvPr id="36897" name="Rectangle 74"/>
            <p:cNvSpPr>
              <a:spLocks noChangeArrowheads="1"/>
            </p:cNvSpPr>
            <p:nvPr/>
          </p:nvSpPr>
          <p:spPr bwMode="auto">
            <a:xfrm>
              <a:off x="96" y="1928"/>
              <a:ext cx="5664" cy="172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FontTx/>
                <a:buNone/>
              </a:pPr>
              <a:r>
                <a:rPr lang="en-US" altLang="en-US" sz="2000" dirty="0">
                  <a:latin typeface="+mn-lt"/>
                  <a:cs typeface="Times New Roman" panose="02020603050405020304" pitchFamily="18" charset="0"/>
                </a:rPr>
                <a:t>Compute the length of the optimal tour: (set with </a:t>
              </a:r>
              <a:r>
                <a:rPr lang="en-US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000" b="1" dirty="0">
                  <a:latin typeface="+mn-lt"/>
                  <a:cs typeface="Times New Roman" panose="02020603050405020304" pitchFamily="18" charset="0"/>
                </a:rPr>
                <a:t> elements</a:t>
              </a:r>
              <a:r>
                <a:rPr lang="en-US" altLang="en-US" sz="2000" dirty="0">
                  <a:latin typeface="+mn-lt"/>
                  <a:cs typeface="Times New Roman" panose="02020603050405020304" pitchFamily="18" charset="0"/>
                </a:rPr>
                <a:t>)</a:t>
              </a:r>
            </a:p>
            <a:p>
              <a:pPr eaLnBrk="1" hangingPunct="1">
                <a:lnSpc>
                  <a:spcPct val="90000"/>
                </a:lnSpc>
                <a:spcBef>
                  <a:spcPct val="10000"/>
                </a:spcBef>
                <a:buFontTx/>
                <a:buNone/>
              </a:pPr>
              <a:r>
                <a:rPr lang="en-US" altLang="en-US" sz="2000" dirty="0">
                  <a:latin typeface="+mn-lt"/>
                  <a:cs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ct val="90000"/>
                </a:lnSpc>
                <a:spcBef>
                  <a:spcPct val="500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=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 W[1][j] + D[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- {</a:t>
              </a:r>
              <a:r>
                <a:rPr lang="en-US" alt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)</a:t>
              </a:r>
            </a:p>
            <a:p>
              <a:pPr eaLnBrk="1" hangingPunct="1">
                <a:lnSpc>
                  <a:spcPct val="90000"/>
                </a:lnSpc>
                <a:buFontTx/>
                <a:buNone/>
              </a:pPr>
              <a:endPara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90000"/>
                </a:lnSpc>
                <a:spcBef>
                  <a:spcPct val="500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=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 W[1][2] + 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}],</a:t>
              </a:r>
            </a:p>
            <a:p>
              <a:pPr eaLnBrk="1" hangingPunct="1">
                <a:lnSpc>
                  <a:spcPct val="90000"/>
                </a:lnSpc>
                <a:spcBef>
                  <a:spcPct val="500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			      W[1][3] + 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}],</a:t>
              </a:r>
            </a:p>
            <a:p>
              <a:pPr eaLnBrk="1" hangingPunct="1">
                <a:lnSpc>
                  <a:spcPct val="90000"/>
                </a:lnSpc>
                <a:spcBef>
                  <a:spcPct val="500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			      W[1][4] + D[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][{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}] )</a:t>
              </a:r>
            </a:p>
            <a:p>
              <a:pPr eaLnBrk="1" hangingPunct="1">
                <a:lnSpc>
                  <a:spcPct val="90000"/>
                </a:lnSpc>
                <a:spcBef>
                  <a:spcPct val="3500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= 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(2 + 20, 9 + 12,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= 21</a:t>
              </a:r>
            </a:p>
          </p:txBody>
        </p:sp>
        <p:sp>
          <p:nvSpPr>
            <p:cNvPr id="36898" name="Rectangle 75"/>
            <p:cNvSpPr>
              <a:spLocks noChangeArrowheads="1"/>
            </p:cNvSpPr>
            <p:nvPr/>
          </p:nvSpPr>
          <p:spPr bwMode="auto">
            <a:xfrm>
              <a:off x="1521" y="2482"/>
              <a:ext cx="784" cy="21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en-US" sz="1600" b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{</a:t>
              </a: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en-US" sz="1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2 ,</a:t>
              </a: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en-US" sz="1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3 ,</a:t>
              </a:r>
              <a:r>
                <a:rPr lang="en-US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en-US" sz="1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4</a:t>
              </a:r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}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51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55565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3964" y="0"/>
            <a:ext cx="11998036" cy="838200"/>
          </a:xfrm>
        </p:spPr>
        <p:txBody>
          <a:bodyPr>
            <a:normAutofit/>
          </a:bodyPr>
          <a:lstStyle/>
          <a:p>
            <a:r>
              <a:rPr lang="en-US" altLang="en-US" sz="2200" b="0" dirty="0">
                <a:latin typeface="+mn-lt"/>
                <a:cs typeface="Times New Roman" panose="02020603050405020304" pitchFamily="18" charset="0"/>
              </a:rPr>
              <a:t>T</a:t>
            </a:r>
            <a:r>
              <a:rPr lang="en-US" altLang="en-US" sz="2200" b="0" dirty="0" smtClean="0">
                <a:latin typeface="+mn-lt"/>
                <a:cs typeface="Times New Roman" panose="02020603050405020304" pitchFamily="18" charset="0"/>
              </a:rPr>
              <a:t>he Traveling </a:t>
            </a:r>
            <a:r>
              <a:rPr lang="en-US" altLang="en-US" sz="2200" b="0" dirty="0">
                <a:latin typeface="+mn-lt"/>
                <a:cs typeface="Times New Roman" panose="02020603050405020304" pitchFamily="18" charset="0"/>
              </a:rPr>
              <a:t>Salesperson’ </a:t>
            </a:r>
            <a:r>
              <a:rPr lang="en-US" altLang="en-US" sz="2200" b="0" dirty="0" smtClean="0">
                <a:latin typeface="+mn-lt"/>
                <a:cs typeface="Times New Roman" panose="02020603050405020304" pitchFamily="18" charset="0"/>
              </a:rPr>
              <a:t>Algorithm </a:t>
            </a:r>
            <a:r>
              <a:rPr lang="en-US" altLang="en-US" sz="2200" b="0" i="1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(</a:t>
            </a:r>
            <a:r>
              <a:rPr lang="tr-TR" sz="2200" u="sng" dirty="0" smtClean="0">
                <a:solidFill>
                  <a:srgbClr val="00B050"/>
                </a:solidFill>
              </a:rPr>
              <a:t>Held–Karp</a:t>
            </a:r>
            <a:r>
              <a:rPr lang="tr-TR" sz="2200" b="0" i="1" u="sng" dirty="0" smtClean="0">
                <a:solidFill>
                  <a:srgbClr val="00B050"/>
                </a:solidFill>
              </a:rPr>
              <a:t> </a:t>
            </a:r>
            <a:r>
              <a:rPr lang="tr-TR" sz="2200" u="sng" dirty="0" smtClean="0">
                <a:solidFill>
                  <a:srgbClr val="00B050"/>
                </a:solidFill>
              </a:rPr>
              <a:t>algorithm</a:t>
            </a:r>
            <a:r>
              <a:rPr lang="en-US" sz="2200" b="0" i="1" dirty="0" smtClean="0">
                <a:solidFill>
                  <a:srgbClr val="00B050"/>
                </a:solidFill>
              </a:rPr>
              <a:t>) </a:t>
            </a:r>
            <a:r>
              <a:rPr lang="en-US" sz="2200" b="0" u="sng" dirty="0">
                <a:latin typeface="+mn-lt"/>
                <a:cs typeface="Times New Roman" panose="02020603050405020304" pitchFamily="18" charset="0"/>
              </a:rPr>
              <a:t>Explanation of the </a:t>
            </a:r>
            <a:r>
              <a:rPr lang="en-US" sz="2200" b="0" u="sng" dirty="0" smtClean="0">
                <a:latin typeface="+mn-lt"/>
                <a:cs typeface="Times New Roman" panose="02020603050405020304" pitchFamily="18" charset="0"/>
              </a:rPr>
              <a:t>Key Variables and Sets</a:t>
            </a:r>
            <a:r>
              <a:rPr lang="tr-TR" sz="2200" b="0" dirty="0"/>
              <a:t/>
            </a:r>
            <a:br>
              <a:rPr lang="tr-TR" sz="2200" b="0" dirty="0"/>
            </a:br>
            <a:endParaRPr lang="en-US" altLang="en-US" sz="2200" b="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59183" y="838200"/>
            <a:ext cx="5715000" cy="581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rIns="36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void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travel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b="1" dirty="0"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n,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const</a:t>
            </a:r>
            <a:r>
              <a:rPr lang="en-US" altLang="en-US" sz="2000" b="1" dirty="0">
                <a:latin typeface="Times New Roman" panose="02020603050405020304" pitchFamily="18" charset="0"/>
              </a:rPr>
              <a:t> number</a:t>
            </a:r>
            <a:r>
              <a:rPr lang="en-US" altLang="en-US" sz="14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W[ ][ ],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                              </a:t>
            </a:r>
            <a:r>
              <a:rPr lang="en-US" altLang="en-US" sz="2000" b="1" dirty="0">
                <a:latin typeface="Times New Roman" panose="02020603050405020304" pitchFamily="18" charset="0"/>
              </a:rPr>
              <a:t>index</a:t>
            </a:r>
            <a:r>
              <a:rPr lang="en-US" altLang="en-US" sz="2000" dirty="0">
                <a:latin typeface="Times New Roman" panose="02020603050405020304" pitchFamily="18" charset="0"/>
              </a:rPr>
              <a:t> P[ ][ ],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                                 number&amp;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minlength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{     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latin typeface="Times New Roman" panose="02020603050405020304" pitchFamily="18" charset="0"/>
              </a:rPr>
              <a:t>index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i,j,k</a:t>
            </a:r>
            <a:r>
              <a:rPr lang="en-US" altLang="en-US" sz="20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number D[1..n][subset of 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imes New Roman" panose="02020603050405020304" pitchFamily="18" charset="0"/>
              </a:rPr>
              <a:t>   </a:t>
            </a:r>
            <a:endParaRPr lang="en-US" altLang="en-US" sz="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(i = 2; i &lt;= n;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D[i][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2000" dirty="0">
                <a:latin typeface="Times New Roman" panose="02020603050405020304" pitchFamily="18" charset="0"/>
              </a:rPr>
              <a:t>] = W[i][1];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(k = 1; k &lt;= n-2; k++)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(all subsets A</a:t>
            </a:r>
            <a:r>
              <a:rPr lang="en-US" altLang="en-US" sz="12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en-US" sz="1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1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en-US" sz="1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 containing k vertices)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</a:t>
            </a:r>
            <a:r>
              <a:rPr lang="en-US" altLang="en-US" sz="20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(i such that i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 sz="2000" dirty="0">
                <a:latin typeface="Times New Roman" panose="02020603050405020304" pitchFamily="18" charset="0"/>
              </a:rPr>
              <a:t> 1 and 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i </a:t>
            </a:r>
            <a:r>
              <a:rPr lang="en-US" altLang="en-US" sz="2000" dirty="0">
                <a:latin typeface="Times New Roman" panose="02020603050405020304" pitchFamily="18" charset="0"/>
              </a:rPr>
              <a:t>is not in A)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   D[i][A] = minimum(W[i][j] + D[j][A-{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en-US" sz="2000" b="1" dirty="0">
                <a:latin typeface="Times New Roman" panose="02020603050405020304" pitchFamily="18" charset="0"/>
              </a:rPr>
              <a:t>}])        </a:t>
            </a:r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P[i][A] = value of j that gave the minimum;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D[1][V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 = minimum(W[1][j]</a:t>
            </a:r>
            <a:r>
              <a:rPr lang="en-US" altLang="en-US" sz="1600" dirty="0">
                <a:latin typeface="Times New Roman" panose="02020603050405020304" pitchFamily="18" charset="0"/>
              </a:rPr>
              <a:t>+</a:t>
            </a:r>
            <a:r>
              <a:rPr lang="en-US" altLang="en-US" sz="2000" dirty="0">
                <a:latin typeface="Times New Roman" panose="02020603050405020304" pitchFamily="18" charset="0"/>
              </a:rPr>
              <a:t>D[j][V-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}];</a:t>
            </a:r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P[1][V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 = value of j that gave the minimum;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 err="1">
                <a:latin typeface="Times New Roman" panose="02020603050405020304" pitchFamily="18" charset="0"/>
              </a:rPr>
              <a:t>minlength</a:t>
            </a:r>
            <a:r>
              <a:rPr lang="en-US" altLang="en-US" sz="2000" dirty="0">
                <a:latin typeface="Times New Roman" panose="02020603050405020304" pitchFamily="18" charset="0"/>
              </a:rPr>
              <a:t> = D[1][V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} 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888083" y="4394200"/>
            <a:ext cx="7477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j:</a:t>
            </a:r>
            <a:r>
              <a:rPr lang="en-US" altLang="en-US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2400720" y="5461000"/>
            <a:ext cx="715963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64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92982" y="831754"/>
            <a:ext cx="5892801" cy="255454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W: </a:t>
            </a:r>
            <a:r>
              <a:rPr lang="en-US" sz="2000" dirty="0" smtClean="0"/>
              <a:t>Adjacency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V: </a:t>
            </a:r>
            <a:r>
              <a:rPr lang="en-US" sz="2000" dirty="0"/>
              <a:t>S</a:t>
            </a:r>
            <a:r>
              <a:rPr lang="en-US" sz="2000" dirty="0" smtClean="0"/>
              <a:t>et of all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A = </a:t>
            </a:r>
            <a:r>
              <a:rPr lang="en-US" sz="2000" dirty="0"/>
              <a:t>a</a:t>
            </a:r>
            <a:r>
              <a:rPr lang="en-US" sz="2000" dirty="0" smtClean="0"/>
              <a:t> subset of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B050"/>
                </a:solidFill>
              </a:rPr>
              <a:t>D[v</a:t>
            </a:r>
            <a:r>
              <a:rPr lang="en-US" sz="2000" b="1" baseline="-25000" dirty="0" smtClean="0">
                <a:solidFill>
                  <a:srgbClr val="00B050"/>
                </a:solidFill>
              </a:rPr>
              <a:t>i</a:t>
            </a:r>
            <a:r>
              <a:rPr lang="en-US" sz="2000" b="1" dirty="0" smtClean="0">
                <a:solidFill>
                  <a:srgbClr val="00B050"/>
                </a:solidFill>
              </a:rPr>
              <a:t>][A]: </a:t>
            </a:r>
            <a:r>
              <a:rPr lang="en-US" sz="2000" b="1" u="sng" dirty="0" smtClean="0"/>
              <a:t>length of shortest path </a:t>
            </a:r>
            <a:r>
              <a:rPr lang="en-US" sz="2000" dirty="0" smtClean="0"/>
              <a:t>from v</a:t>
            </a:r>
            <a:r>
              <a:rPr lang="en-US" sz="2000" baseline="-25000" dirty="0" smtClean="0"/>
              <a:t>i </a:t>
            </a:r>
            <a:r>
              <a:rPr lang="en-US" sz="2000" dirty="0" smtClean="0"/>
              <a:t>to v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passing through each vertex in A exactly once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70C0"/>
                </a:solidFill>
              </a:rPr>
              <a:t>P[i][A]: </a:t>
            </a:r>
            <a:r>
              <a:rPr lang="en-US" sz="2000" b="1" u="sng" dirty="0" smtClean="0"/>
              <a:t>the index of the first vertex </a:t>
            </a:r>
            <a:r>
              <a:rPr lang="en-US" sz="2000" dirty="0" smtClean="0"/>
              <a:t>after v</a:t>
            </a:r>
            <a:r>
              <a:rPr lang="en-US" sz="2000" baseline="-25000" dirty="0" smtClean="0"/>
              <a:t>i</a:t>
            </a:r>
            <a:r>
              <a:rPr lang="en-US" sz="2000" dirty="0" smtClean="0"/>
              <a:t> on the shortest path from v</a:t>
            </a:r>
            <a:r>
              <a:rPr lang="en-US" sz="2000" baseline="-25000" dirty="0" smtClean="0"/>
              <a:t>i</a:t>
            </a:r>
            <a:r>
              <a:rPr lang="en-US" sz="2000" dirty="0" smtClean="0"/>
              <a:t> to v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that passes through all vertices in A exactly once</a:t>
            </a:r>
            <a:endParaRPr lang="tr-TR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52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90956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009"/>
            <a:ext cx="8160760" cy="602576"/>
          </a:xfrm>
        </p:spPr>
        <p:txBody>
          <a:bodyPr>
            <a:normAutofit/>
          </a:bodyPr>
          <a:lstStyle/>
          <a:p>
            <a:r>
              <a:rPr lang="en-US" altLang="en-US" sz="2800" b="0" dirty="0">
                <a:latin typeface="+mn-lt"/>
                <a:cs typeface="Times New Roman" panose="02020603050405020304" pitchFamily="18" charset="0"/>
              </a:rPr>
              <a:t>Traveling Salesperson’ </a:t>
            </a:r>
            <a:r>
              <a:rPr lang="en-US" altLang="en-US" sz="2800" b="0" dirty="0" smtClean="0">
                <a:latin typeface="+mn-lt"/>
                <a:cs typeface="Times New Roman" panose="02020603050405020304" pitchFamily="18" charset="0"/>
              </a:rPr>
              <a:t>Algorithm </a:t>
            </a:r>
            <a:r>
              <a:rPr lang="en-US" altLang="en-US" sz="2800" b="0" i="1" dirty="0">
                <a:solidFill>
                  <a:srgbClr val="00B050"/>
                </a:solidFill>
                <a:cs typeface="Times New Roman" panose="02020603050405020304" pitchFamily="18" charset="0"/>
              </a:rPr>
              <a:t>(</a:t>
            </a:r>
            <a:r>
              <a:rPr lang="tr-TR" sz="2800" u="sng" dirty="0">
                <a:solidFill>
                  <a:srgbClr val="00B050"/>
                </a:solidFill>
              </a:rPr>
              <a:t>Held–Karp</a:t>
            </a:r>
            <a:r>
              <a:rPr lang="tr-TR" sz="2800" b="0" i="1" u="sng" dirty="0">
                <a:solidFill>
                  <a:srgbClr val="00B050"/>
                </a:solidFill>
              </a:rPr>
              <a:t> </a:t>
            </a:r>
            <a:r>
              <a:rPr lang="tr-TR" sz="2800" u="sng" dirty="0">
                <a:solidFill>
                  <a:srgbClr val="00B050"/>
                </a:solidFill>
              </a:rPr>
              <a:t>algorithm</a:t>
            </a:r>
            <a:r>
              <a:rPr lang="en-US" sz="2800" b="0" i="1" dirty="0">
                <a:solidFill>
                  <a:srgbClr val="00B050"/>
                </a:solidFill>
              </a:rPr>
              <a:t>)</a:t>
            </a:r>
            <a:endParaRPr lang="en-US" altLang="en-US" sz="2800" b="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295729" y="838200"/>
            <a:ext cx="8038970" cy="54938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rIns="36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void</a:t>
            </a:r>
            <a:r>
              <a:rPr lang="en-US" altLang="en-US" sz="2000" dirty="0">
                <a:latin typeface="Times New Roman" panose="02020603050405020304" pitchFamily="18" charset="0"/>
              </a:rPr>
              <a:t> travel (</a:t>
            </a:r>
            <a:r>
              <a:rPr lang="en-US" altLang="en-US" sz="2000" b="1" dirty="0"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n,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const</a:t>
            </a:r>
            <a:r>
              <a:rPr lang="en-US" altLang="en-US" sz="2000" b="1" dirty="0">
                <a:latin typeface="Times New Roman" panose="02020603050405020304" pitchFamily="18" charset="0"/>
              </a:rPr>
              <a:t> number</a:t>
            </a:r>
            <a:r>
              <a:rPr lang="en-US" altLang="en-US" sz="2000" dirty="0">
                <a:latin typeface="Times New Roman" panose="02020603050405020304" pitchFamily="18" charset="0"/>
              </a:rPr>
              <a:t> W[ ][ ], </a:t>
            </a:r>
            <a:r>
              <a:rPr lang="en-US" altLang="en-US" sz="2000" b="1" dirty="0">
                <a:latin typeface="Times New Roman" panose="02020603050405020304" pitchFamily="18" charset="0"/>
              </a:rPr>
              <a:t>index</a:t>
            </a:r>
            <a:r>
              <a:rPr lang="en-US" altLang="en-US" sz="2000" dirty="0">
                <a:latin typeface="Times New Roman" panose="02020603050405020304" pitchFamily="18" charset="0"/>
              </a:rPr>
              <a:t> P[ ][ </a:t>
            </a:r>
            <a:r>
              <a:rPr lang="en-US" altLang="en-US" sz="2000" dirty="0" smtClean="0">
                <a:latin typeface="Times New Roman" panose="02020603050405020304" pitchFamily="18" charset="0"/>
              </a:rPr>
              <a:t>], </a:t>
            </a:r>
            <a:r>
              <a:rPr lang="en-US" altLang="en-US" sz="2000" b="1" dirty="0" smtClean="0">
                <a:latin typeface="Times New Roman" panose="02020603050405020304" pitchFamily="18" charset="0"/>
              </a:rPr>
              <a:t>number</a:t>
            </a:r>
            <a:r>
              <a:rPr lang="en-US" altLang="en-US" sz="2000" b="1" dirty="0">
                <a:latin typeface="Times New Roman" panose="02020603050405020304" pitchFamily="18" charset="0"/>
              </a:rPr>
              <a:t>&amp;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minlength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{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latin typeface="Times New Roman" panose="02020603050405020304" pitchFamily="18" charset="0"/>
              </a:rPr>
              <a:t>index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i,j,k</a:t>
            </a:r>
            <a:r>
              <a:rPr lang="en-US" altLang="en-US" sz="20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number D[1..n][subset of 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 dirty="0">
                <a:latin typeface="Times New Roman" panose="02020603050405020304" pitchFamily="18" charset="0"/>
              </a:rPr>
              <a:t>   </a:t>
            </a:r>
            <a:endParaRPr lang="en-US" altLang="en-US" sz="9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(i = 2; i &lt;= n;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D[i][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2000" dirty="0">
                <a:latin typeface="Times New Roman" panose="02020603050405020304" pitchFamily="18" charset="0"/>
              </a:rPr>
              <a:t>] = W[i][1];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(k = 1; k &lt;= n-2; k++)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(all subsets A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 V - </a:t>
            </a:r>
            <a:r>
              <a:rPr lang="en-US" altLang="en-US" sz="2000" dirty="0">
                <a:latin typeface="Times New Roman" panose="02020603050405020304" pitchFamily="18" charset="0"/>
              </a:rPr>
              <a:t>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 containing k vertices)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</a:t>
            </a:r>
            <a:r>
              <a:rPr lang="en-US" altLang="en-US" sz="20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(i such that i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 sz="2000" dirty="0">
                <a:latin typeface="Times New Roman" panose="02020603050405020304" pitchFamily="18" charset="0"/>
              </a:rPr>
              <a:t> 1 and 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i </a:t>
            </a:r>
            <a:r>
              <a:rPr lang="en-US" altLang="en-US" sz="2000" dirty="0">
                <a:latin typeface="Times New Roman" panose="02020603050405020304" pitchFamily="18" charset="0"/>
              </a:rPr>
              <a:t>is not in A)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D[i][A] = minimum(W[i][j] + D[j][A-{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}])        </a:t>
            </a:r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P[i][A] = value of j that gave the minimum;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 smtClean="0">
                <a:latin typeface="Times New Roman" panose="02020603050405020304" pitchFamily="18" charset="0"/>
              </a:rPr>
              <a:t>}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D[1][V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 = minimum(W[1][j]+D[j][V-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}];</a:t>
            </a:r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P[1][V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 = value of j that gave the minimum;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 err="1">
                <a:latin typeface="Times New Roman" panose="02020603050405020304" pitchFamily="18" charset="0"/>
              </a:rPr>
              <a:t>minlength</a:t>
            </a:r>
            <a:r>
              <a:rPr lang="en-US" altLang="en-US" sz="2000" dirty="0">
                <a:latin typeface="Times New Roman" panose="02020603050405020304" pitchFamily="18" charset="0"/>
              </a:rPr>
              <a:t> = D[1][V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} </a:t>
            </a:r>
          </a:p>
        </p:txBody>
      </p:sp>
      <p:sp>
        <p:nvSpPr>
          <p:cNvPr id="37892" name="Text Box 100"/>
          <p:cNvSpPr txBox="1">
            <a:spLocks noChangeArrowheads="1"/>
          </p:cNvSpPr>
          <p:nvPr/>
        </p:nvSpPr>
        <p:spPr bwMode="auto">
          <a:xfrm>
            <a:off x="2199792" y="4000438"/>
            <a:ext cx="76950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j: </a:t>
            </a:r>
            <a:r>
              <a:rPr lang="en-US" alt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7893" name="Text Box 101"/>
          <p:cNvSpPr txBox="1">
            <a:spLocks noChangeArrowheads="1"/>
          </p:cNvSpPr>
          <p:nvPr/>
        </p:nvSpPr>
        <p:spPr bwMode="auto">
          <a:xfrm>
            <a:off x="2440841" y="5079648"/>
            <a:ext cx="846707" cy="32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64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j </a:t>
            </a:r>
            <a:r>
              <a:rPr lang="en-US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n</a:t>
            </a:r>
            <a:endParaRPr lang="en-US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2864194" y="955902"/>
            <a:ext cx="6227255" cy="151380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091449" y="154175"/>
            <a:ext cx="3037489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b="1" u="sng" dirty="0" smtClean="0"/>
              <a:t>Base Case:</a:t>
            </a:r>
            <a:r>
              <a:rPr lang="en-US" b="1" dirty="0" smtClean="0"/>
              <a:t> </a:t>
            </a:r>
            <a:r>
              <a:rPr lang="en-US" dirty="0" smtClean="0"/>
              <a:t>Since </a:t>
            </a:r>
            <a:r>
              <a:rPr lang="en-US" dirty="0"/>
              <a:t>no other cities have been visited yet, the only known cost to reach vertex i from vertex 1 is simply the direct edge weight W[i][1</a:t>
            </a:r>
            <a:r>
              <a:rPr lang="en-US" dirty="0" smtClean="0"/>
              <a:t>]</a:t>
            </a:r>
            <a:endParaRPr lang="tr-TR" dirty="0"/>
          </a:p>
        </p:txBody>
      </p:sp>
      <p:sp>
        <p:nvSpPr>
          <p:cNvPr id="9" name="TextBox 8"/>
          <p:cNvSpPr txBox="1"/>
          <p:nvPr/>
        </p:nvSpPr>
        <p:spPr>
          <a:xfrm>
            <a:off x="8818184" y="1807217"/>
            <a:ext cx="3310759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Handle </a:t>
            </a:r>
            <a:r>
              <a:rPr lang="en-US" dirty="0"/>
              <a:t>the </a:t>
            </a:r>
            <a:r>
              <a:rPr lang="en-US" b="1" dirty="0"/>
              <a:t>subsets of cities </a:t>
            </a:r>
            <a:r>
              <a:rPr lang="en-US" dirty="0"/>
              <a:t>that have </a:t>
            </a:r>
            <a:r>
              <a:rPr lang="en-US" b="1" dirty="0"/>
              <a:t>k cities </a:t>
            </a:r>
            <a:r>
              <a:rPr lang="en-US" dirty="0"/>
              <a:t>(excluding vertex 1) and compute the best path that visits exactly these k </a:t>
            </a:r>
            <a:r>
              <a:rPr lang="en-US" dirty="0" smtClean="0"/>
              <a:t>cities</a:t>
            </a:r>
            <a:endParaRPr lang="tr-TR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163614" y="2133600"/>
            <a:ext cx="5654570" cy="87394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418786" y="3129396"/>
            <a:ext cx="3710152" cy="1200329"/>
          </a:xfrm>
          <a:prstGeom prst="rect">
            <a:avLst/>
          </a:prstGeom>
          <a:solidFill>
            <a:srgbClr val="99CCFF"/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Evaluate </a:t>
            </a:r>
            <a:r>
              <a:rPr lang="en-US" b="1" dirty="0"/>
              <a:t>all possible ways to visit exactly k cities</a:t>
            </a:r>
            <a:r>
              <a:rPr lang="en-US" dirty="0"/>
              <a:t> (excluding the starting city v1) and find the shortest path for each subset of </a:t>
            </a:r>
            <a:r>
              <a:rPr lang="en-US" dirty="0" smtClean="0"/>
              <a:t>cities</a:t>
            </a:r>
            <a:endParaRPr lang="tr-TR" dirty="0"/>
          </a:p>
        </p:txBody>
      </p:sp>
      <p:cxnSp>
        <p:nvCxnSpPr>
          <p:cNvPr id="121" name="Straight Arrow Connector 120"/>
          <p:cNvCxnSpPr/>
          <p:nvPr/>
        </p:nvCxnSpPr>
        <p:spPr>
          <a:xfrm>
            <a:off x="5738648" y="3447393"/>
            <a:ext cx="26801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434552" y="4508988"/>
            <a:ext cx="3694386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Iterates over cities </a:t>
            </a:r>
            <a:r>
              <a:rPr lang="en-US" b="1" dirty="0"/>
              <a:t>i</a:t>
            </a:r>
            <a:r>
              <a:rPr lang="en-US" dirty="0"/>
              <a:t> not in subset </a:t>
            </a:r>
            <a:r>
              <a:rPr lang="en-US" b="1" dirty="0"/>
              <a:t>A</a:t>
            </a:r>
            <a:r>
              <a:rPr lang="en-US" dirty="0"/>
              <a:t> and not the starting city </a:t>
            </a:r>
            <a:r>
              <a:rPr lang="en-US" b="1" dirty="0" smtClean="0"/>
              <a:t>v1.</a:t>
            </a:r>
          </a:p>
          <a:p>
            <a:r>
              <a:rPr lang="en-US" dirty="0" smtClean="0"/>
              <a:t>Calculates </a:t>
            </a:r>
            <a:r>
              <a:rPr lang="en-US" dirty="0"/>
              <a:t>the </a:t>
            </a:r>
            <a:r>
              <a:rPr lang="en-US" b="1" dirty="0"/>
              <a:t>minimum cost </a:t>
            </a:r>
            <a:r>
              <a:rPr lang="en-US" dirty="0"/>
              <a:t>to reach </a:t>
            </a:r>
            <a:r>
              <a:rPr lang="en-US" b="1" dirty="0"/>
              <a:t>i</a:t>
            </a:r>
            <a:r>
              <a:rPr lang="en-US" dirty="0"/>
              <a:t> from any city j in </a:t>
            </a:r>
            <a:r>
              <a:rPr lang="en-US" dirty="0" smtClean="0"/>
              <a:t>A</a:t>
            </a:r>
            <a:endParaRPr lang="tr-TR" dirty="0"/>
          </a:p>
        </p:txBody>
      </p:sp>
      <p:cxnSp>
        <p:nvCxnSpPr>
          <p:cNvPr id="125" name="Straight Arrow Connector 124"/>
          <p:cNvCxnSpPr/>
          <p:nvPr/>
        </p:nvCxnSpPr>
        <p:spPr>
          <a:xfrm>
            <a:off x="4950372" y="3647090"/>
            <a:ext cx="3484180" cy="106154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03016" y="5815010"/>
            <a:ext cx="372066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Calculates </a:t>
            </a:r>
            <a:r>
              <a:rPr lang="en-US" dirty="0"/>
              <a:t>the </a:t>
            </a:r>
            <a:r>
              <a:rPr lang="en-US" b="1" dirty="0"/>
              <a:t>cost of returning to the start</a:t>
            </a:r>
            <a:r>
              <a:rPr lang="en-US" dirty="0"/>
              <a:t> and </a:t>
            </a:r>
            <a:r>
              <a:rPr lang="en-US" b="1" dirty="0"/>
              <a:t>stores the optimal solution</a:t>
            </a:r>
            <a:endParaRPr lang="tr-TR" b="1" dirty="0"/>
          </a:p>
        </p:txBody>
      </p:sp>
      <p:cxnSp>
        <p:nvCxnSpPr>
          <p:cNvPr id="130" name="Straight Arrow Connector 129"/>
          <p:cNvCxnSpPr/>
          <p:nvPr/>
        </p:nvCxnSpPr>
        <p:spPr>
          <a:xfrm>
            <a:off x="6364013" y="5348178"/>
            <a:ext cx="1970686" cy="6425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Brace 27"/>
          <p:cNvSpPr/>
          <p:nvPr/>
        </p:nvSpPr>
        <p:spPr>
          <a:xfrm>
            <a:off x="6080234" y="4887717"/>
            <a:ext cx="283779" cy="1000863"/>
          </a:xfrm>
          <a:prstGeom prst="rightBrac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332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nimBg="1"/>
      <p:bldP spid="37892" grpId="0"/>
      <p:bldP spid="37893" grpId="0"/>
      <p:bldP spid="5" grpId="0" animBg="1"/>
      <p:bldP spid="9" grpId="0" animBg="1"/>
      <p:bldP spid="18" grpId="0" animBg="1"/>
      <p:bldP spid="21" grpId="0" animBg="1"/>
      <p:bldP spid="25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3964" y="0"/>
            <a:ext cx="11998036" cy="838200"/>
          </a:xfrm>
        </p:spPr>
        <p:txBody>
          <a:bodyPr>
            <a:normAutofit/>
          </a:bodyPr>
          <a:lstStyle/>
          <a:p>
            <a:r>
              <a:rPr lang="en-US" altLang="en-US" sz="2200" b="0" u="sng" dirty="0" smtClean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Every Case Time Complexity </a:t>
            </a:r>
            <a:r>
              <a:rPr lang="en-US" altLang="en-US" sz="2200" b="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of the </a:t>
            </a:r>
            <a:r>
              <a:rPr lang="en-US" altLang="en-US" sz="2200" b="0" dirty="0" smtClean="0">
                <a:latin typeface="+mn-lt"/>
                <a:cs typeface="Times New Roman" panose="02020603050405020304" pitchFamily="18" charset="0"/>
              </a:rPr>
              <a:t>Traveling </a:t>
            </a:r>
            <a:r>
              <a:rPr lang="en-US" altLang="en-US" sz="2200" b="0" dirty="0">
                <a:latin typeface="+mn-lt"/>
                <a:cs typeface="Times New Roman" panose="02020603050405020304" pitchFamily="18" charset="0"/>
              </a:rPr>
              <a:t>Salesperson’ </a:t>
            </a:r>
            <a:r>
              <a:rPr lang="en-US" altLang="en-US" sz="2200" b="0" dirty="0" smtClean="0">
                <a:latin typeface="+mn-lt"/>
                <a:cs typeface="Times New Roman" panose="02020603050405020304" pitchFamily="18" charset="0"/>
              </a:rPr>
              <a:t>Algorithm </a:t>
            </a:r>
            <a:r>
              <a:rPr lang="en-US" altLang="en-US" sz="2200" b="0" i="1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(</a:t>
            </a:r>
            <a:r>
              <a:rPr lang="tr-TR" sz="2200" u="sng" dirty="0" smtClean="0">
                <a:solidFill>
                  <a:srgbClr val="00B050"/>
                </a:solidFill>
              </a:rPr>
              <a:t>Held–Karp</a:t>
            </a:r>
            <a:r>
              <a:rPr lang="tr-TR" sz="2200" b="0" i="1" u="sng" dirty="0" smtClean="0">
                <a:solidFill>
                  <a:srgbClr val="00B050"/>
                </a:solidFill>
              </a:rPr>
              <a:t> </a:t>
            </a:r>
            <a:r>
              <a:rPr lang="tr-TR" sz="2200" u="sng" dirty="0" smtClean="0">
                <a:solidFill>
                  <a:srgbClr val="00B050"/>
                </a:solidFill>
              </a:rPr>
              <a:t>algorithm</a:t>
            </a:r>
            <a:r>
              <a:rPr lang="en-US" sz="2200" b="0" i="1" dirty="0" smtClean="0">
                <a:solidFill>
                  <a:srgbClr val="00B050"/>
                </a:solidFill>
              </a:rPr>
              <a:t>)</a:t>
            </a:r>
            <a:r>
              <a:rPr lang="tr-TR" sz="2200" b="0" dirty="0"/>
              <a:t/>
            </a:r>
            <a:br>
              <a:rPr lang="tr-TR" sz="2200" b="0" dirty="0"/>
            </a:br>
            <a:endParaRPr lang="en-US" altLang="en-US" sz="2200" b="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59183" y="838200"/>
            <a:ext cx="5715000" cy="581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rIns="36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void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travel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b="1" dirty="0"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n,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const</a:t>
            </a:r>
            <a:r>
              <a:rPr lang="en-US" altLang="en-US" sz="2000" b="1" dirty="0">
                <a:latin typeface="Times New Roman" panose="02020603050405020304" pitchFamily="18" charset="0"/>
              </a:rPr>
              <a:t> number</a:t>
            </a:r>
            <a:r>
              <a:rPr lang="en-US" altLang="en-US" sz="14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W[ ][ ],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                              </a:t>
            </a:r>
            <a:r>
              <a:rPr lang="en-US" altLang="en-US" sz="2000" b="1" dirty="0">
                <a:latin typeface="Times New Roman" panose="02020603050405020304" pitchFamily="18" charset="0"/>
              </a:rPr>
              <a:t>index</a:t>
            </a:r>
            <a:r>
              <a:rPr lang="en-US" altLang="en-US" sz="2000" dirty="0">
                <a:latin typeface="Times New Roman" panose="02020603050405020304" pitchFamily="18" charset="0"/>
              </a:rPr>
              <a:t> P[ ][ ],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                                 number&amp;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minlength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{     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latin typeface="Times New Roman" panose="02020603050405020304" pitchFamily="18" charset="0"/>
              </a:rPr>
              <a:t>index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i,j,k</a:t>
            </a:r>
            <a:r>
              <a:rPr lang="en-US" altLang="en-US" sz="20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number D[1..n][subset of 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imes New Roman" panose="02020603050405020304" pitchFamily="18" charset="0"/>
              </a:rPr>
              <a:t>   </a:t>
            </a:r>
            <a:endParaRPr lang="en-US" altLang="en-US" sz="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(i = 2; i &lt;= n;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D[i][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2000" dirty="0">
                <a:latin typeface="Times New Roman" panose="02020603050405020304" pitchFamily="18" charset="0"/>
              </a:rPr>
              <a:t>] = W[i][1];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(k = 1; k &lt;= n-2; k++)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(all subsets A</a:t>
            </a:r>
            <a:r>
              <a:rPr lang="en-US" altLang="en-US" sz="12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en-US" sz="1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1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en-US" sz="1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 containing k vertices)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</a:t>
            </a:r>
            <a:r>
              <a:rPr lang="en-US" altLang="en-US" sz="20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(i such that i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 sz="2000" dirty="0">
                <a:latin typeface="Times New Roman" panose="02020603050405020304" pitchFamily="18" charset="0"/>
              </a:rPr>
              <a:t> 1 and 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i </a:t>
            </a:r>
            <a:r>
              <a:rPr lang="en-US" altLang="en-US" sz="2000" dirty="0">
                <a:latin typeface="Times New Roman" panose="02020603050405020304" pitchFamily="18" charset="0"/>
              </a:rPr>
              <a:t>is not in A)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   D[i][A] = minimum(W[i][j] + D[j][A-{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en-US" sz="2000" b="1" dirty="0">
                <a:latin typeface="Times New Roman" panose="02020603050405020304" pitchFamily="18" charset="0"/>
              </a:rPr>
              <a:t>}])        </a:t>
            </a:r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P[i][A] = value of j that gave the minimum;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D[1][V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 = minimum(W[1][j]</a:t>
            </a:r>
            <a:r>
              <a:rPr lang="en-US" altLang="en-US" sz="1600" dirty="0">
                <a:latin typeface="Times New Roman" panose="02020603050405020304" pitchFamily="18" charset="0"/>
              </a:rPr>
              <a:t>+</a:t>
            </a:r>
            <a:r>
              <a:rPr lang="en-US" altLang="en-US" sz="2000" dirty="0">
                <a:latin typeface="Times New Roman" panose="02020603050405020304" pitchFamily="18" charset="0"/>
              </a:rPr>
              <a:t>D[j][V-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}];</a:t>
            </a:r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P[1][V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 = value of j that gave the minimum;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 err="1">
                <a:latin typeface="Times New Roman" panose="02020603050405020304" pitchFamily="18" charset="0"/>
              </a:rPr>
              <a:t>minlength</a:t>
            </a:r>
            <a:r>
              <a:rPr lang="en-US" altLang="en-US" sz="2000" dirty="0">
                <a:latin typeface="Times New Roman" panose="02020603050405020304" pitchFamily="18" charset="0"/>
              </a:rPr>
              <a:t> = D[1][V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} 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888083" y="4394200"/>
            <a:ext cx="7477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j:</a:t>
            </a:r>
            <a:r>
              <a:rPr lang="en-US" altLang="en-US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2400720" y="5461000"/>
            <a:ext cx="715963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64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17551" y="3592979"/>
            <a:ext cx="5968231" cy="1631216"/>
          </a:xfrm>
          <a:prstGeom prst="rect">
            <a:avLst/>
          </a:prstGeom>
          <a:solidFill>
            <a:srgbClr val="99CCFF"/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first</a:t>
            </a:r>
            <a:r>
              <a:rPr lang="en-US" sz="2000" dirty="0"/>
              <a:t> and </a:t>
            </a:r>
            <a:r>
              <a:rPr lang="en-US" sz="2000" b="1" dirty="0"/>
              <a:t>last</a:t>
            </a:r>
            <a:r>
              <a:rPr lang="en-US" sz="2000" dirty="0"/>
              <a:t> loops have </a:t>
            </a:r>
            <a:r>
              <a:rPr lang="en-US" sz="2000" b="1" u="sng" dirty="0">
                <a:solidFill>
                  <a:srgbClr val="00B050"/>
                </a:solidFill>
              </a:rPr>
              <a:t>relatively low time </a:t>
            </a:r>
            <a:r>
              <a:rPr lang="en-US" sz="2000" dirty="0"/>
              <a:t>complexity compared to the </a:t>
            </a:r>
            <a:r>
              <a:rPr lang="en-US" sz="2000" b="1" dirty="0"/>
              <a:t>middle loop </a:t>
            </a:r>
            <a:r>
              <a:rPr lang="en-US" sz="2000" dirty="0"/>
              <a:t>because the </a:t>
            </a:r>
            <a:r>
              <a:rPr lang="en-US" sz="2000" b="1" dirty="0"/>
              <a:t>middle loop </a:t>
            </a:r>
            <a:r>
              <a:rPr lang="en-US" sz="2000" b="1" u="sng" dirty="0">
                <a:solidFill>
                  <a:srgbClr val="FF0000"/>
                </a:solidFill>
              </a:rPr>
              <a:t>iterates over all subsets of cities </a:t>
            </a:r>
            <a:r>
              <a:rPr lang="en-US" sz="2000" dirty="0"/>
              <a:t>and involves multiple levels of </a:t>
            </a:r>
            <a:r>
              <a:rPr lang="en-US" sz="2000" dirty="0" smtClean="0"/>
              <a:t>nesting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192982" y="831754"/>
            <a:ext cx="5892801" cy="255454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W: </a:t>
            </a:r>
            <a:r>
              <a:rPr lang="en-US" sz="2000" dirty="0" smtClean="0"/>
              <a:t>Adjacency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V: </a:t>
            </a:r>
            <a:r>
              <a:rPr lang="en-US" sz="2000" dirty="0"/>
              <a:t>S</a:t>
            </a:r>
            <a:r>
              <a:rPr lang="en-US" sz="2000" dirty="0" smtClean="0"/>
              <a:t>et of all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A = </a:t>
            </a:r>
            <a:r>
              <a:rPr lang="en-US" sz="2000" dirty="0"/>
              <a:t>a</a:t>
            </a:r>
            <a:r>
              <a:rPr lang="en-US" sz="2000" dirty="0" smtClean="0"/>
              <a:t> subset of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B050"/>
                </a:solidFill>
              </a:rPr>
              <a:t>D[v</a:t>
            </a:r>
            <a:r>
              <a:rPr lang="en-US" sz="2000" b="1" baseline="-25000" dirty="0" smtClean="0">
                <a:solidFill>
                  <a:srgbClr val="00B050"/>
                </a:solidFill>
              </a:rPr>
              <a:t>i</a:t>
            </a:r>
            <a:r>
              <a:rPr lang="en-US" sz="2000" b="1" dirty="0" smtClean="0">
                <a:solidFill>
                  <a:srgbClr val="00B050"/>
                </a:solidFill>
              </a:rPr>
              <a:t>][A]: </a:t>
            </a:r>
            <a:r>
              <a:rPr lang="en-US" sz="2000" b="1" u="sng" dirty="0" smtClean="0"/>
              <a:t>length of shortest path </a:t>
            </a:r>
            <a:r>
              <a:rPr lang="en-US" sz="2000" dirty="0" smtClean="0"/>
              <a:t>from v</a:t>
            </a:r>
            <a:r>
              <a:rPr lang="en-US" sz="2000" baseline="-25000" dirty="0" smtClean="0"/>
              <a:t>i </a:t>
            </a:r>
            <a:r>
              <a:rPr lang="en-US" sz="2000" dirty="0" smtClean="0"/>
              <a:t>to v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passing through each vertex in A exactly once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70C0"/>
                </a:solidFill>
              </a:rPr>
              <a:t>P[i][A]: </a:t>
            </a:r>
            <a:r>
              <a:rPr lang="en-US" sz="2000" b="1" u="sng" dirty="0" smtClean="0"/>
              <a:t>the index of the first vertex </a:t>
            </a:r>
            <a:r>
              <a:rPr lang="en-US" sz="2000" dirty="0" smtClean="0"/>
              <a:t>after v</a:t>
            </a:r>
            <a:r>
              <a:rPr lang="en-US" sz="2000" baseline="-25000" dirty="0" smtClean="0"/>
              <a:t>i</a:t>
            </a:r>
            <a:r>
              <a:rPr lang="en-US" sz="2000" dirty="0" smtClean="0"/>
              <a:t> on the shortest path from v</a:t>
            </a:r>
            <a:r>
              <a:rPr lang="en-US" sz="2000" baseline="-25000" dirty="0" smtClean="0"/>
              <a:t>i</a:t>
            </a:r>
            <a:r>
              <a:rPr lang="en-US" sz="2000" dirty="0" smtClean="0"/>
              <a:t> to v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that passes through all vertices in A exactly once</a:t>
            </a:r>
            <a:endParaRPr lang="tr-TR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54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00442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9296400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0" u="sng" dirty="0" smtClean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Every Case Time Complexity </a:t>
            </a:r>
            <a:r>
              <a:rPr lang="en-US" altLang="en-US" sz="2800" b="0" dirty="0" smtClean="0">
                <a:latin typeface="+mn-lt"/>
                <a:cs typeface="Times New Roman" panose="02020603050405020304" pitchFamily="18" charset="0"/>
              </a:rPr>
              <a:t>of the Traveling </a:t>
            </a:r>
            <a:r>
              <a:rPr lang="en-US" altLang="en-US" sz="2800" b="0" dirty="0">
                <a:latin typeface="+mn-lt"/>
                <a:cs typeface="Times New Roman" panose="02020603050405020304" pitchFamily="18" charset="0"/>
              </a:rPr>
              <a:t>Salesperson’ Algorithm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059282" y="889000"/>
            <a:ext cx="5715000" cy="581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rIns="36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void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travel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b="1" dirty="0"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n,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const</a:t>
            </a:r>
            <a:r>
              <a:rPr lang="en-US" altLang="en-US" sz="2000" b="1" dirty="0">
                <a:latin typeface="Times New Roman" panose="02020603050405020304" pitchFamily="18" charset="0"/>
              </a:rPr>
              <a:t> number</a:t>
            </a:r>
            <a:r>
              <a:rPr lang="en-US" altLang="en-US" sz="14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W[ ][ ],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                              </a:t>
            </a:r>
            <a:r>
              <a:rPr lang="en-US" altLang="en-US" sz="2000" b="1" dirty="0">
                <a:latin typeface="Times New Roman" panose="02020603050405020304" pitchFamily="18" charset="0"/>
              </a:rPr>
              <a:t>index</a:t>
            </a:r>
            <a:r>
              <a:rPr lang="en-US" altLang="en-US" sz="2000" dirty="0">
                <a:latin typeface="Times New Roman" panose="02020603050405020304" pitchFamily="18" charset="0"/>
              </a:rPr>
              <a:t> P[ ][ ],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                                 number&amp;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minlength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{     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latin typeface="Times New Roman" panose="02020603050405020304" pitchFamily="18" charset="0"/>
              </a:rPr>
              <a:t>index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i,j,k</a:t>
            </a:r>
            <a:r>
              <a:rPr lang="en-US" altLang="en-US" sz="20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number D[1..n][subset of 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imes New Roman" panose="02020603050405020304" pitchFamily="18" charset="0"/>
              </a:rPr>
              <a:t>   </a:t>
            </a:r>
            <a:endParaRPr lang="en-US" altLang="en-US" sz="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(i = 2; i &lt;= n; i++)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D[i][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2000" dirty="0">
                <a:latin typeface="Times New Roman" panose="02020603050405020304" pitchFamily="18" charset="0"/>
              </a:rPr>
              <a:t>] = W[i][1];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k = 1</a:t>
            </a:r>
            <a:r>
              <a:rPr lang="en-US" altLang="en-US" sz="2000" dirty="0">
                <a:latin typeface="Times New Roman" panose="02020603050405020304" pitchFamily="18" charset="0"/>
              </a:rPr>
              <a:t>; k &lt;= </a:t>
            </a: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n-2</a:t>
            </a:r>
            <a:r>
              <a:rPr lang="en-US" altLang="en-US" sz="2000" dirty="0">
                <a:latin typeface="Times New Roman" panose="02020603050405020304" pitchFamily="18" charset="0"/>
              </a:rPr>
              <a:t>; k++)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(all subsets A</a:t>
            </a:r>
            <a:r>
              <a:rPr lang="en-US" altLang="en-US" sz="12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en-US" sz="1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1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en-US" sz="1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 containing k vertices)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</a:t>
            </a:r>
            <a:r>
              <a:rPr lang="en-US" altLang="en-US" sz="20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(i such that i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 sz="2000" dirty="0">
                <a:latin typeface="Times New Roman" panose="02020603050405020304" pitchFamily="18" charset="0"/>
              </a:rPr>
              <a:t> 1 and 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i </a:t>
            </a:r>
            <a:r>
              <a:rPr lang="en-US" altLang="en-US" sz="2000" dirty="0">
                <a:latin typeface="Times New Roman" panose="02020603050405020304" pitchFamily="18" charset="0"/>
              </a:rPr>
              <a:t>is not in A)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</a:t>
            </a:r>
            <a:r>
              <a:rPr lang="en-US" altLang="en-US" sz="2000" b="1" dirty="0">
                <a:latin typeface="Times New Roman" panose="02020603050405020304" pitchFamily="18" charset="0"/>
              </a:rPr>
              <a:t>D[i][A] = minimum(W[i][j] + D[j][A-{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en-US" sz="2000" b="1" dirty="0">
                <a:latin typeface="Times New Roman" panose="02020603050405020304" pitchFamily="18" charset="0"/>
              </a:rPr>
              <a:t>}])        </a:t>
            </a:r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P[i][A] = value of j that gave the minimum;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D[1][V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 = minimum(W[1][j]</a:t>
            </a:r>
            <a:r>
              <a:rPr lang="en-US" altLang="en-US" sz="1600" dirty="0">
                <a:latin typeface="Times New Roman" panose="02020603050405020304" pitchFamily="18" charset="0"/>
              </a:rPr>
              <a:t>+</a:t>
            </a:r>
            <a:r>
              <a:rPr lang="en-US" altLang="en-US" sz="2000" dirty="0">
                <a:latin typeface="Times New Roman" panose="02020603050405020304" pitchFamily="18" charset="0"/>
              </a:rPr>
              <a:t>D[j][V-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}];</a:t>
            </a:r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P[1][V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 = value of j that gave the minimum;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 err="1">
                <a:latin typeface="Times New Roman" panose="02020603050405020304" pitchFamily="18" charset="0"/>
              </a:rPr>
              <a:t>minlength</a:t>
            </a:r>
            <a:r>
              <a:rPr lang="en-US" altLang="en-US" sz="2000" dirty="0">
                <a:latin typeface="Times New Roman" panose="02020603050405020304" pitchFamily="18" charset="0"/>
              </a:rPr>
              <a:t> = D[1][V - {</a:t>
            </a:r>
            <a:r>
              <a:rPr lang="en-US" altLang="en-US" sz="2000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}];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} 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888083" y="4394200"/>
            <a:ext cx="7477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j:</a:t>
            </a:r>
            <a:r>
              <a:rPr lang="en-US" altLang="en-US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3116683" y="5461000"/>
            <a:ext cx="715963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64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j</a:t>
            </a:r>
            <a:r>
              <a:rPr lang="en-US" altLang="en-US" sz="1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7053682" y="3810000"/>
            <a:ext cx="4729163" cy="40011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Executed </a:t>
            </a:r>
            <a:r>
              <a:rPr lang="en-US" alt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 times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since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has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vertices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 flipH="1">
            <a:off x="6067845" y="4114800"/>
            <a:ext cx="985838" cy="152400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0" name="Text Box 8"/>
          <p:cNvSpPr txBox="1">
            <a:spLocks noChangeArrowheads="1"/>
          </p:cNvSpPr>
          <p:nvPr/>
        </p:nvSpPr>
        <p:spPr bwMode="auto">
          <a:xfrm>
            <a:off x="6974577" y="2519366"/>
            <a:ext cx="4838732" cy="1015663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Executed 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- 1 - 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0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times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A has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vertices and i is </a:t>
            </a:r>
            <a:r>
              <a:rPr lang="en-US" altLang="en-US" sz="2000" dirty="0" smtClean="0">
                <a:latin typeface="+mn-lt"/>
                <a:cs typeface="Times New Roman" panose="02020603050405020304" pitchFamily="18" charset="0"/>
              </a:rPr>
              <a:t>not in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and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- 1</a:t>
            </a:r>
            <a:r>
              <a:rPr lang="en-US" altLang="en-US" sz="20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>
            <a:off x="5555081" y="3535029"/>
            <a:ext cx="2000255" cy="579771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6850481" y="889000"/>
            <a:ext cx="3863811" cy="1323439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Subsets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 -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2000" dirty="0">
                <a:latin typeface="+mn-lt"/>
              </a:rPr>
              <a:t>with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vertices =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38923" name="Group 11"/>
          <p:cNvGrpSpPr>
            <a:grpSpLocks/>
          </p:cNvGrpSpPr>
          <p:nvPr/>
        </p:nvGrpSpPr>
        <p:grpSpPr bwMode="auto">
          <a:xfrm>
            <a:off x="8222082" y="1333502"/>
            <a:ext cx="685800" cy="728663"/>
            <a:chOff x="4608" y="840"/>
            <a:chExt cx="432" cy="459"/>
          </a:xfrm>
        </p:grpSpPr>
        <p:sp>
          <p:nvSpPr>
            <p:cNvPr id="38933" name="AutoShape 12"/>
            <p:cNvSpPr>
              <a:spLocks noChangeArrowheads="1"/>
            </p:cNvSpPr>
            <p:nvPr/>
          </p:nvSpPr>
          <p:spPr bwMode="auto">
            <a:xfrm>
              <a:off x="4608" y="888"/>
              <a:ext cx="432" cy="384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800"/>
            </a:p>
          </p:txBody>
        </p:sp>
        <p:sp>
          <p:nvSpPr>
            <p:cNvPr id="38934" name="Text Box 13"/>
            <p:cNvSpPr txBox="1">
              <a:spLocks noChangeArrowheads="1"/>
            </p:cNvSpPr>
            <p:nvPr/>
          </p:nvSpPr>
          <p:spPr bwMode="auto">
            <a:xfrm>
              <a:off x="4636" y="840"/>
              <a:ext cx="335" cy="4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 rIns="540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1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en-US" sz="1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- 1</a:t>
              </a:r>
            </a:p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en-US" altLang="en-US" sz="1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en-US" sz="1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</p:grpSp>
      <p:sp>
        <p:nvSpPr>
          <p:cNvPr id="38924" name="Line 14"/>
          <p:cNvSpPr>
            <a:spLocks noChangeShapeType="1"/>
          </p:cNvSpPr>
          <p:nvPr/>
        </p:nvSpPr>
        <p:spPr bwMode="auto">
          <a:xfrm flipH="1">
            <a:off x="4259682" y="1600200"/>
            <a:ext cx="2590800" cy="2111514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7547230" y="4807743"/>
            <a:ext cx="3434806" cy="1662113"/>
            <a:chOff x="7424738" y="4718051"/>
            <a:chExt cx="3167062" cy="1662113"/>
          </a:xfrm>
        </p:grpSpPr>
        <p:sp>
          <p:nvSpPr>
            <p:cNvPr id="38925" name="Text Box 15"/>
            <p:cNvSpPr txBox="1">
              <a:spLocks noChangeArrowheads="1"/>
            </p:cNvSpPr>
            <p:nvPr/>
          </p:nvSpPr>
          <p:spPr bwMode="auto">
            <a:xfrm>
              <a:off x="7424738" y="4724401"/>
              <a:ext cx="3167062" cy="16557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28800" rIns="288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T(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=      </a:t>
              </a:r>
              <a:r>
                <a:rPr lang="en-US" altLang="en-US" sz="2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0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en-US" sz="2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en-US" sz="20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en-US" sz="2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-1) </a:t>
              </a:r>
              <a:r>
                <a:rPr lang="en-US" altLang="en-US" sz="2000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000" i="1" dirty="0" smtClean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T(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= (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-1)(</a:t>
              </a:r>
              <a:r>
                <a: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-2)2</a:t>
              </a:r>
              <a:r>
                <a:rPr lang="en-US" altLang="en-US" sz="20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en-US" sz="2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en-US" sz="2000" b="1" dirty="0" smtClean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</a:t>
              </a:r>
              <a:r>
                <a:rPr lang="en-US" altLang="en-US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en-US" sz="2000" b="1" i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en-US" sz="2000" b="1" baseline="30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 </a:t>
              </a:r>
              <a:r>
                <a:rPr lang="en-US" altLang="en-US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en-US" altLang="en-US" sz="2000" b="1" i="1" baseline="30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en-US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lang="en-US" altLang="en-US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8926" name="Group 16"/>
            <p:cNvGrpSpPr>
              <a:grpSpLocks/>
            </p:cNvGrpSpPr>
            <p:nvPr/>
          </p:nvGrpSpPr>
          <p:grpSpPr bwMode="auto">
            <a:xfrm>
              <a:off x="9525000" y="4800601"/>
              <a:ext cx="533400" cy="646113"/>
              <a:chOff x="4992" y="3052"/>
              <a:chExt cx="336" cy="407"/>
            </a:xfrm>
          </p:grpSpPr>
          <p:sp>
            <p:nvSpPr>
              <p:cNvPr id="38931" name="AutoShape 17"/>
              <p:cNvSpPr>
                <a:spLocks noChangeArrowheads="1"/>
              </p:cNvSpPr>
              <p:nvPr/>
            </p:nvSpPr>
            <p:spPr bwMode="auto">
              <a:xfrm>
                <a:off x="4992" y="3096"/>
                <a:ext cx="336" cy="312"/>
              </a:xfrm>
              <a:prstGeom prst="bracketPair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800"/>
              </a:p>
            </p:txBody>
          </p:sp>
          <p:sp>
            <p:nvSpPr>
              <p:cNvPr id="38932" name="Text Box 18"/>
              <p:cNvSpPr txBox="1">
                <a:spLocks noChangeArrowheads="1"/>
              </p:cNvSpPr>
              <p:nvPr/>
            </p:nvSpPr>
            <p:spPr bwMode="auto">
              <a:xfrm>
                <a:off x="4993" y="3052"/>
                <a:ext cx="335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54000" rIns="540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en-US" sz="18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n-US" sz="18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- 1</a:t>
                </a:r>
              </a:p>
              <a:p>
                <a:pPr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en-US" sz="18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en-US" sz="18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</a:p>
            </p:txBody>
          </p:sp>
        </p:grpSp>
        <p:grpSp>
          <p:nvGrpSpPr>
            <p:cNvPr id="38927" name="Group 19"/>
            <p:cNvGrpSpPr>
              <a:grpSpLocks/>
            </p:cNvGrpSpPr>
            <p:nvPr/>
          </p:nvGrpSpPr>
          <p:grpSpPr bwMode="auto">
            <a:xfrm>
              <a:off x="8001005" y="4718051"/>
              <a:ext cx="600076" cy="771525"/>
              <a:chOff x="4128" y="3046"/>
              <a:chExt cx="378" cy="486"/>
            </a:xfrm>
          </p:grpSpPr>
          <p:sp>
            <p:nvSpPr>
              <p:cNvPr id="38928" name="Text Box 20"/>
              <p:cNvSpPr txBox="1">
                <a:spLocks noChangeArrowheads="1"/>
              </p:cNvSpPr>
              <p:nvPr/>
            </p:nvSpPr>
            <p:spPr bwMode="auto">
              <a:xfrm>
                <a:off x="4188" y="3142"/>
                <a:ext cx="25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</a:t>
                </a:r>
              </a:p>
            </p:txBody>
          </p:sp>
          <p:sp>
            <p:nvSpPr>
              <p:cNvPr id="38929" name="Text Box 21"/>
              <p:cNvSpPr txBox="1">
                <a:spLocks noChangeArrowheads="1"/>
              </p:cNvSpPr>
              <p:nvPr/>
            </p:nvSpPr>
            <p:spPr bwMode="auto">
              <a:xfrm>
                <a:off x="4128" y="3360"/>
                <a:ext cx="378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10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4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</a:t>
                </a:r>
                <a:r>
                  <a:rPr lang="en-US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 </a:t>
                </a:r>
              </a:p>
            </p:txBody>
          </p:sp>
          <p:sp>
            <p:nvSpPr>
              <p:cNvPr id="38930" name="Text Box 22"/>
              <p:cNvSpPr txBox="1">
                <a:spLocks noChangeArrowheads="1"/>
              </p:cNvSpPr>
              <p:nvPr/>
            </p:nvSpPr>
            <p:spPr bwMode="auto">
              <a:xfrm>
                <a:off x="4140" y="3046"/>
                <a:ext cx="348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9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4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-2 </a:t>
                </a:r>
              </a:p>
            </p:txBody>
          </p:sp>
        </p:grpSp>
      </p:grpSp>
      <p:sp>
        <p:nvSpPr>
          <p:cNvPr id="3" name="Up Arrow 2"/>
          <p:cNvSpPr/>
          <p:nvPr/>
        </p:nvSpPr>
        <p:spPr>
          <a:xfrm>
            <a:off x="10114296" y="5968632"/>
            <a:ext cx="428270" cy="78047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55</a:t>
            </a:fld>
            <a:endParaRPr lang="en-QA"/>
          </a:p>
        </p:txBody>
      </p:sp>
      <p:sp>
        <p:nvSpPr>
          <p:cNvPr id="5" name="Left Brace 4"/>
          <p:cNvSpPr/>
          <p:nvPr/>
        </p:nvSpPr>
        <p:spPr>
          <a:xfrm>
            <a:off x="756745" y="5306218"/>
            <a:ext cx="302537" cy="105013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TextBox 5"/>
          <p:cNvSpPr txBox="1"/>
          <p:nvPr/>
        </p:nvSpPr>
        <p:spPr>
          <a:xfrm>
            <a:off x="78515" y="5638800"/>
            <a:ext cx="777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O(n)</a:t>
            </a:r>
            <a:endParaRPr lang="tr-TR" b="1" dirty="0"/>
          </a:p>
        </p:txBody>
      </p:sp>
      <p:sp>
        <p:nvSpPr>
          <p:cNvPr id="28" name="Left Brace 27"/>
          <p:cNvSpPr/>
          <p:nvPr/>
        </p:nvSpPr>
        <p:spPr>
          <a:xfrm>
            <a:off x="738887" y="2702876"/>
            <a:ext cx="341414" cy="49226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9" name="TextBox 28"/>
          <p:cNvSpPr txBox="1"/>
          <p:nvPr/>
        </p:nvSpPr>
        <p:spPr>
          <a:xfrm>
            <a:off x="46984" y="2702877"/>
            <a:ext cx="777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O(n) 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159672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63" y="-42633"/>
            <a:ext cx="10515600" cy="893520"/>
          </a:xfrm>
        </p:spPr>
        <p:txBody>
          <a:bodyPr/>
          <a:lstStyle/>
          <a:p>
            <a:r>
              <a:rPr lang="en-US" dirty="0" smtClean="0"/>
              <a:t>Is this algorithm useful? A case study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1641" y="622980"/>
                <a:ext cx="7954158" cy="527809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Ralph and Nancy</a:t>
                </a:r>
              </a:p>
              <a:p>
                <a:r>
                  <a:rPr lang="en-US" u="sng" dirty="0" smtClean="0">
                    <a:solidFill>
                      <a:srgbClr val="0070C0"/>
                    </a:solidFill>
                  </a:rPr>
                  <a:t>Their boss </a:t>
                </a:r>
                <a:r>
                  <a:rPr lang="en-US" dirty="0" smtClean="0"/>
                  <a:t>tells them that whoever can cover the entire 20-city territory faster will get the position</a:t>
                </a:r>
              </a:p>
              <a:p>
                <a:r>
                  <a:rPr lang="en-US" dirty="0" smtClean="0"/>
                  <a:t>They return to the home office when they are done</a:t>
                </a:r>
              </a:p>
              <a:p>
                <a:r>
                  <a:rPr lang="en-US" dirty="0" smtClean="0"/>
                  <a:t>Ralph prefers </a:t>
                </a:r>
                <a:r>
                  <a:rPr lang="en-US" u="sng" dirty="0" smtClean="0">
                    <a:solidFill>
                      <a:srgbClr val="C00000"/>
                    </a:solidFill>
                  </a:rPr>
                  <a:t>brute-force algorithm </a:t>
                </a:r>
                <a:r>
                  <a:rPr lang="en-US" dirty="0" smtClean="0">
                    <a:solidFill>
                      <a:srgbClr val="0070C0"/>
                    </a:solidFill>
                  </a:rPr>
                  <a:t>(20-1)! </a:t>
                </a:r>
                <a:r>
                  <a:rPr lang="en-US" dirty="0" smtClean="0"/>
                  <a:t>tours</a:t>
                </a:r>
              </a:p>
              <a:p>
                <a:r>
                  <a:rPr lang="en-US" dirty="0" smtClean="0"/>
                  <a:t>Nancy prefers </a:t>
                </a:r>
                <a:r>
                  <a:rPr lang="en-US" u="sng" dirty="0" smtClean="0">
                    <a:solidFill>
                      <a:srgbClr val="00B050"/>
                    </a:solidFill>
                  </a:rPr>
                  <a:t>dynamic programming</a:t>
                </a:r>
              </a:p>
              <a:p>
                <a:r>
                  <a:rPr lang="en-US" dirty="0"/>
                  <a:t>Assume </a:t>
                </a:r>
                <a:r>
                  <a:rPr lang="en-US" dirty="0" smtClean="0"/>
                  <a:t>the time </a:t>
                </a:r>
                <a:r>
                  <a:rPr lang="en-US" dirty="0"/>
                  <a:t>to process the basic instruction </a:t>
                </a:r>
                <a:r>
                  <a:rPr lang="en-US" dirty="0" smtClean="0"/>
                  <a:t> is 1 </a:t>
                </a:r>
                <a:r>
                  <a:rPr lang="en-US" sz="1900" b="1" dirty="0" smtClean="0"/>
                  <a:t>microsecond</a:t>
                </a:r>
              </a:p>
              <a:p>
                <a:r>
                  <a:rPr lang="en-US" u="sng" dirty="0" smtClean="0">
                    <a:solidFill>
                      <a:srgbClr val="C00000"/>
                    </a:solidFill>
                  </a:rPr>
                  <a:t>Brute force </a:t>
                </a:r>
                <a:r>
                  <a:rPr lang="en-US" dirty="0" smtClean="0"/>
                  <a:t>19! microseconds = 3857 years</a:t>
                </a:r>
              </a:p>
              <a:p>
                <a:r>
                  <a:rPr lang="en-US" u="sng" dirty="0" smtClean="0">
                    <a:solidFill>
                      <a:srgbClr val="00B050"/>
                    </a:solidFill>
                  </a:rPr>
                  <a:t>Dynamic </a:t>
                </a:r>
                <a:r>
                  <a:rPr lang="en-US" u="sng" dirty="0">
                    <a:solidFill>
                      <a:srgbClr val="00B050"/>
                    </a:solidFill>
                  </a:rPr>
                  <a:t>programming </a:t>
                </a:r>
                <a:r>
                  <a:rPr lang="en-US" dirty="0"/>
                  <a:t>(20-1) (20-2) 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0−3</m:t>
                        </m:r>
                      </m:sup>
                    </m:sSup>
                  </m:oMath>
                </a14:m>
                <a:r>
                  <a:rPr lang="en-US" dirty="0" smtClean="0"/>
                  <a:t>= </a:t>
                </a:r>
                <a:r>
                  <a:rPr lang="en-US" dirty="0"/>
                  <a:t>45 </a:t>
                </a:r>
                <a:r>
                  <a:rPr lang="en-US" dirty="0" smtClean="0"/>
                  <a:t>seconds</a:t>
                </a:r>
              </a:p>
              <a:p>
                <a:r>
                  <a:rPr lang="en-US" dirty="0" smtClean="0"/>
                  <a:t>We see that algorithm is useful if alternative is factorial</a:t>
                </a:r>
              </a:p>
              <a:p>
                <a:r>
                  <a:rPr lang="en-US" dirty="0" smtClean="0"/>
                  <a:t>The </a:t>
                </a:r>
                <a:r>
                  <a:rPr lang="en-US" b="1" u="sng" dirty="0" smtClean="0"/>
                  <a:t>used memory by dynamic programming </a:t>
                </a:r>
                <a:r>
                  <a:rPr lang="en-US" dirty="0" smtClean="0"/>
                  <a:t>is </a:t>
                </a:r>
                <a:r>
                  <a:rPr lang="en-US" b="1" u="sng" dirty="0" smtClean="0">
                    <a:solidFill>
                      <a:srgbClr val="FF0000"/>
                    </a:solidFill>
                  </a:rPr>
                  <a:t>large</a:t>
                </a:r>
                <a:endParaRPr lang="en-US" dirty="0" smtClean="0"/>
              </a:p>
              <a:p>
                <a:r>
                  <a:rPr lang="en-US" b="1" u="sng" dirty="0" smtClean="0">
                    <a:solidFill>
                      <a:srgbClr val="7030A0"/>
                    </a:solidFill>
                  </a:rPr>
                  <a:t>For 60 cities, this would also take years</a:t>
                </a:r>
                <a:endParaRPr lang="en-US" b="1" u="sng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u="sn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641" y="622980"/>
                <a:ext cx="7954158" cy="5278090"/>
              </a:xfrm>
              <a:blipFill>
                <a:blip r:embed="rId2"/>
                <a:stretch>
                  <a:fillRect l="-1073" t="-219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938" name="Picture 2" descr="Ralph Young - BirminghamWat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771" y="184232"/>
            <a:ext cx="1917286" cy="209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4091" y="184232"/>
            <a:ext cx="1894113" cy="20901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311" y="2274389"/>
            <a:ext cx="4116201" cy="254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641" y="6090467"/>
            <a:ext cx="11371390" cy="7078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No one has ever found an algorithm for this problem whose worst-case time complexity is </a:t>
            </a:r>
            <a:r>
              <a:rPr lang="en-US" sz="2000" b="1" u="sng" dirty="0">
                <a:solidFill>
                  <a:srgbClr val="00B050"/>
                </a:solidFill>
              </a:rPr>
              <a:t>better than exponential</a:t>
            </a:r>
            <a:r>
              <a:rPr lang="en-US" sz="2000" dirty="0"/>
              <a:t>. Yet no one has ever proved that </a:t>
            </a:r>
            <a:r>
              <a:rPr lang="en-US" sz="2000" b="1" u="sng" dirty="0"/>
              <a:t>such an algorithm is not </a:t>
            </a:r>
            <a:r>
              <a:rPr lang="en-US" sz="2000" b="1" u="sng" dirty="0" smtClean="0"/>
              <a:t>possible</a:t>
            </a:r>
            <a:r>
              <a:rPr lang="en-US" sz="2000" dirty="0" smtClean="0"/>
              <a:t>!</a:t>
            </a:r>
            <a:endParaRPr lang="en-US" sz="2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56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55241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724" y="25352"/>
            <a:ext cx="10515600" cy="447618"/>
          </a:xfrm>
        </p:spPr>
        <p:txBody>
          <a:bodyPr>
            <a:normAutofit fontScale="90000"/>
          </a:bodyPr>
          <a:lstStyle/>
          <a:p>
            <a:r>
              <a:rPr lang="en-US" dirty="0"/>
              <a:t>Approaches for Large Instances (n &gt; 20)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723" y="697709"/>
            <a:ext cx="11322269" cy="60237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larger values of </a:t>
            </a:r>
            <a:r>
              <a:rPr lang="en-US" b="1" dirty="0"/>
              <a:t>n</a:t>
            </a:r>
            <a:r>
              <a:rPr lang="en-US" dirty="0"/>
              <a:t> (typically </a:t>
            </a:r>
            <a:r>
              <a:rPr lang="en-US" b="1" dirty="0"/>
              <a:t>n &gt; </a:t>
            </a:r>
            <a:r>
              <a:rPr lang="en-US" b="1" dirty="0" smtClean="0"/>
              <a:t>20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dynamic </a:t>
            </a:r>
            <a:r>
              <a:rPr lang="en-US" dirty="0"/>
              <a:t>programming (e.g., Held-Karp) becomes </a:t>
            </a:r>
            <a:r>
              <a:rPr lang="en-US" b="1" u="sng" dirty="0">
                <a:solidFill>
                  <a:srgbClr val="FF0000"/>
                </a:solidFill>
              </a:rPr>
              <a:t>computationally expensive </a:t>
            </a:r>
            <a:endParaRPr lang="en-US" b="1" u="sng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due </a:t>
            </a:r>
            <a:r>
              <a:rPr lang="en-US" dirty="0"/>
              <a:t>to its </a:t>
            </a:r>
            <a:r>
              <a:rPr lang="en-US" b="1" dirty="0"/>
              <a:t>O(n² * 2ⁿ)</a:t>
            </a:r>
            <a:r>
              <a:rPr lang="en-US" dirty="0"/>
              <a:t> </a:t>
            </a:r>
            <a:r>
              <a:rPr lang="en-US" dirty="0" smtClean="0"/>
              <a:t>complexity</a:t>
            </a:r>
            <a:endParaRPr lang="en-US" u="sng" dirty="0" smtClean="0">
              <a:solidFill>
                <a:srgbClr val="0070C0"/>
              </a:solidFill>
            </a:endParaRPr>
          </a:p>
          <a:p>
            <a:r>
              <a:rPr lang="tr-TR" u="sng" dirty="0" smtClean="0">
                <a:solidFill>
                  <a:srgbClr val="0070C0"/>
                </a:solidFill>
              </a:rPr>
              <a:t>Alternative </a:t>
            </a:r>
            <a:r>
              <a:rPr lang="tr-TR" u="sng" dirty="0">
                <a:solidFill>
                  <a:srgbClr val="0070C0"/>
                </a:solidFill>
              </a:rPr>
              <a:t>techniques to </a:t>
            </a:r>
            <a:r>
              <a:rPr lang="tr-TR" u="sng" dirty="0" smtClean="0">
                <a:solidFill>
                  <a:srgbClr val="0070C0"/>
                </a:solidFill>
              </a:rPr>
              <a:t>consider</a:t>
            </a:r>
            <a:endParaRPr lang="en-US" u="sng" dirty="0" smtClean="0">
              <a:solidFill>
                <a:srgbClr val="0070C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Approximation </a:t>
            </a:r>
            <a:r>
              <a:rPr lang="en-US" b="1" dirty="0" smtClean="0">
                <a:solidFill>
                  <a:srgbClr val="00B050"/>
                </a:solidFill>
              </a:rPr>
              <a:t>Algorithms</a:t>
            </a:r>
          </a:p>
          <a:p>
            <a:pPr lvl="2"/>
            <a:r>
              <a:rPr lang="en-US" sz="1900" dirty="0" smtClean="0"/>
              <a:t>Provide </a:t>
            </a:r>
            <a:r>
              <a:rPr lang="en-US" sz="1900" dirty="0"/>
              <a:t>near-optimal solutions quickly, often </a:t>
            </a:r>
            <a:r>
              <a:rPr lang="en-US" sz="1900" u="sng" dirty="0">
                <a:solidFill>
                  <a:srgbClr val="00B050"/>
                </a:solidFill>
              </a:rPr>
              <a:t>with performance guarantees</a:t>
            </a:r>
          </a:p>
          <a:p>
            <a:pPr lvl="2"/>
            <a:r>
              <a:rPr lang="en-US" sz="1900" b="1" u="sng" dirty="0"/>
              <a:t>Greedy Algorithm </a:t>
            </a:r>
            <a:r>
              <a:rPr lang="en-US" sz="1900" dirty="0"/>
              <a:t>(quick but suboptimal</a:t>
            </a:r>
            <a:r>
              <a:rPr lang="en-US" sz="1900" dirty="0" smtClean="0"/>
              <a:t>): (</a:t>
            </a:r>
            <a:r>
              <a:rPr lang="en-US" sz="1900" b="1" u="sng" dirty="0" smtClean="0">
                <a:solidFill>
                  <a:srgbClr val="7030A0"/>
                </a:solidFill>
              </a:rPr>
              <a:t>CHAPTER 4)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Heuristic </a:t>
            </a:r>
            <a:r>
              <a:rPr lang="en-US" b="1" dirty="0" smtClean="0">
                <a:solidFill>
                  <a:srgbClr val="C00000"/>
                </a:solidFill>
              </a:rPr>
              <a:t>Methods</a:t>
            </a:r>
          </a:p>
          <a:p>
            <a:pPr lvl="2"/>
            <a:r>
              <a:rPr lang="en-US" sz="1900" dirty="0"/>
              <a:t>Use trial-and-error strategies to find good enough solutions in a reasonable time, but </a:t>
            </a:r>
            <a:r>
              <a:rPr lang="en-US" sz="1900" u="sng" dirty="0">
                <a:solidFill>
                  <a:srgbClr val="FF0000"/>
                </a:solidFill>
              </a:rPr>
              <a:t>without guarantees of optimality</a:t>
            </a:r>
          </a:p>
          <a:p>
            <a:pPr lvl="2"/>
            <a:r>
              <a:rPr lang="en-US" sz="1900" b="1" dirty="0"/>
              <a:t>Genetic Algorithms</a:t>
            </a:r>
            <a:r>
              <a:rPr lang="en-US" sz="1900" b="1" dirty="0" smtClean="0"/>
              <a:t>: </a:t>
            </a:r>
            <a:r>
              <a:rPr lang="en-US" sz="1900" dirty="0" smtClean="0"/>
              <a:t>Inspired </a:t>
            </a:r>
            <a:r>
              <a:rPr lang="en-US" sz="1900" dirty="0"/>
              <a:t>by natural selection: evolution through selection, crossover, and mutation</a:t>
            </a:r>
          </a:p>
          <a:p>
            <a:pPr lvl="2"/>
            <a:r>
              <a:rPr lang="en-US" sz="1900" b="1" dirty="0"/>
              <a:t>Simulated Annealing: </a:t>
            </a:r>
            <a:r>
              <a:rPr lang="en-US" sz="1900" dirty="0"/>
              <a:t>Inspired by the annealing process in metallurgy, a technique used to remove defects in materials like metal or glass</a:t>
            </a:r>
            <a:endParaRPr lang="en-US" sz="1900" dirty="0" smtClean="0"/>
          </a:p>
          <a:p>
            <a:pPr lvl="2"/>
            <a:r>
              <a:rPr lang="en-US" sz="1900" b="1" dirty="0" smtClean="0"/>
              <a:t>Ant </a:t>
            </a:r>
            <a:r>
              <a:rPr lang="en-US" sz="1900" b="1" dirty="0"/>
              <a:t>Colony Optimization: </a:t>
            </a:r>
            <a:r>
              <a:rPr lang="en-US" sz="1900" dirty="0"/>
              <a:t>Inspired by ants' food-searching </a:t>
            </a:r>
            <a:r>
              <a:rPr lang="en-US" sz="1900" dirty="0" smtClean="0"/>
              <a:t>behavior </a:t>
            </a:r>
            <a:r>
              <a:rPr lang="en-US" sz="1900" dirty="0"/>
              <a:t>(i.e., pheromone </a:t>
            </a:r>
            <a:r>
              <a:rPr lang="en-US" sz="1900" dirty="0" smtClean="0"/>
              <a:t>trails)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Exact </a:t>
            </a:r>
            <a:r>
              <a:rPr lang="en-US" b="1" dirty="0" smtClean="0">
                <a:solidFill>
                  <a:srgbClr val="7030A0"/>
                </a:solidFill>
              </a:rPr>
              <a:t>Methods</a:t>
            </a:r>
          </a:p>
          <a:p>
            <a:pPr lvl="2"/>
            <a:r>
              <a:rPr lang="en-US" sz="1900" dirty="0" smtClean="0"/>
              <a:t>Aim </a:t>
            </a:r>
            <a:r>
              <a:rPr lang="en-US" sz="1900" dirty="0"/>
              <a:t>to find the </a:t>
            </a:r>
            <a:r>
              <a:rPr lang="en-US" sz="1900" u="sng" dirty="0">
                <a:solidFill>
                  <a:srgbClr val="0070C0"/>
                </a:solidFill>
              </a:rPr>
              <a:t>exact optimal solution</a:t>
            </a:r>
            <a:r>
              <a:rPr lang="en-US" sz="1900" dirty="0"/>
              <a:t>, but can be slow for large n due to the exhaustive search</a:t>
            </a:r>
            <a:endParaRPr lang="en-US" sz="1900" dirty="0" smtClean="0"/>
          </a:p>
          <a:p>
            <a:pPr lvl="2"/>
            <a:r>
              <a:rPr lang="en-US" sz="1900" b="1" u="sng" dirty="0" smtClean="0"/>
              <a:t>Branch </a:t>
            </a:r>
            <a:r>
              <a:rPr lang="en-US" sz="1900" b="1" u="sng" dirty="0"/>
              <a:t>and </a:t>
            </a:r>
            <a:r>
              <a:rPr lang="en-US" sz="1900" b="1" u="sng" dirty="0" smtClean="0"/>
              <a:t>Bound </a:t>
            </a:r>
            <a:r>
              <a:rPr lang="en-US" sz="1900" b="1" dirty="0" smtClean="0">
                <a:solidFill>
                  <a:srgbClr val="7030A0"/>
                </a:solidFill>
              </a:rPr>
              <a:t>(CHAPTER 6)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Backtracking </a:t>
            </a:r>
            <a:r>
              <a:rPr lang="en-US" b="1" dirty="0" smtClean="0">
                <a:solidFill>
                  <a:srgbClr val="7030A0"/>
                </a:solidFill>
              </a:rPr>
              <a:t>(CHAPTER 5) </a:t>
            </a:r>
            <a:r>
              <a:rPr lang="en-US" b="1" dirty="0" smtClean="0">
                <a:solidFill>
                  <a:srgbClr val="FF0000"/>
                </a:solidFill>
              </a:rPr>
              <a:t>is </a:t>
            </a:r>
            <a:r>
              <a:rPr lang="en-US" b="1" u="sng" dirty="0" smtClean="0">
                <a:solidFill>
                  <a:srgbClr val="FF0000"/>
                </a:solidFill>
              </a:rPr>
              <a:t>not practical </a:t>
            </a:r>
            <a:r>
              <a:rPr lang="en-US" b="1" dirty="0" smtClean="0">
                <a:solidFill>
                  <a:srgbClr val="FF0000"/>
                </a:solidFill>
              </a:rPr>
              <a:t>for large values of n</a:t>
            </a:r>
          </a:p>
          <a:p>
            <a:pPr marL="457200" lvl="1" indent="0">
              <a:buNone/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57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99633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09F5F9B4E0FB47B1EB18E0D71F42C0" ma:contentTypeVersion="7" ma:contentTypeDescription="Create a new document." ma:contentTypeScope="" ma:versionID="52ce25b7832d6485238913dde5b465d2">
  <xsd:schema xmlns:xsd="http://www.w3.org/2001/XMLSchema" xmlns:xs="http://www.w3.org/2001/XMLSchema" xmlns:p="http://schemas.microsoft.com/office/2006/metadata/properties" xmlns:ns2="a6372579-1311-451b-a762-336ebfbd4ce8" targetNamespace="http://schemas.microsoft.com/office/2006/metadata/properties" ma:root="true" ma:fieldsID="853a59cafc0d1cd54112729c2232f927" ns2:_="">
    <xsd:import namespace="a6372579-1311-451b-a762-336ebfbd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372579-1311-451b-a762-336ebfbd4c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01A4E7-44CB-4B38-ADDE-48E76A14591D}"/>
</file>

<file path=customXml/itemProps2.xml><?xml version="1.0" encoding="utf-8"?>
<ds:datastoreItem xmlns:ds="http://schemas.openxmlformats.org/officeDocument/2006/customXml" ds:itemID="{2B9EF75D-80EB-408E-B3F0-08ECEA2DCEE6}"/>
</file>

<file path=customXml/itemProps3.xml><?xml version="1.0" encoding="utf-8"?>
<ds:datastoreItem xmlns:ds="http://schemas.openxmlformats.org/officeDocument/2006/customXml" ds:itemID="{EB4CAF78-6059-4023-95A9-8EA77B7A2129}"/>
</file>

<file path=docProps/app.xml><?xml version="1.0" encoding="utf-8"?>
<Properties xmlns="http://schemas.openxmlformats.org/officeDocument/2006/extended-properties" xmlns:vt="http://schemas.openxmlformats.org/officeDocument/2006/docPropsVTypes">
  <TotalTime>13402</TotalTime>
  <Words>10002</Words>
  <Application>Microsoft Office PowerPoint</Application>
  <PresentationFormat>Widescreen</PresentationFormat>
  <Paragraphs>2746</Paragraphs>
  <Slides>57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9" baseType="lpstr">
      <vt:lpstr>ＭＳ Ｐゴシック</vt:lpstr>
      <vt:lpstr>Arial</vt:lpstr>
      <vt:lpstr>Calibri</vt:lpstr>
      <vt:lpstr>Calibri Light</vt:lpstr>
      <vt:lpstr>Cambria Math</vt:lpstr>
      <vt:lpstr>Consolas</vt:lpstr>
      <vt:lpstr>新細明體</vt:lpstr>
      <vt:lpstr>Symbol</vt:lpstr>
      <vt:lpstr>Tahoma</vt:lpstr>
      <vt:lpstr>Times New Roman</vt:lpstr>
      <vt:lpstr>Wingdings</vt:lpstr>
      <vt:lpstr>Office Theme</vt:lpstr>
      <vt:lpstr>Dynamic Programming</vt:lpstr>
      <vt:lpstr>What is Dynamic Programming?</vt:lpstr>
      <vt:lpstr>Dynamic Programming</vt:lpstr>
      <vt:lpstr>The Binomial Coefficient</vt:lpstr>
      <vt:lpstr>The Binomial Coefficient</vt:lpstr>
      <vt:lpstr>The Binomial Coefficient (cont.)</vt:lpstr>
      <vt:lpstr>Java Code using Divide and Conquer technique</vt:lpstr>
      <vt:lpstr>The Binomial Coefficient (cont.)</vt:lpstr>
      <vt:lpstr>Dynamic Prg. For Binomial Coefficient</vt:lpstr>
      <vt:lpstr>The Binomial Coefficient (cont.)</vt:lpstr>
      <vt:lpstr>The Binomial Coefficient (cont.)</vt:lpstr>
      <vt:lpstr>Java Code using Dynamic Programming (not space optimized)</vt:lpstr>
      <vt:lpstr>Analysis of the Algorithm</vt:lpstr>
      <vt:lpstr>Wrap Up</vt:lpstr>
      <vt:lpstr>Brief Review of Graph Theory – Terminology I</vt:lpstr>
      <vt:lpstr>Graph Representation : Adjacency Matrix</vt:lpstr>
      <vt:lpstr>Graph Representation: Adjacency Matrix (cont.)</vt:lpstr>
      <vt:lpstr>Brief Review of Graph Theory – Terminology II</vt:lpstr>
      <vt:lpstr>The Shortest Path Problem</vt:lpstr>
      <vt:lpstr>Trivial Algorithm For Shortest Paths</vt:lpstr>
      <vt:lpstr>Related Shortest Path Algorithms</vt:lpstr>
      <vt:lpstr>Dynamic Programming for the Shortest Paths Problem</vt:lpstr>
      <vt:lpstr>Floyd’s Algorithm For Shortest Paths</vt:lpstr>
      <vt:lpstr>Dynamic Programming for Shortest Path Problem</vt:lpstr>
      <vt:lpstr>PowerPoint Presentation</vt:lpstr>
      <vt:lpstr>PowerPoint Presentation</vt:lpstr>
      <vt:lpstr>PowerPoint Presentation</vt:lpstr>
      <vt:lpstr>PowerPoint Presentation</vt:lpstr>
      <vt:lpstr>Floyd’s Algorithm for Determining only the lengths of the shortest paths</vt:lpstr>
      <vt:lpstr>Java Code for Determining only the lengths of the shortest paths </vt:lpstr>
      <vt:lpstr>Floyd’s Alg. for producing Shortest Paths</vt:lpstr>
      <vt:lpstr>Java Code for producing Shortest Paths</vt:lpstr>
      <vt:lpstr>Printing the Shortest Path</vt:lpstr>
      <vt:lpstr>Java code for printing the shortest path</vt:lpstr>
      <vt:lpstr>Dynamic Programming and Optimization Problems</vt:lpstr>
      <vt:lpstr>3 Steps used for Floyd’s Shortest Path Algorithm</vt:lpstr>
      <vt:lpstr>The Principle of Optimality</vt:lpstr>
      <vt:lpstr>Dynamic Programming and Principle of Optimality</vt:lpstr>
      <vt:lpstr>The Traveling Salesperson Problem (TSP)</vt:lpstr>
      <vt:lpstr>Trivial Algorithm For Traveling Salesperson</vt:lpstr>
      <vt:lpstr>Traveling Salesperson: Finding The Recursive Property</vt:lpstr>
      <vt:lpstr>Traveling Salesperson: Finding The Recursive Property (cont.)</vt:lpstr>
      <vt:lpstr>Example (from the Textbook)</vt:lpstr>
      <vt:lpstr>Example (from the Textbook)</vt:lpstr>
      <vt:lpstr>Example (from the Textbook)</vt:lpstr>
      <vt:lpstr>Example (from the Textbook)</vt:lpstr>
      <vt:lpstr>Example (from the Textbook)</vt:lpstr>
      <vt:lpstr>Example (from the Textbook)</vt:lpstr>
      <vt:lpstr>Example (from the Textbook)</vt:lpstr>
      <vt:lpstr>Example (from the Textbook)</vt:lpstr>
      <vt:lpstr>Example (from the Textbook)</vt:lpstr>
      <vt:lpstr>The Traveling Salesperson’ Algorithm (Held–Karp algorithm) Explanation of the Key Variables and Sets </vt:lpstr>
      <vt:lpstr>Traveling Salesperson’ Algorithm (Held–Karp algorithm)</vt:lpstr>
      <vt:lpstr>Every Case Time Complexity of the Traveling Salesperson’ Algorithm (Held–Karp algorithm) </vt:lpstr>
      <vt:lpstr>Every Case Time Complexity of the Traveling Salesperson’ Algorithm</vt:lpstr>
      <vt:lpstr>Is this algorithm useful? A case study</vt:lpstr>
      <vt:lpstr>Approaches for Large Instances (n &gt; 20)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Cagatay Catal</dc:creator>
  <cp:lastModifiedBy>Cagatay Catal</cp:lastModifiedBy>
  <cp:revision>1212</cp:revision>
  <cp:lastPrinted>2025-02-16T14:33:03Z</cp:lastPrinted>
  <dcterms:created xsi:type="dcterms:W3CDTF">2021-01-09T15:37:40Z</dcterms:created>
  <dcterms:modified xsi:type="dcterms:W3CDTF">2025-02-24T06:18:12Z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0x0101005909F5F9B4E0FB47B1EB18E0D71F42C0</vt:lpwstr>
  </property>
</Properties>
</file>