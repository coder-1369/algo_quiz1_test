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336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3" r:id="rId20"/>
    <p:sldId id="354" r:id="rId21"/>
    <p:sldId id="355" r:id="rId22"/>
    <p:sldId id="356" r:id="rId23"/>
    <p:sldId id="357" r:id="rId24"/>
  </p:sldIdLst>
  <p:sldSz cx="12192000" cy="6858000"/>
  <p:notesSz cx="6858000" cy="9144000"/>
  <p:defaultTextStyle>
    <a:defPPr>
      <a:defRPr lang="en-Q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2016" autoAdjust="0"/>
  </p:normalViewPr>
  <p:slideViewPr>
    <p:cSldViewPr snapToGrid="0" snapToObjects="1">
      <p:cViewPr varScale="1">
        <p:scale>
          <a:sx n="63" d="100"/>
          <a:sy n="63" d="100"/>
        </p:scale>
        <p:origin x="8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Q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1EAE4-7DF9-E547-AECB-D890A080C5F7}" type="datetimeFigureOut">
              <a:rPr lang="en-QA" smtClean="0"/>
              <a:t>01/29/2025</a:t>
            </a:fld>
            <a:endParaRPr lang="en-Q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Q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Q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B1972-16F6-0042-B2D8-F4FC729CE7E8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9688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C43D9-969B-B841-8560-D1E81863F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4E0E27-03D4-5246-B42A-10412F2E5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Q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2762A-D844-8540-ABD5-09202550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79C86-D64F-D64B-9347-DB20E425E90B}" type="datetimeFigureOut">
              <a:rPr lang="en-QA" smtClean="0"/>
              <a:t>01/29/2025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F9DFF-05D2-3146-ACBD-3B35083EA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9777B-F847-5C48-BDC7-A73C9B5EB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57254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B05A-49DA-2747-9797-E2B310C76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3520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62B4E-E8CD-8541-B62B-40C0FACCD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646"/>
            <a:ext cx="10515600" cy="491831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Q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8CD30-4126-184B-9C57-B12C5801F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79C86-D64F-D64B-9347-DB20E425E90B}" type="datetimeFigureOut">
              <a:rPr lang="en-QA" smtClean="0"/>
              <a:t>01/29/2025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90A29-77A4-FD4F-B5EF-3802E7983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35DCE-3BDE-444D-9BD3-C1B76D4B7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049103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9A86-599A-3D41-B71D-62FD4118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4C2A5-188C-D842-BE65-ECB3CB285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37A44-8A4A-BF48-A332-D120264F8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79C86-D64F-D64B-9347-DB20E425E90B}" type="datetimeFigureOut">
              <a:rPr lang="en-QA" smtClean="0"/>
              <a:t>01/29/2025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6207D-80CD-A943-8781-543E307E2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2175-0674-4F46-8D7D-69F743B7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431162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503E-8F61-D849-B25A-F94E08432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D54E2-4427-6F40-A04E-04CA25B3D3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882C34-5EE9-0F45-9CA9-A40353FF9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140A6-E7D3-2347-AFEE-7EF676A44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79C86-D64F-D64B-9347-DB20E425E90B}" type="datetimeFigureOut">
              <a:rPr lang="en-QA" smtClean="0"/>
              <a:t>01/29/2025</a:t>
            </a:fld>
            <a:endParaRPr lang="en-Q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A88B6-FC08-DD4C-ACE3-5DA6D8395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B49E9-6966-3F40-A96F-3DCF8C20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142015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84AB8-24EB-6A47-A9E1-0DDB3389B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6C325-637A-6E45-8744-B887FD637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899B5-EEAF-B64F-B960-5C10CBCBF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FC5AF-20DD-1D46-9CCA-743EB5F11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17C7E1-55A8-DA42-BDD8-D9B45589EA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DDA458-3F9C-E34A-BA12-21B65A3BD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79C86-D64F-D64B-9347-DB20E425E90B}" type="datetimeFigureOut">
              <a:rPr lang="en-QA" smtClean="0"/>
              <a:t>01/29/2025</a:t>
            </a:fld>
            <a:endParaRPr lang="en-Q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06870D-A2B8-F048-90DD-F6D37B70B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86CDBC-AACB-8240-8F66-7C40ABB55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52846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8F937-BA7B-4F46-ACD5-3DBDF785F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6D4EAB-DCBE-9248-AC6E-9F4BA94AD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79C86-D64F-D64B-9347-DB20E425E90B}" type="datetimeFigureOut">
              <a:rPr lang="en-QA" smtClean="0"/>
              <a:t>01/29/2025</a:t>
            </a:fld>
            <a:endParaRPr lang="en-Q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235B96-5BBF-894E-9A5A-EC311BD14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0FED8-525D-0A4E-B05A-24EF0BC5E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938083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38250-C423-C148-B3A7-2663DF9EC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79C86-D64F-D64B-9347-DB20E425E90B}" type="datetimeFigureOut">
              <a:rPr lang="en-QA" smtClean="0"/>
              <a:t>01/29/2025</a:t>
            </a:fld>
            <a:endParaRPr lang="en-Q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5F12E7-7C62-A348-ABC3-C0576A47C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B03E2-3223-8743-8447-4B7579AFC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759461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E8037-1501-0441-9794-C5EBF7B93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E2B03-539C-3B4F-B8CE-A85C1D906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1F868-E9EE-6548-BEF7-B69A69F47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429C6-9E7C-4C4C-B2F8-DBF96E09E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79C86-D64F-D64B-9347-DB20E425E90B}" type="datetimeFigureOut">
              <a:rPr lang="en-QA" smtClean="0"/>
              <a:t>01/29/2025</a:t>
            </a:fld>
            <a:endParaRPr lang="en-Q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00DBA-CEE9-8944-8D42-B53DF4B5E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4C08E-9733-D240-BA55-AD63C0B2A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8223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A4E6-2D17-3349-BFA1-9575B971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FF320C-CFF7-2E4E-96BC-21BD7B46E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Q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39EF1-EBE6-E643-93D4-ADC3A5A1B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899F5-9751-5B4A-BA6F-36C01A175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79C86-D64F-D64B-9347-DB20E425E90B}" type="datetimeFigureOut">
              <a:rPr lang="en-QA" smtClean="0"/>
              <a:t>01/29/2025</a:t>
            </a:fld>
            <a:endParaRPr lang="en-Q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FE7B7-237A-234A-8B6E-C4DB879FE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47028-D19C-7846-9E31-BDAD6BBB1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976152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E75D4-2EDE-FF4D-AF29-10EBFC8BD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1C6D8-6FC9-B64A-8822-7A48AB7BE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75595-8838-474B-8900-B80500606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79C86-D64F-D64B-9347-DB20E425E90B}" type="datetimeFigureOut">
              <a:rPr lang="en-QA" smtClean="0"/>
              <a:t>01/29/2025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9808D-C802-674D-A8A3-2D5C2CD4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00625-E69F-7D45-BB50-36EAAFE8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439733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B2DCA0-DCD9-AA47-844D-B9F6B34772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8E7AA1-F489-CC4F-BDD7-5EDD48AD8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B60F0-1899-B14C-9373-39E1299E1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79C86-D64F-D64B-9347-DB20E425E90B}" type="datetimeFigureOut">
              <a:rPr lang="en-QA" smtClean="0"/>
              <a:t>01/29/2025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6731D-46D7-A545-9FCC-3EB6BB957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20A14-42BD-5F47-BB02-094E497C6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612729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55A4A4-E523-8A44-A328-380C82C32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C8E7C-E15B-724E-B533-274ABEC5B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3B09C-6196-8B4C-BFB1-4AF028CEB5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79C86-D64F-D64B-9347-DB20E425E90B}" type="datetimeFigureOut">
              <a:rPr lang="en-QA" smtClean="0"/>
              <a:t>01/29/2025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D81A9-6416-F74D-AC2F-77DAF563B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26C14-75D2-9340-B716-4EBC3E947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5C4B8-587D-604C-A895-2C42811FDA20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823343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Q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DDBD-B078-F546-A61A-69D2AC762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992"/>
            <a:ext cx="9144000" cy="188834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Algorithms: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sz="4000" b="1" dirty="0">
                <a:solidFill>
                  <a:srgbClr val="0070C0"/>
                </a:solidFill>
              </a:rPr>
              <a:t>Efficiency, Analysis, and Order</a:t>
            </a:r>
            <a:endParaRPr lang="en-QA" b="1" dirty="0">
              <a:solidFill>
                <a:srgbClr val="0070C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DE9C1-470E-BF4B-B387-C25C4447E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7020" y="3019380"/>
            <a:ext cx="9144000" cy="1655762"/>
          </a:xfrm>
        </p:spPr>
        <p:txBody>
          <a:bodyPr>
            <a:normAutofit/>
          </a:bodyPr>
          <a:lstStyle/>
          <a:p>
            <a:r>
              <a:rPr lang="en-US" sz="6000" b="1" dirty="0" smtClean="0">
                <a:solidFill>
                  <a:srgbClr val="C00000"/>
                </a:solidFill>
              </a:rPr>
              <a:t>EXERCISES</a:t>
            </a:r>
            <a:endParaRPr lang="en-QA" sz="6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423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Question-1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complexity using Big O notation</a:t>
            </a:r>
            <a:endParaRPr lang="tr-T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297" y="1928494"/>
            <a:ext cx="7180263" cy="402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563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Solution</a:t>
            </a:r>
            <a:r>
              <a:rPr lang="en-US" dirty="0" smtClean="0"/>
              <a:t> to Exercise-1</a:t>
            </a:r>
            <a:endParaRPr lang="tr-TR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8646"/>
            <a:ext cx="7305675" cy="425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479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Question-2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complexity using Big O </a:t>
            </a:r>
            <a:r>
              <a:rPr lang="en-US" dirty="0" smtClean="0"/>
              <a:t>notation</a:t>
            </a:r>
          </a:p>
          <a:p>
            <a:endParaRPr lang="tr-T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321" y="2152166"/>
            <a:ext cx="5828982" cy="241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76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to Exercise-2</a:t>
            </a:r>
            <a:endParaRPr lang="tr-TR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194" y="1258646"/>
            <a:ext cx="7924165" cy="312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133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Question-3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complexity using Big O notation</a:t>
            </a:r>
          </a:p>
          <a:p>
            <a:endParaRPr 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994217"/>
            <a:ext cx="5593080" cy="232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287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to Exercise-3</a:t>
            </a:r>
            <a:endParaRPr lang="tr-TR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625" y="1397354"/>
            <a:ext cx="5133975" cy="27174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97355"/>
            <a:ext cx="552450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8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Question-4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complexity using Big O </a:t>
            </a:r>
            <a:r>
              <a:rPr lang="en-US" dirty="0" smtClean="0"/>
              <a:t>notation</a:t>
            </a:r>
          </a:p>
          <a:p>
            <a:endParaRPr 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8166"/>
            <a:ext cx="4572000" cy="193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837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720" y="26274"/>
            <a:ext cx="10515600" cy="893520"/>
          </a:xfrm>
        </p:spPr>
        <p:txBody>
          <a:bodyPr/>
          <a:lstStyle/>
          <a:p>
            <a:r>
              <a:rPr lang="en-US" dirty="0" smtClean="0"/>
              <a:t>Solution to Exercise-4</a:t>
            </a:r>
            <a:endParaRPr 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2834"/>
            <a:ext cx="5591175" cy="19907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0" y="105727"/>
            <a:ext cx="4914900" cy="33242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3340" y="4400550"/>
            <a:ext cx="5562600" cy="2457450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4148455" y="656110"/>
            <a:ext cx="2885440" cy="772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Down Arrow 7"/>
          <p:cNvSpPr/>
          <p:nvPr/>
        </p:nvSpPr>
        <p:spPr>
          <a:xfrm>
            <a:off x="9306560" y="3303270"/>
            <a:ext cx="629920" cy="10972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9212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Question-5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complexity using Big O notation</a:t>
            </a:r>
          </a:p>
          <a:p>
            <a:endParaRPr 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20" y="1967864"/>
            <a:ext cx="7787640" cy="265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29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720" y="378336"/>
            <a:ext cx="4003040" cy="893520"/>
          </a:xfrm>
        </p:spPr>
        <p:txBody>
          <a:bodyPr/>
          <a:lstStyle/>
          <a:p>
            <a:r>
              <a:rPr lang="en-US" dirty="0" smtClean="0"/>
              <a:t>Solution to Question-5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9520" y="343612"/>
            <a:ext cx="5638800" cy="4918317"/>
          </a:xfrm>
        </p:spPr>
        <p:txBody>
          <a:bodyPr/>
          <a:lstStyle/>
          <a:p>
            <a:r>
              <a:rPr lang="en-US" dirty="0"/>
              <a:t>In the outer for-loop, the </a:t>
            </a:r>
            <a:r>
              <a:rPr lang="en-US" b="1" u="sng" dirty="0">
                <a:solidFill>
                  <a:srgbClr val="00B050"/>
                </a:solidFill>
              </a:rPr>
              <a:t>variable i keeps halving</a:t>
            </a:r>
            <a:r>
              <a:rPr lang="en-US" dirty="0"/>
              <a:t> so it goes round </a:t>
            </a:r>
            <a:r>
              <a:rPr lang="en-US" b="1" dirty="0" smtClean="0"/>
              <a:t>log</a:t>
            </a:r>
            <a:r>
              <a:rPr lang="en-US" b="1" baseline="-25000" dirty="0" smtClean="0"/>
              <a:t>2</a:t>
            </a:r>
            <a:r>
              <a:rPr lang="en-US" b="1" dirty="0" smtClean="0"/>
              <a:t>n</a:t>
            </a:r>
            <a:r>
              <a:rPr lang="en-US" dirty="0" smtClean="0"/>
              <a:t> times</a:t>
            </a:r>
          </a:p>
          <a:p>
            <a:r>
              <a:rPr lang="en-US" dirty="0" smtClean="0"/>
              <a:t>For </a:t>
            </a:r>
            <a:r>
              <a:rPr lang="en-US" dirty="0"/>
              <a:t>each i, next loop goes round also </a:t>
            </a:r>
            <a:r>
              <a:rPr lang="en-US" dirty="0" smtClean="0"/>
              <a:t>l</a:t>
            </a:r>
            <a:r>
              <a:rPr lang="en-US" b="1" dirty="0" smtClean="0"/>
              <a:t>og</a:t>
            </a:r>
            <a:r>
              <a:rPr lang="en-US" b="1" baseline="-25000" dirty="0" smtClean="0"/>
              <a:t>2</a:t>
            </a:r>
            <a:r>
              <a:rPr lang="en-US" b="1" dirty="0" smtClean="0"/>
              <a:t>n</a:t>
            </a:r>
            <a:r>
              <a:rPr lang="en-US" dirty="0" smtClean="0"/>
              <a:t> </a:t>
            </a:r>
            <a:r>
              <a:rPr lang="en-US" dirty="0"/>
              <a:t>times, because of </a:t>
            </a:r>
            <a:r>
              <a:rPr lang="en-US" b="1" u="sng" dirty="0">
                <a:solidFill>
                  <a:srgbClr val="0070C0"/>
                </a:solidFill>
              </a:rPr>
              <a:t>doubling the variable </a:t>
            </a:r>
            <a:r>
              <a:rPr lang="en-US" b="1" u="sng" dirty="0" smtClean="0">
                <a:solidFill>
                  <a:srgbClr val="0070C0"/>
                </a:solidFill>
              </a:rPr>
              <a:t>j</a:t>
            </a:r>
          </a:p>
          <a:p>
            <a:r>
              <a:rPr lang="en-US" dirty="0" smtClean="0"/>
              <a:t>The </a:t>
            </a:r>
            <a:r>
              <a:rPr lang="en-US" dirty="0"/>
              <a:t>innermost loop by </a:t>
            </a:r>
            <a:r>
              <a:rPr lang="en-US" b="1" dirty="0"/>
              <a:t>k </a:t>
            </a:r>
            <a:r>
              <a:rPr lang="en-US" dirty="0"/>
              <a:t>goes round </a:t>
            </a:r>
            <a:r>
              <a:rPr lang="en-US" b="1" dirty="0" smtClean="0"/>
              <a:t>n/2 </a:t>
            </a:r>
            <a:r>
              <a:rPr lang="en-US" dirty="0" smtClean="0"/>
              <a:t>times </a:t>
            </a:r>
          </a:p>
          <a:p>
            <a:r>
              <a:rPr lang="en-US" dirty="0" smtClean="0"/>
              <a:t>Loops </a:t>
            </a:r>
            <a:r>
              <a:rPr lang="en-US" dirty="0"/>
              <a:t>are nested, so the bounds may be multiplied to give that the algorithm is </a:t>
            </a:r>
            <a:endParaRPr lang="en-US" dirty="0" smtClean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O ( n(log </a:t>
            </a:r>
            <a:r>
              <a:rPr lang="en-US" b="1" dirty="0"/>
              <a:t>n)</a:t>
            </a:r>
            <a:r>
              <a:rPr lang="en-US" b="1" baseline="30000" dirty="0"/>
              <a:t> </a:t>
            </a:r>
            <a:r>
              <a:rPr lang="en-US" b="1" baseline="30000" dirty="0" smtClean="0"/>
              <a:t>2</a:t>
            </a:r>
            <a:r>
              <a:rPr lang="en-US" b="1" dirty="0" smtClean="0"/>
              <a:t>)</a:t>
            </a:r>
            <a:endParaRPr lang="tr-TR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" y="1369824"/>
            <a:ext cx="5816600" cy="1982975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4409440" y="538480"/>
            <a:ext cx="2042160" cy="1097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4612640" y="1369824"/>
            <a:ext cx="1706880" cy="502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846320" y="2123440"/>
            <a:ext cx="1473200" cy="237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975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Question-6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complexity using Big O notation</a:t>
            </a:r>
          </a:p>
          <a:p>
            <a:endParaRPr 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32" y="1996440"/>
            <a:ext cx="5543868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35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to Question-6</a:t>
            </a:r>
            <a:endParaRPr 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1579880"/>
            <a:ext cx="5133975" cy="2133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18187" y="1483975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Running time of the inner, middle, and outer loop is proportional to </a:t>
            </a:r>
            <a:r>
              <a:rPr lang="en-US" sz="2400" b="1" dirty="0"/>
              <a:t>n</a:t>
            </a:r>
            <a:r>
              <a:rPr lang="en-US" sz="2400" dirty="0"/>
              <a:t>, </a:t>
            </a:r>
            <a:r>
              <a:rPr lang="en-US" sz="2400" b="1" dirty="0"/>
              <a:t>log n</a:t>
            </a:r>
            <a:r>
              <a:rPr lang="en-US" sz="2400" dirty="0"/>
              <a:t>, and </a:t>
            </a:r>
            <a:r>
              <a:rPr lang="en-US" sz="2400" b="1" dirty="0"/>
              <a:t>log n</a:t>
            </a:r>
            <a:r>
              <a:rPr lang="en-US" sz="2400" dirty="0"/>
              <a:t>, </a:t>
            </a:r>
            <a:r>
              <a:rPr lang="en-US" sz="2400" dirty="0" smtClean="0"/>
              <a:t>respectively</a:t>
            </a:r>
            <a:endParaRPr lang="en-US" sz="2400" dirty="0"/>
          </a:p>
          <a:p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Thus </a:t>
            </a:r>
            <a:r>
              <a:rPr lang="en-US" sz="2400" dirty="0"/>
              <a:t>the overall Big-Oh complexity is </a:t>
            </a:r>
            <a:r>
              <a:rPr lang="en-US" sz="2400" b="1" dirty="0"/>
              <a:t> </a:t>
            </a:r>
            <a:endParaRPr lang="en-US" sz="2400" b="1" dirty="0" smtClean="0"/>
          </a:p>
          <a:p>
            <a:r>
              <a:rPr lang="en-US" sz="2400" b="1" dirty="0"/>
              <a:t> </a:t>
            </a:r>
            <a:r>
              <a:rPr lang="en-US" sz="2400" b="1" dirty="0" smtClean="0"/>
              <a:t>     O </a:t>
            </a:r>
            <a:r>
              <a:rPr lang="en-US" sz="2400" b="1" dirty="0"/>
              <a:t>( n(log n)</a:t>
            </a:r>
            <a:r>
              <a:rPr lang="en-US" sz="2400" b="1" baseline="30000" dirty="0"/>
              <a:t> 2</a:t>
            </a:r>
            <a:r>
              <a:rPr lang="en-US" sz="2400" b="1" dirty="0"/>
              <a:t>)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52051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Question-7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complexity using Big O notation</a:t>
            </a:r>
          </a:p>
          <a:p>
            <a:endParaRPr 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1" y="1848484"/>
            <a:ext cx="8021002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948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to Question-7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9680" y="202006"/>
            <a:ext cx="5679440" cy="4918317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first and second successive innermost loops have </a:t>
            </a:r>
            <a:r>
              <a:rPr lang="en-US" b="1" dirty="0"/>
              <a:t>O(n) </a:t>
            </a:r>
            <a:r>
              <a:rPr lang="en-US" dirty="0"/>
              <a:t>and </a:t>
            </a:r>
            <a:r>
              <a:rPr lang="en-US" b="1" dirty="0"/>
              <a:t>O(log n</a:t>
            </a:r>
            <a:r>
              <a:rPr lang="en-US" b="1" dirty="0" smtClean="0"/>
              <a:t>)</a:t>
            </a:r>
            <a:r>
              <a:rPr lang="en-US" dirty="0"/>
              <a:t>,</a:t>
            </a:r>
            <a:r>
              <a:rPr lang="en-US" dirty="0" smtClean="0"/>
              <a:t> respectively</a:t>
            </a:r>
          </a:p>
          <a:p>
            <a:r>
              <a:rPr lang="en-US" dirty="0" smtClean="0"/>
              <a:t>Thus</a:t>
            </a:r>
            <a:r>
              <a:rPr lang="en-US" dirty="0"/>
              <a:t>, the overall complexity of the innermost part is </a:t>
            </a:r>
            <a:r>
              <a:rPr lang="en-US" b="1" dirty="0"/>
              <a:t>O(n</a:t>
            </a:r>
            <a:r>
              <a:rPr lang="en-US" b="1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The </a:t>
            </a:r>
            <a:r>
              <a:rPr lang="en-US" dirty="0">
                <a:solidFill>
                  <a:srgbClr val="00B050"/>
                </a:solidFill>
              </a:rPr>
              <a:t>outermost</a:t>
            </a:r>
            <a:r>
              <a:rPr lang="en-US" dirty="0"/>
              <a:t> and </a:t>
            </a:r>
            <a:r>
              <a:rPr lang="en-US" b="1" dirty="0">
                <a:solidFill>
                  <a:srgbClr val="FFC000"/>
                </a:solidFill>
              </a:rPr>
              <a:t>middle</a:t>
            </a:r>
            <a:r>
              <a:rPr lang="en-US" dirty="0"/>
              <a:t> loops have complexity </a:t>
            </a:r>
            <a:r>
              <a:rPr lang="en-US" b="1" dirty="0"/>
              <a:t>O(log n) </a:t>
            </a:r>
            <a:r>
              <a:rPr lang="en-US" dirty="0"/>
              <a:t>and </a:t>
            </a:r>
            <a:r>
              <a:rPr lang="en-US" b="1" dirty="0" smtClean="0"/>
              <a:t>O(n)</a:t>
            </a:r>
          </a:p>
          <a:p>
            <a:endParaRPr lang="en-US" dirty="0" smtClean="0"/>
          </a:p>
          <a:p>
            <a:r>
              <a:rPr lang="en-US" dirty="0" smtClean="0"/>
              <a:t>So, </a:t>
            </a:r>
            <a:r>
              <a:rPr lang="en-US" dirty="0"/>
              <a:t>a straightforward </a:t>
            </a:r>
            <a:r>
              <a:rPr lang="en-US" dirty="0" smtClean="0"/>
              <a:t>and valid </a:t>
            </a:r>
            <a:r>
              <a:rPr lang="en-US" dirty="0"/>
              <a:t>solution is that the overall complexity is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b="1" dirty="0" smtClean="0"/>
              <a:t>  O(n</a:t>
            </a:r>
            <a:r>
              <a:rPr lang="en-US" b="1" baseline="30000" dirty="0" smtClean="0"/>
              <a:t>2</a:t>
            </a:r>
            <a:r>
              <a:rPr lang="en-US" b="1" dirty="0" smtClean="0"/>
              <a:t> </a:t>
            </a:r>
            <a:r>
              <a:rPr lang="en-US" b="1" dirty="0"/>
              <a:t>log n)</a:t>
            </a:r>
            <a:endParaRPr lang="tr-TR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36" y="1554480"/>
            <a:ext cx="5905964" cy="2804159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4846320" y="386081"/>
            <a:ext cx="1554480" cy="1849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4922520" y="518160"/>
            <a:ext cx="1478280" cy="2671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278120" y="1812953"/>
            <a:ext cx="1000760" cy="5453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612640" y="1971040"/>
            <a:ext cx="1666240" cy="5431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795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64212"/>
            <a:ext cx="10515600" cy="589914"/>
          </a:xfrm>
        </p:spPr>
        <p:txBody>
          <a:bodyPr/>
          <a:lstStyle/>
          <a:p>
            <a:r>
              <a:rPr lang="en-US" dirty="0" smtClean="0"/>
              <a:t>Question-8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6400" y="821766"/>
            <a:ext cx="5161280" cy="4664633"/>
          </a:xfrm>
        </p:spPr>
        <p:txBody>
          <a:bodyPr>
            <a:normAutofit/>
          </a:bodyPr>
          <a:lstStyle/>
          <a:p>
            <a:r>
              <a:rPr lang="en-US" dirty="0"/>
              <a:t>Assume that each of the </a:t>
            </a:r>
            <a:r>
              <a:rPr lang="en-US" dirty="0" smtClean="0"/>
              <a:t>following expressions gives </a:t>
            </a:r>
            <a:r>
              <a:rPr lang="en-US" dirty="0"/>
              <a:t>the processing time </a:t>
            </a:r>
            <a:r>
              <a:rPr lang="en-US" dirty="0" smtClean="0"/>
              <a:t>T(n) spent </a:t>
            </a:r>
            <a:r>
              <a:rPr lang="en-US" dirty="0"/>
              <a:t>by an algorithm for solving a problem of size </a:t>
            </a:r>
            <a:r>
              <a:rPr lang="en-US" dirty="0" smtClean="0"/>
              <a:t>n</a:t>
            </a:r>
          </a:p>
          <a:p>
            <a:endParaRPr lang="en-US" dirty="0" smtClean="0"/>
          </a:p>
          <a:p>
            <a:r>
              <a:rPr lang="en-US" dirty="0" smtClean="0"/>
              <a:t>Select </a:t>
            </a:r>
            <a:r>
              <a:rPr lang="en-US" dirty="0"/>
              <a:t>the </a:t>
            </a:r>
            <a:r>
              <a:rPr lang="en-US" b="1" dirty="0" smtClean="0"/>
              <a:t>dominant term(s</a:t>
            </a:r>
            <a:r>
              <a:rPr lang="en-US" b="1" dirty="0"/>
              <a:t>) </a:t>
            </a:r>
            <a:r>
              <a:rPr lang="en-US" dirty="0"/>
              <a:t>having the steepest increase in </a:t>
            </a:r>
            <a:r>
              <a:rPr lang="en-US" b="1" dirty="0"/>
              <a:t>n</a:t>
            </a:r>
            <a:r>
              <a:rPr lang="en-US" dirty="0"/>
              <a:t> and specify the lowest </a:t>
            </a:r>
            <a:r>
              <a:rPr lang="en-US" b="1" dirty="0" smtClean="0"/>
              <a:t>Big-Oh</a:t>
            </a:r>
            <a:r>
              <a:rPr lang="en-US" dirty="0" smtClean="0"/>
              <a:t> complexity </a:t>
            </a:r>
            <a:r>
              <a:rPr lang="en-US" dirty="0"/>
              <a:t>of each </a:t>
            </a:r>
            <a:r>
              <a:rPr lang="en-US" dirty="0" smtClean="0"/>
              <a:t>algorithm</a:t>
            </a:r>
            <a:endParaRPr 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69" y="710006"/>
            <a:ext cx="6672071" cy="572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30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760" y="40006"/>
            <a:ext cx="10515600" cy="4886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Solution to Exercise-8</a:t>
            </a:r>
            <a:endParaRPr lang="tr-TR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47" y="748665"/>
            <a:ext cx="7591425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592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Question-9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Algorithms A </a:t>
            </a:r>
            <a:r>
              <a:rPr lang="en-US" dirty="0"/>
              <a:t>and </a:t>
            </a:r>
            <a:r>
              <a:rPr lang="en-US" b="1" dirty="0"/>
              <a:t>B</a:t>
            </a:r>
            <a:r>
              <a:rPr lang="en-US" dirty="0"/>
              <a:t> spend exactly </a:t>
            </a:r>
            <a:r>
              <a:rPr lang="en-US" b="1" dirty="0"/>
              <a:t>T</a:t>
            </a:r>
            <a:r>
              <a:rPr lang="en-US" b="1" baseline="-25000" dirty="0"/>
              <a:t>A</a:t>
            </a:r>
            <a:r>
              <a:rPr lang="en-US" b="1" dirty="0"/>
              <a:t>(n) = </a:t>
            </a:r>
            <a:r>
              <a:rPr lang="en-US" b="1" dirty="0" smtClean="0"/>
              <a:t>5 n log</a:t>
            </a:r>
            <a:r>
              <a:rPr lang="en-US" b="1" baseline="-25000" dirty="0" smtClean="0"/>
              <a:t>10</a:t>
            </a:r>
            <a:r>
              <a:rPr lang="en-US" b="1" dirty="0" smtClean="0"/>
              <a:t>n </a:t>
            </a:r>
            <a:r>
              <a:rPr lang="en-US" dirty="0"/>
              <a:t>and </a:t>
            </a:r>
            <a:r>
              <a:rPr lang="en-US" b="1" dirty="0"/>
              <a:t>T</a:t>
            </a:r>
            <a:r>
              <a:rPr lang="en-US" b="1" baseline="-25000" dirty="0"/>
              <a:t>B</a:t>
            </a:r>
            <a:r>
              <a:rPr lang="en-US" b="1" dirty="0"/>
              <a:t>(n) = </a:t>
            </a:r>
            <a:r>
              <a:rPr lang="en-US" b="1" dirty="0" smtClean="0"/>
              <a:t>25 n </a:t>
            </a:r>
            <a:r>
              <a:rPr lang="en-US" dirty="0" smtClean="0"/>
              <a:t>microseconds</a:t>
            </a:r>
            <a:r>
              <a:rPr lang="en-US" dirty="0"/>
              <a:t>, respectively, for </a:t>
            </a:r>
            <a:r>
              <a:rPr lang="en-US" b="1" u="sng" dirty="0"/>
              <a:t>a problem of size </a:t>
            </a:r>
            <a:r>
              <a:rPr lang="en-US" b="1" u="sng" dirty="0" smtClean="0"/>
              <a:t>n</a:t>
            </a:r>
          </a:p>
          <a:p>
            <a:r>
              <a:rPr lang="en-US" dirty="0" smtClean="0"/>
              <a:t>Which </a:t>
            </a:r>
            <a:r>
              <a:rPr lang="en-US" dirty="0"/>
              <a:t>algorithm </a:t>
            </a:r>
            <a:r>
              <a:rPr lang="en-US" dirty="0" smtClean="0"/>
              <a:t>is better </a:t>
            </a:r>
            <a:r>
              <a:rPr lang="en-US" dirty="0"/>
              <a:t>in the Big-Oh sense?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which problem sizes does it </a:t>
            </a:r>
            <a:r>
              <a:rPr lang="en-US" dirty="0" smtClean="0"/>
              <a:t>outperform the </a:t>
            </a:r>
            <a:r>
              <a:rPr lang="en-US" dirty="0"/>
              <a:t>other?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2506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to Question-9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 </a:t>
            </a:r>
            <a:r>
              <a:rPr lang="en-US" b="1" dirty="0"/>
              <a:t>T</a:t>
            </a:r>
            <a:r>
              <a:rPr lang="en-US" b="1" baseline="-25000" dirty="0"/>
              <a:t>A</a:t>
            </a:r>
            <a:r>
              <a:rPr lang="en-US" b="1" dirty="0"/>
              <a:t>(n) = 5 n log</a:t>
            </a:r>
            <a:r>
              <a:rPr lang="en-US" b="1" baseline="-25000" dirty="0"/>
              <a:t>10</a:t>
            </a:r>
            <a:r>
              <a:rPr lang="en-US" b="1" dirty="0"/>
              <a:t>n </a:t>
            </a:r>
            <a:r>
              <a:rPr lang="en-US" dirty="0"/>
              <a:t>and </a:t>
            </a:r>
            <a:r>
              <a:rPr lang="en-US" b="1" dirty="0"/>
              <a:t>T</a:t>
            </a:r>
            <a:r>
              <a:rPr lang="en-US" b="1" baseline="-25000" dirty="0"/>
              <a:t>B</a:t>
            </a:r>
            <a:r>
              <a:rPr lang="en-US" b="1" dirty="0"/>
              <a:t>(n) = 25 n </a:t>
            </a:r>
            <a:endParaRPr lang="en-US" b="1" dirty="0" smtClean="0"/>
          </a:p>
          <a:p>
            <a:endParaRPr lang="en-US" b="1" dirty="0"/>
          </a:p>
          <a:p>
            <a:r>
              <a:rPr lang="en-US" dirty="0" smtClean="0"/>
              <a:t>(n) is better than (n </a:t>
            </a:r>
            <a:r>
              <a:rPr lang="en-US" dirty="0" err="1" smtClean="0"/>
              <a:t>lg</a:t>
            </a:r>
            <a:r>
              <a:rPr lang="en-US" dirty="0" smtClean="0"/>
              <a:t> n) complexity. So, Algorithm B is better</a:t>
            </a:r>
            <a:r>
              <a:rPr lang="en-US" b="1" dirty="0" smtClean="0"/>
              <a:t> </a:t>
            </a:r>
          </a:p>
          <a:p>
            <a:endParaRPr lang="en-US" b="1" dirty="0"/>
          </a:p>
          <a:p>
            <a:r>
              <a:rPr lang="en-US" dirty="0" smtClean="0"/>
              <a:t>Algorithm B outperforms the algorithm A if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T</a:t>
            </a:r>
            <a:r>
              <a:rPr lang="en-US" baseline="-25000" dirty="0" smtClean="0"/>
              <a:t>B</a:t>
            </a:r>
            <a:r>
              <a:rPr lang="en-US" dirty="0" smtClean="0"/>
              <a:t>(n) </a:t>
            </a:r>
            <a:r>
              <a:rPr lang="tr-TR" dirty="0" smtClean="0"/>
              <a:t>≤</a:t>
            </a:r>
            <a:r>
              <a:rPr lang="en-US" dirty="0" smtClean="0"/>
              <a:t> </a:t>
            </a:r>
            <a:r>
              <a:rPr lang="en-US" dirty="0"/>
              <a:t>T</a:t>
            </a:r>
            <a:r>
              <a:rPr lang="en-US" baseline="-25000" dirty="0"/>
              <a:t>A</a:t>
            </a:r>
            <a:r>
              <a:rPr lang="en-US" dirty="0"/>
              <a:t>(n)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25 n </a:t>
            </a:r>
            <a:r>
              <a:rPr lang="tr-TR" dirty="0" smtClean="0"/>
              <a:t>≤</a:t>
            </a:r>
            <a:r>
              <a:rPr lang="en-US" dirty="0" smtClean="0"/>
              <a:t> 5n log</a:t>
            </a:r>
            <a:r>
              <a:rPr lang="en-US" baseline="-25000" dirty="0" smtClean="0"/>
              <a:t>10</a:t>
            </a:r>
            <a:r>
              <a:rPr lang="en-US" dirty="0" smtClean="0"/>
              <a:t>n</a:t>
            </a:r>
          </a:p>
          <a:p>
            <a:pPr marL="0" indent="0">
              <a:buNone/>
            </a:pPr>
            <a:r>
              <a:rPr lang="en-US" dirty="0" smtClean="0"/>
              <a:t>    5 </a:t>
            </a:r>
            <a:r>
              <a:rPr lang="tr-TR" dirty="0"/>
              <a:t>≤</a:t>
            </a:r>
            <a:r>
              <a:rPr lang="en-US" dirty="0"/>
              <a:t> log</a:t>
            </a:r>
            <a:r>
              <a:rPr lang="en-US" baseline="-25000" dirty="0"/>
              <a:t>10</a:t>
            </a:r>
            <a:r>
              <a:rPr lang="en-US" dirty="0"/>
              <a:t>n</a:t>
            </a:r>
          </a:p>
          <a:p>
            <a:pPr marL="0" indent="0">
              <a:buNone/>
            </a:pPr>
            <a:r>
              <a:rPr lang="en-US" dirty="0" smtClean="0"/>
              <a:t>    log</a:t>
            </a:r>
            <a:r>
              <a:rPr lang="en-US" baseline="-25000" dirty="0" smtClean="0"/>
              <a:t>10</a:t>
            </a:r>
            <a:r>
              <a:rPr lang="en-US" dirty="0" smtClean="0"/>
              <a:t>n    </a:t>
            </a:r>
            <a:r>
              <a:rPr lang="tr-TR" dirty="0" smtClean="0"/>
              <a:t>≥</a:t>
            </a:r>
            <a:r>
              <a:rPr lang="en-US" dirty="0" smtClean="0"/>
              <a:t>   5</a:t>
            </a:r>
          </a:p>
          <a:p>
            <a:pPr marL="0" indent="0">
              <a:buNone/>
            </a:pPr>
            <a:r>
              <a:rPr lang="en-US" dirty="0" smtClean="0"/>
              <a:t>    n </a:t>
            </a:r>
            <a:r>
              <a:rPr lang="tr-TR" dirty="0" smtClean="0"/>
              <a:t>≥</a:t>
            </a:r>
            <a:r>
              <a:rPr lang="en-US" dirty="0" smtClean="0"/>
              <a:t> 10</a:t>
            </a:r>
            <a:r>
              <a:rPr lang="en-US" baseline="30000" dirty="0" smtClean="0"/>
              <a:t>5</a:t>
            </a:r>
          </a:p>
          <a:p>
            <a:pPr marL="0" indent="0">
              <a:buNone/>
            </a:pPr>
            <a:r>
              <a:rPr lang="en-US" dirty="0" smtClean="0"/>
              <a:t>    n </a:t>
            </a:r>
            <a:r>
              <a:rPr lang="tr-TR" dirty="0" smtClean="0"/>
              <a:t>≥</a:t>
            </a:r>
            <a:r>
              <a:rPr lang="en-US" dirty="0" smtClean="0"/>
              <a:t> 100,000</a:t>
            </a:r>
            <a:endParaRPr lang="en-US" baseline="30000" dirty="0"/>
          </a:p>
          <a:p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288165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Question-10a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each case below, demonstrate whether the given expression </a:t>
            </a:r>
            <a:r>
              <a:rPr lang="en-US" dirty="0" smtClean="0"/>
              <a:t>is true </a:t>
            </a:r>
            <a:r>
              <a:rPr lang="en-US" dirty="0"/>
              <a:t>or false</a:t>
            </a:r>
            <a:endParaRPr 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64" y="1786572"/>
            <a:ext cx="7917815" cy="46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7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to Question 10a</a:t>
            </a:r>
            <a:endParaRPr lang="tr-TR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024" y="1422401"/>
            <a:ext cx="7511415" cy="355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76474"/>
            <a:ext cx="9250045" cy="167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895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Question-10b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each case below, determine whether the given expression is </a:t>
            </a:r>
            <a:r>
              <a:rPr lang="en-US" dirty="0" smtClean="0"/>
              <a:t>true or false</a:t>
            </a:r>
            <a:endParaRPr 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4" y="1707182"/>
            <a:ext cx="8626475" cy="44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098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1693"/>
            <a:ext cx="10515600" cy="893520"/>
          </a:xfrm>
        </p:spPr>
        <p:txBody>
          <a:bodyPr/>
          <a:lstStyle/>
          <a:p>
            <a:r>
              <a:rPr lang="en-US" dirty="0" smtClean="0"/>
              <a:t>Solution to Question-10b</a:t>
            </a:r>
            <a:endParaRPr lang="tr-TR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4851"/>
            <a:ext cx="9001760" cy="13603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42" y="1256764"/>
            <a:ext cx="8626475" cy="44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232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8311</TotalTime>
  <Words>452</Words>
  <Application>Microsoft Office PowerPoint</Application>
  <PresentationFormat>Widescreen</PresentationFormat>
  <Paragraphs>67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Algorithms: Efficiency, Analysis, and Order</vt:lpstr>
      <vt:lpstr>Question-1</vt:lpstr>
      <vt:lpstr>Solution to Exercise-1</vt:lpstr>
      <vt:lpstr>Question-2</vt:lpstr>
      <vt:lpstr>Solution to Exercise-2</vt:lpstr>
      <vt:lpstr>Question-3</vt:lpstr>
      <vt:lpstr>Solution to Exercise-3</vt:lpstr>
      <vt:lpstr>Question-4</vt:lpstr>
      <vt:lpstr>Solution to Exercise-4</vt:lpstr>
      <vt:lpstr>Question-5</vt:lpstr>
      <vt:lpstr>Solution to Question-5</vt:lpstr>
      <vt:lpstr>Question-6</vt:lpstr>
      <vt:lpstr>Solution to Question-6</vt:lpstr>
      <vt:lpstr>Question-7</vt:lpstr>
      <vt:lpstr>Solution to Question-7</vt:lpstr>
      <vt:lpstr>Question-8</vt:lpstr>
      <vt:lpstr>Solution to Exercise-8</vt:lpstr>
      <vt:lpstr>Question-9</vt:lpstr>
      <vt:lpstr>Solution to Question-9</vt:lpstr>
      <vt:lpstr>Question-10a</vt:lpstr>
      <vt:lpstr>Solution to Question 10a</vt:lpstr>
      <vt:lpstr>Question-10b</vt:lpstr>
      <vt:lpstr>Solution to Question-10b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Cagatay Catal</dc:creator>
  <cp:lastModifiedBy>Cagatay Catal</cp:lastModifiedBy>
  <cp:revision>682</cp:revision>
  <dcterms:created xsi:type="dcterms:W3CDTF">2021-01-09T15:37:40Z</dcterms:created>
  <dcterms:modified xsi:type="dcterms:W3CDTF">2025-01-29T05:24:50Z</dcterms:modified>
</cp:coreProperties>
</file>