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79" r:id="rId3"/>
    <p:sldId id="280" r:id="rId4"/>
    <p:sldId id="281" r:id="rId5"/>
    <p:sldId id="282" r:id="rId6"/>
    <p:sldId id="283" r:id="rId7"/>
    <p:sldId id="284" r:id="rId8"/>
    <p:sldId id="286" r:id="rId9"/>
    <p:sldId id="288" r:id="rId10"/>
    <p:sldId id="289" r:id="rId11"/>
    <p:sldId id="335" r:id="rId12"/>
    <p:sldId id="324"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25" r:id="rId33"/>
  </p:sldIdLst>
  <p:sldSz cx="12192000" cy="6858000"/>
  <p:notesSz cx="6858000" cy="9144000"/>
  <p:defaultText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2016" autoAdjust="0"/>
  </p:normalViewPr>
  <p:slideViewPr>
    <p:cSldViewPr snapToGrid="0" snapToObjects="1">
      <p:cViewPr varScale="1">
        <p:scale>
          <a:sx n="63" d="100"/>
          <a:sy n="63" d="100"/>
        </p:scale>
        <p:origin x="2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Q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1EAE4-7DF9-E547-AECB-D890A080C5F7}" type="datetimeFigureOut">
              <a:rPr lang="en-QA" smtClean="0"/>
              <a:t>01/19/2025</a:t>
            </a:fld>
            <a:endParaRPr lang="en-Q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Q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Q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4B1972-16F6-0042-B2D8-F4FC729CE7E8}" type="slidenum">
              <a:rPr lang="en-QA" smtClean="0"/>
              <a:t>‹#›</a:t>
            </a:fld>
            <a:endParaRPr lang="en-QA"/>
          </a:p>
        </p:txBody>
      </p:sp>
    </p:spTree>
    <p:extLst>
      <p:ext uri="{BB962C8B-B14F-4D97-AF65-F5344CB8AC3E}">
        <p14:creationId xmlns:p14="http://schemas.microsoft.com/office/powerpoint/2010/main" val="19688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Regardless of the values of the numbers in the array, there are n passes through the for loop. Therefore, the basic operation is always done </a:t>
            </a:r>
            <a:r>
              <a:rPr lang="en-US" i="1" dirty="0">
                <a:latin typeface="Times New Roman" panose="02020603050405020304" pitchFamily="18" charset="0"/>
                <a:cs typeface="Times New Roman" panose="02020603050405020304" pitchFamily="18" charset="0"/>
              </a:rPr>
              <a:t>n</a:t>
            </a:r>
            <a:r>
              <a:rPr lang="en-US" dirty="0"/>
              <a:t> times and</a:t>
            </a:r>
          </a:p>
          <a:p>
            <a:endParaRPr lang="en-QA" dirty="0"/>
          </a:p>
          <a:p>
            <a:r>
              <a:rPr lang="en-QA" dirty="0"/>
              <a:t>1.3:</a:t>
            </a:r>
          </a:p>
          <a:p>
            <a:pPr marL="0" indent="0">
              <a:buNone/>
            </a:pPr>
            <a:r>
              <a:rPr lang="en-US" dirty="0"/>
              <a:t>We must determine how many passes there are through the for-j loop. For a given </a:t>
            </a:r>
            <a:r>
              <a:rPr lang="en-US" i="1" dirty="0">
                <a:latin typeface="Times New Roman" panose="02020603050405020304" pitchFamily="18" charset="0"/>
                <a:cs typeface="Times New Roman" panose="02020603050405020304" pitchFamily="18" charset="0"/>
              </a:rPr>
              <a:t>n</a:t>
            </a:r>
            <a:r>
              <a:rPr lang="en-US" dirty="0"/>
              <a:t> there are always </a:t>
            </a:r>
            <a:r>
              <a:rPr lang="en-US" i="1" dirty="0">
                <a:latin typeface="Times New Roman" panose="02020603050405020304" pitchFamily="18" charset="0"/>
                <a:cs typeface="Times New Roman" panose="02020603050405020304" pitchFamily="18" charset="0"/>
              </a:rPr>
              <a:t>n</a:t>
            </a:r>
            <a:r>
              <a:rPr lang="en-US" dirty="0"/>
              <a:t> − 1 passes through the for-</a:t>
            </a:r>
            <a:r>
              <a:rPr lang="en-US" dirty="0" err="1"/>
              <a:t>i</a:t>
            </a:r>
            <a:r>
              <a:rPr lang="en-US" dirty="0"/>
              <a:t> loop. In the first pass through the for-</a:t>
            </a:r>
            <a:r>
              <a:rPr lang="en-US" dirty="0" err="1"/>
              <a:t>i</a:t>
            </a:r>
            <a:r>
              <a:rPr lang="en-US" dirty="0"/>
              <a:t> loop, there are </a:t>
            </a:r>
            <a:r>
              <a:rPr lang="en-US" i="1" dirty="0">
                <a:latin typeface="Times New Roman" panose="02020603050405020304" pitchFamily="18" charset="0"/>
                <a:cs typeface="Times New Roman" panose="02020603050405020304" pitchFamily="18" charset="0"/>
              </a:rPr>
              <a:t>n</a:t>
            </a:r>
            <a:r>
              <a:rPr lang="en-US" dirty="0"/>
              <a:t> − 1 passes through the for-j loop, in the second pass there are </a:t>
            </a:r>
            <a:r>
              <a:rPr lang="en-US" i="1" dirty="0">
                <a:latin typeface="Times New Roman" panose="02020603050405020304" pitchFamily="18" charset="0"/>
                <a:cs typeface="Times New Roman" panose="02020603050405020304" pitchFamily="18" charset="0"/>
              </a:rPr>
              <a:t>n</a:t>
            </a:r>
            <a:r>
              <a:rPr lang="en-US" dirty="0"/>
              <a:t> − 2 passes through the for-j loop, in the third pass there are </a:t>
            </a:r>
            <a:r>
              <a:rPr lang="en-US" i="1" dirty="0">
                <a:latin typeface="Times New Roman" panose="02020603050405020304" pitchFamily="18" charset="0"/>
                <a:cs typeface="Times New Roman" panose="02020603050405020304" pitchFamily="18" charset="0"/>
              </a:rPr>
              <a:t>n </a:t>
            </a:r>
            <a:r>
              <a:rPr lang="en-US" dirty="0"/>
              <a:t>−3 passes through the for-j loop, ... , and in the last pass there is one pass through the for-j loop. </a:t>
            </a:r>
          </a:p>
          <a:p>
            <a:pPr marL="0" indent="0">
              <a:buNone/>
            </a:pPr>
            <a:r>
              <a:rPr lang="en-US" dirty="0"/>
              <a:t>Therefore, the total number of passes through the for-j loop is given by</a:t>
            </a:r>
          </a:p>
          <a:p>
            <a:endParaRPr lang="en-QA" dirty="0"/>
          </a:p>
        </p:txBody>
      </p:sp>
      <p:sp>
        <p:nvSpPr>
          <p:cNvPr id="4" name="Slide Number Placeholder 3"/>
          <p:cNvSpPr>
            <a:spLocks noGrp="1"/>
          </p:cNvSpPr>
          <p:nvPr>
            <p:ph type="sldNum" sz="quarter" idx="5"/>
          </p:nvPr>
        </p:nvSpPr>
        <p:spPr/>
        <p:txBody>
          <a:bodyPr/>
          <a:lstStyle/>
          <a:p>
            <a:fld id="{E54B1972-16F6-0042-B2D8-F4FC729CE7E8}" type="slidenum">
              <a:rPr lang="en-QA" smtClean="0"/>
              <a:t>6</a:t>
            </a:fld>
            <a:endParaRPr lang="en-QA"/>
          </a:p>
        </p:txBody>
      </p:sp>
    </p:spTree>
    <p:extLst>
      <p:ext uri="{BB962C8B-B14F-4D97-AF65-F5344CB8AC3E}">
        <p14:creationId xmlns:p14="http://schemas.microsoft.com/office/powerpoint/2010/main" val="2897201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only instruction in the innermost </a:t>
            </a:r>
            <a:r>
              <a:rPr lang="en-US" sz="1200" b="1" kern="1200" dirty="0">
                <a:solidFill>
                  <a:schemeClr val="tx1"/>
                </a:solidFill>
                <a:effectLst/>
                <a:latin typeface="+mn-lt"/>
                <a:ea typeface="+mn-ea"/>
                <a:cs typeface="+mn-cs"/>
              </a:rPr>
              <a:t>for </a:t>
            </a:r>
            <a:r>
              <a:rPr lang="en-US" sz="1200" kern="1200" dirty="0">
                <a:solidFill>
                  <a:schemeClr val="tx1"/>
                </a:solidFill>
                <a:effectLst/>
                <a:latin typeface="+mn-lt"/>
                <a:ea typeface="+mn-ea"/>
                <a:cs typeface="+mn-cs"/>
              </a:rPr>
              <a:t>loop is the one that does a multiplication and an addition. It is not hard to see that the algorithm can be </a:t>
            </a:r>
            <a:endParaRPr lang="en-US" dirty="0"/>
          </a:p>
          <a:p>
            <a:r>
              <a:rPr lang="en-US" sz="1200" kern="1200" dirty="0">
                <a:solidFill>
                  <a:schemeClr val="tx1"/>
                </a:solidFill>
                <a:effectLst/>
                <a:latin typeface="+mn-lt"/>
                <a:ea typeface="+mn-ea"/>
                <a:cs typeface="+mn-cs"/>
              </a:rPr>
              <a:t>implemented in such a way that fewer additions are done than multiplications. Therefore, we will consider only the multiplication instruction to be the basic operation.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always </a:t>
            </a:r>
            <a:r>
              <a:rPr lang="en-US" i="1" dirty="0"/>
              <a:t>n </a:t>
            </a:r>
            <a:r>
              <a:rPr lang="en-US" dirty="0"/>
              <a:t>passes through the </a:t>
            </a:r>
            <a:r>
              <a:rPr lang="en-US" b="1" dirty="0"/>
              <a:t>for</a:t>
            </a:r>
            <a:r>
              <a:rPr lang="en-US" dirty="0"/>
              <a:t>-</a:t>
            </a:r>
            <a:r>
              <a:rPr lang="en-US" i="1" dirty="0" err="1"/>
              <a:t>i</a:t>
            </a:r>
            <a:r>
              <a:rPr lang="en-US" i="1" dirty="0"/>
              <a:t> </a:t>
            </a:r>
            <a:r>
              <a:rPr lang="en-US" dirty="0"/>
              <a:t>loop, in each pass there are always </a:t>
            </a:r>
            <a:r>
              <a:rPr lang="en-US" i="1" dirty="0"/>
              <a:t>n </a:t>
            </a:r>
            <a:r>
              <a:rPr lang="en-US" dirty="0"/>
              <a:t>passes through the </a:t>
            </a:r>
            <a:r>
              <a:rPr lang="en-US" b="1" dirty="0"/>
              <a:t>for</a:t>
            </a:r>
            <a:r>
              <a:rPr lang="en-US" dirty="0"/>
              <a:t>-</a:t>
            </a:r>
            <a:r>
              <a:rPr lang="en-US" i="1" dirty="0"/>
              <a:t>j </a:t>
            </a:r>
            <a:r>
              <a:rPr lang="en-US" dirty="0"/>
              <a:t>loop, and in each pass through the </a:t>
            </a:r>
            <a:r>
              <a:rPr lang="en-US" b="1" dirty="0"/>
              <a:t>for</a:t>
            </a:r>
            <a:r>
              <a:rPr lang="en-US" dirty="0"/>
              <a:t>-</a:t>
            </a:r>
            <a:r>
              <a:rPr lang="en-US" i="1" dirty="0"/>
              <a:t>j </a:t>
            </a:r>
            <a:r>
              <a:rPr lang="en-US" dirty="0"/>
              <a:t>loop there are always </a:t>
            </a:r>
            <a:r>
              <a:rPr lang="en-US" i="1" dirty="0"/>
              <a:t>n </a:t>
            </a:r>
            <a:r>
              <a:rPr lang="en-US" dirty="0"/>
              <a:t>passes through the </a:t>
            </a:r>
            <a:r>
              <a:rPr lang="en-US" b="1" dirty="0"/>
              <a:t>for</a:t>
            </a:r>
            <a:r>
              <a:rPr lang="en-US" dirty="0"/>
              <a:t>-</a:t>
            </a:r>
            <a:r>
              <a:rPr lang="en-US" i="1" dirty="0"/>
              <a:t>k </a:t>
            </a:r>
            <a:r>
              <a:rPr lang="en-US" dirty="0"/>
              <a:t>loop. Because the basic operation is inside the </a:t>
            </a:r>
            <a:r>
              <a:rPr lang="en-US" b="1" dirty="0"/>
              <a:t>for</a:t>
            </a:r>
            <a:r>
              <a:rPr lang="en-US" dirty="0"/>
              <a:t>-</a:t>
            </a:r>
            <a:r>
              <a:rPr lang="en-US" i="1" dirty="0"/>
              <a:t>k </a:t>
            </a:r>
            <a:r>
              <a:rPr lang="en-US" dirty="0"/>
              <a:t>loop, </a:t>
            </a:r>
          </a:p>
          <a:p>
            <a:endParaRPr lang="en-QA" dirty="0"/>
          </a:p>
        </p:txBody>
      </p:sp>
      <p:sp>
        <p:nvSpPr>
          <p:cNvPr id="4" name="Slide Number Placeholder 3"/>
          <p:cNvSpPr>
            <a:spLocks noGrp="1"/>
          </p:cNvSpPr>
          <p:nvPr>
            <p:ph type="sldNum" sz="quarter" idx="5"/>
          </p:nvPr>
        </p:nvSpPr>
        <p:spPr/>
        <p:txBody>
          <a:bodyPr/>
          <a:lstStyle/>
          <a:p>
            <a:fld id="{E54B1972-16F6-0042-B2D8-F4FC729CE7E8}" type="slidenum">
              <a:rPr lang="en-QA" smtClean="0"/>
              <a:t>7</a:t>
            </a:fld>
            <a:endParaRPr lang="en-QA"/>
          </a:p>
        </p:txBody>
      </p:sp>
    </p:spTree>
    <p:extLst>
      <p:ext uri="{BB962C8B-B14F-4D97-AF65-F5344CB8AC3E}">
        <p14:creationId xmlns:p14="http://schemas.microsoft.com/office/powerpoint/2010/main" val="1915592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basic operation is done at most n times, which is the case if x is the last item in the array or if x is not in the array. Therefore,</a:t>
            </a:r>
          </a:p>
          <a:p>
            <a:endParaRPr lang="en-QA" dirty="0"/>
          </a:p>
        </p:txBody>
      </p:sp>
      <p:sp>
        <p:nvSpPr>
          <p:cNvPr id="4" name="Slide Number Placeholder 3"/>
          <p:cNvSpPr>
            <a:spLocks noGrp="1"/>
          </p:cNvSpPr>
          <p:nvPr>
            <p:ph type="sldNum" sz="quarter" idx="5"/>
          </p:nvPr>
        </p:nvSpPr>
        <p:spPr/>
        <p:txBody>
          <a:bodyPr/>
          <a:lstStyle/>
          <a:p>
            <a:fld id="{E54B1972-16F6-0042-B2D8-F4FC729CE7E8}" type="slidenum">
              <a:rPr lang="en-QA" smtClean="0"/>
              <a:t>8</a:t>
            </a:fld>
            <a:endParaRPr lang="en-QA"/>
          </a:p>
        </p:txBody>
      </p:sp>
    </p:spTree>
    <p:extLst>
      <p:ext uri="{BB962C8B-B14F-4D97-AF65-F5344CB8AC3E}">
        <p14:creationId xmlns:p14="http://schemas.microsoft.com/office/powerpoint/2010/main" val="3566703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final type of time complexity analysis is the determination of the smallest number of times the basic operation is done.</a:t>
            </a:r>
          </a:p>
          <a:p>
            <a:endParaRPr lang="en-US" dirty="0"/>
          </a:p>
          <a:p>
            <a:r>
              <a:rPr lang="en-US" dirty="0"/>
              <a:t>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n ≥ 1, there must be at least one pass through the loop, If x = S[1], there will be one pass through the loop regardless of the size of n.</a:t>
            </a:r>
            <a:endParaRPr lang="en-QA" dirty="0"/>
          </a:p>
          <a:p>
            <a:endParaRPr lang="en-US" dirty="0"/>
          </a:p>
          <a:p>
            <a:endParaRPr lang="en-QA" dirty="0"/>
          </a:p>
        </p:txBody>
      </p:sp>
      <p:sp>
        <p:nvSpPr>
          <p:cNvPr id="4" name="Slide Number Placeholder 3"/>
          <p:cNvSpPr>
            <a:spLocks noGrp="1"/>
          </p:cNvSpPr>
          <p:nvPr>
            <p:ph type="sldNum" sz="quarter" idx="5"/>
          </p:nvPr>
        </p:nvSpPr>
        <p:spPr/>
        <p:txBody>
          <a:bodyPr/>
          <a:lstStyle/>
          <a:p>
            <a:fld id="{E54B1972-16F6-0042-B2D8-F4FC729CE7E8}" type="slidenum">
              <a:rPr lang="en-QA" smtClean="0"/>
              <a:t>9</a:t>
            </a:fld>
            <a:endParaRPr lang="en-QA"/>
          </a:p>
        </p:txBody>
      </p:sp>
    </p:spTree>
    <p:extLst>
      <p:ext uri="{BB962C8B-B14F-4D97-AF65-F5344CB8AC3E}">
        <p14:creationId xmlns:p14="http://schemas.microsoft.com/office/powerpoint/2010/main" val="2472689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QA" dirty="0"/>
          </a:p>
        </p:txBody>
      </p:sp>
      <p:sp>
        <p:nvSpPr>
          <p:cNvPr id="4" name="Slide Number Placeholder 3"/>
          <p:cNvSpPr>
            <a:spLocks noGrp="1"/>
          </p:cNvSpPr>
          <p:nvPr>
            <p:ph type="sldNum" sz="quarter" idx="5"/>
          </p:nvPr>
        </p:nvSpPr>
        <p:spPr/>
        <p:txBody>
          <a:bodyPr/>
          <a:lstStyle/>
          <a:p>
            <a:fld id="{E54B1972-16F6-0042-B2D8-F4FC729CE7E8}" type="slidenum">
              <a:rPr lang="en-QA" smtClean="0"/>
              <a:t>19</a:t>
            </a:fld>
            <a:endParaRPr lang="en-QA"/>
          </a:p>
        </p:txBody>
      </p:sp>
    </p:spTree>
    <p:extLst>
      <p:ext uri="{BB962C8B-B14F-4D97-AF65-F5344CB8AC3E}">
        <p14:creationId xmlns:p14="http://schemas.microsoft.com/office/powerpoint/2010/main" val="3014200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There is more information in knowing a time complexity exactly than in simply knowing its order. </a:t>
            </a:r>
          </a:p>
          <a:p>
            <a:pPr lvl="2"/>
            <a:r>
              <a:rPr lang="en-US" dirty="0"/>
              <a:t>recall the hypothetical algorithms, that have time complexities of 100</a:t>
            </a:r>
            <a:r>
              <a:rPr lang="en-US" i="1" dirty="0">
                <a:latin typeface="Times New Roman" panose="02020603050405020304" pitchFamily="18" charset="0"/>
                <a:cs typeface="Times New Roman" panose="02020603050405020304" pitchFamily="18" charset="0"/>
              </a:rPr>
              <a:t>n</a:t>
            </a:r>
            <a:r>
              <a:rPr lang="en-US" dirty="0"/>
              <a:t> and 0.01</a:t>
            </a:r>
            <a:r>
              <a:rPr lang="en-US" i="1" dirty="0">
                <a:latin typeface="Times New Roman" panose="02020603050405020304" pitchFamily="18" charset="0"/>
                <a:cs typeface="Times New Roman" panose="02020603050405020304" pitchFamily="18" charset="0"/>
              </a:rPr>
              <a:t>n</a:t>
            </a:r>
            <a:r>
              <a:rPr lang="en-US" baseline="30000" dirty="0"/>
              <a:t>2</a:t>
            </a:r>
            <a:r>
              <a:rPr lang="en-US" dirty="0"/>
              <a:t>. </a:t>
            </a:r>
          </a:p>
          <a:p>
            <a:pPr lvl="2"/>
            <a:r>
              <a:rPr lang="en-US" dirty="0"/>
              <a:t>If it takes the same amount of time to process the basic operations and execute the overhead instructions in both algorithms, then the quadratic-time algorithm is more efficient for instances smaller than 10,000. If the application never requires instances larger than this, the quadratic-time algorithm should be implemented.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we knew only that the time complexities were in </a:t>
            </a:r>
            <a:r>
              <a:rPr lang="el-GR" sz="1200" kern="1200" dirty="0">
                <a:solidFill>
                  <a:schemeClr val="tx1"/>
                </a:solidFill>
                <a:effectLst/>
                <a:latin typeface="+mn-lt"/>
                <a:ea typeface="+mn-ea"/>
                <a:cs typeface="+mn-cs"/>
              </a:rPr>
              <a:t>Θ(</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and </a:t>
            </a:r>
            <a:r>
              <a:rPr lang="el-GR" sz="1200" kern="1200" dirty="0">
                <a:solidFill>
                  <a:schemeClr val="tx1"/>
                </a:solidFill>
                <a:effectLst/>
                <a:latin typeface="+mn-lt"/>
                <a:ea typeface="+mn-ea"/>
                <a:cs typeface="+mn-cs"/>
              </a:rPr>
              <a:t>Θ(</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2), respectively, we would not know this. The coefficients in this example are extreme, and in practice they are often less extreme. Furthermore, there are times when it is quite difficult to determine the time complexities exactly. Therefore, we are sometimes content to determine only the order. </a:t>
            </a:r>
            <a:endParaRPr lang="en-US" dirty="0"/>
          </a:p>
          <a:p>
            <a:endParaRPr lang="en-QA" dirty="0"/>
          </a:p>
        </p:txBody>
      </p:sp>
      <p:sp>
        <p:nvSpPr>
          <p:cNvPr id="4" name="Slide Number Placeholder 3"/>
          <p:cNvSpPr>
            <a:spLocks noGrp="1"/>
          </p:cNvSpPr>
          <p:nvPr>
            <p:ph type="sldNum" sz="quarter" idx="5"/>
          </p:nvPr>
        </p:nvSpPr>
        <p:spPr/>
        <p:txBody>
          <a:bodyPr/>
          <a:lstStyle/>
          <a:p>
            <a:fld id="{E54B1972-16F6-0042-B2D8-F4FC729CE7E8}" type="slidenum">
              <a:rPr lang="en-QA" smtClean="0"/>
              <a:t>22</a:t>
            </a:fld>
            <a:endParaRPr lang="en-QA"/>
          </a:p>
        </p:txBody>
      </p:sp>
    </p:spTree>
    <p:extLst>
      <p:ext uri="{BB962C8B-B14F-4D97-AF65-F5344CB8AC3E}">
        <p14:creationId xmlns:p14="http://schemas.microsoft.com/office/powerpoint/2010/main" val="3874588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C43D9-969B-B841-8560-D1E81863F6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QA"/>
          </a:p>
        </p:txBody>
      </p:sp>
      <p:sp>
        <p:nvSpPr>
          <p:cNvPr id="3" name="Subtitle 2">
            <a:extLst>
              <a:ext uri="{FF2B5EF4-FFF2-40B4-BE49-F238E27FC236}">
                <a16:creationId xmlns:a16="http://schemas.microsoft.com/office/drawing/2014/main" id="{264E0E27-03D4-5246-B42A-10412F2E57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QA"/>
          </a:p>
        </p:txBody>
      </p:sp>
      <p:sp>
        <p:nvSpPr>
          <p:cNvPr id="4" name="Date Placeholder 3">
            <a:extLst>
              <a:ext uri="{FF2B5EF4-FFF2-40B4-BE49-F238E27FC236}">
                <a16:creationId xmlns:a16="http://schemas.microsoft.com/office/drawing/2014/main" id="{68E2762A-D844-8540-ABD5-0920255076E3}"/>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5" name="Footer Placeholder 4">
            <a:extLst>
              <a:ext uri="{FF2B5EF4-FFF2-40B4-BE49-F238E27FC236}">
                <a16:creationId xmlns:a16="http://schemas.microsoft.com/office/drawing/2014/main" id="{AEFF9DFF-05D2-3146-ACBD-3B35083EAD5F}"/>
              </a:ext>
            </a:extLst>
          </p:cNvPr>
          <p:cNvSpPr>
            <a:spLocks noGrp="1"/>
          </p:cNvSpPr>
          <p:nvPr>
            <p:ph type="ftr" sz="quarter" idx="11"/>
          </p:nvPr>
        </p:nvSpPr>
        <p:spPr/>
        <p:txBody>
          <a:bodyPr/>
          <a:lstStyle/>
          <a:p>
            <a:endParaRPr lang="en-QA"/>
          </a:p>
        </p:txBody>
      </p:sp>
      <p:sp>
        <p:nvSpPr>
          <p:cNvPr id="6" name="Slide Number Placeholder 5">
            <a:extLst>
              <a:ext uri="{FF2B5EF4-FFF2-40B4-BE49-F238E27FC236}">
                <a16:creationId xmlns:a16="http://schemas.microsoft.com/office/drawing/2014/main" id="{E5C9777B-F847-5C48-BDC7-A73C9B5EB675}"/>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157254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1B05A-49DA-2747-9797-E2B310C762D1}"/>
              </a:ext>
            </a:extLst>
          </p:cNvPr>
          <p:cNvSpPr>
            <a:spLocks noGrp="1"/>
          </p:cNvSpPr>
          <p:nvPr>
            <p:ph type="title"/>
          </p:nvPr>
        </p:nvSpPr>
        <p:spPr>
          <a:xfrm>
            <a:off x="838200" y="365126"/>
            <a:ext cx="10515600" cy="893520"/>
          </a:xfrm>
        </p:spPr>
        <p:txBody>
          <a:bodyPr>
            <a:normAutofit/>
          </a:bodyPr>
          <a:lstStyle>
            <a:lvl1pPr>
              <a:defRPr sz="3200" b="1">
                <a:solidFill>
                  <a:srgbClr val="C00000"/>
                </a:solidFill>
              </a:defRPr>
            </a:lvl1pPr>
          </a:lstStyle>
          <a:p>
            <a:r>
              <a:rPr lang="en-US"/>
              <a:t>Click to edit Master title style</a:t>
            </a:r>
            <a:endParaRPr lang="en-QA"/>
          </a:p>
        </p:txBody>
      </p:sp>
      <p:sp>
        <p:nvSpPr>
          <p:cNvPr id="3" name="Content Placeholder 2">
            <a:extLst>
              <a:ext uri="{FF2B5EF4-FFF2-40B4-BE49-F238E27FC236}">
                <a16:creationId xmlns:a16="http://schemas.microsoft.com/office/drawing/2014/main" id="{73862B4E-E8CD-8541-B62B-40C0FACCDE6E}"/>
              </a:ext>
            </a:extLst>
          </p:cNvPr>
          <p:cNvSpPr>
            <a:spLocks noGrp="1"/>
          </p:cNvSpPr>
          <p:nvPr>
            <p:ph idx="1"/>
          </p:nvPr>
        </p:nvSpPr>
        <p:spPr>
          <a:xfrm>
            <a:off x="838200" y="1258646"/>
            <a:ext cx="10515600" cy="4918317"/>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QA" dirty="0"/>
          </a:p>
        </p:txBody>
      </p:sp>
      <p:sp>
        <p:nvSpPr>
          <p:cNvPr id="4" name="Date Placeholder 3">
            <a:extLst>
              <a:ext uri="{FF2B5EF4-FFF2-40B4-BE49-F238E27FC236}">
                <a16:creationId xmlns:a16="http://schemas.microsoft.com/office/drawing/2014/main" id="{E508CD30-4126-184B-9C57-B12C5801F055}"/>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5" name="Footer Placeholder 4">
            <a:extLst>
              <a:ext uri="{FF2B5EF4-FFF2-40B4-BE49-F238E27FC236}">
                <a16:creationId xmlns:a16="http://schemas.microsoft.com/office/drawing/2014/main" id="{EB090A29-77A4-FD4F-B5EF-3802E79838B6}"/>
              </a:ext>
            </a:extLst>
          </p:cNvPr>
          <p:cNvSpPr>
            <a:spLocks noGrp="1"/>
          </p:cNvSpPr>
          <p:nvPr>
            <p:ph type="ftr" sz="quarter" idx="11"/>
          </p:nvPr>
        </p:nvSpPr>
        <p:spPr/>
        <p:txBody>
          <a:bodyPr/>
          <a:lstStyle/>
          <a:p>
            <a:endParaRPr lang="en-QA"/>
          </a:p>
        </p:txBody>
      </p:sp>
      <p:sp>
        <p:nvSpPr>
          <p:cNvPr id="6" name="Slide Number Placeholder 5">
            <a:extLst>
              <a:ext uri="{FF2B5EF4-FFF2-40B4-BE49-F238E27FC236}">
                <a16:creationId xmlns:a16="http://schemas.microsoft.com/office/drawing/2014/main" id="{67C35DCE-3BDE-444D-9BD3-C1B76D4B7A42}"/>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3049103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9A86-599A-3D41-B71D-62FD4118B1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QA"/>
          </a:p>
        </p:txBody>
      </p:sp>
      <p:sp>
        <p:nvSpPr>
          <p:cNvPr id="3" name="Text Placeholder 2">
            <a:extLst>
              <a:ext uri="{FF2B5EF4-FFF2-40B4-BE49-F238E27FC236}">
                <a16:creationId xmlns:a16="http://schemas.microsoft.com/office/drawing/2014/main" id="{1344C2A5-188C-D842-BE65-ECB3CB285A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B37A44-8A4A-BF48-A332-D120264F8845}"/>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5" name="Footer Placeholder 4">
            <a:extLst>
              <a:ext uri="{FF2B5EF4-FFF2-40B4-BE49-F238E27FC236}">
                <a16:creationId xmlns:a16="http://schemas.microsoft.com/office/drawing/2014/main" id="{34E6207D-80CD-A943-8781-543E307E23CD}"/>
              </a:ext>
            </a:extLst>
          </p:cNvPr>
          <p:cNvSpPr>
            <a:spLocks noGrp="1"/>
          </p:cNvSpPr>
          <p:nvPr>
            <p:ph type="ftr" sz="quarter" idx="11"/>
          </p:nvPr>
        </p:nvSpPr>
        <p:spPr/>
        <p:txBody>
          <a:bodyPr/>
          <a:lstStyle/>
          <a:p>
            <a:endParaRPr lang="en-QA"/>
          </a:p>
        </p:txBody>
      </p:sp>
      <p:sp>
        <p:nvSpPr>
          <p:cNvPr id="6" name="Slide Number Placeholder 5">
            <a:extLst>
              <a:ext uri="{FF2B5EF4-FFF2-40B4-BE49-F238E27FC236}">
                <a16:creationId xmlns:a16="http://schemas.microsoft.com/office/drawing/2014/main" id="{11CD2175-0674-4F46-8D7D-69F743B76E78}"/>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2431162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9503E-8F61-D849-B25A-F94E084328DC}"/>
              </a:ext>
            </a:extLst>
          </p:cNvPr>
          <p:cNvSpPr>
            <a:spLocks noGrp="1"/>
          </p:cNvSpPr>
          <p:nvPr>
            <p:ph type="title"/>
          </p:nvPr>
        </p:nvSpPr>
        <p:spPr/>
        <p:txBody>
          <a:bodyPr/>
          <a:lstStyle/>
          <a:p>
            <a:r>
              <a:rPr lang="en-US"/>
              <a:t>Click to edit Master title style</a:t>
            </a:r>
            <a:endParaRPr lang="en-QA"/>
          </a:p>
        </p:txBody>
      </p:sp>
      <p:sp>
        <p:nvSpPr>
          <p:cNvPr id="3" name="Content Placeholder 2">
            <a:extLst>
              <a:ext uri="{FF2B5EF4-FFF2-40B4-BE49-F238E27FC236}">
                <a16:creationId xmlns:a16="http://schemas.microsoft.com/office/drawing/2014/main" id="{AA3D54E2-4427-6F40-A04E-04CA25B3D3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Content Placeholder 3">
            <a:extLst>
              <a:ext uri="{FF2B5EF4-FFF2-40B4-BE49-F238E27FC236}">
                <a16:creationId xmlns:a16="http://schemas.microsoft.com/office/drawing/2014/main" id="{C0882C34-5EE9-0F45-9CA9-A40353FF91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5" name="Date Placeholder 4">
            <a:extLst>
              <a:ext uri="{FF2B5EF4-FFF2-40B4-BE49-F238E27FC236}">
                <a16:creationId xmlns:a16="http://schemas.microsoft.com/office/drawing/2014/main" id="{6E7140A6-E7D3-2347-AFEE-7EF676A44B77}"/>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6" name="Footer Placeholder 5">
            <a:extLst>
              <a:ext uri="{FF2B5EF4-FFF2-40B4-BE49-F238E27FC236}">
                <a16:creationId xmlns:a16="http://schemas.microsoft.com/office/drawing/2014/main" id="{564A88B6-FC08-DD4C-ACE3-5DA6D8395C1D}"/>
              </a:ext>
            </a:extLst>
          </p:cNvPr>
          <p:cNvSpPr>
            <a:spLocks noGrp="1"/>
          </p:cNvSpPr>
          <p:nvPr>
            <p:ph type="ftr" sz="quarter" idx="11"/>
          </p:nvPr>
        </p:nvSpPr>
        <p:spPr/>
        <p:txBody>
          <a:bodyPr/>
          <a:lstStyle/>
          <a:p>
            <a:endParaRPr lang="en-QA"/>
          </a:p>
        </p:txBody>
      </p:sp>
      <p:sp>
        <p:nvSpPr>
          <p:cNvPr id="7" name="Slide Number Placeholder 6">
            <a:extLst>
              <a:ext uri="{FF2B5EF4-FFF2-40B4-BE49-F238E27FC236}">
                <a16:creationId xmlns:a16="http://schemas.microsoft.com/office/drawing/2014/main" id="{20FB49E9-6966-3F40-A96F-3DCF8C20C59B}"/>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3142015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4AB8-24EB-6A47-A9E1-0DDB3389BED1}"/>
              </a:ext>
            </a:extLst>
          </p:cNvPr>
          <p:cNvSpPr>
            <a:spLocks noGrp="1"/>
          </p:cNvSpPr>
          <p:nvPr>
            <p:ph type="title"/>
          </p:nvPr>
        </p:nvSpPr>
        <p:spPr>
          <a:xfrm>
            <a:off x="839788" y="365125"/>
            <a:ext cx="10515600" cy="1325563"/>
          </a:xfrm>
        </p:spPr>
        <p:txBody>
          <a:bodyPr/>
          <a:lstStyle/>
          <a:p>
            <a:r>
              <a:rPr lang="en-US"/>
              <a:t>Click to edit Master title style</a:t>
            </a:r>
            <a:endParaRPr lang="en-QA"/>
          </a:p>
        </p:txBody>
      </p:sp>
      <p:sp>
        <p:nvSpPr>
          <p:cNvPr id="3" name="Text Placeholder 2">
            <a:extLst>
              <a:ext uri="{FF2B5EF4-FFF2-40B4-BE49-F238E27FC236}">
                <a16:creationId xmlns:a16="http://schemas.microsoft.com/office/drawing/2014/main" id="{84C6C325-637A-6E45-8744-B887FD6370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D899B5-EEAF-B64F-B960-5C10CBCBF4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5" name="Text Placeholder 4">
            <a:extLst>
              <a:ext uri="{FF2B5EF4-FFF2-40B4-BE49-F238E27FC236}">
                <a16:creationId xmlns:a16="http://schemas.microsoft.com/office/drawing/2014/main" id="{9ADFC5AF-20DD-1D46-9CCA-743EB5F117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17C7E1-55A8-DA42-BDD8-D9B45589E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7" name="Date Placeholder 6">
            <a:extLst>
              <a:ext uri="{FF2B5EF4-FFF2-40B4-BE49-F238E27FC236}">
                <a16:creationId xmlns:a16="http://schemas.microsoft.com/office/drawing/2014/main" id="{4ADDA458-3F9C-E34A-BA12-21B65A3BDFAF}"/>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8" name="Footer Placeholder 7">
            <a:extLst>
              <a:ext uri="{FF2B5EF4-FFF2-40B4-BE49-F238E27FC236}">
                <a16:creationId xmlns:a16="http://schemas.microsoft.com/office/drawing/2014/main" id="{6606870D-A2B8-F048-90DD-F6D37B70B938}"/>
              </a:ext>
            </a:extLst>
          </p:cNvPr>
          <p:cNvSpPr>
            <a:spLocks noGrp="1"/>
          </p:cNvSpPr>
          <p:nvPr>
            <p:ph type="ftr" sz="quarter" idx="11"/>
          </p:nvPr>
        </p:nvSpPr>
        <p:spPr/>
        <p:txBody>
          <a:bodyPr/>
          <a:lstStyle/>
          <a:p>
            <a:endParaRPr lang="en-QA"/>
          </a:p>
        </p:txBody>
      </p:sp>
      <p:sp>
        <p:nvSpPr>
          <p:cNvPr id="9" name="Slide Number Placeholder 8">
            <a:extLst>
              <a:ext uri="{FF2B5EF4-FFF2-40B4-BE49-F238E27FC236}">
                <a16:creationId xmlns:a16="http://schemas.microsoft.com/office/drawing/2014/main" id="{5386CDBC-AACB-8240-8F66-7C40ABB55C2F}"/>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1528462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8F937-BA7B-4F46-ACD5-3DBDF785FF98}"/>
              </a:ext>
            </a:extLst>
          </p:cNvPr>
          <p:cNvSpPr>
            <a:spLocks noGrp="1"/>
          </p:cNvSpPr>
          <p:nvPr>
            <p:ph type="title"/>
          </p:nvPr>
        </p:nvSpPr>
        <p:spPr/>
        <p:txBody>
          <a:bodyPr/>
          <a:lstStyle/>
          <a:p>
            <a:r>
              <a:rPr lang="en-US"/>
              <a:t>Click to edit Master title style</a:t>
            </a:r>
            <a:endParaRPr lang="en-QA"/>
          </a:p>
        </p:txBody>
      </p:sp>
      <p:sp>
        <p:nvSpPr>
          <p:cNvPr id="3" name="Date Placeholder 2">
            <a:extLst>
              <a:ext uri="{FF2B5EF4-FFF2-40B4-BE49-F238E27FC236}">
                <a16:creationId xmlns:a16="http://schemas.microsoft.com/office/drawing/2014/main" id="{FD6D4EAB-DCBE-9248-AC6E-9F4BA94AD53F}"/>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4" name="Footer Placeholder 3">
            <a:extLst>
              <a:ext uri="{FF2B5EF4-FFF2-40B4-BE49-F238E27FC236}">
                <a16:creationId xmlns:a16="http://schemas.microsoft.com/office/drawing/2014/main" id="{C0235B96-5BBF-894E-9A5A-EC311BD14C28}"/>
              </a:ext>
            </a:extLst>
          </p:cNvPr>
          <p:cNvSpPr>
            <a:spLocks noGrp="1"/>
          </p:cNvSpPr>
          <p:nvPr>
            <p:ph type="ftr" sz="quarter" idx="11"/>
          </p:nvPr>
        </p:nvSpPr>
        <p:spPr/>
        <p:txBody>
          <a:bodyPr/>
          <a:lstStyle/>
          <a:p>
            <a:endParaRPr lang="en-QA"/>
          </a:p>
        </p:txBody>
      </p:sp>
      <p:sp>
        <p:nvSpPr>
          <p:cNvPr id="5" name="Slide Number Placeholder 4">
            <a:extLst>
              <a:ext uri="{FF2B5EF4-FFF2-40B4-BE49-F238E27FC236}">
                <a16:creationId xmlns:a16="http://schemas.microsoft.com/office/drawing/2014/main" id="{15C0FED8-525D-0A4E-B05A-24EF0BC5E0FA}"/>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2938083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38250-C423-C148-B3A7-2663DF9EC382}"/>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3" name="Footer Placeholder 2">
            <a:extLst>
              <a:ext uri="{FF2B5EF4-FFF2-40B4-BE49-F238E27FC236}">
                <a16:creationId xmlns:a16="http://schemas.microsoft.com/office/drawing/2014/main" id="{D85F12E7-7C62-A348-ABC3-C0576A47C4BC}"/>
              </a:ext>
            </a:extLst>
          </p:cNvPr>
          <p:cNvSpPr>
            <a:spLocks noGrp="1"/>
          </p:cNvSpPr>
          <p:nvPr>
            <p:ph type="ftr" sz="quarter" idx="11"/>
          </p:nvPr>
        </p:nvSpPr>
        <p:spPr/>
        <p:txBody>
          <a:bodyPr/>
          <a:lstStyle/>
          <a:p>
            <a:endParaRPr lang="en-QA"/>
          </a:p>
        </p:txBody>
      </p:sp>
      <p:sp>
        <p:nvSpPr>
          <p:cNvPr id="4" name="Slide Number Placeholder 3">
            <a:extLst>
              <a:ext uri="{FF2B5EF4-FFF2-40B4-BE49-F238E27FC236}">
                <a16:creationId xmlns:a16="http://schemas.microsoft.com/office/drawing/2014/main" id="{3A1B03E2-3223-8743-8447-4B7579AFCA1A}"/>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1759461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E8037-1501-0441-9794-C5EBF7B935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QA"/>
          </a:p>
        </p:txBody>
      </p:sp>
      <p:sp>
        <p:nvSpPr>
          <p:cNvPr id="3" name="Content Placeholder 2">
            <a:extLst>
              <a:ext uri="{FF2B5EF4-FFF2-40B4-BE49-F238E27FC236}">
                <a16:creationId xmlns:a16="http://schemas.microsoft.com/office/drawing/2014/main" id="{203E2B03-539C-3B4F-B8CE-A85C1D906C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Text Placeholder 3">
            <a:extLst>
              <a:ext uri="{FF2B5EF4-FFF2-40B4-BE49-F238E27FC236}">
                <a16:creationId xmlns:a16="http://schemas.microsoft.com/office/drawing/2014/main" id="{5331F868-E9EE-6548-BEF7-B69A69F47C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5429C6-9E7C-4C4C-B2F8-DBF96E09E8A0}"/>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6" name="Footer Placeholder 5">
            <a:extLst>
              <a:ext uri="{FF2B5EF4-FFF2-40B4-BE49-F238E27FC236}">
                <a16:creationId xmlns:a16="http://schemas.microsoft.com/office/drawing/2014/main" id="{9E800DBA-CEE9-8944-8D42-B53DF4B5E279}"/>
              </a:ext>
            </a:extLst>
          </p:cNvPr>
          <p:cNvSpPr>
            <a:spLocks noGrp="1"/>
          </p:cNvSpPr>
          <p:nvPr>
            <p:ph type="ftr" sz="quarter" idx="11"/>
          </p:nvPr>
        </p:nvSpPr>
        <p:spPr/>
        <p:txBody>
          <a:bodyPr/>
          <a:lstStyle/>
          <a:p>
            <a:endParaRPr lang="en-QA"/>
          </a:p>
        </p:txBody>
      </p:sp>
      <p:sp>
        <p:nvSpPr>
          <p:cNvPr id="7" name="Slide Number Placeholder 6">
            <a:extLst>
              <a:ext uri="{FF2B5EF4-FFF2-40B4-BE49-F238E27FC236}">
                <a16:creationId xmlns:a16="http://schemas.microsoft.com/office/drawing/2014/main" id="{3634C08E-9733-D240-BA55-AD63C0B2A57B}"/>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38223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A4E6-2D17-3349-BFA1-9575B9714F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QA"/>
          </a:p>
        </p:txBody>
      </p:sp>
      <p:sp>
        <p:nvSpPr>
          <p:cNvPr id="3" name="Picture Placeholder 2">
            <a:extLst>
              <a:ext uri="{FF2B5EF4-FFF2-40B4-BE49-F238E27FC236}">
                <a16:creationId xmlns:a16="http://schemas.microsoft.com/office/drawing/2014/main" id="{FFFF320C-CFF7-2E4E-96BC-21BD7B46E4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QA"/>
          </a:p>
        </p:txBody>
      </p:sp>
      <p:sp>
        <p:nvSpPr>
          <p:cNvPr id="4" name="Text Placeholder 3">
            <a:extLst>
              <a:ext uri="{FF2B5EF4-FFF2-40B4-BE49-F238E27FC236}">
                <a16:creationId xmlns:a16="http://schemas.microsoft.com/office/drawing/2014/main" id="{5B839EF1-EBE6-E643-93D4-ADC3A5A1B6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D899F5-9751-5B4A-BA6F-36C01A175CB0}"/>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6" name="Footer Placeholder 5">
            <a:extLst>
              <a:ext uri="{FF2B5EF4-FFF2-40B4-BE49-F238E27FC236}">
                <a16:creationId xmlns:a16="http://schemas.microsoft.com/office/drawing/2014/main" id="{923FE7B7-237A-234A-8B6E-C4DB879FE804}"/>
              </a:ext>
            </a:extLst>
          </p:cNvPr>
          <p:cNvSpPr>
            <a:spLocks noGrp="1"/>
          </p:cNvSpPr>
          <p:nvPr>
            <p:ph type="ftr" sz="quarter" idx="11"/>
          </p:nvPr>
        </p:nvSpPr>
        <p:spPr/>
        <p:txBody>
          <a:bodyPr/>
          <a:lstStyle/>
          <a:p>
            <a:endParaRPr lang="en-QA"/>
          </a:p>
        </p:txBody>
      </p:sp>
      <p:sp>
        <p:nvSpPr>
          <p:cNvPr id="7" name="Slide Number Placeholder 6">
            <a:extLst>
              <a:ext uri="{FF2B5EF4-FFF2-40B4-BE49-F238E27FC236}">
                <a16:creationId xmlns:a16="http://schemas.microsoft.com/office/drawing/2014/main" id="{8CF47028-D19C-7846-9E31-BDAD6BBB1A77}"/>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3976152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E75D4-2EDE-FF4D-AF29-10EBFC8BD4AE}"/>
              </a:ext>
            </a:extLst>
          </p:cNvPr>
          <p:cNvSpPr>
            <a:spLocks noGrp="1"/>
          </p:cNvSpPr>
          <p:nvPr>
            <p:ph type="title"/>
          </p:nvPr>
        </p:nvSpPr>
        <p:spPr/>
        <p:txBody>
          <a:bodyPr/>
          <a:lstStyle/>
          <a:p>
            <a:r>
              <a:rPr lang="en-US"/>
              <a:t>Click to edit Master title style</a:t>
            </a:r>
            <a:endParaRPr lang="en-QA"/>
          </a:p>
        </p:txBody>
      </p:sp>
      <p:sp>
        <p:nvSpPr>
          <p:cNvPr id="3" name="Vertical Text Placeholder 2">
            <a:extLst>
              <a:ext uri="{FF2B5EF4-FFF2-40B4-BE49-F238E27FC236}">
                <a16:creationId xmlns:a16="http://schemas.microsoft.com/office/drawing/2014/main" id="{6121C6D8-6FC9-B64A-8822-7A48AB7BE3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Date Placeholder 3">
            <a:extLst>
              <a:ext uri="{FF2B5EF4-FFF2-40B4-BE49-F238E27FC236}">
                <a16:creationId xmlns:a16="http://schemas.microsoft.com/office/drawing/2014/main" id="{E1875595-8838-474B-8900-B80500606BAB}"/>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5" name="Footer Placeholder 4">
            <a:extLst>
              <a:ext uri="{FF2B5EF4-FFF2-40B4-BE49-F238E27FC236}">
                <a16:creationId xmlns:a16="http://schemas.microsoft.com/office/drawing/2014/main" id="{0939808D-C802-674D-A8A3-2D5C2CD4A5C1}"/>
              </a:ext>
            </a:extLst>
          </p:cNvPr>
          <p:cNvSpPr>
            <a:spLocks noGrp="1"/>
          </p:cNvSpPr>
          <p:nvPr>
            <p:ph type="ftr" sz="quarter" idx="11"/>
          </p:nvPr>
        </p:nvSpPr>
        <p:spPr/>
        <p:txBody>
          <a:bodyPr/>
          <a:lstStyle/>
          <a:p>
            <a:endParaRPr lang="en-QA"/>
          </a:p>
        </p:txBody>
      </p:sp>
      <p:sp>
        <p:nvSpPr>
          <p:cNvPr id="6" name="Slide Number Placeholder 5">
            <a:extLst>
              <a:ext uri="{FF2B5EF4-FFF2-40B4-BE49-F238E27FC236}">
                <a16:creationId xmlns:a16="http://schemas.microsoft.com/office/drawing/2014/main" id="{EA000625-E69F-7D45-BB50-36EAAFE8F346}"/>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343973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B2DCA0-DCD9-AA47-844D-B9F6B34772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QA"/>
          </a:p>
        </p:txBody>
      </p:sp>
      <p:sp>
        <p:nvSpPr>
          <p:cNvPr id="3" name="Vertical Text Placeholder 2">
            <a:extLst>
              <a:ext uri="{FF2B5EF4-FFF2-40B4-BE49-F238E27FC236}">
                <a16:creationId xmlns:a16="http://schemas.microsoft.com/office/drawing/2014/main" id="{B38E7AA1-F489-CC4F-BDD7-5EDD48AD8A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Date Placeholder 3">
            <a:extLst>
              <a:ext uri="{FF2B5EF4-FFF2-40B4-BE49-F238E27FC236}">
                <a16:creationId xmlns:a16="http://schemas.microsoft.com/office/drawing/2014/main" id="{ED6B60F0-1899-B14C-9373-39E1299E19A1}"/>
              </a:ext>
            </a:extLst>
          </p:cNvPr>
          <p:cNvSpPr>
            <a:spLocks noGrp="1"/>
          </p:cNvSpPr>
          <p:nvPr>
            <p:ph type="dt" sz="half" idx="10"/>
          </p:nvPr>
        </p:nvSpPr>
        <p:spPr/>
        <p:txBody>
          <a:bodyPr/>
          <a:lstStyle/>
          <a:p>
            <a:fld id="{DCA79C86-D64F-D64B-9347-DB20E425E90B}" type="datetimeFigureOut">
              <a:rPr lang="en-QA" smtClean="0"/>
              <a:t>01/19/2025</a:t>
            </a:fld>
            <a:endParaRPr lang="en-QA"/>
          </a:p>
        </p:txBody>
      </p:sp>
      <p:sp>
        <p:nvSpPr>
          <p:cNvPr id="5" name="Footer Placeholder 4">
            <a:extLst>
              <a:ext uri="{FF2B5EF4-FFF2-40B4-BE49-F238E27FC236}">
                <a16:creationId xmlns:a16="http://schemas.microsoft.com/office/drawing/2014/main" id="{46F6731D-46D7-A545-9FCC-3EB6BB957EFF}"/>
              </a:ext>
            </a:extLst>
          </p:cNvPr>
          <p:cNvSpPr>
            <a:spLocks noGrp="1"/>
          </p:cNvSpPr>
          <p:nvPr>
            <p:ph type="ftr" sz="quarter" idx="11"/>
          </p:nvPr>
        </p:nvSpPr>
        <p:spPr/>
        <p:txBody>
          <a:bodyPr/>
          <a:lstStyle/>
          <a:p>
            <a:endParaRPr lang="en-QA"/>
          </a:p>
        </p:txBody>
      </p:sp>
      <p:sp>
        <p:nvSpPr>
          <p:cNvPr id="6" name="Slide Number Placeholder 5">
            <a:extLst>
              <a:ext uri="{FF2B5EF4-FFF2-40B4-BE49-F238E27FC236}">
                <a16:creationId xmlns:a16="http://schemas.microsoft.com/office/drawing/2014/main" id="{D5920A14-42BD-5F47-BB02-094E497C69E1}"/>
              </a:ext>
            </a:extLst>
          </p:cNvPr>
          <p:cNvSpPr>
            <a:spLocks noGrp="1"/>
          </p:cNvSpPr>
          <p:nvPr>
            <p:ph type="sldNum" sz="quarter" idx="12"/>
          </p:nvPr>
        </p:nvSpPr>
        <p:spPr/>
        <p:txBody>
          <a:bodyPr/>
          <a:lstStyle/>
          <a:p>
            <a:fld id="{2A15C4B8-587D-604C-A895-2C42811FDA20}" type="slidenum">
              <a:rPr lang="en-QA" smtClean="0"/>
              <a:t>‹#›</a:t>
            </a:fld>
            <a:endParaRPr lang="en-QA"/>
          </a:p>
        </p:txBody>
      </p:sp>
    </p:spTree>
    <p:extLst>
      <p:ext uri="{BB962C8B-B14F-4D97-AF65-F5344CB8AC3E}">
        <p14:creationId xmlns:p14="http://schemas.microsoft.com/office/powerpoint/2010/main" val="3612729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55A4A4-E523-8A44-A328-380C82C328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QA"/>
          </a:p>
        </p:txBody>
      </p:sp>
      <p:sp>
        <p:nvSpPr>
          <p:cNvPr id="3" name="Text Placeholder 2">
            <a:extLst>
              <a:ext uri="{FF2B5EF4-FFF2-40B4-BE49-F238E27FC236}">
                <a16:creationId xmlns:a16="http://schemas.microsoft.com/office/drawing/2014/main" id="{748C8E7C-E15B-724E-B533-274ABEC5BF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Date Placeholder 3">
            <a:extLst>
              <a:ext uri="{FF2B5EF4-FFF2-40B4-BE49-F238E27FC236}">
                <a16:creationId xmlns:a16="http://schemas.microsoft.com/office/drawing/2014/main" id="{EBD3B09C-6196-8B4C-BFB1-4AF028CEB5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A79C86-D64F-D64B-9347-DB20E425E90B}" type="datetimeFigureOut">
              <a:rPr lang="en-QA" smtClean="0"/>
              <a:t>01/19/2025</a:t>
            </a:fld>
            <a:endParaRPr lang="en-QA"/>
          </a:p>
        </p:txBody>
      </p:sp>
      <p:sp>
        <p:nvSpPr>
          <p:cNvPr id="5" name="Footer Placeholder 4">
            <a:extLst>
              <a:ext uri="{FF2B5EF4-FFF2-40B4-BE49-F238E27FC236}">
                <a16:creationId xmlns:a16="http://schemas.microsoft.com/office/drawing/2014/main" id="{577D81A9-6416-F74D-AC2F-77DAF563B3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QA"/>
          </a:p>
        </p:txBody>
      </p:sp>
      <p:sp>
        <p:nvSpPr>
          <p:cNvPr id="6" name="Slide Number Placeholder 5">
            <a:extLst>
              <a:ext uri="{FF2B5EF4-FFF2-40B4-BE49-F238E27FC236}">
                <a16:creationId xmlns:a16="http://schemas.microsoft.com/office/drawing/2014/main" id="{05026C14-75D2-9340-B716-4EBC3E9470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15C4B8-587D-604C-A895-2C42811FDA20}" type="slidenum">
              <a:rPr lang="en-QA" smtClean="0"/>
              <a:t>‹#›</a:t>
            </a:fld>
            <a:endParaRPr lang="en-QA"/>
          </a:p>
        </p:txBody>
      </p:sp>
    </p:spTree>
    <p:extLst>
      <p:ext uri="{BB962C8B-B14F-4D97-AF65-F5344CB8AC3E}">
        <p14:creationId xmlns:p14="http://schemas.microsoft.com/office/powerpoint/2010/main" val="3823343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8DDBD-B078-F546-A61A-69D2AC762E7F}"/>
              </a:ext>
            </a:extLst>
          </p:cNvPr>
          <p:cNvSpPr>
            <a:spLocks noGrp="1"/>
          </p:cNvSpPr>
          <p:nvPr>
            <p:ph type="ctrTitle"/>
          </p:nvPr>
        </p:nvSpPr>
        <p:spPr>
          <a:xfrm>
            <a:off x="1524000" y="58992"/>
            <a:ext cx="9144000" cy="1888343"/>
          </a:xfrm>
        </p:spPr>
        <p:txBody>
          <a:bodyPr>
            <a:normAutofit/>
          </a:bodyPr>
          <a:lstStyle/>
          <a:p>
            <a:r>
              <a:rPr lang="en-US" b="1" dirty="0">
                <a:solidFill>
                  <a:srgbClr val="0070C0"/>
                </a:solidFill>
              </a:rPr>
              <a:t>Algorithms:</a:t>
            </a:r>
            <a:br>
              <a:rPr lang="en-US" b="1" dirty="0">
                <a:solidFill>
                  <a:srgbClr val="0070C0"/>
                </a:solidFill>
              </a:rPr>
            </a:br>
            <a:r>
              <a:rPr lang="en-US" sz="4000" b="1" dirty="0">
                <a:solidFill>
                  <a:srgbClr val="0070C0"/>
                </a:solidFill>
              </a:rPr>
              <a:t>Efficiency, Analysis, and Order</a:t>
            </a:r>
            <a:endParaRPr lang="en-QA" b="1" dirty="0">
              <a:solidFill>
                <a:srgbClr val="0070C0"/>
              </a:solidFill>
            </a:endParaRPr>
          </a:p>
        </p:txBody>
      </p:sp>
      <p:sp>
        <p:nvSpPr>
          <p:cNvPr id="3" name="Subtitle 2">
            <a:extLst>
              <a:ext uri="{FF2B5EF4-FFF2-40B4-BE49-F238E27FC236}">
                <a16:creationId xmlns:a16="http://schemas.microsoft.com/office/drawing/2014/main" id="{215DE9C1-470E-BF4B-B387-C25C4447EBEB}"/>
              </a:ext>
            </a:extLst>
          </p:cNvPr>
          <p:cNvSpPr>
            <a:spLocks noGrp="1"/>
          </p:cNvSpPr>
          <p:nvPr>
            <p:ph type="subTitle" idx="1"/>
          </p:nvPr>
        </p:nvSpPr>
        <p:spPr>
          <a:xfrm>
            <a:off x="1347020" y="2552020"/>
            <a:ext cx="9144000" cy="1655762"/>
          </a:xfrm>
        </p:spPr>
        <p:txBody>
          <a:bodyPr/>
          <a:lstStyle/>
          <a:p>
            <a:r>
              <a:rPr lang="en-QA" b="1" dirty="0"/>
              <a:t>CMPS323: Lecture-1</a:t>
            </a:r>
          </a:p>
        </p:txBody>
      </p:sp>
      <p:sp>
        <p:nvSpPr>
          <p:cNvPr id="4" name="Text Placeholder 3">
            <a:extLst>
              <a:ext uri="{FF2B5EF4-FFF2-40B4-BE49-F238E27FC236}">
                <a16:creationId xmlns:a16="http://schemas.microsoft.com/office/drawing/2014/main" id="{CC18E295-7382-5340-BA0B-A66155072CF6}"/>
              </a:ext>
            </a:extLst>
          </p:cNvPr>
          <p:cNvSpPr txBox="1">
            <a:spLocks noChangeArrowheads="1"/>
          </p:cNvSpPr>
          <p:nvPr/>
        </p:nvSpPr>
        <p:spPr bwMode="auto">
          <a:xfrm>
            <a:off x="5593550" y="4295577"/>
            <a:ext cx="1905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A50021"/>
              </a:buClr>
              <a:buSzPct val="75000"/>
              <a:buFont typeface="Monotype Sorts" pitchFamily="2" charset="2"/>
              <a:buChar char="b"/>
              <a:defRPr kumimoji="1" sz="2400" b="1">
                <a:solidFill>
                  <a:schemeClr val="bg2"/>
                </a:solidFill>
                <a:latin typeface="Times New Roman" panose="02020603050405020304" pitchFamily="18" charset="0"/>
              </a:defRPr>
            </a:lvl1pPr>
            <a:lvl2pPr indent="-285750">
              <a:spcBef>
                <a:spcPct val="20000"/>
              </a:spcBef>
              <a:buClr>
                <a:srgbClr val="A50021"/>
              </a:buClr>
              <a:buChar char="•"/>
              <a:defRPr kumimoji="1" sz="2000" b="1">
                <a:solidFill>
                  <a:schemeClr val="bg2"/>
                </a:solidFill>
                <a:latin typeface="Times New Roman" panose="02020603050405020304" pitchFamily="18" charset="0"/>
              </a:defRPr>
            </a:lvl2pPr>
            <a:lvl3pPr indent="-228600">
              <a:spcBef>
                <a:spcPct val="20000"/>
              </a:spcBef>
              <a:buClr>
                <a:srgbClr val="A50021"/>
              </a:buClr>
              <a:buChar char="–"/>
              <a:defRPr kumimoji="1" b="1">
                <a:solidFill>
                  <a:schemeClr val="bg2"/>
                </a:solidFill>
                <a:latin typeface="Times New Roman" panose="02020603050405020304" pitchFamily="18" charset="0"/>
              </a:defRPr>
            </a:lvl3pPr>
            <a:lvl4pPr indent="-228600">
              <a:spcBef>
                <a:spcPct val="20000"/>
              </a:spcBef>
              <a:buClr>
                <a:srgbClr val="A50021"/>
              </a:buClr>
              <a:buChar char="–"/>
              <a:defRPr kumimoji="1" b="1">
                <a:solidFill>
                  <a:schemeClr val="bg2"/>
                </a:solidFill>
                <a:latin typeface="Times New Roman" panose="02020603050405020304" pitchFamily="18" charset="0"/>
              </a:defRPr>
            </a:lvl4pPr>
            <a:lvl5pPr indent="-228600">
              <a:spcBef>
                <a:spcPct val="20000"/>
              </a:spcBef>
              <a:buClr>
                <a:srgbClr val="A50021"/>
              </a:buClr>
              <a:buChar char="»"/>
              <a:defRPr kumimoji="1" b="1">
                <a:solidFill>
                  <a:schemeClr val="bg2"/>
                </a:solidFill>
                <a:latin typeface="Times New Roman" panose="02020603050405020304" pitchFamily="18" charset="0"/>
              </a:defRPr>
            </a:lvl5pPr>
            <a:lvl6pPr indent="-228600" eaLnBrk="0" fontAlgn="base" hangingPunct="0">
              <a:spcBef>
                <a:spcPct val="20000"/>
              </a:spcBef>
              <a:spcAft>
                <a:spcPct val="0"/>
              </a:spcAft>
              <a:buClr>
                <a:srgbClr val="A50021"/>
              </a:buClr>
              <a:buChar char="»"/>
              <a:defRPr kumimoji="1" b="1">
                <a:solidFill>
                  <a:schemeClr val="bg2"/>
                </a:solidFill>
                <a:latin typeface="Times New Roman" panose="02020603050405020304" pitchFamily="18" charset="0"/>
              </a:defRPr>
            </a:lvl6pPr>
            <a:lvl7pPr indent="-228600" eaLnBrk="0" fontAlgn="base" hangingPunct="0">
              <a:spcBef>
                <a:spcPct val="20000"/>
              </a:spcBef>
              <a:spcAft>
                <a:spcPct val="0"/>
              </a:spcAft>
              <a:buClr>
                <a:srgbClr val="A50021"/>
              </a:buClr>
              <a:buChar char="»"/>
              <a:defRPr kumimoji="1" b="1">
                <a:solidFill>
                  <a:schemeClr val="bg2"/>
                </a:solidFill>
                <a:latin typeface="Times New Roman" panose="02020603050405020304" pitchFamily="18" charset="0"/>
              </a:defRPr>
            </a:lvl7pPr>
            <a:lvl8pPr indent="-228600" eaLnBrk="0" fontAlgn="base" hangingPunct="0">
              <a:spcBef>
                <a:spcPct val="20000"/>
              </a:spcBef>
              <a:spcAft>
                <a:spcPct val="0"/>
              </a:spcAft>
              <a:buClr>
                <a:srgbClr val="A50021"/>
              </a:buClr>
              <a:buChar char="»"/>
              <a:defRPr kumimoji="1" b="1">
                <a:solidFill>
                  <a:schemeClr val="bg2"/>
                </a:solidFill>
                <a:latin typeface="Times New Roman" panose="02020603050405020304" pitchFamily="18" charset="0"/>
              </a:defRPr>
            </a:lvl8pPr>
            <a:lvl9pPr indent="-228600" eaLnBrk="0" fontAlgn="base" hangingPunct="0">
              <a:spcBef>
                <a:spcPct val="20000"/>
              </a:spcBef>
              <a:spcAft>
                <a:spcPct val="0"/>
              </a:spcAft>
              <a:buClr>
                <a:srgbClr val="A50021"/>
              </a:buClr>
              <a:buChar char="»"/>
              <a:defRPr kumimoji="1" b="1">
                <a:solidFill>
                  <a:schemeClr val="bg2"/>
                </a:solidFill>
                <a:latin typeface="Times New Roman" panose="02020603050405020304" pitchFamily="18" charset="0"/>
              </a:defRPr>
            </a:lvl9pPr>
          </a:lstStyle>
          <a:p>
            <a:pPr>
              <a:spcBef>
                <a:spcPct val="0"/>
              </a:spcBef>
              <a:buClrTx/>
              <a:buSzTx/>
              <a:buFontTx/>
              <a:buNone/>
            </a:pPr>
            <a:r>
              <a:rPr kumimoji="0" lang="en-US" altLang="en-QA" sz="1800" b="0" dirty="0">
                <a:solidFill>
                  <a:srgbClr val="FF0000"/>
                </a:solidFill>
                <a:latin typeface="Tahoma" panose="020B0604030504040204" pitchFamily="34" charset="0"/>
                <a:ea typeface="ＭＳ Ｐゴシック" panose="020B0600070205080204" pitchFamily="34" charset="-128"/>
              </a:rPr>
              <a:t>Read Chapter 1</a:t>
            </a:r>
          </a:p>
        </p:txBody>
      </p:sp>
      <p:pic>
        <p:nvPicPr>
          <p:cNvPr id="5" name="Graphic 4" descr="Open book outline">
            <a:extLst>
              <a:ext uri="{FF2B5EF4-FFF2-40B4-BE49-F238E27FC236}">
                <a16:creationId xmlns:a16="http://schemas.microsoft.com/office/drawing/2014/main" id="{9D205E77-D2DE-1348-B3FA-C974BDA89620}"/>
              </a:ext>
            </a:extLst>
          </p:cNvPr>
          <p:cNvPicPr>
            <a:picLocks noChangeAspect="1"/>
          </p:cNvPicPr>
          <p:nvPr/>
        </p:nvPicPr>
        <p:blipFill>
          <a:blip r:embed="rId2"/>
          <a:stretch>
            <a:fillRect/>
          </a:stretch>
        </p:blipFill>
        <p:spPr>
          <a:xfrm>
            <a:off x="4547420" y="4142542"/>
            <a:ext cx="914400" cy="914400"/>
          </a:xfrm>
          <a:prstGeom prst="rect">
            <a:avLst/>
          </a:prstGeom>
        </p:spPr>
      </p:pic>
    </p:spTree>
    <p:extLst>
      <p:ext uri="{BB962C8B-B14F-4D97-AF65-F5344CB8AC3E}">
        <p14:creationId xmlns:p14="http://schemas.microsoft.com/office/powerpoint/2010/main" val="7394230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1018-0765-0240-9C50-607629BC5737}"/>
              </a:ext>
            </a:extLst>
          </p:cNvPr>
          <p:cNvSpPr>
            <a:spLocks noGrp="1"/>
          </p:cNvSpPr>
          <p:nvPr>
            <p:ph type="title"/>
          </p:nvPr>
        </p:nvSpPr>
        <p:spPr>
          <a:xfrm>
            <a:off x="110613" y="1332"/>
            <a:ext cx="10515600" cy="893520"/>
          </a:xfrm>
        </p:spPr>
        <p:txBody>
          <a:bodyPr/>
          <a:lstStyle/>
          <a:p>
            <a:r>
              <a:rPr lang="en-US" dirty="0"/>
              <a:t>Analysis of Algorithms: Time Complexity Analysis</a:t>
            </a:r>
            <a:endParaRPr lang="en-QA" dirty="0"/>
          </a:p>
        </p:txBody>
      </p:sp>
      <p:sp>
        <p:nvSpPr>
          <p:cNvPr id="3" name="Content Placeholder 2">
            <a:extLst>
              <a:ext uri="{FF2B5EF4-FFF2-40B4-BE49-F238E27FC236}">
                <a16:creationId xmlns:a16="http://schemas.microsoft.com/office/drawing/2014/main" id="{ED20D5B3-0701-E34E-B2A0-EE0FD5A3DE61}"/>
              </a:ext>
            </a:extLst>
          </p:cNvPr>
          <p:cNvSpPr>
            <a:spLocks noGrp="1"/>
          </p:cNvSpPr>
          <p:nvPr>
            <p:ph idx="1"/>
          </p:nvPr>
        </p:nvSpPr>
        <p:spPr>
          <a:xfrm>
            <a:off x="267928" y="894852"/>
            <a:ext cx="10938787" cy="5697334"/>
          </a:xfrm>
        </p:spPr>
        <p:txBody>
          <a:bodyPr>
            <a:normAutofit/>
          </a:bodyPr>
          <a:lstStyle/>
          <a:p>
            <a:r>
              <a:rPr lang="en-US" sz="2600" u="sng" dirty="0">
                <a:solidFill>
                  <a:srgbClr val="0070C0"/>
                </a:solidFill>
              </a:rPr>
              <a:t>Complexity </a:t>
            </a:r>
            <a:r>
              <a:rPr lang="en-US" sz="2600" u="sng" dirty="0" smtClean="0">
                <a:solidFill>
                  <a:srgbClr val="0070C0"/>
                </a:solidFill>
              </a:rPr>
              <a:t>Analysis</a:t>
            </a:r>
            <a:endParaRPr lang="en-US" sz="2600" dirty="0"/>
          </a:p>
          <a:p>
            <a:pPr lvl="1"/>
            <a:r>
              <a:rPr lang="en-US" sz="2600" u="sng" dirty="0">
                <a:solidFill>
                  <a:srgbClr val="00B050"/>
                </a:solidFill>
              </a:rPr>
              <a:t>how an algorithm is </a:t>
            </a:r>
            <a:r>
              <a:rPr lang="en-US" sz="2600" u="sng" dirty="0" smtClean="0">
                <a:solidFill>
                  <a:srgbClr val="00B050"/>
                </a:solidFill>
              </a:rPr>
              <a:t>efficient </a:t>
            </a:r>
          </a:p>
          <a:p>
            <a:pPr lvl="1"/>
            <a:r>
              <a:rPr lang="en-US" sz="2600" dirty="0" smtClean="0"/>
              <a:t>So, </a:t>
            </a:r>
            <a:r>
              <a:rPr lang="en-US" sz="2600" dirty="0"/>
              <a:t>we can compare</a:t>
            </a:r>
            <a:r>
              <a:rPr lang="en-US" sz="2600" dirty="0" smtClean="0"/>
              <a:t> </a:t>
            </a:r>
            <a:r>
              <a:rPr lang="en-US" sz="2600" dirty="0"/>
              <a:t>algorithms </a:t>
            </a:r>
            <a:r>
              <a:rPr lang="en-US" sz="2600" dirty="0" smtClean="0"/>
              <a:t>using </a:t>
            </a:r>
            <a:r>
              <a:rPr lang="en-US" sz="2600" dirty="0"/>
              <a:t>theoretical and standard methods</a:t>
            </a:r>
          </a:p>
          <a:p>
            <a:pPr marL="457200" lvl="1" indent="0">
              <a:buNone/>
            </a:pPr>
            <a:endParaRPr lang="en-US" dirty="0"/>
          </a:p>
          <a:p>
            <a:r>
              <a:rPr lang="en-US" dirty="0"/>
              <a:t>Analyzing </a:t>
            </a:r>
            <a:r>
              <a:rPr lang="en-US" u="sng" dirty="0">
                <a:solidFill>
                  <a:srgbClr val="00B050"/>
                </a:solidFill>
              </a:rPr>
              <a:t>efficiency</a:t>
            </a:r>
            <a:r>
              <a:rPr lang="en-US" dirty="0"/>
              <a:t> in terms of </a:t>
            </a:r>
            <a:r>
              <a:rPr lang="en-US" u="sng" dirty="0" smtClean="0">
                <a:solidFill>
                  <a:srgbClr val="0070C0"/>
                </a:solidFill>
              </a:rPr>
              <a:t>time</a:t>
            </a:r>
            <a:r>
              <a:rPr lang="en-US" dirty="0" smtClean="0"/>
              <a:t> </a:t>
            </a:r>
            <a:endParaRPr lang="en-US" dirty="0"/>
          </a:p>
          <a:p>
            <a:pPr marL="1371600" lvl="2" indent="-457200" algn="just">
              <a:buFont typeface="+mj-lt"/>
              <a:buAutoNum type="arabicPeriod"/>
            </a:pPr>
            <a:r>
              <a:rPr lang="en-US" sz="2400" u="sng" dirty="0" smtClean="0">
                <a:solidFill>
                  <a:srgbClr val="FF0000"/>
                </a:solidFill>
              </a:rPr>
              <a:t>independent</a:t>
            </a:r>
            <a:r>
              <a:rPr lang="en-US" sz="2400" dirty="0" smtClean="0">
                <a:solidFill>
                  <a:srgbClr val="FF0000"/>
                </a:solidFill>
              </a:rPr>
              <a:t> </a:t>
            </a:r>
            <a:r>
              <a:rPr lang="en-US" sz="2400" dirty="0"/>
              <a:t>of the </a:t>
            </a:r>
            <a:r>
              <a:rPr lang="en-US" sz="2400" u="sng" dirty="0"/>
              <a:t>computer</a:t>
            </a:r>
            <a:r>
              <a:rPr lang="en-US" sz="2400" dirty="0"/>
              <a:t>, </a:t>
            </a:r>
            <a:r>
              <a:rPr lang="en-US" sz="2400" u="sng" dirty="0"/>
              <a:t>programming language</a:t>
            </a:r>
            <a:r>
              <a:rPr lang="en-US" sz="2400" dirty="0"/>
              <a:t>, </a:t>
            </a:r>
            <a:r>
              <a:rPr lang="en-US" sz="2400" u="sng" dirty="0"/>
              <a:t>programmer</a:t>
            </a:r>
            <a:r>
              <a:rPr lang="en-US" sz="2400" dirty="0"/>
              <a:t>, </a:t>
            </a:r>
            <a:r>
              <a:rPr lang="en-US" sz="2400" u="sng" dirty="0" smtClean="0"/>
              <a:t>complex details </a:t>
            </a:r>
            <a:r>
              <a:rPr lang="en-US" sz="2400" u="sng" dirty="0"/>
              <a:t>of the algorithm</a:t>
            </a:r>
            <a:r>
              <a:rPr lang="en-US" sz="2400" dirty="0"/>
              <a:t> such as incrementing of loop indices, setting of </a:t>
            </a:r>
            <a:r>
              <a:rPr lang="en-US" sz="2400" dirty="0" smtClean="0"/>
              <a:t>pointers</a:t>
            </a:r>
            <a:endParaRPr lang="en-US" sz="2400" dirty="0"/>
          </a:p>
          <a:p>
            <a:pPr marL="1371600" lvl="2" indent="-457200" algn="just">
              <a:buFont typeface="+mj-lt"/>
              <a:buAutoNum type="arabicPeriod"/>
            </a:pPr>
            <a:endParaRPr lang="en-US" sz="2400" u="sng" dirty="0" smtClean="0">
              <a:solidFill>
                <a:srgbClr val="FF0000"/>
              </a:solidFill>
            </a:endParaRPr>
          </a:p>
          <a:p>
            <a:pPr marL="1371600" lvl="2" indent="-457200" algn="just">
              <a:buFont typeface="+mj-lt"/>
              <a:buAutoNum type="arabicPeriod"/>
            </a:pPr>
            <a:r>
              <a:rPr lang="en-US" sz="2400" u="sng" dirty="0" smtClean="0">
                <a:solidFill>
                  <a:srgbClr val="FF0000"/>
                </a:solidFill>
              </a:rPr>
              <a:t>not </a:t>
            </a:r>
            <a:r>
              <a:rPr lang="en-US" sz="2400" u="sng" dirty="0">
                <a:solidFill>
                  <a:srgbClr val="FF0000"/>
                </a:solidFill>
              </a:rPr>
              <a:t>actual number of CPU cycles </a:t>
            </a:r>
            <a:r>
              <a:rPr lang="en-US" sz="2400" dirty="0">
                <a:sym typeface="Wingdings" pitchFamily="2" charset="2"/>
              </a:rPr>
              <a:t></a:t>
            </a:r>
            <a:r>
              <a:rPr lang="en-US" sz="2400" dirty="0"/>
              <a:t> depends on particular computer</a:t>
            </a:r>
          </a:p>
          <a:p>
            <a:pPr marL="1371600" lvl="2" indent="-457200" algn="just">
              <a:buFont typeface="+mj-lt"/>
              <a:buAutoNum type="arabicPeriod"/>
            </a:pPr>
            <a:endParaRPr lang="en-US" sz="2400" u="sng" dirty="0" smtClean="0">
              <a:solidFill>
                <a:srgbClr val="FF0000"/>
              </a:solidFill>
            </a:endParaRPr>
          </a:p>
          <a:p>
            <a:pPr marL="1371600" lvl="2" indent="-457200" algn="just">
              <a:buFont typeface="+mj-lt"/>
              <a:buAutoNum type="arabicPeriod"/>
            </a:pPr>
            <a:r>
              <a:rPr lang="en-US" sz="2400" u="sng" dirty="0" smtClean="0">
                <a:solidFill>
                  <a:srgbClr val="FF0000"/>
                </a:solidFill>
              </a:rPr>
              <a:t>not </a:t>
            </a:r>
            <a:r>
              <a:rPr lang="en-US" sz="2400" u="sng" dirty="0">
                <a:solidFill>
                  <a:srgbClr val="FF0000"/>
                </a:solidFill>
              </a:rPr>
              <a:t>count of every instruction executed </a:t>
            </a:r>
            <a:r>
              <a:rPr lang="en-US" sz="2400" dirty="0">
                <a:sym typeface="Wingdings" pitchFamily="2" charset="2"/>
              </a:rPr>
              <a:t></a:t>
            </a:r>
            <a:r>
              <a:rPr lang="en-US" sz="2400" dirty="0"/>
              <a:t> depends on programming language </a:t>
            </a:r>
            <a:r>
              <a:rPr lang="en-US" sz="2400" dirty="0" smtClean="0"/>
              <a:t>and the programmer</a:t>
            </a:r>
            <a:endParaRPr lang="en-US" sz="2400" dirty="0"/>
          </a:p>
        </p:txBody>
      </p:sp>
      <p:pic>
        <p:nvPicPr>
          <p:cNvPr id="1026" name="Picture 2" descr="Here's Why Your Organization Can't Handle Complexity | Inc.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7355" y="83717"/>
            <a:ext cx="1878720" cy="1588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95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04F05-2E9F-104D-B124-7CC3229D0A70}"/>
              </a:ext>
            </a:extLst>
          </p:cNvPr>
          <p:cNvSpPr>
            <a:spLocks noGrp="1"/>
          </p:cNvSpPr>
          <p:nvPr>
            <p:ph type="title"/>
          </p:nvPr>
        </p:nvSpPr>
        <p:spPr>
          <a:xfrm>
            <a:off x="140109" y="0"/>
            <a:ext cx="10515600" cy="893520"/>
          </a:xfrm>
        </p:spPr>
        <p:txBody>
          <a:bodyPr/>
          <a:lstStyle/>
          <a:p>
            <a:r>
              <a:rPr lang="en-US" dirty="0"/>
              <a:t>Time Complexity Analysis (cont.)</a:t>
            </a:r>
            <a:endParaRPr lang="en-QA" dirty="0"/>
          </a:p>
        </p:txBody>
      </p:sp>
      <p:sp>
        <p:nvSpPr>
          <p:cNvPr id="3" name="Content Placeholder 2">
            <a:extLst>
              <a:ext uri="{FF2B5EF4-FFF2-40B4-BE49-F238E27FC236}">
                <a16:creationId xmlns:a16="http://schemas.microsoft.com/office/drawing/2014/main" id="{5B9FC22C-6955-2844-8D6C-2972E2B48751}"/>
              </a:ext>
            </a:extLst>
          </p:cNvPr>
          <p:cNvSpPr>
            <a:spLocks noGrp="1"/>
          </p:cNvSpPr>
          <p:nvPr>
            <p:ph idx="1"/>
          </p:nvPr>
        </p:nvSpPr>
        <p:spPr>
          <a:xfrm>
            <a:off x="140108" y="813316"/>
            <a:ext cx="11780545" cy="5788206"/>
          </a:xfrm>
        </p:spPr>
        <p:txBody>
          <a:bodyPr>
            <a:normAutofit/>
          </a:bodyPr>
          <a:lstStyle/>
          <a:p>
            <a:endParaRPr lang="en-US" u="sng" dirty="0" smtClean="0">
              <a:solidFill>
                <a:srgbClr val="00B050"/>
              </a:solidFill>
            </a:endParaRPr>
          </a:p>
          <a:p>
            <a:r>
              <a:rPr lang="en-US" u="sng" dirty="0" smtClean="0">
                <a:solidFill>
                  <a:srgbClr val="00B050"/>
                </a:solidFill>
              </a:rPr>
              <a:t>Standard </a:t>
            </a:r>
            <a:r>
              <a:rPr lang="en-US" u="sng" dirty="0">
                <a:solidFill>
                  <a:srgbClr val="00B050"/>
                </a:solidFill>
              </a:rPr>
              <a:t>technique </a:t>
            </a:r>
            <a:r>
              <a:rPr lang="en-US" dirty="0"/>
              <a:t>for analyzing algorithms</a:t>
            </a:r>
          </a:p>
          <a:p>
            <a:pPr lvl="2"/>
            <a:r>
              <a:rPr lang="en-US" sz="2400" dirty="0"/>
              <a:t>compare</a:t>
            </a:r>
            <a:r>
              <a:rPr lang="en-US" sz="2400" dirty="0" smtClean="0"/>
              <a:t> </a:t>
            </a:r>
            <a:r>
              <a:rPr lang="en-US" sz="2400" dirty="0"/>
              <a:t>the </a:t>
            </a:r>
            <a:r>
              <a:rPr lang="en-US" sz="2400" u="sng" dirty="0">
                <a:solidFill>
                  <a:srgbClr val="FF0000"/>
                </a:solidFill>
              </a:rPr>
              <a:t>numbers of comparisons </a:t>
            </a:r>
            <a:r>
              <a:rPr lang="en-US" sz="2400" dirty="0"/>
              <a:t>done by </a:t>
            </a:r>
            <a:r>
              <a:rPr lang="en-US" sz="2400" dirty="0" smtClean="0"/>
              <a:t>algorithms </a:t>
            </a:r>
            <a:r>
              <a:rPr lang="en-US" sz="2400" dirty="0"/>
              <a:t>for various values of </a:t>
            </a:r>
            <a:r>
              <a:rPr lang="en-US" sz="2400" i="1" dirty="0" smtClean="0">
                <a:solidFill>
                  <a:srgbClr val="7030A0"/>
                </a:solidFill>
                <a:latin typeface="Times New Roman" panose="02020603050405020304" pitchFamily="18" charset="0"/>
                <a:cs typeface="Times New Roman" panose="02020603050405020304" pitchFamily="18" charset="0"/>
              </a:rPr>
              <a:t>n</a:t>
            </a:r>
            <a:endParaRPr lang="en-US" sz="2400" dirty="0">
              <a:solidFill>
                <a:srgbClr val="7030A0"/>
              </a:solidFill>
            </a:endParaRPr>
          </a:p>
          <a:p>
            <a:pPr marL="914400" lvl="2" indent="0">
              <a:buNone/>
            </a:pPr>
            <a:r>
              <a:rPr lang="en-US" sz="2400" b="1" i="1" dirty="0">
                <a:solidFill>
                  <a:srgbClr val="7030A0"/>
                </a:solidFill>
                <a:latin typeface="Times New Roman" panose="02020603050405020304" pitchFamily="18" charset="0"/>
                <a:cs typeface="Times New Roman" panose="02020603050405020304" pitchFamily="18" charset="0"/>
              </a:rPr>
              <a:t> </a:t>
            </a:r>
            <a:r>
              <a:rPr lang="en-US" sz="2400" b="1" i="1" dirty="0" smtClean="0">
                <a:solidFill>
                  <a:srgbClr val="7030A0"/>
                </a:solidFill>
                <a:latin typeface="Times New Roman" panose="02020603050405020304" pitchFamily="18" charset="0"/>
                <a:cs typeface="Times New Roman" panose="02020603050405020304" pitchFamily="18" charset="0"/>
              </a:rPr>
              <a:t> (n</a:t>
            </a:r>
            <a:r>
              <a:rPr lang="en-US" sz="2400" b="1" dirty="0" smtClean="0">
                <a:solidFill>
                  <a:srgbClr val="7030A0"/>
                </a:solidFill>
              </a:rPr>
              <a:t> </a:t>
            </a:r>
            <a:r>
              <a:rPr lang="en-US" sz="2400" dirty="0"/>
              <a:t>is the number of items in the </a:t>
            </a:r>
            <a:r>
              <a:rPr lang="en-US" sz="2400" dirty="0" smtClean="0"/>
              <a:t>array)</a:t>
            </a:r>
            <a:endParaRPr lang="en-US" sz="2400" dirty="0"/>
          </a:p>
          <a:p>
            <a:pPr lvl="3"/>
            <a:endParaRPr lang="en-US" dirty="0"/>
          </a:p>
          <a:p>
            <a:pPr marL="0" indent="0">
              <a:buNone/>
            </a:pPr>
            <a:endParaRPr lang="en-US" b="1" u="sng" dirty="0"/>
          </a:p>
          <a:p>
            <a:r>
              <a:rPr lang="en-US" b="1" u="sng" dirty="0" smtClean="0"/>
              <a:t>Running time</a:t>
            </a:r>
            <a:endParaRPr lang="en-US" b="1" u="sng" dirty="0"/>
          </a:p>
          <a:p>
            <a:pPr lvl="1"/>
            <a:r>
              <a:rPr lang="en-US" sz="2400" u="sng" dirty="0" smtClean="0">
                <a:solidFill>
                  <a:srgbClr val="00B050"/>
                </a:solidFill>
              </a:rPr>
              <a:t>increases</a:t>
            </a:r>
            <a:r>
              <a:rPr lang="en-US" sz="2400" dirty="0" smtClean="0"/>
              <a:t> </a:t>
            </a:r>
            <a:r>
              <a:rPr lang="en-US" sz="2400" dirty="0"/>
              <a:t>with the size of the input</a:t>
            </a:r>
            <a:endParaRPr lang="en-US" sz="2400" dirty="0">
              <a:solidFill>
                <a:srgbClr val="00B050"/>
              </a:solidFill>
            </a:endParaRPr>
          </a:p>
          <a:p>
            <a:pPr lvl="1"/>
            <a:r>
              <a:rPr lang="en-US" sz="2400" u="sng" dirty="0" smtClean="0">
                <a:solidFill>
                  <a:srgbClr val="0070C0"/>
                </a:solidFill>
              </a:rPr>
              <a:t>proportional to how many times </a:t>
            </a:r>
            <a:r>
              <a:rPr lang="en-US" sz="2400" dirty="0" smtClean="0"/>
              <a:t>some </a:t>
            </a:r>
            <a:r>
              <a:rPr lang="en-US" sz="2400" u="sng" dirty="0" smtClean="0">
                <a:solidFill>
                  <a:srgbClr val="FF0000"/>
                </a:solidFill>
              </a:rPr>
              <a:t>basic operation </a:t>
            </a:r>
            <a:r>
              <a:rPr lang="en-US" sz="2400" dirty="0" smtClean="0"/>
              <a:t>(comparison </a:t>
            </a:r>
            <a:r>
              <a:rPr lang="en-US" sz="2400" dirty="0"/>
              <a:t>instruction</a:t>
            </a:r>
            <a:r>
              <a:rPr lang="en-US" sz="2400" dirty="0" smtClean="0"/>
              <a:t>) is done</a:t>
            </a:r>
          </a:p>
          <a:p>
            <a:pPr lvl="4"/>
            <a:endParaRPr lang="en-US" dirty="0" smtClean="0"/>
          </a:p>
          <a:p>
            <a:pPr marL="0" indent="0">
              <a:buNone/>
            </a:pPr>
            <a:endParaRPr lang="en-US" dirty="0"/>
          </a:p>
          <a:p>
            <a:r>
              <a:rPr lang="en-US" dirty="0" smtClean="0"/>
              <a:t>We </a:t>
            </a:r>
            <a:r>
              <a:rPr lang="en-US" dirty="0"/>
              <a:t>analyze the algorithm’s </a:t>
            </a:r>
            <a:r>
              <a:rPr lang="en-US" u="sng" dirty="0">
                <a:solidFill>
                  <a:srgbClr val="00B050"/>
                </a:solidFill>
              </a:rPr>
              <a:t>efficiency</a:t>
            </a:r>
            <a:r>
              <a:rPr lang="en-US" dirty="0"/>
              <a:t> </a:t>
            </a:r>
            <a:r>
              <a:rPr lang="en-US" dirty="0" smtClean="0"/>
              <a:t>by </a:t>
            </a:r>
          </a:p>
          <a:p>
            <a:pPr lvl="1"/>
            <a:r>
              <a:rPr lang="en-US" sz="2400" dirty="0" smtClean="0"/>
              <a:t>determining </a:t>
            </a:r>
            <a:r>
              <a:rPr lang="en-US" sz="2400" dirty="0"/>
              <a:t>the </a:t>
            </a:r>
            <a:r>
              <a:rPr lang="en-US" sz="2400" u="sng" dirty="0">
                <a:solidFill>
                  <a:srgbClr val="0070C0"/>
                </a:solidFill>
              </a:rPr>
              <a:t>number of times </a:t>
            </a:r>
            <a:r>
              <a:rPr lang="en-US" sz="2400" dirty="0" smtClean="0"/>
              <a:t>some </a:t>
            </a:r>
            <a:r>
              <a:rPr lang="en-US" sz="2400" u="sng" dirty="0">
                <a:solidFill>
                  <a:srgbClr val="FF0000"/>
                </a:solidFill>
              </a:rPr>
              <a:t>basic operation </a:t>
            </a:r>
            <a:r>
              <a:rPr lang="en-US" sz="2400" dirty="0"/>
              <a:t>is </a:t>
            </a:r>
            <a:r>
              <a:rPr lang="en-US" sz="2400" dirty="0" smtClean="0"/>
              <a:t>done</a:t>
            </a:r>
            <a:endParaRPr lang="en-QA" sz="2400" dirty="0"/>
          </a:p>
        </p:txBody>
      </p:sp>
      <p:pic>
        <p:nvPicPr>
          <p:cNvPr id="2050" name="Picture 2" descr="The Fundamentals of the Big-O Notation | by Ruben Winastwan | Towards Data  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6520" y="2415857"/>
            <a:ext cx="2018377" cy="1569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22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050"/>
                                        </p:tgtEl>
                                        <p:attrNameLst>
                                          <p:attrName>style.visibility</p:attrName>
                                        </p:attrNameLst>
                                      </p:cBhvr>
                                      <p:to>
                                        <p:strVal val="visible"/>
                                      </p:to>
                                    </p:set>
                                    <p:anim calcmode="lin" valueType="num">
                                      <p:cBhvr additive="base">
                                        <p:cTn id="25" dur="500" fill="hold"/>
                                        <p:tgtEl>
                                          <p:spTgt spid="2050"/>
                                        </p:tgtEl>
                                        <p:attrNameLst>
                                          <p:attrName>ppt_x</p:attrName>
                                        </p:attrNameLst>
                                      </p:cBhvr>
                                      <p:tavLst>
                                        <p:tav tm="0">
                                          <p:val>
                                            <p:strVal val="#ppt_x"/>
                                          </p:val>
                                        </p:tav>
                                        <p:tav tm="100000">
                                          <p:val>
                                            <p:strVal val="#ppt_x"/>
                                          </p:val>
                                        </p:tav>
                                      </p:tavLst>
                                    </p:anim>
                                    <p:anim calcmode="lin" valueType="num">
                                      <p:cBhvr additive="base">
                                        <p:cTn id="26" dur="500" fill="hold"/>
                                        <p:tgtEl>
                                          <p:spTgt spid="2050"/>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 calcmode="lin" valueType="num">
                                      <p:cBhvr additive="base">
                                        <p:cTn id="3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 calcmode="lin" valueType="num">
                                      <p:cBhvr additive="base">
                                        <p:cTn id="4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EC33F-85EE-494F-AD97-C9C4CCC009A3}"/>
              </a:ext>
            </a:extLst>
          </p:cNvPr>
          <p:cNvSpPr>
            <a:spLocks noGrp="1"/>
          </p:cNvSpPr>
          <p:nvPr>
            <p:ph type="title"/>
          </p:nvPr>
        </p:nvSpPr>
        <p:spPr>
          <a:xfrm>
            <a:off x="110613" y="0"/>
            <a:ext cx="10515600" cy="568960"/>
          </a:xfrm>
        </p:spPr>
        <p:txBody>
          <a:bodyPr/>
          <a:lstStyle/>
          <a:p>
            <a:r>
              <a:rPr lang="en-US" dirty="0"/>
              <a:t>Time Complexity Analysis (cont.)</a:t>
            </a:r>
            <a:endParaRPr lang="en-QA" dirty="0"/>
          </a:p>
        </p:txBody>
      </p:sp>
      <p:sp>
        <p:nvSpPr>
          <p:cNvPr id="3" name="Content Placeholder 2">
            <a:extLst>
              <a:ext uri="{FF2B5EF4-FFF2-40B4-BE49-F238E27FC236}">
                <a16:creationId xmlns:a16="http://schemas.microsoft.com/office/drawing/2014/main" id="{BA89D660-04A9-B94B-ABB5-AD721F556535}"/>
              </a:ext>
            </a:extLst>
          </p:cNvPr>
          <p:cNvSpPr>
            <a:spLocks noGrp="1"/>
          </p:cNvSpPr>
          <p:nvPr>
            <p:ph idx="1"/>
          </p:nvPr>
        </p:nvSpPr>
        <p:spPr>
          <a:xfrm>
            <a:off x="248264" y="893520"/>
            <a:ext cx="11298693" cy="5782352"/>
          </a:xfrm>
        </p:spPr>
        <p:txBody>
          <a:bodyPr>
            <a:normAutofit/>
          </a:bodyPr>
          <a:lstStyle/>
          <a:p>
            <a:r>
              <a:rPr lang="en-US" dirty="0"/>
              <a:t>For many </a:t>
            </a:r>
            <a:r>
              <a:rPr lang="en-US" dirty="0" smtClean="0"/>
              <a:t>algorithms, </a:t>
            </a:r>
            <a:r>
              <a:rPr lang="en-US" dirty="0"/>
              <a:t>it is </a:t>
            </a:r>
            <a:r>
              <a:rPr lang="en-US" u="sng" dirty="0">
                <a:solidFill>
                  <a:srgbClr val="0070C0"/>
                </a:solidFill>
              </a:rPr>
              <a:t>easy to find a </a:t>
            </a:r>
            <a:r>
              <a:rPr lang="en-US" u="sng" dirty="0" smtClean="0">
                <a:solidFill>
                  <a:srgbClr val="0070C0"/>
                </a:solidFill>
              </a:rPr>
              <a:t>measure </a:t>
            </a:r>
            <a:r>
              <a:rPr lang="en-US" dirty="0"/>
              <a:t>of the </a:t>
            </a:r>
            <a:r>
              <a:rPr lang="en-US" b="1" u="sng" dirty="0">
                <a:solidFill>
                  <a:srgbClr val="00B050"/>
                </a:solidFill>
              </a:rPr>
              <a:t>input size</a:t>
            </a:r>
            <a:r>
              <a:rPr lang="en-US" b="1" dirty="0">
                <a:solidFill>
                  <a:srgbClr val="00B050"/>
                </a:solidFill>
              </a:rPr>
              <a:t> </a:t>
            </a:r>
            <a:r>
              <a:rPr lang="en-US" b="1" i="1" dirty="0" smtClean="0">
                <a:latin typeface="Times New Roman" panose="02020603050405020304" pitchFamily="18" charset="0"/>
                <a:cs typeface="Times New Roman" panose="02020603050405020304" pitchFamily="18" charset="0"/>
              </a:rPr>
              <a:t>n</a:t>
            </a:r>
            <a:endParaRPr lang="en-US" b="1" dirty="0"/>
          </a:p>
          <a:p>
            <a:pPr lvl="1"/>
            <a:r>
              <a:rPr lang="en-US" sz="2400" i="1" dirty="0" smtClean="0">
                <a:solidFill>
                  <a:srgbClr val="C00000"/>
                </a:solidFill>
              </a:rPr>
              <a:t>Sequential Search, Binary Search, </a:t>
            </a:r>
            <a:r>
              <a:rPr lang="en-US" sz="2400" dirty="0" smtClean="0"/>
              <a:t>and</a:t>
            </a:r>
            <a:r>
              <a:rPr lang="en-US" sz="2400" i="1" dirty="0" smtClean="0">
                <a:solidFill>
                  <a:srgbClr val="C00000"/>
                </a:solidFill>
              </a:rPr>
              <a:t> Add Array Members</a:t>
            </a:r>
          </a:p>
          <a:p>
            <a:pPr lvl="2"/>
            <a:r>
              <a:rPr lang="en-US" sz="2400" b="1" dirty="0" smtClean="0">
                <a:solidFill>
                  <a:srgbClr val="0070C0"/>
                </a:solidFill>
              </a:rPr>
              <a:t>n</a:t>
            </a:r>
            <a:r>
              <a:rPr lang="en-US" sz="2400" dirty="0" smtClean="0"/>
              <a:t> is the </a:t>
            </a:r>
            <a:r>
              <a:rPr lang="en-US" sz="2400" b="1" u="sng" dirty="0" smtClean="0"/>
              <a:t>number of items </a:t>
            </a:r>
            <a:r>
              <a:rPr lang="en-US" sz="2400" dirty="0" smtClean="0"/>
              <a:t>in the array</a:t>
            </a:r>
          </a:p>
          <a:p>
            <a:pPr lvl="1"/>
            <a:r>
              <a:rPr lang="en-US" sz="2400" i="1" dirty="0" smtClean="0">
                <a:solidFill>
                  <a:srgbClr val="C00000"/>
                </a:solidFill>
              </a:rPr>
              <a:t>Matrix </a:t>
            </a:r>
            <a:r>
              <a:rPr lang="en-US" sz="2400" i="1" dirty="0" smtClean="0">
                <a:solidFill>
                  <a:srgbClr val="C00000"/>
                </a:solidFill>
              </a:rPr>
              <a:t>Multiplication</a:t>
            </a:r>
            <a:endParaRPr lang="en-US" sz="2400" i="1" dirty="0">
              <a:solidFill>
                <a:srgbClr val="C00000"/>
              </a:solidFill>
            </a:endParaRPr>
          </a:p>
          <a:p>
            <a:pPr lvl="2"/>
            <a:r>
              <a:rPr lang="en-US" sz="2400" b="1" dirty="0">
                <a:solidFill>
                  <a:srgbClr val="0070C0"/>
                </a:solidFill>
              </a:rPr>
              <a:t>n</a:t>
            </a:r>
            <a:r>
              <a:rPr lang="en-US" sz="2400" dirty="0"/>
              <a:t> is the </a:t>
            </a:r>
            <a:r>
              <a:rPr lang="en-US" sz="2400" b="1" u="sng" dirty="0"/>
              <a:t>number of rows and columns</a:t>
            </a:r>
          </a:p>
          <a:p>
            <a:endParaRPr lang="en-US" dirty="0"/>
          </a:p>
          <a:p>
            <a:r>
              <a:rPr lang="en-US" u="sng" dirty="0">
                <a:solidFill>
                  <a:srgbClr val="00B050"/>
                </a:solidFill>
              </a:rPr>
              <a:t>Basic operation </a:t>
            </a:r>
            <a:r>
              <a:rPr lang="en-US" dirty="0" smtClean="0"/>
              <a:t>is </a:t>
            </a:r>
            <a:r>
              <a:rPr lang="en-US" dirty="0"/>
              <a:t>some instruction such that</a:t>
            </a:r>
          </a:p>
          <a:p>
            <a:pPr lvl="1"/>
            <a:r>
              <a:rPr lang="en-US" sz="2400" b="1" u="sng" dirty="0" smtClean="0"/>
              <a:t>total </a:t>
            </a:r>
            <a:r>
              <a:rPr lang="en-US" sz="2400" b="1" u="sng" dirty="0"/>
              <a:t>work </a:t>
            </a:r>
            <a:r>
              <a:rPr lang="en-US" sz="2400" dirty="0"/>
              <a:t>done by the algorithm is </a:t>
            </a:r>
            <a:r>
              <a:rPr lang="en-US" sz="2400" u="sng" dirty="0" smtClean="0">
                <a:solidFill>
                  <a:srgbClr val="0070C0"/>
                </a:solidFill>
              </a:rPr>
              <a:t>proportional</a:t>
            </a:r>
            <a:r>
              <a:rPr lang="en-US" sz="2400" dirty="0" smtClean="0"/>
              <a:t> </a:t>
            </a:r>
            <a:r>
              <a:rPr lang="en-US" sz="2400" dirty="0"/>
              <a:t>to the </a:t>
            </a:r>
            <a:r>
              <a:rPr lang="en-US" sz="2400" u="sng" dirty="0">
                <a:solidFill>
                  <a:srgbClr val="0070C0"/>
                </a:solidFill>
              </a:rPr>
              <a:t>number of times</a:t>
            </a:r>
            <a:r>
              <a:rPr lang="en-US" sz="2400" dirty="0">
                <a:solidFill>
                  <a:srgbClr val="FF0000"/>
                </a:solidFill>
              </a:rPr>
              <a:t> </a:t>
            </a:r>
            <a:r>
              <a:rPr lang="en-US" sz="2400" dirty="0"/>
              <a:t>this instruction </a:t>
            </a:r>
            <a:r>
              <a:rPr lang="en-US" sz="2400" dirty="0" smtClean="0"/>
              <a:t>is done</a:t>
            </a:r>
            <a:endParaRPr lang="en-US" sz="2400" dirty="0"/>
          </a:p>
          <a:p>
            <a:pPr lvl="1"/>
            <a:r>
              <a:rPr lang="en-US" sz="2400" u="sng" dirty="0">
                <a:solidFill>
                  <a:srgbClr val="FF0000"/>
                </a:solidFill>
              </a:rPr>
              <a:t>no </a:t>
            </a:r>
            <a:r>
              <a:rPr lang="en-US" sz="2400" u="sng" dirty="0" smtClean="0">
                <a:solidFill>
                  <a:srgbClr val="FF0000"/>
                </a:solidFill>
              </a:rPr>
              <a:t>strict rule </a:t>
            </a:r>
            <a:r>
              <a:rPr lang="en-US" sz="2400" dirty="0" smtClean="0"/>
              <a:t>for </a:t>
            </a:r>
            <a:r>
              <a:rPr lang="en-US" sz="2400" dirty="0"/>
              <a:t>choosing the </a:t>
            </a:r>
            <a:r>
              <a:rPr lang="en-US" sz="2400" b="1" u="sng" dirty="0"/>
              <a:t>basic </a:t>
            </a:r>
            <a:r>
              <a:rPr lang="en-US" sz="2400" b="1" u="sng" dirty="0" smtClean="0"/>
              <a:t>operation</a:t>
            </a:r>
          </a:p>
          <a:p>
            <a:pPr lvl="1"/>
            <a:r>
              <a:rPr lang="en-US" sz="2400" dirty="0" smtClean="0"/>
              <a:t>a </a:t>
            </a:r>
            <a:r>
              <a:rPr lang="en-US" sz="2400" dirty="0"/>
              <a:t>matter of </a:t>
            </a:r>
            <a:r>
              <a:rPr lang="en-US" sz="2400" u="sng" dirty="0">
                <a:solidFill>
                  <a:srgbClr val="FF0000"/>
                </a:solidFill>
              </a:rPr>
              <a:t>judgment</a:t>
            </a:r>
            <a:r>
              <a:rPr lang="en-US" sz="2400" dirty="0">
                <a:solidFill>
                  <a:srgbClr val="FF0000"/>
                </a:solidFill>
              </a:rPr>
              <a:t> </a:t>
            </a:r>
            <a:r>
              <a:rPr lang="en-US" sz="2400" dirty="0"/>
              <a:t>and</a:t>
            </a:r>
            <a:r>
              <a:rPr lang="en-US" sz="2400" dirty="0">
                <a:solidFill>
                  <a:srgbClr val="FF0000"/>
                </a:solidFill>
              </a:rPr>
              <a:t> </a:t>
            </a:r>
            <a:r>
              <a:rPr lang="en-US" sz="2400" u="sng" dirty="0" smtClean="0">
                <a:solidFill>
                  <a:srgbClr val="FF0000"/>
                </a:solidFill>
              </a:rPr>
              <a:t>experience</a:t>
            </a:r>
            <a:endParaRPr lang="en-US" sz="2400" u="sng" dirty="0"/>
          </a:p>
          <a:p>
            <a:pPr lvl="1"/>
            <a:r>
              <a:rPr lang="en-US" sz="2400" b="1" u="sng" dirty="0" smtClean="0"/>
              <a:t>Example:</a:t>
            </a:r>
            <a:r>
              <a:rPr lang="en-US" sz="2400" dirty="0" smtClean="0"/>
              <a:t> (Binary or Sequential Search) comparison </a:t>
            </a:r>
            <a:r>
              <a:rPr lang="en-US" sz="2400" dirty="0"/>
              <a:t>instruction of </a:t>
            </a:r>
            <a:r>
              <a:rPr lang="en-US" sz="2400" i="1" dirty="0">
                <a:solidFill>
                  <a:srgbClr val="0070C0"/>
                </a:solidFill>
                <a:latin typeface="Times New Roman" panose="02020603050405020304" pitchFamily="18" charset="0"/>
                <a:cs typeface="Times New Roman" panose="02020603050405020304" pitchFamily="18" charset="0"/>
              </a:rPr>
              <a:t>x</a:t>
            </a:r>
            <a:r>
              <a:rPr lang="en-US" sz="2400" dirty="0"/>
              <a:t> with an item </a:t>
            </a:r>
            <a:r>
              <a:rPr lang="en-US" sz="2400" i="1" dirty="0">
                <a:latin typeface="Times New Roman" panose="02020603050405020304" pitchFamily="18" charset="0"/>
                <a:cs typeface="Times New Roman" panose="02020603050405020304" pitchFamily="18" charset="0"/>
              </a:rPr>
              <a:t>S</a:t>
            </a:r>
            <a:r>
              <a:rPr lang="en-US" sz="2400" dirty="0"/>
              <a:t> </a:t>
            </a:r>
          </a:p>
          <a:p>
            <a:endParaRPr lang="en-US" dirty="0"/>
          </a:p>
          <a:p>
            <a:pPr marL="457200" lvl="1" indent="0">
              <a:buNone/>
            </a:pPr>
            <a:endParaRPr lang="en-QA" sz="2400" dirty="0"/>
          </a:p>
        </p:txBody>
      </p:sp>
    </p:spTree>
    <p:extLst>
      <p:ext uri="{BB962C8B-B14F-4D97-AF65-F5344CB8AC3E}">
        <p14:creationId xmlns:p14="http://schemas.microsoft.com/office/powerpoint/2010/main" val="370706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 calcmode="lin" valueType="num">
                                      <p:cBhvr additive="base">
                                        <p:cTn id="4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 calcmode="lin" valueType="num">
                                      <p:cBhvr additive="base">
                                        <p:cTn id="4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30154-A8A9-7645-9B32-3E8DD294CB88}"/>
              </a:ext>
            </a:extLst>
          </p:cNvPr>
          <p:cNvSpPr>
            <a:spLocks noGrp="1"/>
          </p:cNvSpPr>
          <p:nvPr>
            <p:ph type="title"/>
          </p:nvPr>
        </p:nvSpPr>
        <p:spPr>
          <a:xfrm>
            <a:off x="100781" y="0"/>
            <a:ext cx="10515600" cy="893520"/>
          </a:xfrm>
        </p:spPr>
        <p:txBody>
          <a:bodyPr/>
          <a:lstStyle/>
          <a:p>
            <a:r>
              <a:rPr lang="en-US" dirty="0"/>
              <a:t>Time Complexity Analysis (cont.)</a:t>
            </a:r>
            <a:endParaRPr lang="en-QA" dirty="0"/>
          </a:p>
        </p:txBody>
      </p:sp>
      <p:sp>
        <p:nvSpPr>
          <p:cNvPr id="3" name="Content Placeholder 2">
            <a:extLst>
              <a:ext uri="{FF2B5EF4-FFF2-40B4-BE49-F238E27FC236}">
                <a16:creationId xmlns:a16="http://schemas.microsoft.com/office/drawing/2014/main" id="{D66C32D5-DFDD-7E4B-94F3-8BF7A55EF1C9}"/>
              </a:ext>
            </a:extLst>
          </p:cNvPr>
          <p:cNvSpPr>
            <a:spLocks noGrp="1"/>
          </p:cNvSpPr>
          <p:nvPr>
            <p:ph idx="1"/>
          </p:nvPr>
        </p:nvSpPr>
        <p:spPr>
          <a:xfrm>
            <a:off x="287592" y="903927"/>
            <a:ext cx="11557078" cy="5319135"/>
          </a:xfrm>
        </p:spPr>
        <p:txBody>
          <a:bodyPr>
            <a:normAutofit lnSpcReduction="10000"/>
          </a:bodyPr>
          <a:lstStyle/>
          <a:p>
            <a:r>
              <a:rPr lang="en-US" sz="2600" dirty="0"/>
              <a:t>In some cases, the number of times it is done </a:t>
            </a:r>
            <a:endParaRPr lang="en-US" sz="2600" dirty="0" smtClean="0"/>
          </a:p>
          <a:p>
            <a:pPr lvl="1"/>
            <a:r>
              <a:rPr lang="en-US" sz="2400" dirty="0" smtClean="0"/>
              <a:t>depends </a:t>
            </a:r>
            <a:r>
              <a:rPr lang="en-US" sz="2400" b="1" u="sng" dirty="0" smtClean="0"/>
              <a:t>not only </a:t>
            </a:r>
            <a:r>
              <a:rPr lang="en-US" sz="2400" dirty="0" smtClean="0"/>
              <a:t>on the </a:t>
            </a:r>
            <a:r>
              <a:rPr lang="en-US" sz="2400" u="sng" dirty="0" smtClean="0">
                <a:solidFill>
                  <a:srgbClr val="C00000"/>
                </a:solidFill>
              </a:rPr>
              <a:t>input size</a:t>
            </a:r>
            <a:r>
              <a:rPr lang="en-US" sz="2400" dirty="0" smtClean="0"/>
              <a:t>, </a:t>
            </a:r>
            <a:r>
              <a:rPr lang="en-US" sz="2400" b="1" u="sng" dirty="0" smtClean="0"/>
              <a:t>but also </a:t>
            </a:r>
            <a:r>
              <a:rPr lang="en-US" sz="2400" dirty="0" smtClean="0"/>
              <a:t>on the </a:t>
            </a:r>
            <a:r>
              <a:rPr lang="en-US" sz="2400" u="sng" dirty="0" smtClean="0">
                <a:solidFill>
                  <a:srgbClr val="0070C0"/>
                </a:solidFill>
              </a:rPr>
              <a:t>input’s values</a:t>
            </a:r>
          </a:p>
          <a:p>
            <a:pPr lvl="1"/>
            <a:r>
              <a:rPr lang="en-US" sz="2400" b="1" u="sng" dirty="0" smtClean="0"/>
              <a:t>Example:</a:t>
            </a:r>
            <a:r>
              <a:rPr lang="en-US" sz="2400" b="1" dirty="0" smtClean="0"/>
              <a:t> </a:t>
            </a:r>
            <a:r>
              <a:rPr lang="en-US" sz="2400" i="1" dirty="0" smtClean="0"/>
              <a:t>Sequential Search</a:t>
            </a:r>
            <a:endParaRPr lang="en-US" sz="2400" i="1" dirty="0"/>
          </a:p>
          <a:p>
            <a:pPr lvl="2"/>
            <a:r>
              <a:rPr lang="en-US" sz="2400" dirty="0"/>
              <a:t>if </a:t>
            </a:r>
            <a:r>
              <a:rPr lang="en-US" sz="2400" i="1" dirty="0">
                <a:latin typeface="Times New Roman" panose="02020603050405020304" pitchFamily="18" charset="0"/>
                <a:cs typeface="Times New Roman" panose="02020603050405020304" pitchFamily="18" charset="0"/>
              </a:rPr>
              <a:t>x</a:t>
            </a:r>
            <a:r>
              <a:rPr lang="en-US" sz="2400" dirty="0"/>
              <a:t> is the </a:t>
            </a:r>
            <a:r>
              <a:rPr lang="en-US" sz="2400" u="sng" dirty="0">
                <a:solidFill>
                  <a:srgbClr val="00B050"/>
                </a:solidFill>
              </a:rPr>
              <a:t>first</a:t>
            </a:r>
            <a:r>
              <a:rPr lang="en-US" sz="2400" dirty="0"/>
              <a:t> item in the array, the </a:t>
            </a:r>
            <a:r>
              <a:rPr lang="en-US" sz="2400" b="1" u="sng" dirty="0"/>
              <a:t>basic operation </a:t>
            </a:r>
            <a:r>
              <a:rPr lang="en-US" sz="2400" dirty="0"/>
              <a:t>is done </a:t>
            </a:r>
            <a:r>
              <a:rPr lang="en-US" sz="2400" u="sng" dirty="0">
                <a:solidFill>
                  <a:srgbClr val="00B050"/>
                </a:solidFill>
              </a:rPr>
              <a:t>once</a:t>
            </a:r>
            <a:endParaRPr lang="en-US" sz="2400" u="sng" dirty="0"/>
          </a:p>
          <a:p>
            <a:pPr lvl="2"/>
            <a:r>
              <a:rPr lang="en-US" sz="2400" dirty="0" smtClean="0"/>
              <a:t>if </a:t>
            </a:r>
            <a:r>
              <a:rPr lang="en-US" sz="2400" i="1" dirty="0">
                <a:latin typeface="Times New Roman" panose="02020603050405020304" pitchFamily="18" charset="0"/>
                <a:cs typeface="Times New Roman" panose="02020603050405020304" pitchFamily="18" charset="0"/>
              </a:rPr>
              <a:t>x</a:t>
            </a:r>
            <a:r>
              <a:rPr lang="en-US" sz="2400" dirty="0"/>
              <a:t> is </a:t>
            </a:r>
            <a:r>
              <a:rPr lang="en-US" sz="2400" u="sng" dirty="0">
                <a:solidFill>
                  <a:srgbClr val="FF0000"/>
                </a:solidFill>
              </a:rPr>
              <a:t>not</a:t>
            </a:r>
            <a:r>
              <a:rPr lang="en-US" sz="2400" dirty="0"/>
              <a:t> in the array, it is done </a:t>
            </a:r>
            <a:r>
              <a:rPr lang="en-US" sz="2400" b="1" i="1" u="sng" dirty="0">
                <a:solidFill>
                  <a:srgbClr val="00B050"/>
                </a:solidFill>
                <a:latin typeface="Times New Roman" panose="02020603050405020304" pitchFamily="18" charset="0"/>
                <a:cs typeface="Times New Roman" panose="02020603050405020304" pitchFamily="18" charset="0"/>
              </a:rPr>
              <a:t>n</a:t>
            </a:r>
            <a:r>
              <a:rPr lang="en-US" sz="2400" b="1" u="sng" dirty="0"/>
              <a:t> </a:t>
            </a:r>
            <a:r>
              <a:rPr lang="en-US" sz="2400" b="1" u="sng" dirty="0" smtClean="0">
                <a:solidFill>
                  <a:srgbClr val="00B050"/>
                </a:solidFill>
              </a:rPr>
              <a:t>times</a:t>
            </a:r>
            <a:endParaRPr lang="en-US" sz="2400" b="1" u="sng" dirty="0"/>
          </a:p>
          <a:p>
            <a:endParaRPr lang="en-US" dirty="0"/>
          </a:p>
          <a:p>
            <a:r>
              <a:rPr lang="en-US" dirty="0"/>
              <a:t>When the basic operation is </a:t>
            </a:r>
            <a:r>
              <a:rPr lang="en-US" u="sng" dirty="0">
                <a:solidFill>
                  <a:srgbClr val="0070C0"/>
                </a:solidFill>
              </a:rPr>
              <a:t>always done the same number of times </a:t>
            </a:r>
            <a:r>
              <a:rPr lang="en-US" dirty="0"/>
              <a:t>for every </a:t>
            </a:r>
            <a:r>
              <a:rPr lang="en-US" dirty="0" smtClean="0"/>
              <a:t>instance</a:t>
            </a:r>
            <a:endParaRPr lang="en-US" dirty="0"/>
          </a:p>
          <a:p>
            <a:pPr lvl="1"/>
            <a:r>
              <a:rPr lang="en-US" sz="2400" dirty="0"/>
              <a:t>T(n) is called the </a:t>
            </a:r>
            <a:r>
              <a:rPr lang="en-US" sz="2400" b="1" u="sng" dirty="0">
                <a:solidFill>
                  <a:srgbClr val="00B050"/>
                </a:solidFill>
              </a:rPr>
              <a:t>every-case time complexity </a:t>
            </a:r>
            <a:r>
              <a:rPr lang="en-US" sz="2400" dirty="0"/>
              <a:t>of the </a:t>
            </a:r>
            <a:r>
              <a:rPr lang="en-US" sz="2400" dirty="0" smtClean="0"/>
              <a:t>algorithm</a:t>
            </a:r>
            <a:endParaRPr lang="en-US" sz="2400" dirty="0"/>
          </a:p>
          <a:p>
            <a:pPr lvl="1"/>
            <a:r>
              <a:rPr lang="en-US" sz="2400" dirty="0" smtClean="0"/>
              <a:t>determination </a:t>
            </a:r>
            <a:r>
              <a:rPr lang="en-US" sz="2400" dirty="0"/>
              <a:t>of T(n) is called an </a:t>
            </a:r>
            <a:r>
              <a:rPr lang="en-US" sz="2400" b="1" u="sng" dirty="0">
                <a:solidFill>
                  <a:srgbClr val="00B050"/>
                </a:solidFill>
              </a:rPr>
              <a:t>every-case time complexity analysis</a:t>
            </a:r>
          </a:p>
          <a:p>
            <a:endParaRPr lang="en-US" dirty="0" smtClean="0">
              <a:solidFill>
                <a:srgbClr val="0070C0"/>
              </a:solidFill>
            </a:endParaRPr>
          </a:p>
          <a:p>
            <a:r>
              <a:rPr lang="en-US" u="sng" dirty="0" smtClean="0">
                <a:solidFill>
                  <a:srgbClr val="0070C0"/>
                </a:solidFill>
              </a:rPr>
              <a:t>Example:</a:t>
            </a:r>
            <a:endParaRPr lang="en-US" dirty="0">
              <a:solidFill>
                <a:srgbClr val="0070C0"/>
              </a:solidFill>
            </a:endParaRPr>
          </a:p>
          <a:p>
            <a:pPr lvl="1"/>
            <a:r>
              <a:rPr lang="en-US" sz="2400" i="1" dirty="0" smtClean="0"/>
              <a:t>Add </a:t>
            </a:r>
            <a:r>
              <a:rPr lang="en-US" sz="2400" i="1" dirty="0"/>
              <a:t>Array </a:t>
            </a:r>
            <a:r>
              <a:rPr lang="en-US" sz="2400" i="1" dirty="0" smtClean="0"/>
              <a:t>Members </a:t>
            </a:r>
          </a:p>
          <a:p>
            <a:pPr lvl="1"/>
            <a:r>
              <a:rPr lang="en-US" sz="2400" b="1" u="sng" dirty="0" smtClean="0"/>
              <a:t>basic </a:t>
            </a:r>
            <a:r>
              <a:rPr lang="en-US" sz="2400" b="1" u="sng" dirty="0"/>
              <a:t>operation </a:t>
            </a:r>
            <a:r>
              <a:rPr lang="en-US" sz="2400" dirty="0"/>
              <a:t>is </a:t>
            </a:r>
            <a:r>
              <a:rPr lang="en-US" sz="2400" b="1" u="sng" dirty="0">
                <a:solidFill>
                  <a:srgbClr val="0070C0"/>
                </a:solidFill>
              </a:rPr>
              <a:t>always done the same number of times </a:t>
            </a:r>
            <a:r>
              <a:rPr lang="en-US" sz="2400" dirty="0"/>
              <a:t>for every instance of size n</a:t>
            </a:r>
            <a:endParaRPr lang="en-QA" sz="2400" dirty="0"/>
          </a:p>
        </p:txBody>
      </p:sp>
    </p:spTree>
    <p:extLst>
      <p:ext uri="{BB962C8B-B14F-4D97-AF65-F5344CB8AC3E}">
        <p14:creationId xmlns:p14="http://schemas.microsoft.com/office/powerpoint/2010/main" val="286448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 calcmode="lin" valueType="num">
                                      <p:cBhvr additive="base">
                                        <p:cTn id="4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 calcmode="lin" valueType="num">
                                      <p:cBhvr additive="base">
                                        <p:cTn id="4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anim calcmode="lin" valueType="num">
                                      <p:cBhvr additive="base">
                                        <p:cTn id="5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A93B5-5095-B747-B720-56F69FDE688C}"/>
              </a:ext>
            </a:extLst>
          </p:cNvPr>
          <p:cNvSpPr>
            <a:spLocks noGrp="1"/>
          </p:cNvSpPr>
          <p:nvPr>
            <p:ph type="title"/>
          </p:nvPr>
        </p:nvSpPr>
        <p:spPr>
          <a:xfrm>
            <a:off x="0" y="62406"/>
            <a:ext cx="10515600" cy="893520"/>
          </a:xfrm>
        </p:spPr>
        <p:txBody>
          <a:bodyPr/>
          <a:lstStyle/>
          <a:p>
            <a:r>
              <a:rPr lang="en-US" dirty="0"/>
              <a:t>Time Complexity Analysis (cont.)</a:t>
            </a:r>
            <a:endParaRPr lang="en-QA" dirty="0"/>
          </a:p>
        </p:txBody>
      </p:sp>
      <p:sp>
        <p:nvSpPr>
          <p:cNvPr id="3" name="Content Placeholder 2">
            <a:extLst>
              <a:ext uri="{FF2B5EF4-FFF2-40B4-BE49-F238E27FC236}">
                <a16:creationId xmlns:a16="http://schemas.microsoft.com/office/drawing/2014/main" id="{2A670278-84AB-9640-87B7-339BE3FC22F2}"/>
              </a:ext>
            </a:extLst>
          </p:cNvPr>
          <p:cNvSpPr>
            <a:spLocks noGrp="1"/>
          </p:cNvSpPr>
          <p:nvPr>
            <p:ph idx="1"/>
          </p:nvPr>
        </p:nvSpPr>
        <p:spPr>
          <a:xfrm>
            <a:off x="326921" y="955926"/>
            <a:ext cx="7731035" cy="4918317"/>
          </a:xfrm>
        </p:spPr>
        <p:txBody>
          <a:bodyPr>
            <a:normAutofit/>
          </a:bodyPr>
          <a:lstStyle/>
          <a:p>
            <a:pPr marL="0" indent="0">
              <a:buNone/>
            </a:pPr>
            <a:r>
              <a:rPr lang="en-US" b="1" u="sng" dirty="0">
                <a:solidFill>
                  <a:srgbClr val="0070C0"/>
                </a:solidFill>
              </a:rPr>
              <a:t>Analysis of Algorithm 1.2</a:t>
            </a:r>
          </a:p>
          <a:p>
            <a:pPr marL="0" indent="0">
              <a:buNone/>
            </a:pPr>
            <a:r>
              <a:rPr lang="en-US" b="1" dirty="0">
                <a:solidFill>
                  <a:srgbClr val="00B050"/>
                </a:solidFill>
              </a:rPr>
              <a:t>Every-Case Time Complexity </a:t>
            </a:r>
            <a:r>
              <a:rPr lang="en-US" b="1" dirty="0"/>
              <a:t>(</a:t>
            </a:r>
            <a:r>
              <a:rPr lang="en-US" dirty="0"/>
              <a:t>Add Array Members</a:t>
            </a:r>
            <a:r>
              <a:rPr lang="en-US" b="1" dirty="0"/>
              <a:t>)</a:t>
            </a:r>
          </a:p>
          <a:p>
            <a:pPr marL="0" indent="0">
              <a:buNone/>
            </a:pPr>
            <a:r>
              <a:rPr lang="en-US" b="1" dirty="0"/>
              <a:t>Basic operation: </a:t>
            </a:r>
            <a:r>
              <a:rPr lang="en-US" dirty="0"/>
              <a:t>the addition of an item in the array to </a:t>
            </a:r>
            <a:r>
              <a:rPr lang="en-US" dirty="0" smtClean="0"/>
              <a:t>sum</a:t>
            </a:r>
            <a:endParaRPr lang="en-US" dirty="0"/>
          </a:p>
          <a:p>
            <a:pPr marL="0" indent="0">
              <a:buNone/>
            </a:pPr>
            <a:r>
              <a:rPr lang="en-US" b="1" dirty="0"/>
              <a:t>Input size: </a:t>
            </a:r>
            <a:r>
              <a:rPr lang="en-US" i="1" dirty="0">
                <a:latin typeface="Times New Roman" panose="02020603050405020304" pitchFamily="18" charset="0"/>
                <a:cs typeface="Times New Roman" panose="02020603050405020304" pitchFamily="18" charset="0"/>
              </a:rPr>
              <a:t>n</a:t>
            </a:r>
            <a:r>
              <a:rPr lang="en-US" dirty="0"/>
              <a:t>, the number of items in the </a:t>
            </a:r>
            <a:r>
              <a:rPr lang="en-US" dirty="0" smtClean="0"/>
              <a:t>array</a:t>
            </a:r>
            <a:endParaRPr lang="en-US" dirty="0"/>
          </a:p>
          <a:p>
            <a:pPr lvl="3"/>
            <a:endParaRPr lang="en-US" dirty="0"/>
          </a:p>
          <a:p>
            <a:pPr lvl="3"/>
            <a:endParaRPr lang="en-US" dirty="0"/>
          </a:p>
          <a:p>
            <a:pPr lvl="3"/>
            <a:endParaRPr lang="en-US" dirty="0"/>
          </a:p>
        </p:txBody>
      </p:sp>
      <p:pic>
        <p:nvPicPr>
          <p:cNvPr id="18" name="Picture 17">
            <a:extLst>
              <a:ext uri="{FF2B5EF4-FFF2-40B4-BE49-F238E27FC236}">
                <a16:creationId xmlns:a16="http://schemas.microsoft.com/office/drawing/2014/main" id="{2F5D646E-CE6C-BD47-9727-9B2102A27E72}"/>
              </a:ext>
            </a:extLst>
          </p:cNvPr>
          <p:cNvPicPr>
            <a:picLocks noChangeAspect="1"/>
          </p:cNvPicPr>
          <p:nvPr/>
        </p:nvPicPr>
        <p:blipFill>
          <a:blip r:embed="rId3"/>
          <a:stretch>
            <a:fillRect/>
          </a:stretch>
        </p:blipFill>
        <p:spPr>
          <a:xfrm>
            <a:off x="8228088" y="829900"/>
            <a:ext cx="3706259" cy="2441594"/>
          </a:xfrm>
          <a:prstGeom prst="rect">
            <a:avLst/>
          </a:prstGeom>
        </p:spPr>
      </p:pic>
      <p:sp>
        <p:nvSpPr>
          <p:cNvPr id="4" name="TextBox 3"/>
          <p:cNvSpPr txBox="1"/>
          <p:nvPr/>
        </p:nvSpPr>
        <p:spPr>
          <a:xfrm>
            <a:off x="378508" y="2686719"/>
            <a:ext cx="1584252" cy="584775"/>
          </a:xfrm>
          <a:prstGeom prst="rect">
            <a:avLst/>
          </a:prstGeom>
          <a:solidFill>
            <a:srgbClr val="FFC000"/>
          </a:solidFill>
        </p:spPr>
        <p:txBody>
          <a:bodyPr wrap="square" rtlCol="0">
            <a:spAutoFit/>
          </a:bodyPr>
          <a:lstStyle/>
          <a:p>
            <a:r>
              <a:rPr lang="en-US" sz="3200" b="1" dirty="0" smtClean="0"/>
              <a:t>T(n) = n</a:t>
            </a:r>
            <a:endParaRPr lang="tr-TR" sz="3200" b="1" dirty="0"/>
          </a:p>
        </p:txBody>
      </p:sp>
    </p:spTree>
    <p:extLst>
      <p:ext uri="{BB962C8B-B14F-4D97-AF65-F5344CB8AC3E}">
        <p14:creationId xmlns:p14="http://schemas.microsoft.com/office/powerpoint/2010/main" val="224405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FCD7C-DFF4-3F4E-80A1-6575F324CA7B}"/>
              </a:ext>
            </a:extLst>
          </p:cNvPr>
          <p:cNvSpPr>
            <a:spLocks noGrp="1"/>
          </p:cNvSpPr>
          <p:nvPr>
            <p:ph type="title"/>
          </p:nvPr>
        </p:nvSpPr>
        <p:spPr>
          <a:xfrm>
            <a:off x="0" y="1332"/>
            <a:ext cx="10515600" cy="893520"/>
          </a:xfrm>
        </p:spPr>
        <p:txBody>
          <a:bodyPr/>
          <a:lstStyle/>
          <a:p>
            <a:r>
              <a:rPr lang="en-US" dirty="0"/>
              <a:t>Time Complexity Analysis (cont.)</a:t>
            </a:r>
            <a:endParaRPr lang="en-QA" dirty="0"/>
          </a:p>
        </p:txBody>
      </p:sp>
      <p:sp>
        <p:nvSpPr>
          <p:cNvPr id="3" name="Content Placeholder 2">
            <a:extLst>
              <a:ext uri="{FF2B5EF4-FFF2-40B4-BE49-F238E27FC236}">
                <a16:creationId xmlns:a16="http://schemas.microsoft.com/office/drawing/2014/main" id="{8625BFC1-4EFC-AB49-A956-325D021A6958}"/>
              </a:ext>
            </a:extLst>
          </p:cNvPr>
          <p:cNvSpPr>
            <a:spLocks noGrp="1"/>
          </p:cNvSpPr>
          <p:nvPr>
            <p:ph idx="1"/>
          </p:nvPr>
        </p:nvSpPr>
        <p:spPr>
          <a:xfrm>
            <a:off x="189269" y="1138478"/>
            <a:ext cx="11737259" cy="5616283"/>
          </a:xfrm>
        </p:spPr>
        <p:txBody>
          <a:bodyPr>
            <a:normAutofit lnSpcReduction="10000"/>
          </a:bodyPr>
          <a:lstStyle/>
          <a:p>
            <a:pPr marL="0" indent="0">
              <a:buNone/>
            </a:pPr>
            <a:r>
              <a:rPr lang="en-US" b="1" u="sng" dirty="0">
                <a:solidFill>
                  <a:srgbClr val="0070C0"/>
                </a:solidFill>
              </a:rPr>
              <a:t>Analysis of Algorithm 1.4</a:t>
            </a:r>
          </a:p>
          <a:p>
            <a:pPr marL="0" indent="0">
              <a:buNone/>
            </a:pPr>
            <a:r>
              <a:rPr lang="en-US" b="1" dirty="0">
                <a:solidFill>
                  <a:srgbClr val="00B050"/>
                </a:solidFill>
              </a:rPr>
              <a:t>Every-Case Time Complexity </a:t>
            </a:r>
            <a:r>
              <a:rPr lang="en-US" dirty="0"/>
              <a:t>(Matrix Multiplication) </a:t>
            </a:r>
          </a:p>
          <a:p>
            <a:pPr marL="0" indent="0">
              <a:buNone/>
            </a:pPr>
            <a:r>
              <a:rPr lang="en-US" b="1" dirty="0"/>
              <a:t>Basic operation: </a:t>
            </a:r>
            <a:r>
              <a:rPr lang="en-US" dirty="0"/>
              <a:t>multiplication instruction in the </a:t>
            </a:r>
          </a:p>
          <a:p>
            <a:pPr marL="0" indent="0">
              <a:buNone/>
            </a:pPr>
            <a:r>
              <a:rPr lang="en-US" dirty="0" smtClean="0"/>
              <a:t>                                innermost </a:t>
            </a:r>
            <a:r>
              <a:rPr lang="en-US" b="1" dirty="0"/>
              <a:t>for </a:t>
            </a:r>
            <a:r>
              <a:rPr lang="en-US" dirty="0" smtClean="0"/>
              <a:t>loop</a:t>
            </a:r>
            <a:endParaRPr lang="en-US" dirty="0"/>
          </a:p>
          <a:p>
            <a:pPr marL="0" indent="0">
              <a:buNone/>
            </a:pPr>
            <a:r>
              <a:rPr lang="en-US" b="1" dirty="0"/>
              <a:t>Input size: </a:t>
            </a:r>
            <a:r>
              <a:rPr lang="en-US" i="1" dirty="0">
                <a:latin typeface="Times New Roman" panose="02020603050405020304" pitchFamily="18" charset="0"/>
                <a:cs typeface="Times New Roman" panose="02020603050405020304" pitchFamily="18" charset="0"/>
              </a:rPr>
              <a:t>n</a:t>
            </a:r>
            <a:r>
              <a:rPr lang="en-US" dirty="0"/>
              <a:t>, the number of rows and </a:t>
            </a:r>
            <a:r>
              <a:rPr lang="en-US" dirty="0" smtClean="0"/>
              <a:t>columns</a:t>
            </a:r>
            <a:endParaRPr lang="en-US" dirty="0"/>
          </a:p>
          <a:p>
            <a:pPr lvl="3"/>
            <a:endParaRPr lang="en-QA" dirty="0"/>
          </a:p>
          <a:p>
            <a:endParaRPr lang="en-US" dirty="0"/>
          </a:p>
          <a:p>
            <a:pPr marL="457200" lvl="1" indent="0">
              <a:buNone/>
            </a:pPr>
            <a:endParaRPr lang="en-US" dirty="0" smtClean="0"/>
          </a:p>
          <a:p>
            <a:pPr marL="457200" lvl="1" indent="0">
              <a:buNone/>
            </a:pPr>
            <a:endParaRPr lang="en-US" dirty="0"/>
          </a:p>
          <a:p>
            <a:pPr marL="457200" lvl="1" indent="0">
              <a:buNone/>
            </a:pPr>
            <a:endParaRPr lang="en-US" dirty="0"/>
          </a:p>
          <a:p>
            <a:r>
              <a:rPr lang="en-US" dirty="0"/>
              <a:t>For many algorithms, the basic operation is </a:t>
            </a:r>
            <a:r>
              <a:rPr lang="en-US" b="1" u="sng" dirty="0">
                <a:solidFill>
                  <a:srgbClr val="FF0000"/>
                </a:solidFill>
              </a:rPr>
              <a:t>not done </a:t>
            </a:r>
            <a:r>
              <a:rPr lang="en-US" b="1" dirty="0"/>
              <a:t>the same number of times</a:t>
            </a:r>
          </a:p>
          <a:p>
            <a:pPr lvl="1"/>
            <a:r>
              <a:rPr lang="en-US" sz="2400" dirty="0"/>
              <a:t>These algorithms </a:t>
            </a:r>
            <a:r>
              <a:rPr lang="en-US" sz="2400" b="1" u="sng" dirty="0"/>
              <a:t>do not have </a:t>
            </a:r>
            <a:r>
              <a:rPr lang="en-US" sz="2400" dirty="0"/>
              <a:t>an </a:t>
            </a:r>
            <a:r>
              <a:rPr lang="en-US" sz="2400" b="1" dirty="0">
                <a:solidFill>
                  <a:srgbClr val="00B050"/>
                </a:solidFill>
              </a:rPr>
              <a:t>every-case time complexity</a:t>
            </a:r>
          </a:p>
          <a:p>
            <a:pPr lvl="1"/>
            <a:r>
              <a:rPr lang="en-US" sz="2400" b="1" i="1" dirty="0" smtClean="0">
                <a:solidFill>
                  <a:srgbClr val="FF0000"/>
                </a:solidFill>
                <a:latin typeface="Times New Roman" panose="02020603050405020304" pitchFamily="18" charset="0"/>
                <a:cs typeface="Times New Roman" panose="02020603050405020304" pitchFamily="18" charset="0"/>
              </a:rPr>
              <a:t>W</a:t>
            </a:r>
            <a:r>
              <a:rPr lang="en-US" sz="2400" b="1" dirty="0" smtClean="0">
                <a:solidFill>
                  <a:srgbClr val="FF0000"/>
                </a:solidFill>
              </a:rPr>
              <a:t>(</a:t>
            </a:r>
            <a:r>
              <a:rPr lang="en-US" sz="2400" b="1" i="1" dirty="0" smtClean="0">
                <a:solidFill>
                  <a:srgbClr val="FF0000"/>
                </a:solidFill>
                <a:latin typeface="Times New Roman" panose="02020603050405020304" pitchFamily="18" charset="0"/>
                <a:cs typeface="Times New Roman" panose="02020603050405020304" pitchFamily="18" charset="0"/>
              </a:rPr>
              <a:t>n</a:t>
            </a:r>
            <a:r>
              <a:rPr lang="en-US" sz="2400" b="1" dirty="0">
                <a:solidFill>
                  <a:srgbClr val="FF0000"/>
                </a:solidFill>
              </a:rPr>
              <a:t>) </a:t>
            </a:r>
            <a:r>
              <a:rPr lang="en-US" sz="2400" dirty="0"/>
              <a:t>is the </a:t>
            </a:r>
            <a:r>
              <a:rPr lang="en-US" sz="2400" b="1" u="sng" dirty="0"/>
              <a:t>maximum number of times the algorithm </a:t>
            </a:r>
            <a:r>
              <a:rPr lang="en-US" sz="2400" dirty="0"/>
              <a:t>will ever </a:t>
            </a:r>
            <a:r>
              <a:rPr lang="en-US" sz="2400" dirty="0" smtClean="0"/>
              <a:t>do its </a:t>
            </a:r>
            <a:r>
              <a:rPr lang="en-US" sz="2400" dirty="0"/>
              <a:t>basic </a:t>
            </a:r>
            <a:r>
              <a:rPr lang="en-US" sz="2400" dirty="0" smtClean="0"/>
              <a:t>operation</a:t>
            </a:r>
            <a:endParaRPr lang="en-US" sz="2400" dirty="0"/>
          </a:p>
          <a:p>
            <a:pPr lvl="1"/>
            <a:r>
              <a:rPr lang="en-US" sz="2400" b="1" i="1" dirty="0">
                <a:solidFill>
                  <a:srgbClr val="FF0000"/>
                </a:solidFill>
                <a:latin typeface="Times New Roman" panose="02020603050405020304" pitchFamily="18" charset="0"/>
                <a:cs typeface="Times New Roman" panose="02020603050405020304" pitchFamily="18" charset="0"/>
              </a:rPr>
              <a:t>W</a:t>
            </a:r>
            <a:r>
              <a:rPr lang="en-US" sz="2400" b="1" dirty="0">
                <a:solidFill>
                  <a:srgbClr val="FF0000"/>
                </a:solidFill>
              </a:rPr>
              <a:t>(</a:t>
            </a:r>
            <a:r>
              <a:rPr lang="en-US" sz="2400" b="1" i="1" dirty="0">
                <a:solidFill>
                  <a:srgbClr val="FF0000"/>
                </a:solidFill>
                <a:latin typeface="Times New Roman" panose="02020603050405020304" pitchFamily="18" charset="0"/>
                <a:cs typeface="Times New Roman" panose="02020603050405020304" pitchFamily="18" charset="0"/>
              </a:rPr>
              <a:t>n</a:t>
            </a:r>
            <a:r>
              <a:rPr lang="en-US" sz="2400" b="1" dirty="0">
                <a:solidFill>
                  <a:srgbClr val="FF0000"/>
                </a:solidFill>
              </a:rPr>
              <a:t>) </a:t>
            </a:r>
            <a:r>
              <a:rPr lang="en-US" sz="2400" dirty="0"/>
              <a:t>is called the </a:t>
            </a:r>
            <a:r>
              <a:rPr lang="en-US" sz="2400" b="1" u="sng" dirty="0">
                <a:solidFill>
                  <a:srgbClr val="FF0000"/>
                </a:solidFill>
              </a:rPr>
              <a:t>worst-case time complexity</a:t>
            </a:r>
            <a:r>
              <a:rPr lang="en-US" sz="2400" u="sng" dirty="0">
                <a:solidFill>
                  <a:srgbClr val="FF0000"/>
                </a:solidFill>
              </a:rPr>
              <a:t> </a:t>
            </a:r>
            <a:r>
              <a:rPr lang="en-US" sz="2400" dirty="0"/>
              <a:t>of the </a:t>
            </a:r>
            <a:r>
              <a:rPr lang="en-US" sz="2400" dirty="0" smtClean="0"/>
              <a:t>algorithm</a:t>
            </a:r>
            <a:endParaRPr lang="en-US" sz="2400" dirty="0"/>
          </a:p>
        </p:txBody>
      </p:sp>
      <p:pic>
        <p:nvPicPr>
          <p:cNvPr id="11" name="Picture 10">
            <a:extLst>
              <a:ext uri="{FF2B5EF4-FFF2-40B4-BE49-F238E27FC236}">
                <a16:creationId xmlns:a16="http://schemas.microsoft.com/office/drawing/2014/main" id="{2B3D4128-5A3F-1143-BE8D-D2F1D6C7A698}"/>
              </a:ext>
            </a:extLst>
          </p:cNvPr>
          <p:cNvPicPr>
            <a:picLocks noChangeAspect="1"/>
          </p:cNvPicPr>
          <p:nvPr/>
        </p:nvPicPr>
        <p:blipFill>
          <a:blip r:embed="rId3"/>
          <a:stretch>
            <a:fillRect/>
          </a:stretch>
        </p:blipFill>
        <p:spPr>
          <a:xfrm>
            <a:off x="7075570" y="2580426"/>
            <a:ext cx="5039360" cy="2184400"/>
          </a:xfrm>
          <a:prstGeom prst="rect">
            <a:avLst/>
          </a:prstGeom>
        </p:spPr>
      </p:pic>
      <p:sp>
        <p:nvSpPr>
          <p:cNvPr id="6" name="TextBox 5"/>
          <p:cNvSpPr txBox="1"/>
          <p:nvPr/>
        </p:nvSpPr>
        <p:spPr>
          <a:xfrm>
            <a:off x="298995" y="3361844"/>
            <a:ext cx="4312762" cy="584775"/>
          </a:xfrm>
          <a:prstGeom prst="rect">
            <a:avLst/>
          </a:prstGeom>
          <a:solidFill>
            <a:srgbClr val="FFC000"/>
          </a:solidFill>
        </p:spPr>
        <p:txBody>
          <a:bodyPr wrap="square" rtlCol="0">
            <a:spAutoFit/>
          </a:bodyPr>
          <a:lstStyle/>
          <a:p>
            <a:r>
              <a:rPr lang="en-US" sz="3200" b="1" dirty="0" smtClean="0"/>
              <a:t>T(n) = n * n * n  = n</a:t>
            </a:r>
            <a:r>
              <a:rPr lang="en-US" sz="3200" b="1" baseline="30000" dirty="0" smtClean="0"/>
              <a:t>3</a:t>
            </a:r>
            <a:r>
              <a:rPr lang="en-US" sz="3200" b="1" dirty="0" smtClean="0"/>
              <a:t> </a:t>
            </a:r>
            <a:endParaRPr lang="tr-TR" sz="3200" b="1" dirty="0"/>
          </a:p>
        </p:txBody>
      </p:sp>
      <p:pic>
        <p:nvPicPr>
          <p:cNvPr id="7" name="Picture 6"/>
          <p:cNvPicPr>
            <a:picLocks noChangeAspect="1"/>
          </p:cNvPicPr>
          <p:nvPr/>
        </p:nvPicPr>
        <p:blipFill>
          <a:blip r:embed="rId4"/>
          <a:stretch>
            <a:fillRect/>
          </a:stretch>
        </p:blipFill>
        <p:spPr>
          <a:xfrm>
            <a:off x="7406640" y="230698"/>
            <a:ext cx="4629614" cy="2106102"/>
          </a:xfrm>
          <a:prstGeom prst="rect">
            <a:avLst/>
          </a:prstGeom>
        </p:spPr>
      </p:pic>
      <p:cxnSp>
        <p:nvCxnSpPr>
          <p:cNvPr id="5" name="Straight Connector 4"/>
          <p:cNvCxnSpPr/>
          <p:nvPr/>
        </p:nvCxnSpPr>
        <p:spPr>
          <a:xfrm>
            <a:off x="6847840" y="1332"/>
            <a:ext cx="0" cy="476349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847840" y="2468880"/>
            <a:ext cx="5344160" cy="203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847840" y="4790119"/>
            <a:ext cx="5344160" cy="203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835498" y="0"/>
            <a:ext cx="5344160" cy="203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12173488" y="10160"/>
            <a:ext cx="6170" cy="4800279"/>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263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ppt_x"/>
                                          </p:val>
                                        </p:tav>
                                        <p:tav tm="100000">
                                          <p:val>
                                            <p:strVal val="#ppt_x"/>
                                          </p:val>
                                        </p:tav>
                                      </p:tavLst>
                                    </p:anim>
                                    <p:anim calcmode="lin" valueType="num">
                                      <p:cBhvr additive="base">
                                        <p:cTn id="48" dur="500" fill="hold"/>
                                        <p:tgtEl>
                                          <p:spTgt spid="9"/>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 calcmode="lin" valueType="num">
                                      <p:cBhvr additive="base">
                                        <p:cTn id="57" dur="500" fill="hold"/>
                                        <p:tgtEl>
                                          <p:spTgt spid="6"/>
                                        </p:tgtEl>
                                        <p:attrNameLst>
                                          <p:attrName>ppt_x</p:attrName>
                                        </p:attrNameLst>
                                      </p:cBhvr>
                                      <p:tavLst>
                                        <p:tav tm="0">
                                          <p:val>
                                            <p:strVal val="#ppt_x"/>
                                          </p:val>
                                        </p:tav>
                                        <p:tav tm="100000">
                                          <p:val>
                                            <p:strVal val="#ppt_x"/>
                                          </p:val>
                                        </p:tav>
                                      </p:tavLst>
                                    </p:anim>
                                    <p:anim calcmode="lin" valueType="num">
                                      <p:cBhvr additive="base">
                                        <p:cTn id="5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 calcmode="lin" valueType="num">
                                      <p:cBhvr additive="base">
                                        <p:cTn id="6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 calcmode="lin" valueType="num">
                                      <p:cBhvr additive="base">
                                        <p:cTn id="6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12" end="12"/>
                                            </p:txEl>
                                          </p:spTgt>
                                        </p:tgtEl>
                                        <p:attrNameLst>
                                          <p:attrName>style.visibility</p:attrName>
                                        </p:attrNameLst>
                                      </p:cBhvr>
                                      <p:to>
                                        <p:strVal val="visible"/>
                                      </p:to>
                                    </p:set>
                                    <p:anim calcmode="lin" valueType="num">
                                      <p:cBhvr additive="base">
                                        <p:cTn id="7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13" end="13"/>
                                            </p:txEl>
                                          </p:spTgt>
                                        </p:tgtEl>
                                        <p:attrNameLst>
                                          <p:attrName>style.visibility</p:attrName>
                                        </p:attrNameLst>
                                      </p:cBhvr>
                                      <p:to>
                                        <p:strVal val="visible"/>
                                      </p:to>
                                    </p:set>
                                    <p:anim calcmode="lin" valueType="num">
                                      <p:cBhvr additive="base">
                                        <p:cTn id="7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69860-B8B2-8048-BC02-1C3758219088}"/>
              </a:ext>
            </a:extLst>
          </p:cNvPr>
          <p:cNvSpPr>
            <a:spLocks noGrp="1"/>
          </p:cNvSpPr>
          <p:nvPr>
            <p:ph type="title"/>
          </p:nvPr>
        </p:nvSpPr>
        <p:spPr>
          <a:xfrm>
            <a:off x="0" y="0"/>
            <a:ext cx="10515600" cy="893520"/>
          </a:xfrm>
        </p:spPr>
        <p:txBody>
          <a:bodyPr/>
          <a:lstStyle/>
          <a:p>
            <a:r>
              <a:rPr lang="en-US" dirty="0"/>
              <a:t>Time Complexity Analysis (cont.)</a:t>
            </a:r>
            <a:endParaRPr lang="en-QA" dirty="0"/>
          </a:p>
        </p:txBody>
      </p:sp>
      <p:sp>
        <p:nvSpPr>
          <p:cNvPr id="3" name="Content Placeholder 2">
            <a:extLst>
              <a:ext uri="{FF2B5EF4-FFF2-40B4-BE49-F238E27FC236}">
                <a16:creationId xmlns:a16="http://schemas.microsoft.com/office/drawing/2014/main" id="{B42B5631-24D5-4948-8CDC-8A55674EA3C4}"/>
              </a:ext>
            </a:extLst>
          </p:cNvPr>
          <p:cNvSpPr>
            <a:spLocks noGrp="1"/>
          </p:cNvSpPr>
          <p:nvPr>
            <p:ph idx="1"/>
          </p:nvPr>
        </p:nvSpPr>
        <p:spPr>
          <a:xfrm>
            <a:off x="287594" y="751193"/>
            <a:ext cx="11658600" cy="5486283"/>
          </a:xfrm>
        </p:spPr>
        <p:txBody>
          <a:bodyPr>
            <a:normAutofit/>
          </a:bodyPr>
          <a:lstStyle/>
          <a:p>
            <a:pPr marL="0" indent="0">
              <a:buNone/>
            </a:pPr>
            <a:r>
              <a:rPr lang="en-US" sz="2600" b="1" u="sng" dirty="0">
                <a:solidFill>
                  <a:srgbClr val="0070C0"/>
                </a:solidFill>
              </a:rPr>
              <a:t>Analysis of Algorithm 1.1</a:t>
            </a:r>
          </a:p>
          <a:p>
            <a:pPr marL="0" indent="0">
              <a:buNone/>
            </a:pPr>
            <a:r>
              <a:rPr lang="en-US" sz="2600" b="1" dirty="0">
                <a:solidFill>
                  <a:srgbClr val="FF0000"/>
                </a:solidFill>
              </a:rPr>
              <a:t>Worst-Case Time Complexity </a:t>
            </a:r>
            <a:r>
              <a:rPr lang="en-US" sz="2600" i="1" dirty="0"/>
              <a:t>(Sequential Search)</a:t>
            </a:r>
          </a:p>
          <a:p>
            <a:pPr marL="0" indent="0">
              <a:buNone/>
            </a:pPr>
            <a:r>
              <a:rPr lang="en-US" sz="2600" b="1" dirty="0"/>
              <a:t>Basic operation: </a:t>
            </a:r>
            <a:r>
              <a:rPr lang="en-US" sz="2600" dirty="0"/>
              <a:t>the comparison of an item in the array with </a:t>
            </a:r>
            <a:r>
              <a:rPr lang="en-US" sz="2600" b="1" i="1" dirty="0" smtClean="0">
                <a:latin typeface="Times New Roman" panose="02020603050405020304" pitchFamily="18" charset="0"/>
                <a:cs typeface="Times New Roman" panose="02020603050405020304" pitchFamily="18" charset="0"/>
              </a:rPr>
              <a:t>x</a:t>
            </a:r>
            <a:endParaRPr lang="en-US" sz="2600" b="1" dirty="0"/>
          </a:p>
          <a:p>
            <a:pPr marL="0" indent="0">
              <a:buNone/>
            </a:pPr>
            <a:r>
              <a:rPr lang="en-US" sz="2600" b="1" dirty="0"/>
              <a:t>Input size:</a:t>
            </a:r>
            <a:r>
              <a:rPr lang="en-US" sz="2600" dirty="0"/>
              <a:t> </a:t>
            </a:r>
            <a:r>
              <a:rPr lang="en-US" sz="2600" i="1" dirty="0">
                <a:latin typeface="Times New Roman" panose="02020603050405020304" pitchFamily="18" charset="0"/>
                <a:cs typeface="Times New Roman" panose="02020603050405020304" pitchFamily="18" charset="0"/>
              </a:rPr>
              <a:t>n</a:t>
            </a:r>
            <a:r>
              <a:rPr lang="en-US" sz="2600" dirty="0"/>
              <a:t>, the number of items in the </a:t>
            </a:r>
            <a:r>
              <a:rPr lang="en-US" sz="2600" dirty="0" smtClean="0"/>
              <a:t>array</a:t>
            </a:r>
            <a:endParaRPr lang="en-US" sz="2600" dirty="0"/>
          </a:p>
          <a:p>
            <a:pPr marL="0" indent="0">
              <a:buNone/>
            </a:pPr>
            <a:endParaRPr lang="en-US" dirty="0"/>
          </a:p>
          <a:p>
            <a:pPr marL="0" indent="0">
              <a:buNone/>
            </a:pPr>
            <a:endParaRPr lang="en-US" dirty="0"/>
          </a:p>
          <a:p>
            <a:r>
              <a:rPr lang="en-US" sz="2600" dirty="0"/>
              <a:t>In some </a:t>
            </a:r>
            <a:r>
              <a:rPr lang="en-US" sz="2600" dirty="0" smtClean="0"/>
              <a:t>cases, </a:t>
            </a:r>
            <a:r>
              <a:rPr lang="en-US" sz="2600" dirty="0"/>
              <a:t>we </a:t>
            </a:r>
            <a:r>
              <a:rPr lang="en-US" sz="2600" dirty="0" smtClean="0"/>
              <a:t>are interested in </a:t>
            </a:r>
            <a:r>
              <a:rPr lang="en-US" sz="2600" b="1" u="sng" dirty="0" smtClean="0">
                <a:solidFill>
                  <a:srgbClr val="7030A0"/>
                </a:solidFill>
              </a:rPr>
              <a:t>how algorithm </a:t>
            </a:r>
            <a:r>
              <a:rPr lang="en-US" sz="2600" b="1" u="sng" dirty="0">
                <a:solidFill>
                  <a:srgbClr val="7030A0"/>
                </a:solidFill>
              </a:rPr>
              <a:t>performs on the average</a:t>
            </a:r>
          </a:p>
          <a:p>
            <a:pPr lvl="1"/>
            <a:r>
              <a:rPr lang="en-US" sz="2400" b="1" i="1" dirty="0" smtClean="0">
                <a:solidFill>
                  <a:srgbClr val="7030A0"/>
                </a:solidFill>
                <a:latin typeface="Times New Roman" panose="02020603050405020304" pitchFamily="18" charset="0"/>
                <a:cs typeface="Times New Roman" panose="02020603050405020304" pitchFamily="18" charset="0"/>
              </a:rPr>
              <a:t>A</a:t>
            </a:r>
            <a:r>
              <a:rPr lang="en-US" sz="2400" b="1" dirty="0" smtClean="0">
                <a:solidFill>
                  <a:srgbClr val="7030A0"/>
                </a:solidFill>
              </a:rPr>
              <a:t>(</a:t>
            </a:r>
            <a:r>
              <a:rPr lang="en-US" sz="2400" b="1" i="1" dirty="0" smtClean="0">
                <a:solidFill>
                  <a:srgbClr val="7030A0"/>
                </a:solidFill>
                <a:latin typeface="Times New Roman" panose="02020603050405020304" pitchFamily="18" charset="0"/>
                <a:cs typeface="Times New Roman" panose="02020603050405020304" pitchFamily="18" charset="0"/>
              </a:rPr>
              <a:t>n</a:t>
            </a:r>
            <a:r>
              <a:rPr lang="en-US" sz="2400" b="1" dirty="0">
                <a:solidFill>
                  <a:srgbClr val="7030A0"/>
                </a:solidFill>
              </a:rPr>
              <a:t>) </a:t>
            </a:r>
            <a:r>
              <a:rPr lang="en-US" sz="2400" dirty="0"/>
              <a:t>is defined as the </a:t>
            </a:r>
            <a:r>
              <a:rPr lang="en-US" sz="2400" b="1" u="sng" dirty="0"/>
              <a:t>average of the number of times the algorithm does </a:t>
            </a:r>
            <a:r>
              <a:rPr lang="en-US" sz="2400" dirty="0"/>
              <a:t>the basic operation for an input size of </a:t>
            </a:r>
            <a:r>
              <a:rPr lang="en-US" sz="2400" b="1" i="1" dirty="0">
                <a:solidFill>
                  <a:srgbClr val="7030A0"/>
                </a:solidFill>
              </a:rPr>
              <a:t>n</a:t>
            </a:r>
          </a:p>
          <a:p>
            <a:pPr lvl="1"/>
            <a:r>
              <a:rPr lang="en-US" sz="2400" i="1" dirty="0">
                <a:latin typeface="Times New Roman" panose="02020603050405020304" pitchFamily="18" charset="0"/>
                <a:cs typeface="Times New Roman" panose="02020603050405020304" pitchFamily="18" charset="0"/>
              </a:rPr>
              <a:t>A</a:t>
            </a:r>
            <a:r>
              <a:rPr lang="en-US" sz="2400" dirty="0"/>
              <a:t>(</a:t>
            </a:r>
            <a:r>
              <a:rPr lang="en-US" sz="2400" i="1" dirty="0">
                <a:latin typeface="Times New Roman" panose="02020603050405020304" pitchFamily="18" charset="0"/>
                <a:cs typeface="Times New Roman" panose="02020603050405020304" pitchFamily="18" charset="0"/>
              </a:rPr>
              <a:t>n</a:t>
            </a:r>
            <a:r>
              <a:rPr lang="en-US" sz="2400" dirty="0"/>
              <a:t>) is called the </a:t>
            </a:r>
            <a:r>
              <a:rPr lang="en-US" sz="2400" b="1" u="sng" dirty="0">
                <a:solidFill>
                  <a:srgbClr val="7030A0"/>
                </a:solidFill>
              </a:rPr>
              <a:t>average-case time complexity</a:t>
            </a:r>
            <a:r>
              <a:rPr lang="en-US" sz="2400" u="sng" dirty="0">
                <a:solidFill>
                  <a:srgbClr val="7030A0"/>
                </a:solidFill>
              </a:rPr>
              <a:t> </a:t>
            </a:r>
            <a:r>
              <a:rPr lang="en-US" sz="2400" dirty="0"/>
              <a:t>of the </a:t>
            </a:r>
            <a:r>
              <a:rPr lang="en-US" sz="2400" dirty="0" smtClean="0"/>
              <a:t>algorithm</a:t>
            </a:r>
          </a:p>
          <a:p>
            <a:pPr lvl="1"/>
            <a:r>
              <a:rPr lang="en-US" sz="2400" dirty="0" smtClean="0"/>
              <a:t>It </a:t>
            </a:r>
            <a:r>
              <a:rPr lang="en-US" sz="2400" dirty="0"/>
              <a:t>is </a:t>
            </a:r>
            <a:r>
              <a:rPr lang="en-US" sz="2400" u="sng" dirty="0">
                <a:solidFill>
                  <a:srgbClr val="FF0000"/>
                </a:solidFill>
              </a:rPr>
              <a:t>usually harder </a:t>
            </a:r>
            <a:r>
              <a:rPr lang="en-US" sz="2400" dirty="0"/>
              <a:t>to analyze the </a:t>
            </a:r>
            <a:r>
              <a:rPr lang="en-US" sz="2400" u="sng" dirty="0">
                <a:solidFill>
                  <a:srgbClr val="7030A0"/>
                </a:solidFill>
              </a:rPr>
              <a:t>average case </a:t>
            </a:r>
            <a:r>
              <a:rPr lang="en-US" sz="2400" dirty="0"/>
              <a:t>than it is to analyze the </a:t>
            </a:r>
            <a:r>
              <a:rPr lang="en-US" sz="2400" u="sng" dirty="0">
                <a:solidFill>
                  <a:srgbClr val="FF0000"/>
                </a:solidFill>
              </a:rPr>
              <a:t>worst </a:t>
            </a:r>
            <a:r>
              <a:rPr lang="en-US" sz="2400" u="sng" dirty="0" smtClean="0">
                <a:solidFill>
                  <a:srgbClr val="FF0000"/>
                </a:solidFill>
              </a:rPr>
              <a:t>case</a:t>
            </a:r>
            <a:endParaRPr lang="en-QA" sz="2400" u="sng" dirty="0">
              <a:solidFill>
                <a:srgbClr val="FF0000"/>
              </a:solidFill>
            </a:endParaRPr>
          </a:p>
        </p:txBody>
      </p:sp>
      <p:sp>
        <p:nvSpPr>
          <p:cNvPr id="5" name="TextBox 4"/>
          <p:cNvSpPr txBox="1"/>
          <p:nvPr/>
        </p:nvSpPr>
        <p:spPr>
          <a:xfrm>
            <a:off x="9236518" y="1443765"/>
            <a:ext cx="2050914" cy="584775"/>
          </a:xfrm>
          <a:prstGeom prst="rect">
            <a:avLst/>
          </a:prstGeom>
          <a:solidFill>
            <a:srgbClr val="FFFF00"/>
          </a:solidFill>
        </p:spPr>
        <p:txBody>
          <a:bodyPr wrap="square" rtlCol="0">
            <a:spAutoFit/>
          </a:bodyPr>
          <a:lstStyle/>
          <a:p>
            <a:r>
              <a:rPr lang="en-US" sz="3200" b="1" dirty="0" smtClean="0"/>
              <a:t>W(n) = n</a:t>
            </a:r>
            <a:endParaRPr lang="tr-TR" sz="3200" b="1" dirty="0"/>
          </a:p>
        </p:txBody>
      </p:sp>
    </p:spTree>
    <p:extLst>
      <p:ext uri="{BB962C8B-B14F-4D97-AF65-F5344CB8AC3E}">
        <p14:creationId xmlns:p14="http://schemas.microsoft.com/office/powerpoint/2010/main" val="380966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C2EDC-CC58-B549-88D9-880ADE33E187}"/>
              </a:ext>
            </a:extLst>
          </p:cNvPr>
          <p:cNvSpPr>
            <a:spLocks noGrp="1"/>
          </p:cNvSpPr>
          <p:nvPr>
            <p:ph type="title"/>
          </p:nvPr>
        </p:nvSpPr>
        <p:spPr>
          <a:xfrm>
            <a:off x="0" y="0"/>
            <a:ext cx="10515600" cy="816077"/>
          </a:xfrm>
        </p:spPr>
        <p:txBody>
          <a:bodyPr/>
          <a:lstStyle/>
          <a:p>
            <a:r>
              <a:rPr lang="en-US" dirty="0"/>
              <a:t>Time Complexity Analysis (cont.)</a:t>
            </a:r>
            <a:endParaRPr lang="en-QA" dirty="0"/>
          </a:p>
        </p:txBody>
      </p:sp>
      <p:sp>
        <p:nvSpPr>
          <p:cNvPr id="3" name="Content Placeholder 2">
            <a:extLst>
              <a:ext uri="{FF2B5EF4-FFF2-40B4-BE49-F238E27FC236}">
                <a16:creationId xmlns:a16="http://schemas.microsoft.com/office/drawing/2014/main" id="{EDFE6404-D79B-C947-81F3-6D07B285EAB4}"/>
              </a:ext>
            </a:extLst>
          </p:cNvPr>
          <p:cNvSpPr>
            <a:spLocks noGrp="1"/>
          </p:cNvSpPr>
          <p:nvPr>
            <p:ph idx="1"/>
          </p:nvPr>
        </p:nvSpPr>
        <p:spPr>
          <a:xfrm>
            <a:off x="152400" y="1001195"/>
            <a:ext cx="10515600" cy="4918317"/>
          </a:xfrm>
        </p:spPr>
        <p:txBody>
          <a:bodyPr>
            <a:normAutofit/>
          </a:bodyPr>
          <a:lstStyle/>
          <a:p>
            <a:r>
              <a:rPr lang="en-US" b="1" i="1" dirty="0" smtClean="0">
                <a:latin typeface="Times New Roman" panose="02020603050405020304" pitchFamily="18" charset="0"/>
                <a:cs typeface="Times New Roman" panose="02020603050405020304" pitchFamily="18" charset="0"/>
              </a:rPr>
              <a:t>B</a:t>
            </a:r>
            <a:r>
              <a:rPr lang="en-US" b="1" dirty="0" smtClean="0"/>
              <a:t>(</a:t>
            </a:r>
            <a:r>
              <a:rPr lang="en-US" b="1" i="1" dirty="0" smtClean="0">
                <a:latin typeface="Times New Roman" panose="02020603050405020304" pitchFamily="18" charset="0"/>
                <a:cs typeface="Times New Roman" panose="02020603050405020304" pitchFamily="18" charset="0"/>
              </a:rPr>
              <a:t>n</a:t>
            </a:r>
            <a:r>
              <a:rPr lang="en-US" b="1" dirty="0"/>
              <a:t>) </a:t>
            </a:r>
            <a:r>
              <a:rPr lang="en-US" dirty="0"/>
              <a:t>is defined as </a:t>
            </a:r>
            <a:r>
              <a:rPr lang="en-US" b="1" u="sng" dirty="0"/>
              <a:t>the minimum number of times </a:t>
            </a:r>
            <a:r>
              <a:rPr lang="en-US" dirty="0"/>
              <a:t>the algorithm will ever do its basic operation for an input size of </a:t>
            </a:r>
            <a:r>
              <a:rPr lang="en-US" i="1" dirty="0" smtClean="0">
                <a:latin typeface="Times New Roman" panose="02020603050405020304" pitchFamily="18" charset="0"/>
                <a:cs typeface="Times New Roman" panose="02020603050405020304" pitchFamily="18" charset="0"/>
              </a:rPr>
              <a:t>n</a:t>
            </a:r>
            <a:endParaRPr lang="en-US" dirty="0"/>
          </a:p>
          <a:p>
            <a:r>
              <a:rPr lang="en-US" b="1" i="1" dirty="0">
                <a:latin typeface="Times New Roman" panose="02020603050405020304" pitchFamily="18" charset="0"/>
                <a:cs typeface="Times New Roman" panose="02020603050405020304" pitchFamily="18" charset="0"/>
              </a:rPr>
              <a:t>B</a:t>
            </a:r>
            <a:r>
              <a:rPr lang="en-US" b="1" dirty="0"/>
              <a:t>(</a:t>
            </a:r>
            <a:r>
              <a:rPr lang="en-US" b="1" i="1" dirty="0">
                <a:latin typeface="Times New Roman" panose="02020603050405020304" pitchFamily="18" charset="0"/>
                <a:cs typeface="Times New Roman" panose="02020603050405020304" pitchFamily="18" charset="0"/>
              </a:rPr>
              <a:t>n</a:t>
            </a:r>
            <a:r>
              <a:rPr lang="en-US" b="1" dirty="0"/>
              <a:t>) </a:t>
            </a:r>
            <a:r>
              <a:rPr lang="en-US" dirty="0"/>
              <a:t>is called the </a:t>
            </a:r>
            <a:r>
              <a:rPr lang="en-US" b="1" u="sng" dirty="0">
                <a:solidFill>
                  <a:srgbClr val="00B050"/>
                </a:solidFill>
              </a:rPr>
              <a:t>best-case time complexity</a:t>
            </a:r>
            <a:r>
              <a:rPr lang="en-US" u="sng" dirty="0">
                <a:solidFill>
                  <a:srgbClr val="00B050"/>
                </a:solidFill>
              </a:rPr>
              <a:t> </a:t>
            </a:r>
            <a:r>
              <a:rPr lang="en-US" dirty="0"/>
              <a:t>of the </a:t>
            </a:r>
            <a:r>
              <a:rPr lang="en-US" dirty="0" smtClean="0"/>
              <a:t>algorithm</a:t>
            </a:r>
            <a:endParaRPr lang="en-US" dirty="0"/>
          </a:p>
          <a:p>
            <a:pPr marL="0" indent="0">
              <a:buNone/>
            </a:pPr>
            <a:endParaRPr lang="en-US" b="1" u="sng" dirty="0" smtClean="0">
              <a:solidFill>
                <a:srgbClr val="0070C0"/>
              </a:solidFill>
            </a:endParaRPr>
          </a:p>
          <a:p>
            <a:pPr marL="0" indent="0">
              <a:buNone/>
            </a:pPr>
            <a:endParaRPr lang="en-US" b="1" u="sng" dirty="0" smtClean="0">
              <a:solidFill>
                <a:srgbClr val="0070C0"/>
              </a:solidFill>
            </a:endParaRPr>
          </a:p>
          <a:p>
            <a:pPr marL="0" indent="0">
              <a:buNone/>
            </a:pPr>
            <a:r>
              <a:rPr lang="en-US" b="1" u="sng" dirty="0" smtClean="0">
                <a:solidFill>
                  <a:srgbClr val="0070C0"/>
                </a:solidFill>
              </a:rPr>
              <a:t>Analysis </a:t>
            </a:r>
            <a:r>
              <a:rPr lang="en-US" b="1" u="sng" dirty="0">
                <a:solidFill>
                  <a:srgbClr val="0070C0"/>
                </a:solidFill>
              </a:rPr>
              <a:t>of Algorithm 1.1</a:t>
            </a:r>
          </a:p>
          <a:p>
            <a:pPr marL="0" indent="0">
              <a:buNone/>
            </a:pPr>
            <a:r>
              <a:rPr lang="en-US" b="1" dirty="0">
                <a:solidFill>
                  <a:srgbClr val="00B050"/>
                </a:solidFill>
              </a:rPr>
              <a:t>Best-Case Time Complexity </a:t>
            </a:r>
            <a:r>
              <a:rPr lang="en-US" i="1" dirty="0"/>
              <a:t>(Sequential Search)</a:t>
            </a:r>
          </a:p>
          <a:p>
            <a:pPr marL="0" indent="0">
              <a:buNone/>
            </a:pPr>
            <a:r>
              <a:rPr lang="en-US" b="1" dirty="0"/>
              <a:t>Basic operation</a:t>
            </a:r>
            <a:r>
              <a:rPr lang="en-US" dirty="0"/>
              <a:t>: the comparison of an item in the array with </a:t>
            </a:r>
            <a:r>
              <a:rPr lang="en-US" i="1" dirty="0" smtClean="0">
                <a:latin typeface="Times New Roman" panose="02020603050405020304" pitchFamily="18" charset="0"/>
                <a:cs typeface="Times New Roman" panose="02020603050405020304" pitchFamily="18" charset="0"/>
              </a:rPr>
              <a:t>x</a:t>
            </a:r>
            <a:endParaRPr lang="en-US" dirty="0"/>
          </a:p>
          <a:p>
            <a:pPr marL="0" indent="0">
              <a:buNone/>
            </a:pPr>
            <a:r>
              <a:rPr lang="en-US" b="1" dirty="0"/>
              <a:t>Input size</a:t>
            </a:r>
            <a:r>
              <a:rPr lang="en-US" dirty="0"/>
              <a:t>: </a:t>
            </a:r>
            <a:r>
              <a:rPr lang="en-US" i="1" dirty="0">
                <a:latin typeface="Times New Roman" panose="02020603050405020304" pitchFamily="18" charset="0"/>
                <a:cs typeface="Times New Roman" panose="02020603050405020304" pitchFamily="18" charset="0"/>
              </a:rPr>
              <a:t>n</a:t>
            </a:r>
            <a:r>
              <a:rPr lang="en-US" dirty="0"/>
              <a:t>, the number of items in the </a:t>
            </a:r>
            <a:r>
              <a:rPr lang="en-US" dirty="0" smtClean="0"/>
              <a:t>array</a:t>
            </a:r>
            <a:endParaRPr lang="en-US" dirty="0"/>
          </a:p>
        </p:txBody>
      </p:sp>
      <p:pic>
        <p:nvPicPr>
          <p:cNvPr id="5123" name="Picture 3" descr="page52image49767808">
            <a:extLst>
              <a:ext uri="{FF2B5EF4-FFF2-40B4-BE49-F238E27FC236}">
                <a16:creationId xmlns:a16="http://schemas.microsoft.com/office/drawing/2014/main" id="{DEEB180C-CF8A-F844-8D14-803941B78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
            <a:ext cx="5943600" cy="12700"/>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descr="page52image49765696">
            <a:extLst>
              <a:ext uri="{FF2B5EF4-FFF2-40B4-BE49-F238E27FC236}">
                <a16:creationId xmlns:a16="http://schemas.microsoft.com/office/drawing/2014/main" id="{19BA0F6A-44B4-724C-893B-CD98AA3BF1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
            <a:ext cx="5943600" cy="12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40001" y="5180811"/>
            <a:ext cx="2050914" cy="584775"/>
          </a:xfrm>
          <a:prstGeom prst="rect">
            <a:avLst/>
          </a:prstGeom>
          <a:solidFill>
            <a:srgbClr val="00B0F0"/>
          </a:solidFill>
        </p:spPr>
        <p:txBody>
          <a:bodyPr wrap="square" rtlCol="0">
            <a:spAutoFit/>
          </a:bodyPr>
          <a:lstStyle/>
          <a:p>
            <a:r>
              <a:rPr lang="en-US" sz="3200" b="1" dirty="0" smtClean="0"/>
              <a:t>B(n) = 1</a:t>
            </a:r>
            <a:endParaRPr lang="tr-TR" sz="3200" b="1" dirty="0"/>
          </a:p>
        </p:txBody>
      </p:sp>
    </p:spTree>
    <p:extLst>
      <p:ext uri="{BB962C8B-B14F-4D97-AF65-F5344CB8AC3E}">
        <p14:creationId xmlns:p14="http://schemas.microsoft.com/office/powerpoint/2010/main" val="194036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6EFBF-A6B5-6041-A50C-E9F16AF4165A}"/>
              </a:ext>
            </a:extLst>
          </p:cNvPr>
          <p:cNvSpPr>
            <a:spLocks noGrp="1"/>
          </p:cNvSpPr>
          <p:nvPr>
            <p:ph type="title"/>
          </p:nvPr>
        </p:nvSpPr>
        <p:spPr>
          <a:xfrm>
            <a:off x="0" y="0"/>
            <a:ext cx="10515600" cy="893520"/>
          </a:xfrm>
        </p:spPr>
        <p:txBody>
          <a:bodyPr/>
          <a:lstStyle/>
          <a:p>
            <a:r>
              <a:rPr lang="en-US" dirty="0"/>
              <a:t>Time Complexity Analysis (cont.)</a:t>
            </a:r>
            <a:endParaRPr lang="en-QA" dirty="0"/>
          </a:p>
        </p:txBody>
      </p:sp>
      <p:sp>
        <p:nvSpPr>
          <p:cNvPr id="3" name="Content Placeholder 2">
            <a:extLst>
              <a:ext uri="{FF2B5EF4-FFF2-40B4-BE49-F238E27FC236}">
                <a16:creationId xmlns:a16="http://schemas.microsoft.com/office/drawing/2014/main" id="{AE9D862E-3F91-6B45-B15C-35C53127717A}"/>
              </a:ext>
            </a:extLst>
          </p:cNvPr>
          <p:cNvSpPr>
            <a:spLocks noGrp="1"/>
          </p:cNvSpPr>
          <p:nvPr>
            <p:ph idx="1"/>
          </p:nvPr>
        </p:nvSpPr>
        <p:spPr>
          <a:xfrm>
            <a:off x="208935" y="1111163"/>
            <a:ext cx="11393130" cy="5623934"/>
          </a:xfrm>
        </p:spPr>
        <p:txBody>
          <a:bodyPr>
            <a:normAutofit fontScale="92500"/>
          </a:bodyPr>
          <a:lstStyle/>
          <a:p>
            <a:r>
              <a:rPr lang="en-US" sz="2600" dirty="0"/>
              <a:t>For algorithms that </a:t>
            </a:r>
            <a:r>
              <a:rPr lang="en-US" sz="2600" b="1" u="sng" dirty="0"/>
              <a:t>do not have </a:t>
            </a:r>
            <a:r>
              <a:rPr lang="en-US" sz="2600" dirty="0">
                <a:solidFill>
                  <a:srgbClr val="0070C0"/>
                </a:solidFill>
              </a:rPr>
              <a:t>every-case time </a:t>
            </a:r>
            <a:r>
              <a:rPr lang="en-US" sz="2600" dirty="0" smtClean="0">
                <a:solidFill>
                  <a:srgbClr val="0070C0"/>
                </a:solidFill>
              </a:rPr>
              <a:t>complexities</a:t>
            </a:r>
            <a:endParaRPr lang="en-US" sz="2600" dirty="0">
              <a:solidFill>
                <a:srgbClr val="0070C0"/>
              </a:solidFill>
            </a:endParaRPr>
          </a:p>
          <a:p>
            <a:pPr lvl="1"/>
            <a:r>
              <a:rPr lang="en-US" sz="2600" dirty="0" smtClean="0"/>
              <a:t>we </a:t>
            </a:r>
            <a:r>
              <a:rPr lang="en-US" sz="2600" dirty="0"/>
              <a:t>do </a:t>
            </a:r>
            <a:r>
              <a:rPr lang="en-US" sz="2600" u="sng" dirty="0" smtClean="0">
                <a:solidFill>
                  <a:srgbClr val="FF0000"/>
                </a:solidFill>
              </a:rPr>
              <a:t>worst-case</a:t>
            </a:r>
            <a:r>
              <a:rPr lang="en-US" sz="2600" dirty="0" smtClean="0">
                <a:solidFill>
                  <a:srgbClr val="0070C0"/>
                </a:solidFill>
              </a:rPr>
              <a:t> </a:t>
            </a:r>
            <a:r>
              <a:rPr lang="en-US" sz="2600" dirty="0"/>
              <a:t>and</a:t>
            </a:r>
            <a:r>
              <a:rPr lang="en-US" sz="2600" dirty="0">
                <a:solidFill>
                  <a:srgbClr val="0070C0"/>
                </a:solidFill>
              </a:rPr>
              <a:t> </a:t>
            </a:r>
            <a:r>
              <a:rPr lang="en-US" sz="2600" b="1" u="sng" dirty="0">
                <a:solidFill>
                  <a:srgbClr val="7030A0"/>
                </a:solidFill>
              </a:rPr>
              <a:t>average-case analyses </a:t>
            </a:r>
            <a:r>
              <a:rPr lang="en-US" sz="2600" dirty="0" smtClean="0"/>
              <a:t>more </a:t>
            </a:r>
            <a:r>
              <a:rPr lang="en-US" sz="2600" dirty="0"/>
              <a:t>often </a:t>
            </a:r>
            <a:r>
              <a:rPr lang="en-US" sz="2600" dirty="0" smtClean="0"/>
              <a:t>than </a:t>
            </a:r>
            <a:r>
              <a:rPr lang="en-US" sz="2600" b="1" u="sng" dirty="0" smtClean="0">
                <a:solidFill>
                  <a:srgbClr val="00B050"/>
                </a:solidFill>
              </a:rPr>
              <a:t>best-case analyses </a:t>
            </a:r>
            <a:endParaRPr lang="en-US" sz="2600" b="1" u="sng" dirty="0">
              <a:solidFill>
                <a:srgbClr val="00B050"/>
              </a:solidFill>
            </a:endParaRPr>
          </a:p>
          <a:p>
            <a:pPr lvl="3"/>
            <a:endParaRPr lang="en-US" dirty="0"/>
          </a:p>
          <a:p>
            <a:r>
              <a:rPr lang="en-US" sz="2600" b="1" u="sng" dirty="0">
                <a:solidFill>
                  <a:srgbClr val="7030A0"/>
                </a:solidFill>
              </a:rPr>
              <a:t>An average-case analysis </a:t>
            </a:r>
            <a:r>
              <a:rPr lang="en-US" sz="2600" dirty="0"/>
              <a:t>is valuable </a:t>
            </a:r>
            <a:endParaRPr lang="en-US" sz="2600" dirty="0" smtClean="0"/>
          </a:p>
          <a:p>
            <a:pPr lvl="1"/>
            <a:r>
              <a:rPr lang="en-US" sz="2600" b="1" u="sng" dirty="0" smtClean="0"/>
              <a:t>how </a:t>
            </a:r>
            <a:r>
              <a:rPr lang="en-US" sz="2600" b="1" u="sng" dirty="0"/>
              <a:t>much time the algorithm would take </a:t>
            </a:r>
            <a:r>
              <a:rPr lang="en-US" sz="2600" dirty="0"/>
              <a:t>when used </a:t>
            </a:r>
            <a:r>
              <a:rPr lang="en-US" sz="2600" dirty="0" smtClean="0"/>
              <a:t>on </a:t>
            </a:r>
            <a:r>
              <a:rPr lang="en-US" sz="2600" dirty="0"/>
              <a:t>many different </a:t>
            </a:r>
            <a:r>
              <a:rPr lang="en-US" sz="2600" dirty="0" smtClean="0"/>
              <a:t>inputs</a:t>
            </a:r>
            <a:endParaRPr lang="en-US" sz="2600" dirty="0"/>
          </a:p>
          <a:p>
            <a:pPr lvl="1"/>
            <a:r>
              <a:rPr lang="en-US" sz="2600" b="1" u="sng" dirty="0" smtClean="0"/>
              <a:t>Examples</a:t>
            </a:r>
            <a:endParaRPr lang="en-US" sz="2600" b="1" u="sng" dirty="0"/>
          </a:p>
          <a:p>
            <a:pPr lvl="2"/>
            <a:r>
              <a:rPr lang="en-US" sz="2600" b="1" u="sng" dirty="0">
                <a:solidFill>
                  <a:srgbClr val="0070C0"/>
                </a:solidFill>
              </a:rPr>
              <a:t>S</a:t>
            </a:r>
            <a:r>
              <a:rPr lang="en-US" sz="2600" b="1" u="sng" dirty="0" smtClean="0">
                <a:solidFill>
                  <a:srgbClr val="0070C0"/>
                </a:solidFill>
              </a:rPr>
              <a:t>orting </a:t>
            </a:r>
            <a:r>
              <a:rPr lang="en-US" sz="2600" b="1" u="sng" dirty="0">
                <a:solidFill>
                  <a:srgbClr val="0070C0"/>
                </a:solidFill>
              </a:rPr>
              <a:t>algorithm </a:t>
            </a:r>
            <a:r>
              <a:rPr lang="en-US" sz="2600" dirty="0"/>
              <a:t>is used repeatedly to sort all possible </a:t>
            </a:r>
            <a:r>
              <a:rPr lang="en-US" sz="2600" dirty="0" smtClean="0"/>
              <a:t>inputs.</a:t>
            </a:r>
            <a:r>
              <a:rPr lang="en-US" sz="2600" dirty="0"/>
              <a:t> </a:t>
            </a:r>
            <a:r>
              <a:rPr lang="en-US" sz="2600" dirty="0" smtClean="0"/>
              <a:t>Relatively </a:t>
            </a:r>
            <a:r>
              <a:rPr lang="en-US" sz="2600" dirty="0"/>
              <a:t>slow sort </a:t>
            </a:r>
            <a:r>
              <a:rPr lang="en-US" sz="2600" dirty="0" smtClean="0"/>
              <a:t>can occasionally </a:t>
            </a:r>
            <a:r>
              <a:rPr lang="en-US" sz="2600" dirty="0"/>
              <a:t>be tolerated if, on the average, the sorting time is </a:t>
            </a:r>
            <a:r>
              <a:rPr lang="en-US" sz="2600" dirty="0" smtClean="0"/>
              <a:t>good.</a:t>
            </a:r>
            <a:endParaRPr lang="en-US" sz="2600" dirty="0"/>
          </a:p>
          <a:p>
            <a:pPr lvl="2"/>
            <a:r>
              <a:rPr lang="en-US" sz="2600" dirty="0"/>
              <a:t>A</a:t>
            </a:r>
            <a:r>
              <a:rPr lang="en-US" sz="2600" dirty="0" smtClean="0"/>
              <a:t>verage-case </a:t>
            </a:r>
            <a:r>
              <a:rPr lang="en-US" sz="2600" dirty="0"/>
              <a:t>analysis </a:t>
            </a:r>
            <a:r>
              <a:rPr lang="en-US" sz="2600" u="sng" dirty="0">
                <a:solidFill>
                  <a:srgbClr val="C00000"/>
                </a:solidFill>
              </a:rPr>
              <a:t>would not suffice </a:t>
            </a:r>
            <a:r>
              <a:rPr lang="en-US" sz="2600" dirty="0"/>
              <a:t>in a system that </a:t>
            </a:r>
            <a:r>
              <a:rPr lang="en-US" sz="2600" b="1" u="sng" dirty="0"/>
              <a:t>monitored a nuclear power </a:t>
            </a:r>
            <a:r>
              <a:rPr lang="en-US" sz="2600" b="1" u="sng" dirty="0" smtClean="0"/>
              <a:t>plant. </a:t>
            </a:r>
            <a:r>
              <a:rPr lang="en-US" sz="2600" b="1" u="sng" dirty="0">
                <a:solidFill>
                  <a:srgbClr val="FF0000"/>
                </a:solidFill>
              </a:rPr>
              <a:t>W</a:t>
            </a:r>
            <a:r>
              <a:rPr lang="en-US" sz="2600" b="1" u="sng" dirty="0" smtClean="0">
                <a:solidFill>
                  <a:srgbClr val="FF0000"/>
                </a:solidFill>
              </a:rPr>
              <a:t>orst-case </a:t>
            </a:r>
            <a:r>
              <a:rPr lang="en-US" sz="2600" b="1" u="sng" dirty="0">
                <a:solidFill>
                  <a:srgbClr val="FF0000"/>
                </a:solidFill>
              </a:rPr>
              <a:t>analysis </a:t>
            </a:r>
            <a:r>
              <a:rPr lang="en-US" sz="2600" dirty="0"/>
              <a:t>would be more useful because it would give us an </a:t>
            </a:r>
            <a:r>
              <a:rPr lang="en-US" sz="2600" u="sng" dirty="0">
                <a:solidFill>
                  <a:srgbClr val="0070C0"/>
                </a:solidFill>
              </a:rPr>
              <a:t>upper bound </a:t>
            </a:r>
            <a:r>
              <a:rPr lang="en-US" sz="2600" dirty="0"/>
              <a:t>on the time taken by the </a:t>
            </a:r>
            <a:r>
              <a:rPr lang="en-US" sz="2600" dirty="0" smtClean="0"/>
              <a:t>algorithm</a:t>
            </a:r>
            <a:endParaRPr lang="en-US" sz="2600" dirty="0"/>
          </a:p>
          <a:p>
            <a:pPr lvl="2"/>
            <a:r>
              <a:rPr lang="en-US" sz="2600" dirty="0"/>
              <a:t>For both the applications above, a </a:t>
            </a:r>
            <a:r>
              <a:rPr lang="en-US" sz="2600" b="1" u="sng" dirty="0">
                <a:solidFill>
                  <a:srgbClr val="00B050"/>
                </a:solidFill>
              </a:rPr>
              <a:t>best-case analysis </a:t>
            </a:r>
            <a:r>
              <a:rPr lang="en-US" sz="2600" dirty="0"/>
              <a:t>would be of </a:t>
            </a:r>
            <a:r>
              <a:rPr lang="en-US" sz="2600" u="sng" dirty="0">
                <a:solidFill>
                  <a:srgbClr val="FF0000"/>
                </a:solidFill>
              </a:rPr>
              <a:t>little </a:t>
            </a:r>
            <a:r>
              <a:rPr lang="en-US" sz="2600" u="sng" dirty="0" smtClean="0">
                <a:solidFill>
                  <a:srgbClr val="FF0000"/>
                </a:solidFill>
              </a:rPr>
              <a:t>value</a:t>
            </a:r>
            <a:endParaRPr lang="en-US" sz="2600" u="sng" dirty="0">
              <a:solidFill>
                <a:srgbClr val="FF0000"/>
              </a:solidFill>
            </a:endParaRPr>
          </a:p>
          <a:p>
            <a:pPr lvl="4"/>
            <a:endParaRPr lang="en-US" sz="2600" dirty="0"/>
          </a:p>
          <a:p>
            <a:r>
              <a:rPr lang="en-US" sz="2600" dirty="0"/>
              <a:t>Analysis of </a:t>
            </a:r>
            <a:r>
              <a:rPr lang="en-US" sz="2600" u="sng" dirty="0">
                <a:solidFill>
                  <a:srgbClr val="00B050"/>
                </a:solidFill>
              </a:rPr>
              <a:t>memory complexity </a:t>
            </a:r>
            <a:r>
              <a:rPr lang="en-US" sz="2600" dirty="0"/>
              <a:t>can similarly be carried </a:t>
            </a:r>
            <a:r>
              <a:rPr lang="en-US" sz="2600" dirty="0" smtClean="0"/>
              <a:t>out</a:t>
            </a:r>
            <a:endParaRPr lang="en-US" sz="2600" dirty="0"/>
          </a:p>
          <a:p>
            <a:endParaRPr lang="en-QA" dirty="0"/>
          </a:p>
        </p:txBody>
      </p:sp>
      <p:pic>
        <p:nvPicPr>
          <p:cNvPr id="3074" name="Picture 2" descr="https://upload.wikimedia.org/wikipedia/commons/thumb/3/34/Kernkraftwerk_Grafenrheinfeld_-_2013.jpg/290px-Kernkraftwerk_Grafenrheinfeld_-_20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97552"/>
            <a:ext cx="1050086" cy="104500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s://upload.wikimedia.org/wikipedia/commons/thumb/3/34/Kernkraftwerk_Grafenrheinfeld_-_2013.jpg/290px-Kernkraftwerk_Grafenrheinfeld_-_20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7440" y="66154"/>
            <a:ext cx="2082800" cy="1468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14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074"/>
                                        </p:tgtEl>
                                        <p:attrNameLst>
                                          <p:attrName>style.visibility</p:attrName>
                                        </p:attrNameLst>
                                      </p:cBhvr>
                                      <p:to>
                                        <p:strVal val="visible"/>
                                      </p:to>
                                    </p:set>
                                    <p:anim calcmode="lin" valueType="num">
                                      <p:cBhvr additive="base">
                                        <p:cTn id="41" dur="500" fill="hold"/>
                                        <p:tgtEl>
                                          <p:spTgt spid="3074"/>
                                        </p:tgtEl>
                                        <p:attrNameLst>
                                          <p:attrName>ppt_x</p:attrName>
                                        </p:attrNameLst>
                                      </p:cBhvr>
                                      <p:tavLst>
                                        <p:tav tm="0">
                                          <p:val>
                                            <p:strVal val="#ppt_x"/>
                                          </p:val>
                                        </p:tav>
                                        <p:tav tm="100000">
                                          <p:val>
                                            <p:strVal val="#ppt_x"/>
                                          </p:val>
                                        </p:tav>
                                      </p:tavLst>
                                    </p:anim>
                                    <p:anim calcmode="lin" valueType="num">
                                      <p:cBhvr additive="base">
                                        <p:cTn id="42"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886"/>
            <a:ext cx="10515600" cy="579754"/>
          </a:xfrm>
        </p:spPr>
        <p:txBody>
          <a:bodyPr/>
          <a:lstStyle/>
          <a:p>
            <a:r>
              <a:rPr lang="en-US" dirty="0" smtClean="0"/>
              <a:t>Which Complexity Analysis Technique to Select?</a:t>
            </a:r>
            <a:endParaRPr lang="tr-TR" dirty="0"/>
          </a:p>
        </p:txBody>
      </p:sp>
      <p:sp>
        <p:nvSpPr>
          <p:cNvPr id="3" name="Content Placeholder 2"/>
          <p:cNvSpPr>
            <a:spLocks noGrp="1"/>
          </p:cNvSpPr>
          <p:nvPr>
            <p:ph idx="1"/>
          </p:nvPr>
        </p:nvSpPr>
        <p:spPr>
          <a:xfrm>
            <a:off x="76200" y="1004646"/>
            <a:ext cx="5735320" cy="5487594"/>
          </a:xfrm>
          <a:solidFill>
            <a:srgbClr val="FFFF00"/>
          </a:solidFill>
        </p:spPr>
        <p:txBody>
          <a:bodyPr>
            <a:normAutofit/>
          </a:bodyPr>
          <a:lstStyle/>
          <a:p>
            <a:r>
              <a:rPr lang="en-US" dirty="0" smtClean="0"/>
              <a:t>Depends </a:t>
            </a:r>
            <a:r>
              <a:rPr lang="en-US" dirty="0"/>
              <a:t>on the </a:t>
            </a:r>
            <a:r>
              <a:rPr lang="en-US" b="1" u="sng" dirty="0"/>
              <a:t>specific requirements </a:t>
            </a:r>
            <a:r>
              <a:rPr lang="en-US" dirty="0"/>
              <a:t>and </a:t>
            </a:r>
            <a:r>
              <a:rPr lang="en-US" b="1" u="sng" dirty="0"/>
              <a:t>characteristics</a:t>
            </a:r>
            <a:r>
              <a:rPr lang="en-US" dirty="0"/>
              <a:t> of the </a:t>
            </a:r>
            <a:r>
              <a:rPr lang="en-US" dirty="0" smtClean="0"/>
              <a:t>application</a:t>
            </a:r>
          </a:p>
          <a:p>
            <a:pPr marL="914400" lvl="1" indent="-457200">
              <a:buFont typeface="+mj-lt"/>
              <a:buAutoNum type="arabicPeriod"/>
            </a:pPr>
            <a:r>
              <a:rPr lang="en-US" sz="2400" b="1" u="sng" dirty="0">
                <a:solidFill>
                  <a:srgbClr val="C00000"/>
                </a:solidFill>
              </a:rPr>
              <a:t>For safety-critical </a:t>
            </a:r>
            <a:r>
              <a:rPr lang="en-US" sz="2400" b="1" u="sng" dirty="0" smtClean="0">
                <a:solidFill>
                  <a:srgbClr val="C00000"/>
                </a:solidFill>
              </a:rPr>
              <a:t>systems </a:t>
            </a:r>
            <a:r>
              <a:rPr lang="en-US" sz="2400" dirty="0" smtClean="0"/>
              <a:t>where </a:t>
            </a:r>
            <a:r>
              <a:rPr lang="en-US" sz="2400" dirty="0"/>
              <a:t>performance guarantees are essential, </a:t>
            </a:r>
            <a:r>
              <a:rPr lang="en-US" sz="2400" b="1" u="sng" dirty="0">
                <a:solidFill>
                  <a:srgbClr val="FF0000"/>
                </a:solidFill>
              </a:rPr>
              <a:t>worst-case analysis </a:t>
            </a:r>
            <a:r>
              <a:rPr lang="en-US" sz="2400" dirty="0"/>
              <a:t>is often </a:t>
            </a:r>
            <a:r>
              <a:rPr lang="en-US" sz="2400" dirty="0" smtClean="0"/>
              <a:t>preferred</a:t>
            </a:r>
          </a:p>
          <a:p>
            <a:pPr marL="914400" lvl="1" indent="-457200">
              <a:buFont typeface="+mj-lt"/>
              <a:buAutoNum type="arabicPeriod"/>
            </a:pPr>
            <a:r>
              <a:rPr lang="en-US" sz="2400" u="sng" dirty="0">
                <a:solidFill>
                  <a:srgbClr val="0070C0"/>
                </a:solidFill>
              </a:rPr>
              <a:t>In more general or diverse applications</a:t>
            </a:r>
            <a:r>
              <a:rPr lang="en-US" sz="2400" dirty="0"/>
              <a:t>, </a:t>
            </a:r>
            <a:r>
              <a:rPr lang="en-US" sz="2400" b="1" u="sng" dirty="0">
                <a:solidFill>
                  <a:srgbClr val="0070C0"/>
                </a:solidFill>
              </a:rPr>
              <a:t>average-case analysis </a:t>
            </a:r>
            <a:r>
              <a:rPr lang="en-US" sz="2400" dirty="0"/>
              <a:t>can provide a more realistic view of expected </a:t>
            </a:r>
            <a:r>
              <a:rPr lang="en-US" sz="2400" dirty="0" smtClean="0"/>
              <a:t>performance</a:t>
            </a:r>
          </a:p>
          <a:p>
            <a:pPr marL="914400" lvl="1" indent="-457200">
              <a:buFont typeface="+mj-lt"/>
              <a:buAutoNum type="arabicPeriod"/>
            </a:pPr>
            <a:r>
              <a:rPr lang="en-US" sz="2400" b="1" u="sng" dirty="0">
                <a:solidFill>
                  <a:srgbClr val="00B050"/>
                </a:solidFill>
              </a:rPr>
              <a:t>Best-case analysis </a:t>
            </a:r>
            <a:r>
              <a:rPr lang="en-US" sz="2400" dirty="0"/>
              <a:t>is </a:t>
            </a:r>
            <a:r>
              <a:rPr lang="en-US" sz="2400" dirty="0" smtClean="0"/>
              <a:t>applicable </a:t>
            </a:r>
            <a:r>
              <a:rPr lang="en-US" sz="2400" dirty="0"/>
              <a:t>in situations where you want to understand the </a:t>
            </a:r>
            <a:r>
              <a:rPr lang="en-US" sz="2400" dirty="0" smtClean="0"/>
              <a:t>mos</a:t>
            </a:r>
            <a:r>
              <a:rPr lang="en-US" sz="2400" dirty="0" smtClean="0"/>
              <a:t>t </a:t>
            </a:r>
            <a:r>
              <a:rPr lang="en-US" sz="2400" dirty="0"/>
              <a:t>favorable performance of an algorithm</a:t>
            </a:r>
            <a:endParaRPr lang="en-US" sz="2800" dirty="0"/>
          </a:p>
          <a:p>
            <a:pPr lvl="1"/>
            <a:endParaRPr lang="en-US" sz="2400" dirty="0" smtClean="0"/>
          </a:p>
          <a:p>
            <a:pPr lvl="1"/>
            <a:endParaRPr lang="tr-TR" sz="2400" dirty="0"/>
          </a:p>
        </p:txBody>
      </p:sp>
      <p:sp>
        <p:nvSpPr>
          <p:cNvPr id="4" name="Content Placeholder 2"/>
          <p:cNvSpPr txBox="1">
            <a:spLocks/>
          </p:cNvSpPr>
          <p:nvPr/>
        </p:nvSpPr>
        <p:spPr>
          <a:xfrm>
            <a:off x="5963920" y="1004645"/>
            <a:ext cx="5999480" cy="5487595"/>
          </a:xfrm>
          <a:prstGeom prst="rect">
            <a:avLst/>
          </a:prstGeom>
          <a:solidFill>
            <a:srgbClr val="FFC0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smtClean="0"/>
              <a:t>Nuclear Power Plant: </a:t>
            </a:r>
            <a:r>
              <a:rPr lang="en-US" dirty="0" smtClean="0">
                <a:solidFill>
                  <a:srgbClr val="FF0000"/>
                </a:solidFill>
              </a:rPr>
              <a:t>Worst Case</a:t>
            </a:r>
          </a:p>
          <a:p>
            <a:r>
              <a:rPr lang="en-US" b="1" dirty="0"/>
              <a:t>Data Encryption Algorithms: </a:t>
            </a:r>
            <a:r>
              <a:rPr lang="en-US" dirty="0">
                <a:solidFill>
                  <a:srgbClr val="FF0000"/>
                </a:solidFill>
              </a:rPr>
              <a:t>Worst Case</a:t>
            </a:r>
          </a:p>
          <a:p>
            <a:r>
              <a:rPr lang="en-US" sz="2400" b="1" dirty="0" smtClean="0"/>
              <a:t>Web Search Engine Ranking: </a:t>
            </a:r>
            <a:r>
              <a:rPr lang="en-US" sz="2400" dirty="0" smtClean="0">
                <a:solidFill>
                  <a:srgbClr val="0070C0"/>
                </a:solidFill>
              </a:rPr>
              <a:t>Average Case</a:t>
            </a:r>
          </a:p>
          <a:p>
            <a:r>
              <a:rPr lang="en-US" b="1" dirty="0" smtClean="0"/>
              <a:t>Sorting Algorithms: </a:t>
            </a:r>
            <a:r>
              <a:rPr lang="en-US" dirty="0" smtClean="0">
                <a:solidFill>
                  <a:srgbClr val="0070C0"/>
                </a:solidFill>
              </a:rPr>
              <a:t>Average Case</a:t>
            </a:r>
          </a:p>
          <a:p>
            <a:r>
              <a:rPr lang="en-US" b="1" dirty="0" smtClean="0"/>
              <a:t>Image </a:t>
            </a:r>
            <a:r>
              <a:rPr lang="en-US" b="1" dirty="0"/>
              <a:t>Processing for Social Media Applications</a:t>
            </a:r>
            <a:r>
              <a:rPr lang="en-US" b="1" dirty="0" smtClean="0"/>
              <a:t>: </a:t>
            </a:r>
            <a:r>
              <a:rPr lang="en-US" dirty="0" smtClean="0">
                <a:solidFill>
                  <a:srgbClr val="0070C0"/>
                </a:solidFill>
              </a:rPr>
              <a:t>Average Case</a:t>
            </a:r>
            <a:endParaRPr lang="en-US" b="1" dirty="0" smtClean="0">
              <a:solidFill>
                <a:srgbClr val="0070C0"/>
              </a:solidFill>
            </a:endParaRPr>
          </a:p>
          <a:p>
            <a:r>
              <a:rPr lang="en-US" b="1" dirty="0" smtClean="0"/>
              <a:t>Real-Time </a:t>
            </a:r>
            <a:r>
              <a:rPr lang="en-US" b="1" dirty="0"/>
              <a:t>Video Processing for Autonomous Vehicles</a:t>
            </a:r>
            <a:r>
              <a:rPr lang="en-US" b="1" dirty="0" smtClean="0"/>
              <a:t>:</a:t>
            </a:r>
            <a:r>
              <a:rPr lang="en-US" b="1" dirty="0" smtClean="0">
                <a:solidFill>
                  <a:srgbClr val="00B050"/>
                </a:solidFill>
              </a:rPr>
              <a:t> </a:t>
            </a:r>
            <a:r>
              <a:rPr lang="en-US" b="1" dirty="0">
                <a:solidFill>
                  <a:srgbClr val="00B050"/>
                </a:solidFill>
              </a:rPr>
              <a:t>Best-case analysis </a:t>
            </a:r>
            <a:r>
              <a:rPr lang="en-US" dirty="0" smtClean="0"/>
              <a:t>helps </a:t>
            </a:r>
            <a:r>
              <a:rPr lang="en-US" dirty="0"/>
              <a:t>identify the upper limit of the system's performance when all conditions are optimal. It might be useful for benchmarking purposes, understanding the potential capabilities of the system under ideal </a:t>
            </a:r>
            <a:r>
              <a:rPr lang="en-US" dirty="0" smtClean="0"/>
              <a:t>circumstances.</a:t>
            </a:r>
            <a:endParaRPr lang="en-US" sz="2800" dirty="0" smtClean="0"/>
          </a:p>
          <a:p>
            <a:pPr lvl="1"/>
            <a:endParaRPr lang="en-US" sz="2400" dirty="0" smtClean="0"/>
          </a:p>
          <a:p>
            <a:pPr lvl="1"/>
            <a:endParaRPr lang="tr-TR" sz="2400" dirty="0"/>
          </a:p>
        </p:txBody>
      </p:sp>
    </p:spTree>
    <p:extLst>
      <p:ext uri="{BB962C8B-B14F-4D97-AF65-F5344CB8AC3E}">
        <p14:creationId xmlns:p14="http://schemas.microsoft.com/office/powerpoint/2010/main" val="4636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Quick Check</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Algorithm analysis measures the efficiency of an algorithm as the ---------becomes large</a:t>
            </a:r>
          </a:p>
          <a:p>
            <a:pPr lvl="1"/>
            <a:r>
              <a:rPr lang="en-US" dirty="0" smtClean="0">
                <a:solidFill>
                  <a:srgbClr val="0070C0"/>
                </a:solidFill>
              </a:rPr>
              <a:t>Input size</a:t>
            </a:r>
          </a:p>
          <a:p>
            <a:pPr marL="457200" indent="-457200">
              <a:buFont typeface="+mj-lt"/>
              <a:buAutoNum type="arabicPeriod"/>
            </a:pPr>
            <a:r>
              <a:rPr lang="en-US" dirty="0" smtClean="0"/>
              <a:t>-----------is defined as the number of times the algorithm does the basic operation for an instance of size n</a:t>
            </a:r>
          </a:p>
          <a:p>
            <a:pPr lvl="1"/>
            <a:r>
              <a:rPr lang="en-US" dirty="0" smtClean="0">
                <a:solidFill>
                  <a:srgbClr val="0070C0"/>
                </a:solidFill>
              </a:rPr>
              <a:t>T(n)</a:t>
            </a:r>
          </a:p>
          <a:p>
            <a:pPr marL="457200" indent="-457200">
              <a:buFont typeface="+mj-lt"/>
              <a:buAutoNum type="arabicPeriod"/>
            </a:pPr>
            <a:r>
              <a:rPr lang="en-US" dirty="0" smtClean="0"/>
              <a:t>W(n) is defined as the </a:t>
            </a:r>
            <a:r>
              <a:rPr lang="en-US" dirty="0" smtClean="0">
                <a:solidFill>
                  <a:srgbClr val="C00000"/>
                </a:solidFill>
              </a:rPr>
              <a:t>minimum</a:t>
            </a:r>
            <a:r>
              <a:rPr lang="en-US" dirty="0" smtClean="0"/>
              <a:t> number of times the algorithm will ever do its basic operation for an input size of n (True or False)</a:t>
            </a:r>
          </a:p>
          <a:p>
            <a:pPr lvl="1"/>
            <a:r>
              <a:rPr lang="en-US" dirty="0" smtClean="0">
                <a:solidFill>
                  <a:srgbClr val="00B050"/>
                </a:solidFill>
              </a:rPr>
              <a:t>False</a:t>
            </a:r>
          </a:p>
          <a:p>
            <a:pPr marL="457200" indent="-457200">
              <a:buFont typeface="+mj-lt"/>
              <a:buAutoNum type="arabicPeriod"/>
            </a:pPr>
            <a:r>
              <a:rPr lang="en-US" dirty="0" smtClean="0"/>
              <a:t>A(n) is called average-case time complexity of the algorithm (True or False)</a:t>
            </a:r>
          </a:p>
          <a:p>
            <a:pPr lvl="1"/>
            <a:r>
              <a:rPr lang="en-US" dirty="0" smtClean="0">
                <a:solidFill>
                  <a:srgbClr val="C00000"/>
                </a:solidFill>
              </a:rPr>
              <a:t>True</a:t>
            </a:r>
          </a:p>
        </p:txBody>
      </p:sp>
    </p:spTree>
    <p:extLst>
      <p:ext uri="{BB962C8B-B14F-4D97-AF65-F5344CB8AC3E}">
        <p14:creationId xmlns:p14="http://schemas.microsoft.com/office/powerpoint/2010/main" val="360831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95CEF-C090-BB40-BAB4-17593DD8B9BA}"/>
              </a:ext>
            </a:extLst>
          </p:cNvPr>
          <p:cNvSpPr>
            <a:spLocks noGrp="1"/>
          </p:cNvSpPr>
          <p:nvPr>
            <p:ph type="title"/>
          </p:nvPr>
        </p:nvSpPr>
        <p:spPr>
          <a:xfrm>
            <a:off x="120446" y="80107"/>
            <a:ext cx="10515600" cy="519661"/>
          </a:xfrm>
        </p:spPr>
        <p:txBody>
          <a:bodyPr>
            <a:normAutofit fontScale="90000"/>
          </a:bodyPr>
          <a:lstStyle/>
          <a:p>
            <a:pPr rtl="1"/>
            <a:r>
              <a:rPr lang="en-US" dirty="0"/>
              <a:t>Applying the </a:t>
            </a:r>
            <a:r>
              <a:rPr lang="en-US" dirty="0" smtClean="0"/>
              <a:t>Theory of Algorithm Analysis</a:t>
            </a:r>
            <a:endParaRPr lang="en-QA" dirty="0"/>
          </a:p>
        </p:txBody>
      </p:sp>
      <p:sp>
        <p:nvSpPr>
          <p:cNvPr id="3" name="Content Placeholder 2">
            <a:extLst>
              <a:ext uri="{FF2B5EF4-FFF2-40B4-BE49-F238E27FC236}">
                <a16:creationId xmlns:a16="http://schemas.microsoft.com/office/drawing/2014/main" id="{0F3F3654-176A-4143-82D7-D52D5EEE3C7A}"/>
              </a:ext>
            </a:extLst>
          </p:cNvPr>
          <p:cNvSpPr>
            <a:spLocks noGrp="1"/>
          </p:cNvSpPr>
          <p:nvPr>
            <p:ph idx="1"/>
          </p:nvPr>
        </p:nvSpPr>
        <p:spPr>
          <a:xfrm>
            <a:off x="376083" y="894735"/>
            <a:ext cx="11412794" cy="5193737"/>
          </a:xfrm>
        </p:spPr>
        <p:txBody>
          <a:bodyPr>
            <a:normAutofit/>
          </a:bodyPr>
          <a:lstStyle/>
          <a:p>
            <a:pPr algn="l"/>
            <a:r>
              <a:rPr lang="en-US" dirty="0"/>
              <a:t>One must </a:t>
            </a:r>
            <a:r>
              <a:rPr lang="en-US" dirty="0">
                <a:solidFill>
                  <a:srgbClr val="C00000"/>
                </a:solidFill>
              </a:rPr>
              <a:t>sometimes</a:t>
            </a:r>
            <a:r>
              <a:rPr lang="en-US" dirty="0"/>
              <a:t> be aware of the time it takes to execute the </a:t>
            </a:r>
            <a:r>
              <a:rPr lang="en-US" dirty="0">
                <a:solidFill>
                  <a:srgbClr val="C00000"/>
                </a:solidFill>
              </a:rPr>
              <a:t>basic operation</a:t>
            </a:r>
            <a:r>
              <a:rPr lang="en-US" dirty="0"/>
              <a:t>, </a:t>
            </a:r>
            <a:r>
              <a:rPr lang="en-US" dirty="0" smtClean="0"/>
              <a:t>and:</a:t>
            </a:r>
            <a:endParaRPr lang="en-US" dirty="0"/>
          </a:p>
          <a:p>
            <a:pPr marL="914400" lvl="1" indent="-457200">
              <a:buFont typeface="+mj-lt"/>
              <a:buAutoNum type="arabicPeriod"/>
            </a:pPr>
            <a:endParaRPr lang="en-US" sz="2200" u="sng" dirty="0" smtClean="0">
              <a:solidFill>
                <a:srgbClr val="00B050"/>
              </a:solidFill>
            </a:endParaRPr>
          </a:p>
          <a:p>
            <a:pPr marL="914400" lvl="1" indent="-457200">
              <a:buFont typeface="+mj-lt"/>
              <a:buAutoNum type="arabicPeriod"/>
            </a:pPr>
            <a:r>
              <a:rPr lang="en-US" sz="2200" u="sng" dirty="0" smtClean="0">
                <a:solidFill>
                  <a:srgbClr val="00B050"/>
                </a:solidFill>
              </a:rPr>
              <a:t>Overhead instructions</a:t>
            </a:r>
            <a:endParaRPr lang="en-US" sz="2200" u="sng" dirty="0">
              <a:solidFill>
                <a:srgbClr val="00B050"/>
              </a:solidFill>
            </a:endParaRPr>
          </a:p>
          <a:p>
            <a:pPr lvl="2"/>
            <a:r>
              <a:rPr lang="en-US" sz="2200" dirty="0"/>
              <a:t>such as </a:t>
            </a:r>
            <a:r>
              <a:rPr lang="en-US" sz="2200" u="sng" dirty="0">
                <a:solidFill>
                  <a:srgbClr val="C00000"/>
                </a:solidFill>
              </a:rPr>
              <a:t>initialization</a:t>
            </a:r>
            <a:r>
              <a:rPr lang="en-US" sz="2200" dirty="0"/>
              <a:t> instructions before a loop</a:t>
            </a:r>
          </a:p>
          <a:p>
            <a:pPr lvl="2"/>
            <a:r>
              <a:rPr lang="en-US" sz="2200" dirty="0"/>
              <a:t>t</a:t>
            </a:r>
            <a:r>
              <a:rPr lang="en-US" sz="2200" dirty="0" smtClean="0"/>
              <a:t>he </a:t>
            </a:r>
            <a:r>
              <a:rPr lang="en-US" sz="2200" dirty="0"/>
              <a:t>number of times these instructions execute </a:t>
            </a:r>
            <a:r>
              <a:rPr lang="en-US" sz="2200" b="1" u="sng" dirty="0">
                <a:solidFill>
                  <a:srgbClr val="00B050"/>
                </a:solidFill>
              </a:rPr>
              <a:t>does not increase with input </a:t>
            </a:r>
            <a:r>
              <a:rPr lang="en-US" sz="2200" b="1" u="sng" dirty="0" smtClean="0">
                <a:solidFill>
                  <a:srgbClr val="00B050"/>
                </a:solidFill>
              </a:rPr>
              <a:t>size</a:t>
            </a:r>
            <a:endParaRPr lang="en-US" sz="2200" b="1" u="sng" dirty="0">
              <a:solidFill>
                <a:srgbClr val="00B050"/>
              </a:solidFill>
            </a:endParaRPr>
          </a:p>
          <a:p>
            <a:pPr marL="914400" lvl="1" indent="-457200">
              <a:buFont typeface="+mj-lt"/>
              <a:buAutoNum type="arabicPeriod"/>
            </a:pPr>
            <a:endParaRPr lang="en-US" sz="2200" u="sng" dirty="0" smtClean="0">
              <a:solidFill>
                <a:srgbClr val="0070C0"/>
              </a:solidFill>
            </a:endParaRPr>
          </a:p>
          <a:p>
            <a:pPr marL="914400" lvl="1" indent="-457200">
              <a:buFont typeface="+mj-lt"/>
              <a:buAutoNum type="arabicPeriod"/>
            </a:pPr>
            <a:r>
              <a:rPr lang="en-US" sz="2200" u="sng" dirty="0" smtClean="0">
                <a:solidFill>
                  <a:srgbClr val="0070C0"/>
                </a:solidFill>
              </a:rPr>
              <a:t>Control instructions</a:t>
            </a:r>
            <a:endParaRPr lang="en-US" sz="2200" u="sng" dirty="0">
              <a:solidFill>
                <a:srgbClr val="0070C0"/>
              </a:solidFill>
            </a:endParaRPr>
          </a:p>
          <a:p>
            <a:pPr lvl="2"/>
            <a:r>
              <a:rPr lang="en-US" sz="2200" dirty="0"/>
              <a:t>such as </a:t>
            </a:r>
            <a:r>
              <a:rPr lang="en-US" sz="2200" u="sng" dirty="0">
                <a:solidFill>
                  <a:srgbClr val="C00000"/>
                </a:solidFill>
              </a:rPr>
              <a:t>incrementing an index </a:t>
            </a:r>
            <a:r>
              <a:rPr lang="en-US" sz="2200" dirty="0"/>
              <a:t>to control a loop</a:t>
            </a:r>
          </a:p>
          <a:p>
            <a:pPr lvl="2"/>
            <a:r>
              <a:rPr lang="en-US" sz="2200" dirty="0"/>
              <a:t>the number of times these instructions execute </a:t>
            </a:r>
            <a:r>
              <a:rPr lang="en-US" sz="2200" b="1" u="sng" dirty="0">
                <a:solidFill>
                  <a:srgbClr val="FF0000"/>
                </a:solidFill>
              </a:rPr>
              <a:t>increases with input </a:t>
            </a:r>
            <a:r>
              <a:rPr lang="en-US" sz="2200" b="1" u="sng" dirty="0" smtClean="0">
                <a:solidFill>
                  <a:srgbClr val="FF0000"/>
                </a:solidFill>
              </a:rPr>
              <a:t>size</a:t>
            </a:r>
            <a:endParaRPr lang="en-US" sz="2200" b="1" u="sng" dirty="0">
              <a:solidFill>
                <a:srgbClr val="FF0000"/>
              </a:solidFill>
            </a:endParaRPr>
          </a:p>
          <a:p>
            <a:pPr lvl="2"/>
            <a:endParaRPr lang="en-US" dirty="0" smtClean="0"/>
          </a:p>
          <a:p>
            <a:pPr marL="914400" lvl="2" indent="0">
              <a:buNone/>
            </a:pPr>
            <a:endParaRPr lang="en-US" dirty="0"/>
          </a:p>
          <a:p>
            <a:pPr algn="l"/>
            <a:r>
              <a:rPr lang="en-US" dirty="0">
                <a:solidFill>
                  <a:srgbClr val="C00000"/>
                </a:solidFill>
              </a:rPr>
              <a:t>B</a:t>
            </a:r>
            <a:r>
              <a:rPr lang="en-US" dirty="0" smtClean="0">
                <a:solidFill>
                  <a:srgbClr val="C00000"/>
                </a:solidFill>
              </a:rPr>
              <a:t>asic </a:t>
            </a:r>
            <a:r>
              <a:rPr lang="en-US" dirty="0">
                <a:solidFill>
                  <a:srgbClr val="C00000"/>
                </a:solidFill>
              </a:rPr>
              <a:t>operation</a:t>
            </a:r>
            <a:r>
              <a:rPr lang="en-US" dirty="0"/>
              <a:t>, </a:t>
            </a:r>
            <a:r>
              <a:rPr lang="en-US" dirty="0">
                <a:solidFill>
                  <a:srgbClr val="00B050"/>
                </a:solidFill>
              </a:rPr>
              <a:t>overhead instructions</a:t>
            </a:r>
            <a:r>
              <a:rPr lang="en-US" dirty="0"/>
              <a:t>, and </a:t>
            </a:r>
            <a:r>
              <a:rPr lang="en-US" dirty="0">
                <a:solidFill>
                  <a:srgbClr val="0070C0"/>
                </a:solidFill>
              </a:rPr>
              <a:t>control instructions </a:t>
            </a:r>
            <a:endParaRPr lang="en-US" dirty="0" smtClean="0">
              <a:solidFill>
                <a:srgbClr val="0070C0"/>
              </a:solidFill>
            </a:endParaRPr>
          </a:p>
          <a:p>
            <a:pPr lvl="1"/>
            <a:r>
              <a:rPr lang="en-US" sz="2200" dirty="0" smtClean="0"/>
              <a:t>properties </a:t>
            </a:r>
            <a:r>
              <a:rPr lang="en-US" sz="2200" dirty="0"/>
              <a:t>of an </a:t>
            </a:r>
            <a:r>
              <a:rPr lang="en-US" sz="2200" u="sng" dirty="0"/>
              <a:t>algorithm</a:t>
            </a:r>
            <a:r>
              <a:rPr lang="en-US" sz="2200" dirty="0"/>
              <a:t> and the </a:t>
            </a:r>
            <a:r>
              <a:rPr lang="en-US" sz="2200" u="sng" dirty="0"/>
              <a:t>implementation</a:t>
            </a:r>
            <a:r>
              <a:rPr lang="en-US" sz="2200" dirty="0"/>
              <a:t> of the algorithm</a:t>
            </a:r>
          </a:p>
          <a:p>
            <a:pPr marL="0" indent="0" algn="l">
              <a:buNone/>
            </a:pPr>
            <a:endParaRPr lang="en-US" dirty="0"/>
          </a:p>
        </p:txBody>
      </p:sp>
    </p:spTree>
    <p:extLst>
      <p:ext uri="{BB962C8B-B14F-4D97-AF65-F5344CB8AC3E}">
        <p14:creationId xmlns:p14="http://schemas.microsoft.com/office/powerpoint/2010/main" val="1081392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 calcmode="lin" valueType="num">
                                      <p:cBhvr additive="base">
                                        <p:cTn id="4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3681D-8992-F040-B9EC-87F3F5ECC674}"/>
              </a:ext>
            </a:extLst>
          </p:cNvPr>
          <p:cNvSpPr>
            <a:spLocks noGrp="1"/>
          </p:cNvSpPr>
          <p:nvPr>
            <p:ph type="title"/>
          </p:nvPr>
        </p:nvSpPr>
        <p:spPr>
          <a:xfrm>
            <a:off x="149942" y="20997"/>
            <a:ext cx="10515600" cy="893520"/>
          </a:xfrm>
        </p:spPr>
        <p:txBody>
          <a:bodyPr/>
          <a:lstStyle/>
          <a:p>
            <a:r>
              <a:rPr lang="en-US" dirty="0"/>
              <a:t>Applying the Theory (cont.)</a:t>
            </a:r>
            <a:endParaRPr lang="en-QA" dirty="0"/>
          </a:p>
        </p:txBody>
      </p:sp>
      <p:sp>
        <p:nvSpPr>
          <p:cNvPr id="3" name="Content Placeholder 2">
            <a:extLst>
              <a:ext uri="{FF2B5EF4-FFF2-40B4-BE49-F238E27FC236}">
                <a16:creationId xmlns:a16="http://schemas.microsoft.com/office/drawing/2014/main" id="{9BCE5E60-F7F2-6D44-B8AD-F4C0AEB8EAC2}"/>
              </a:ext>
            </a:extLst>
          </p:cNvPr>
          <p:cNvSpPr>
            <a:spLocks noGrp="1"/>
          </p:cNvSpPr>
          <p:nvPr>
            <p:ph idx="1"/>
          </p:nvPr>
        </p:nvSpPr>
        <p:spPr>
          <a:xfrm>
            <a:off x="228600" y="826026"/>
            <a:ext cx="10891684" cy="5398829"/>
          </a:xfrm>
        </p:spPr>
        <p:txBody>
          <a:bodyPr>
            <a:normAutofit lnSpcReduction="10000"/>
          </a:bodyPr>
          <a:lstStyle/>
          <a:p>
            <a:r>
              <a:rPr lang="en-US" u="sng" dirty="0" smtClean="0">
                <a:solidFill>
                  <a:srgbClr val="0070C0"/>
                </a:solidFill>
              </a:rPr>
              <a:t>Example</a:t>
            </a:r>
            <a:endParaRPr lang="en-US" u="sng" dirty="0">
              <a:solidFill>
                <a:srgbClr val="0070C0"/>
              </a:solidFill>
            </a:endParaRPr>
          </a:p>
          <a:p>
            <a:pPr lvl="1"/>
            <a:r>
              <a:rPr lang="en-US" sz="2200" dirty="0" smtClean="0"/>
              <a:t>2 </a:t>
            </a:r>
            <a:r>
              <a:rPr lang="en-US" sz="2200" dirty="0"/>
              <a:t>algorithms for the same problem </a:t>
            </a:r>
            <a:r>
              <a:rPr lang="en-US" sz="2200" dirty="0" smtClean="0"/>
              <a:t>with </a:t>
            </a:r>
            <a:endParaRPr lang="en-US" sz="2200" dirty="0"/>
          </a:p>
          <a:p>
            <a:pPr lvl="2"/>
            <a:r>
              <a:rPr lang="en-US" sz="2200" b="1" dirty="0">
                <a:latin typeface="Times New Roman" panose="02020603050405020304" pitchFamily="18" charset="0"/>
                <a:cs typeface="Times New Roman" panose="02020603050405020304" pitchFamily="18" charset="0"/>
              </a:rPr>
              <a:t>T</a:t>
            </a:r>
            <a:r>
              <a:rPr lang="en-US" sz="2200" b="1" dirty="0"/>
              <a:t>(</a:t>
            </a:r>
            <a:r>
              <a:rPr lang="en-US" sz="2200" b="1" dirty="0">
                <a:latin typeface="Times New Roman" panose="02020603050405020304" pitchFamily="18" charset="0"/>
                <a:cs typeface="Times New Roman" panose="02020603050405020304" pitchFamily="18" charset="0"/>
              </a:rPr>
              <a:t>n</a:t>
            </a:r>
            <a:r>
              <a:rPr lang="en-US" sz="2200" b="1" dirty="0"/>
              <a:t>) = </a:t>
            </a:r>
            <a:r>
              <a:rPr lang="en-US" sz="2200" b="1" dirty="0">
                <a:latin typeface="Times New Roman" panose="02020603050405020304" pitchFamily="18" charset="0"/>
                <a:cs typeface="Times New Roman" panose="02020603050405020304" pitchFamily="18" charset="0"/>
              </a:rPr>
              <a:t>n</a:t>
            </a:r>
            <a:r>
              <a:rPr lang="en-US" sz="2200" b="1" dirty="0"/>
              <a:t> </a:t>
            </a:r>
            <a:r>
              <a:rPr lang="en-US" sz="2200" dirty="0"/>
              <a:t>for </a:t>
            </a:r>
            <a:r>
              <a:rPr lang="en-US" sz="2200" dirty="0">
                <a:solidFill>
                  <a:srgbClr val="0070C0"/>
                </a:solidFill>
              </a:rPr>
              <a:t>A</a:t>
            </a:r>
            <a:r>
              <a:rPr lang="en-US" sz="2200" dirty="0" smtClean="0">
                <a:solidFill>
                  <a:srgbClr val="0070C0"/>
                </a:solidFill>
              </a:rPr>
              <a:t>lgorithm-1</a:t>
            </a:r>
            <a:r>
              <a:rPr lang="en-US" sz="2200" dirty="0" smtClean="0"/>
              <a:t> </a:t>
            </a:r>
            <a:r>
              <a:rPr lang="en-US" sz="2200" dirty="0"/>
              <a:t>and </a:t>
            </a:r>
            <a:r>
              <a:rPr lang="en-US" sz="2200" b="1" dirty="0" smtClean="0"/>
              <a:t>T(n) = </a:t>
            </a:r>
            <a:r>
              <a:rPr lang="en-US" sz="2200" b="1" dirty="0" smtClean="0">
                <a:latin typeface="Times New Roman" panose="02020603050405020304" pitchFamily="18" charset="0"/>
                <a:cs typeface="Times New Roman" panose="02020603050405020304" pitchFamily="18" charset="0"/>
              </a:rPr>
              <a:t>n</a:t>
            </a:r>
            <a:r>
              <a:rPr lang="en-US" sz="2200" b="1" baseline="30000" dirty="0" smtClean="0"/>
              <a:t>2</a:t>
            </a:r>
            <a:r>
              <a:rPr lang="en-US" sz="2200" b="1" dirty="0" smtClean="0"/>
              <a:t> </a:t>
            </a:r>
            <a:r>
              <a:rPr lang="en-US" sz="2200" dirty="0"/>
              <a:t>for </a:t>
            </a:r>
            <a:r>
              <a:rPr lang="en-US" sz="2200" dirty="0">
                <a:solidFill>
                  <a:srgbClr val="C00000"/>
                </a:solidFill>
              </a:rPr>
              <a:t>A</a:t>
            </a:r>
            <a:r>
              <a:rPr lang="en-US" sz="2200" dirty="0" smtClean="0">
                <a:solidFill>
                  <a:srgbClr val="C00000"/>
                </a:solidFill>
              </a:rPr>
              <a:t>lgorithm-2</a:t>
            </a:r>
            <a:endParaRPr lang="en-US" sz="2200" dirty="0"/>
          </a:p>
          <a:p>
            <a:pPr lvl="2"/>
            <a:r>
              <a:rPr lang="en-US" sz="2200" dirty="0">
                <a:solidFill>
                  <a:srgbClr val="0070C0"/>
                </a:solidFill>
              </a:rPr>
              <a:t>Algorithm-1</a:t>
            </a:r>
            <a:r>
              <a:rPr lang="en-US" sz="2200" dirty="0"/>
              <a:t> appears </a:t>
            </a:r>
            <a:r>
              <a:rPr lang="en-US" sz="2200" b="1" u="sng" dirty="0">
                <a:solidFill>
                  <a:srgbClr val="00B050"/>
                </a:solidFill>
              </a:rPr>
              <a:t>more </a:t>
            </a:r>
            <a:r>
              <a:rPr lang="en-US" sz="2200" b="1" u="sng" dirty="0" smtClean="0">
                <a:solidFill>
                  <a:srgbClr val="00B050"/>
                </a:solidFill>
              </a:rPr>
              <a:t>efficient</a:t>
            </a:r>
            <a:endParaRPr lang="en-US" sz="2200" b="1" u="sng" dirty="0">
              <a:solidFill>
                <a:srgbClr val="00B050"/>
              </a:solidFill>
            </a:endParaRPr>
          </a:p>
          <a:p>
            <a:pPr lvl="1"/>
            <a:endParaRPr lang="ar-SA" dirty="0"/>
          </a:p>
          <a:p>
            <a:pPr lvl="1"/>
            <a:r>
              <a:rPr lang="en-US" sz="2200" dirty="0"/>
              <a:t>A</a:t>
            </a:r>
            <a:r>
              <a:rPr lang="en-US" sz="2200" dirty="0" smtClean="0"/>
              <a:t>ssume </a:t>
            </a:r>
            <a:r>
              <a:rPr lang="en-US" sz="2200" dirty="0"/>
              <a:t>that the time it takes to execute the </a:t>
            </a:r>
            <a:r>
              <a:rPr lang="en-US" sz="2200" u="sng" dirty="0">
                <a:solidFill>
                  <a:srgbClr val="00B050"/>
                </a:solidFill>
              </a:rPr>
              <a:t>overhead instructions </a:t>
            </a:r>
            <a:r>
              <a:rPr lang="en-US" sz="2200" dirty="0"/>
              <a:t>is </a:t>
            </a:r>
            <a:r>
              <a:rPr lang="en-US" sz="2200" b="1" u="sng" dirty="0" smtClean="0"/>
              <a:t>negligible</a:t>
            </a:r>
            <a:endParaRPr lang="en-US" sz="2200" b="1" u="sng" dirty="0"/>
          </a:p>
          <a:p>
            <a:pPr marL="457200" lvl="1" indent="0">
              <a:buNone/>
            </a:pPr>
            <a:endParaRPr lang="en-US" sz="2200" dirty="0"/>
          </a:p>
          <a:p>
            <a:pPr lvl="1"/>
            <a:r>
              <a:rPr lang="en-US" sz="2200" dirty="0"/>
              <a:t>Imagine a scenario where a computer </a:t>
            </a:r>
            <a:r>
              <a:rPr lang="en-US" sz="2200" b="1" u="sng" dirty="0">
                <a:solidFill>
                  <a:srgbClr val="FF0000"/>
                </a:solidFill>
              </a:rPr>
              <a:t>requires 1,000 times more time </a:t>
            </a:r>
            <a:r>
              <a:rPr lang="en-US" sz="2200" dirty="0"/>
              <a:t>to execute </a:t>
            </a:r>
            <a:r>
              <a:rPr lang="en-US" sz="2200" dirty="0" smtClean="0"/>
              <a:t>basic </a:t>
            </a:r>
            <a:r>
              <a:rPr lang="en-US" sz="2200" dirty="0"/>
              <a:t>operations and control </a:t>
            </a:r>
            <a:r>
              <a:rPr lang="en-US" sz="2200" dirty="0" smtClean="0"/>
              <a:t>instructions </a:t>
            </a:r>
            <a:r>
              <a:rPr lang="en-US" sz="2200" dirty="0"/>
              <a:t>in </a:t>
            </a:r>
            <a:r>
              <a:rPr lang="en-US" sz="2200" b="1" dirty="0">
                <a:solidFill>
                  <a:srgbClr val="0070C0"/>
                </a:solidFill>
              </a:rPr>
              <a:t>Algorithm-1</a:t>
            </a:r>
            <a:r>
              <a:rPr lang="en-US" sz="2200" dirty="0"/>
              <a:t> compared to the time it takes for the same processing in </a:t>
            </a:r>
            <a:r>
              <a:rPr lang="en-US" sz="2200" b="1" dirty="0" smtClean="0">
                <a:solidFill>
                  <a:srgbClr val="C00000"/>
                </a:solidFill>
              </a:rPr>
              <a:t>Algorithm-2</a:t>
            </a:r>
          </a:p>
          <a:p>
            <a:pPr marL="457200" lvl="1" indent="0">
              <a:buNone/>
            </a:pPr>
            <a:endParaRPr lang="ar-SA" sz="2200" dirty="0"/>
          </a:p>
          <a:p>
            <a:pPr lvl="1"/>
            <a:r>
              <a:rPr lang="en-US" sz="2200" dirty="0"/>
              <a:t>if </a:t>
            </a:r>
            <a:r>
              <a:rPr lang="en-US" sz="2200" b="1" i="1" u="sng" dirty="0">
                <a:latin typeface="Times New Roman" panose="02020603050405020304" pitchFamily="18" charset="0"/>
                <a:cs typeface="Times New Roman" panose="02020603050405020304" pitchFamily="18" charset="0"/>
              </a:rPr>
              <a:t>t</a:t>
            </a:r>
            <a:r>
              <a:rPr lang="en-US" sz="2200" b="1" u="sng" dirty="0"/>
              <a:t> is the time required to process </a:t>
            </a:r>
            <a:r>
              <a:rPr lang="en-US" sz="2200" dirty="0"/>
              <a:t>the basic operation once</a:t>
            </a:r>
            <a:r>
              <a:rPr lang="en-US" sz="2200" dirty="0">
                <a:solidFill>
                  <a:srgbClr val="00B050"/>
                </a:solidFill>
              </a:rPr>
              <a:t> </a:t>
            </a:r>
            <a:r>
              <a:rPr lang="en-US" sz="2200" dirty="0"/>
              <a:t>in</a:t>
            </a:r>
            <a:r>
              <a:rPr lang="en-US" sz="2200" dirty="0">
                <a:solidFill>
                  <a:srgbClr val="C00000"/>
                </a:solidFill>
              </a:rPr>
              <a:t> </a:t>
            </a:r>
            <a:r>
              <a:rPr lang="en-US" sz="2200" b="1" dirty="0" smtClean="0">
                <a:solidFill>
                  <a:srgbClr val="C00000"/>
                </a:solidFill>
              </a:rPr>
              <a:t>Algorithm-2</a:t>
            </a:r>
            <a:r>
              <a:rPr lang="en-US" sz="2200" dirty="0" smtClean="0"/>
              <a:t> </a:t>
            </a:r>
          </a:p>
          <a:p>
            <a:pPr marL="457200" lvl="1" indent="0">
              <a:buNone/>
            </a:pPr>
            <a:r>
              <a:rPr lang="en-US" sz="2200" dirty="0">
                <a:solidFill>
                  <a:srgbClr val="FF0000"/>
                </a:solidFill>
              </a:rPr>
              <a:t> </a:t>
            </a:r>
            <a:r>
              <a:rPr lang="en-US" sz="2200" dirty="0" smtClean="0">
                <a:solidFill>
                  <a:srgbClr val="FF0000"/>
                </a:solidFill>
              </a:rPr>
              <a:t>   </a:t>
            </a:r>
            <a:r>
              <a:rPr lang="en-US" sz="2200" b="1" dirty="0" smtClean="0">
                <a:solidFill>
                  <a:srgbClr val="C00000"/>
                </a:solidFill>
              </a:rPr>
              <a:t>1,000 </a:t>
            </a:r>
            <a:r>
              <a:rPr lang="en-US" sz="2200" b="1" i="1" dirty="0" smtClean="0">
                <a:solidFill>
                  <a:srgbClr val="C00000"/>
                </a:solidFill>
                <a:latin typeface="Times New Roman" panose="02020603050405020304" pitchFamily="18" charset="0"/>
                <a:cs typeface="Times New Roman" panose="02020603050405020304" pitchFamily="18" charset="0"/>
              </a:rPr>
              <a:t>t</a:t>
            </a:r>
            <a:r>
              <a:rPr lang="en-US" sz="2200" b="1" dirty="0" smtClean="0">
                <a:solidFill>
                  <a:srgbClr val="C00000"/>
                </a:solidFill>
              </a:rPr>
              <a:t> </a:t>
            </a:r>
            <a:r>
              <a:rPr lang="en-US" sz="2200" dirty="0"/>
              <a:t>is the time required to process the basic operation once in </a:t>
            </a:r>
            <a:r>
              <a:rPr lang="en-US" sz="2200" b="1" dirty="0" smtClean="0">
                <a:solidFill>
                  <a:srgbClr val="0070C0"/>
                </a:solidFill>
              </a:rPr>
              <a:t>Algorithm-1</a:t>
            </a:r>
          </a:p>
          <a:p>
            <a:pPr marL="457200" lvl="1" indent="0">
              <a:buNone/>
            </a:pPr>
            <a:endParaRPr lang="en-US" sz="2200" b="1" dirty="0">
              <a:solidFill>
                <a:srgbClr val="0070C0"/>
              </a:solidFill>
            </a:endParaRPr>
          </a:p>
          <a:p>
            <a:pPr marL="457200" lvl="1" indent="0">
              <a:buNone/>
            </a:pPr>
            <a:r>
              <a:rPr lang="en-US" b="1" dirty="0" smtClean="0">
                <a:solidFill>
                  <a:srgbClr val="0070C0"/>
                </a:solidFill>
              </a:rPr>
              <a:t>                        1,000</a:t>
            </a:r>
            <a:r>
              <a:rPr lang="en-US" b="1" dirty="0" smtClean="0">
                <a:solidFill>
                  <a:srgbClr val="0070C0"/>
                </a:solidFill>
                <a:latin typeface="Times New Roman" panose="02020603050405020304" pitchFamily="18" charset="0"/>
                <a:cs typeface="Times New Roman" panose="02020603050405020304" pitchFamily="18" charset="0"/>
              </a:rPr>
              <a:t>t</a:t>
            </a:r>
            <a:r>
              <a:rPr lang="en-US" b="1" dirty="0" smtClean="0">
                <a:solidFill>
                  <a:srgbClr val="0070C0"/>
                </a:solidFill>
              </a:rPr>
              <a:t>  </a:t>
            </a:r>
            <a:r>
              <a:rPr lang="en-US" dirty="0"/>
              <a:t>for </a:t>
            </a:r>
            <a:r>
              <a:rPr lang="en-US" dirty="0" smtClean="0">
                <a:solidFill>
                  <a:srgbClr val="0070C0"/>
                </a:solidFill>
              </a:rPr>
              <a:t>Algorithm-1</a:t>
            </a:r>
          </a:p>
          <a:p>
            <a:pPr marL="457200" lvl="1" indent="0">
              <a:buNone/>
            </a:pPr>
            <a:r>
              <a:rPr lang="en-US" b="1" dirty="0" smtClean="0">
                <a:solidFill>
                  <a:srgbClr val="C00000"/>
                </a:solidFill>
                <a:latin typeface="Times New Roman" panose="02020603050405020304" pitchFamily="18" charset="0"/>
                <a:cs typeface="Times New Roman" panose="02020603050405020304" pitchFamily="18" charset="0"/>
              </a:rPr>
              <a:t>                     </a:t>
            </a:r>
            <a:r>
              <a:rPr lang="en-US" b="1" dirty="0">
                <a:solidFill>
                  <a:srgbClr val="C00000"/>
                </a:solidFill>
                <a:latin typeface="Times New Roman" panose="02020603050405020304" pitchFamily="18" charset="0"/>
                <a:cs typeface="Times New Roman" panose="02020603050405020304" pitchFamily="18" charset="0"/>
              </a:rPr>
              <a:t> </a:t>
            </a:r>
            <a:r>
              <a:rPr lang="en-US" b="1" dirty="0" smtClean="0">
                <a:solidFill>
                  <a:srgbClr val="C00000"/>
                </a:solidFill>
                <a:latin typeface="Times New Roman" panose="02020603050405020304" pitchFamily="18" charset="0"/>
                <a:cs typeface="Times New Roman" panose="02020603050405020304" pitchFamily="18" charset="0"/>
              </a:rPr>
              <a:t>        t</a:t>
            </a:r>
            <a:r>
              <a:rPr lang="en-US" b="1" dirty="0" smtClean="0">
                <a:solidFill>
                  <a:srgbClr val="C00000"/>
                </a:solidFill>
              </a:rPr>
              <a:t>    </a:t>
            </a:r>
            <a:r>
              <a:rPr lang="en-US" dirty="0" smtClean="0"/>
              <a:t>for </a:t>
            </a:r>
            <a:r>
              <a:rPr lang="en-US" dirty="0">
                <a:solidFill>
                  <a:srgbClr val="C00000"/>
                </a:solidFill>
              </a:rPr>
              <a:t>Algorithm-2</a:t>
            </a:r>
            <a:endParaRPr lang="en-US" sz="2200" b="1" dirty="0">
              <a:solidFill>
                <a:srgbClr val="0070C0"/>
              </a:solidFill>
            </a:endParaRPr>
          </a:p>
          <a:p>
            <a:pPr lvl="1"/>
            <a:endParaRPr lang="ar-SA" dirty="0"/>
          </a:p>
        </p:txBody>
      </p:sp>
    </p:spTree>
    <p:extLst>
      <p:ext uri="{BB962C8B-B14F-4D97-AF65-F5344CB8AC3E}">
        <p14:creationId xmlns:p14="http://schemas.microsoft.com/office/powerpoint/2010/main" val="171257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 calcmode="lin" valueType="num">
                                      <p:cBhvr additive="base">
                                        <p:cTn id="4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 calcmode="lin" valueType="num">
                                      <p:cBhvr additive="base">
                                        <p:cTn id="4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anim calcmode="lin" valueType="num">
                                      <p:cBhvr additive="base">
                                        <p:cTn id="4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0A193-D7FA-564F-BE65-A49F3F58687B}"/>
              </a:ext>
            </a:extLst>
          </p:cNvPr>
          <p:cNvSpPr>
            <a:spLocks noGrp="1"/>
          </p:cNvSpPr>
          <p:nvPr>
            <p:ph type="title"/>
          </p:nvPr>
        </p:nvSpPr>
        <p:spPr>
          <a:xfrm>
            <a:off x="69498" y="94870"/>
            <a:ext cx="10515600" cy="504898"/>
          </a:xfrm>
        </p:spPr>
        <p:txBody>
          <a:bodyPr>
            <a:normAutofit fontScale="90000"/>
          </a:bodyPr>
          <a:lstStyle/>
          <a:p>
            <a:r>
              <a:rPr lang="en-US" dirty="0"/>
              <a:t>Applying the Theory (cont.)</a:t>
            </a:r>
            <a:endParaRPr lang="en-QA" dirty="0"/>
          </a:p>
        </p:txBody>
      </p:sp>
      <p:sp>
        <p:nvSpPr>
          <p:cNvPr id="3" name="Content Placeholder 2">
            <a:extLst>
              <a:ext uri="{FF2B5EF4-FFF2-40B4-BE49-F238E27FC236}">
                <a16:creationId xmlns:a16="http://schemas.microsoft.com/office/drawing/2014/main" id="{674C0F12-EC50-F642-B240-037DDA2BED95}"/>
              </a:ext>
            </a:extLst>
          </p:cNvPr>
          <p:cNvSpPr>
            <a:spLocks noGrp="1"/>
          </p:cNvSpPr>
          <p:nvPr>
            <p:ph idx="1"/>
          </p:nvPr>
        </p:nvSpPr>
        <p:spPr>
          <a:xfrm>
            <a:off x="69498" y="1068462"/>
            <a:ext cx="10645877" cy="5234228"/>
          </a:xfrm>
        </p:spPr>
        <p:txBody>
          <a:bodyPr>
            <a:normAutofit/>
          </a:bodyPr>
          <a:lstStyle/>
          <a:p>
            <a:pPr lvl="1"/>
            <a:r>
              <a:rPr lang="en-US" sz="2400" dirty="0"/>
              <a:t>T</a:t>
            </a:r>
            <a:r>
              <a:rPr lang="en-US" sz="2400" dirty="0" smtClean="0"/>
              <a:t>he </a:t>
            </a:r>
            <a:r>
              <a:rPr lang="en-US" sz="2400" dirty="0"/>
              <a:t>times it takes the computer to process an instance of </a:t>
            </a:r>
            <a:r>
              <a:rPr lang="en-US" sz="2400" b="1" u="sng" dirty="0"/>
              <a:t>size </a:t>
            </a:r>
            <a:r>
              <a:rPr lang="en-US" sz="2400" b="1" i="1" u="sng" dirty="0">
                <a:latin typeface="Times New Roman" panose="02020603050405020304" pitchFamily="18" charset="0"/>
                <a:cs typeface="Times New Roman" panose="02020603050405020304" pitchFamily="18" charset="0"/>
              </a:rPr>
              <a:t>n</a:t>
            </a:r>
            <a:r>
              <a:rPr lang="en-US" sz="2400" b="1" u="sng" dirty="0"/>
              <a:t> </a:t>
            </a:r>
            <a:endParaRPr lang="en-US" sz="2400" b="1" u="sng" dirty="0" smtClean="0"/>
          </a:p>
          <a:p>
            <a:pPr lvl="2"/>
            <a:r>
              <a:rPr lang="en-US" sz="2400" b="1" dirty="0" smtClean="0">
                <a:solidFill>
                  <a:srgbClr val="0070C0"/>
                </a:solidFill>
                <a:latin typeface="Times New Roman" panose="02020603050405020304" pitchFamily="18" charset="0"/>
                <a:cs typeface="Times New Roman" panose="02020603050405020304" pitchFamily="18" charset="0"/>
              </a:rPr>
              <a:t>n</a:t>
            </a:r>
            <a:r>
              <a:rPr lang="en-US" sz="2400" b="1" dirty="0" smtClean="0">
                <a:solidFill>
                  <a:srgbClr val="0070C0"/>
                </a:solidFill>
              </a:rPr>
              <a:t> </a:t>
            </a:r>
            <a:r>
              <a:rPr lang="en-US" sz="2400" b="1" dirty="0">
                <a:solidFill>
                  <a:srgbClr val="0070C0"/>
                </a:solidFill>
              </a:rPr>
              <a:t>× 1,000</a:t>
            </a:r>
            <a:r>
              <a:rPr lang="en-US" sz="2400" b="1" dirty="0">
                <a:solidFill>
                  <a:srgbClr val="0070C0"/>
                </a:solidFill>
                <a:latin typeface="Times New Roman" panose="02020603050405020304" pitchFamily="18" charset="0"/>
                <a:cs typeface="Times New Roman" panose="02020603050405020304" pitchFamily="18" charset="0"/>
              </a:rPr>
              <a:t>t</a:t>
            </a:r>
            <a:r>
              <a:rPr lang="en-US" sz="2400" b="1" dirty="0">
                <a:solidFill>
                  <a:srgbClr val="0070C0"/>
                </a:solidFill>
              </a:rPr>
              <a:t> </a:t>
            </a:r>
            <a:r>
              <a:rPr lang="en-US" sz="2400" b="1" dirty="0" smtClean="0">
                <a:solidFill>
                  <a:srgbClr val="0070C0"/>
                </a:solidFill>
              </a:rPr>
              <a:t> </a:t>
            </a:r>
            <a:r>
              <a:rPr lang="en-US" sz="2400" dirty="0" smtClean="0"/>
              <a:t>for </a:t>
            </a:r>
            <a:r>
              <a:rPr lang="en-US" sz="2400" dirty="0">
                <a:solidFill>
                  <a:srgbClr val="0070C0"/>
                </a:solidFill>
              </a:rPr>
              <a:t>A</a:t>
            </a:r>
            <a:r>
              <a:rPr lang="en-US" sz="2400" dirty="0" smtClean="0">
                <a:solidFill>
                  <a:srgbClr val="0070C0"/>
                </a:solidFill>
              </a:rPr>
              <a:t>lgorithm-1                                               </a:t>
            </a:r>
            <a:r>
              <a:rPr lang="en-US" sz="2400" dirty="0" smtClean="0"/>
              <a:t>[ </a:t>
            </a:r>
            <a:r>
              <a:rPr lang="en-US" sz="2400" dirty="0" smtClean="0">
                <a:latin typeface="Times New Roman" panose="02020603050405020304" pitchFamily="18" charset="0"/>
                <a:cs typeface="Times New Roman" panose="02020603050405020304" pitchFamily="18" charset="0"/>
              </a:rPr>
              <a:t>T</a:t>
            </a:r>
            <a:r>
              <a:rPr lang="en-US" sz="2400" dirty="0" smtClean="0"/>
              <a:t>(</a:t>
            </a:r>
            <a:r>
              <a:rPr lang="en-US" sz="2400" dirty="0" smtClean="0">
                <a:latin typeface="Times New Roman" panose="02020603050405020304" pitchFamily="18" charset="0"/>
                <a:cs typeface="Times New Roman" panose="02020603050405020304" pitchFamily="18" charset="0"/>
              </a:rPr>
              <a:t>n</a:t>
            </a:r>
            <a:r>
              <a:rPr lang="en-US" sz="2400" dirty="0"/>
              <a:t>) = </a:t>
            </a:r>
            <a:r>
              <a:rPr lang="en-US" sz="2400" dirty="0">
                <a:latin typeface="Times New Roman" panose="02020603050405020304" pitchFamily="18" charset="0"/>
                <a:cs typeface="Times New Roman" panose="02020603050405020304" pitchFamily="18" charset="0"/>
              </a:rPr>
              <a:t>n</a:t>
            </a:r>
            <a:r>
              <a:rPr lang="en-US" sz="2400" dirty="0"/>
              <a:t> </a:t>
            </a:r>
            <a:r>
              <a:rPr lang="en-US" sz="2400" dirty="0" smtClean="0"/>
              <a:t>]</a:t>
            </a:r>
          </a:p>
          <a:p>
            <a:pPr lvl="2"/>
            <a:r>
              <a:rPr lang="en-US" sz="2400" b="1" dirty="0" smtClean="0">
                <a:solidFill>
                  <a:srgbClr val="C00000"/>
                </a:solidFill>
                <a:latin typeface="Times New Roman" panose="02020603050405020304" pitchFamily="18" charset="0"/>
                <a:cs typeface="Times New Roman" panose="02020603050405020304" pitchFamily="18" charset="0"/>
              </a:rPr>
              <a:t>n</a:t>
            </a:r>
            <a:r>
              <a:rPr lang="en-US" sz="2400" b="1" baseline="30000" dirty="0" smtClean="0">
                <a:solidFill>
                  <a:srgbClr val="C00000"/>
                </a:solidFill>
              </a:rPr>
              <a:t>2</a:t>
            </a:r>
            <a:r>
              <a:rPr lang="en-US" sz="2400" b="1" dirty="0" smtClean="0">
                <a:solidFill>
                  <a:srgbClr val="C00000"/>
                </a:solidFill>
              </a:rPr>
              <a:t> </a:t>
            </a:r>
            <a:r>
              <a:rPr lang="en-US" sz="2400" b="1" dirty="0">
                <a:solidFill>
                  <a:srgbClr val="C00000"/>
                </a:solidFill>
              </a:rPr>
              <a:t>× </a:t>
            </a:r>
            <a:r>
              <a:rPr lang="en-US" sz="2400" b="1" dirty="0">
                <a:solidFill>
                  <a:srgbClr val="C00000"/>
                </a:solidFill>
                <a:latin typeface="Times New Roman" panose="02020603050405020304" pitchFamily="18" charset="0"/>
                <a:cs typeface="Times New Roman" panose="02020603050405020304" pitchFamily="18" charset="0"/>
              </a:rPr>
              <a:t>t</a:t>
            </a:r>
            <a:r>
              <a:rPr lang="en-US" sz="2400" b="1" dirty="0">
                <a:solidFill>
                  <a:srgbClr val="C00000"/>
                </a:solidFill>
              </a:rPr>
              <a:t> </a:t>
            </a:r>
            <a:r>
              <a:rPr lang="en-US" sz="2400" b="1" dirty="0" smtClean="0">
                <a:solidFill>
                  <a:srgbClr val="C00000"/>
                </a:solidFill>
              </a:rPr>
              <a:t>          </a:t>
            </a:r>
            <a:r>
              <a:rPr lang="en-US" sz="2400" dirty="0" smtClean="0"/>
              <a:t>for </a:t>
            </a:r>
            <a:r>
              <a:rPr lang="en-US" sz="2400" dirty="0">
                <a:solidFill>
                  <a:srgbClr val="C00000"/>
                </a:solidFill>
              </a:rPr>
              <a:t>A</a:t>
            </a:r>
            <a:r>
              <a:rPr lang="en-US" sz="2400" dirty="0" smtClean="0">
                <a:solidFill>
                  <a:srgbClr val="C00000"/>
                </a:solidFill>
              </a:rPr>
              <a:t>lgorithm-2</a:t>
            </a:r>
            <a:r>
              <a:rPr lang="en-US" sz="2400" dirty="0" smtClean="0"/>
              <a:t>                                               [ T(n</a:t>
            </a:r>
            <a:r>
              <a:rPr lang="en-US" sz="2400" dirty="0"/>
              <a:t>) = </a:t>
            </a:r>
            <a:r>
              <a:rPr lang="en-US" sz="2400" dirty="0">
                <a:latin typeface="Times New Roman" panose="02020603050405020304" pitchFamily="18" charset="0"/>
                <a:cs typeface="Times New Roman" panose="02020603050405020304" pitchFamily="18" charset="0"/>
              </a:rPr>
              <a:t>n</a:t>
            </a:r>
            <a:r>
              <a:rPr lang="en-US" sz="2400" baseline="30000" dirty="0"/>
              <a:t>2</a:t>
            </a:r>
            <a:r>
              <a:rPr lang="en-US" sz="2400" dirty="0"/>
              <a:t> </a:t>
            </a:r>
            <a:r>
              <a:rPr lang="en-US" sz="2400" dirty="0" smtClean="0"/>
              <a:t>]</a:t>
            </a:r>
            <a:endParaRPr lang="en-US" sz="2400" dirty="0"/>
          </a:p>
          <a:p>
            <a:pPr lvl="1"/>
            <a:endParaRPr lang="ar-SA" sz="2400" dirty="0"/>
          </a:p>
          <a:p>
            <a:pPr lvl="1"/>
            <a:r>
              <a:rPr lang="en-US" sz="2400" dirty="0"/>
              <a:t>We must solve the </a:t>
            </a:r>
            <a:r>
              <a:rPr lang="en-US" sz="2400" dirty="0" smtClean="0"/>
              <a:t>inequality </a:t>
            </a:r>
            <a:r>
              <a:rPr lang="en-US" sz="2400" dirty="0"/>
              <a:t>to determine </a:t>
            </a:r>
            <a:r>
              <a:rPr lang="en-US" sz="2400" u="sng" dirty="0">
                <a:solidFill>
                  <a:srgbClr val="0070C0"/>
                </a:solidFill>
              </a:rPr>
              <a:t>when </a:t>
            </a:r>
            <a:r>
              <a:rPr lang="en-US" sz="2400" u="sng" dirty="0" smtClean="0">
                <a:solidFill>
                  <a:srgbClr val="0070C0"/>
                </a:solidFill>
              </a:rPr>
              <a:t>Algorithm-1 </a:t>
            </a:r>
            <a:r>
              <a:rPr lang="en-US" sz="2400" u="sng" dirty="0">
                <a:solidFill>
                  <a:srgbClr val="0070C0"/>
                </a:solidFill>
              </a:rPr>
              <a:t>is more </a:t>
            </a:r>
            <a:r>
              <a:rPr lang="en-US" sz="2400" u="sng" dirty="0" smtClean="0">
                <a:solidFill>
                  <a:srgbClr val="0070C0"/>
                </a:solidFill>
              </a:rPr>
              <a:t>efficient</a:t>
            </a:r>
            <a:endParaRPr lang="en-US" sz="2400" u="sng" dirty="0">
              <a:solidFill>
                <a:srgbClr val="0070C0"/>
              </a:solidFill>
            </a:endParaRPr>
          </a:p>
          <a:p>
            <a:pPr lvl="1"/>
            <a:endParaRPr lang="ar-SA" sz="2400" dirty="0"/>
          </a:p>
          <a:p>
            <a:pPr lvl="1"/>
            <a:endParaRPr lang="en-US" sz="2400" dirty="0"/>
          </a:p>
          <a:p>
            <a:pPr lvl="1"/>
            <a:r>
              <a:rPr lang="en-US" sz="2400" dirty="0"/>
              <a:t>Dividing both sides by </a:t>
            </a:r>
            <a:r>
              <a:rPr lang="en-US" sz="2400" b="1" dirty="0" err="1">
                <a:solidFill>
                  <a:srgbClr val="0070C0"/>
                </a:solidFill>
                <a:latin typeface="Times New Roman" panose="02020603050405020304" pitchFamily="18" charset="0"/>
                <a:cs typeface="Times New Roman" panose="02020603050405020304" pitchFamily="18" charset="0"/>
              </a:rPr>
              <a:t>nt</a:t>
            </a:r>
            <a:r>
              <a:rPr lang="en-US" sz="2400" dirty="0"/>
              <a:t> yields</a:t>
            </a:r>
            <a:endParaRPr lang="en-QA" sz="2400" dirty="0"/>
          </a:p>
          <a:p>
            <a:pPr lvl="1"/>
            <a:endParaRPr lang="ar-SA" sz="2400" dirty="0"/>
          </a:p>
          <a:p>
            <a:pPr lvl="1"/>
            <a:endParaRPr lang="ar-SA" sz="2400" dirty="0"/>
          </a:p>
          <a:p>
            <a:pPr lvl="1"/>
            <a:r>
              <a:rPr lang="en-US" sz="2400" dirty="0"/>
              <a:t>If the application </a:t>
            </a:r>
            <a:r>
              <a:rPr lang="en-US" sz="2400" u="sng" dirty="0">
                <a:solidFill>
                  <a:srgbClr val="C00000"/>
                </a:solidFill>
              </a:rPr>
              <a:t>never had </a:t>
            </a:r>
            <a:r>
              <a:rPr lang="en-US" sz="2400" dirty="0"/>
              <a:t>an input size </a:t>
            </a:r>
            <a:r>
              <a:rPr lang="en-US" sz="2400" u="sng" dirty="0">
                <a:solidFill>
                  <a:srgbClr val="0070C0"/>
                </a:solidFill>
              </a:rPr>
              <a:t>larger than </a:t>
            </a:r>
            <a:r>
              <a:rPr lang="en-US" sz="2400" u="sng" dirty="0" smtClean="0">
                <a:solidFill>
                  <a:srgbClr val="0070C0"/>
                </a:solidFill>
              </a:rPr>
              <a:t>1,000</a:t>
            </a:r>
          </a:p>
          <a:p>
            <a:pPr lvl="2"/>
            <a:r>
              <a:rPr lang="en-US" sz="2200" b="1" dirty="0" smtClean="0">
                <a:solidFill>
                  <a:srgbClr val="C00000"/>
                </a:solidFill>
              </a:rPr>
              <a:t>Algorithm-2</a:t>
            </a:r>
            <a:r>
              <a:rPr lang="en-US" sz="2200" dirty="0" smtClean="0"/>
              <a:t> </a:t>
            </a:r>
            <a:r>
              <a:rPr lang="en-US" sz="2200" dirty="0"/>
              <a:t>should be </a:t>
            </a:r>
            <a:r>
              <a:rPr lang="en-US" sz="2200" dirty="0" smtClean="0"/>
              <a:t>implemented although its T(n) is </a:t>
            </a:r>
            <a:r>
              <a:rPr lang="en-US" sz="2000" dirty="0" smtClean="0">
                <a:latin typeface="Times New Roman" panose="02020603050405020304" pitchFamily="18" charset="0"/>
                <a:cs typeface="Times New Roman" panose="02020603050405020304" pitchFamily="18" charset="0"/>
              </a:rPr>
              <a:t>n</a:t>
            </a:r>
            <a:r>
              <a:rPr lang="en-US" sz="2000" baseline="30000" dirty="0" smtClean="0"/>
              <a:t>2</a:t>
            </a:r>
            <a:endParaRPr lang="en-US" sz="2200" dirty="0"/>
          </a:p>
          <a:p>
            <a:pPr marL="914400" lvl="2" indent="0">
              <a:buNone/>
            </a:pPr>
            <a:endParaRPr lang="en-US" sz="2400" dirty="0"/>
          </a:p>
        </p:txBody>
      </p:sp>
      <p:sp>
        <p:nvSpPr>
          <p:cNvPr id="6" name="TextBox 5"/>
          <p:cNvSpPr txBox="1"/>
          <p:nvPr/>
        </p:nvSpPr>
        <p:spPr>
          <a:xfrm>
            <a:off x="816077" y="3084372"/>
            <a:ext cx="3146323" cy="461665"/>
          </a:xfrm>
          <a:prstGeom prst="rect">
            <a:avLst/>
          </a:prstGeom>
          <a:solidFill>
            <a:srgbClr val="FFC000"/>
          </a:solidFill>
        </p:spPr>
        <p:txBody>
          <a:bodyPr wrap="square" rtlCol="0">
            <a:spAutoFit/>
          </a:bodyPr>
          <a:lstStyle/>
          <a:p>
            <a:r>
              <a:rPr lang="en-US" sz="2400" b="1" dirty="0" smtClean="0"/>
              <a:t>n</a:t>
            </a:r>
            <a:r>
              <a:rPr lang="en-US" sz="2400" b="1" baseline="30000" dirty="0" smtClean="0"/>
              <a:t>2</a:t>
            </a:r>
            <a:r>
              <a:rPr lang="en-US" sz="2400" b="1" dirty="0"/>
              <a:t> </a:t>
            </a:r>
            <a:r>
              <a:rPr lang="en-US" sz="2400" b="1" dirty="0" smtClean="0"/>
              <a:t>  *  t    </a:t>
            </a:r>
            <a:r>
              <a:rPr lang="tr-TR" sz="2400" b="1" dirty="0" smtClean="0"/>
              <a:t>&gt;  </a:t>
            </a:r>
            <a:r>
              <a:rPr lang="en-US" sz="2400" b="1" dirty="0" smtClean="0"/>
              <a:t> </a:t>
            </a:r>
            <a:r>
              <a:rPr lang="tr-TR" sz="2400" b="1" dirty="0" smtClean="0"/>
              <a:t>n </a:t>
            </a:r>
            <a:r>
              <a:rPr lang="en-US" sz="2400" b="1" dirty="0" smtClean="0"/>
              <a:t> *  1000t  </a:t>
            </a:r>
            <a:endParaRPr lang="tr-TR" sz="2400" b="1" dirty="0"/>
          </a:p>
        </p:txBody>
      </p:sp>
      <p:sp>
        <p:nvSpPr>
          <p:cNvPr id="7" name="TextBox 6"/>
          <p:cNvSpPr txBox="1"/>
          <p:nvPr/>
        </p:nvSpPr>
        <p:spPr>
          <a:xfrm>
            <a:off x="816077" y="4275512"/>
            <a:ext cx="1713763" cy="461665"/>
          </a:xfrm>
          <a:prstGeom prst="rect">
            <a:avLst/>
          </a:prstGeom>
          <a:solidFill>
            <a:srgbClr val="FFC000"/>
          </a:solidFill>
        </p:spPr>
        <p:txBody>
          <a:bodyPr wrap="square" rtlCol="0">
            <a:spAutoFit/>
          </a:bodyPr>
          <a:lstStyle/>
          <a:p>
            <a:r>
              <a:rPr lang="en-US" sz="2400" b="1" dirty="0" smtClean="0"/>
              <a:t>n </a:t>
            </a:r>
            <a:r>
              <a:rPr lang="tr-TR" sz="2400" b="1" dirty="0"/>
              <a:t>&gt; </a:t>
            </a:r>
            <a:r>
              <a:rPr lang="en-US" sz="2400" b="1" dirty="0" smtClean="0"/>
              <a:t>1000</a:t>
            </a:r>
            <a:endParaRPr lang="tr-TR" sz="2400" b="1" dirty="0"/>
          </a:p>
        </p:txBody>
      </p:sp>
    </p:spTree>
    <p:extLst>
      <p:ext uri="{BB962C8B-B14F-4D97-AF65-F5344CB8AC3E}">
        <p14:creationId xmlns:p14="http://schemas.microsoft.com/office/powerpoint/2010/main" val="187138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 calcmode="lin" valueType="num">
                                      <p:cBhvr additive="base">
                                        <p:cTn id="4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 calcmode="lin" valueType="num">
                                      <p:cBhvr additive="base">
                                        <p:cTn id="4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D2E2D-129B-3746-84DE-144DBCA79275}"/>
              </a:ext>
            </a:extLst>
          </p:cNvPr>
          <p:cNvSpPr>
            <a:spLocks noGrp="1"/>
          </p:cNvSpPr>
          <p:nvPr>
            <p:ph type="title"/>
          </p:nvPr>
        </p:nvSpPr>
        <p:spPr>
          <a:xfrm>
            <a:off x="179438" y="79494"/>
            <a:ext cx="10515600" cy="641883"/>
          </a:xfrm>
        </p:spPr>
        <p:txBody>
          <a:bodyPr/>
          <a:lstStyle/>
          <a:p>
            <a:r>
              <a:rPr lang="en-US" dirty="0"/>
              <a:t>Order</a:t>
            </a:r>
            <a:endParaRPr lang="en-QA" dirty="0"/>
          </a:p>
        </p:txBody>
      </p:sp>
      <p:sp>
        <p:nvSpPr>
          <p:cNvPr id="3" name="Content Placeholder 2">
            <a:extLst>
              <a:ext uri="{FF2B5EF4-FFF2-40B4-BE49-F238E27FC236}">
                <a16:creationId xmlns:a16="http://schemas.microsoft.com/office/drawing/2014/main" id="{12FF0E86-7829-884F-977F-B7F5366CA62A}"/>
              </a:ext>
            </a:extLst>
          </p:cNvPr>
          <p:cNvSpPr>
            <a:spLocks noGrp="1"/>
          </p:cNvSpPr>
          <p:nvPr>
            <p:ph idx="1"/>
          </p:nvPr>
        </p:nvSpPr>
        <p:spPr>
          <a:xfrm>
            <a:off x="307257" y="963678"/>
            <a:ext cx="11029335" cy="5741922"/>
          </a:xfrm>
        </p:spPr>
        <p:txBody>
          <a:bodyPr>
            <a:normAutofit/>
          </a:bodyPr>
          <a:lstStyle/>
          <a:p>
            <a:r>
              <a:rPr lang="en-US" dirty="0"/>
              <a:t>As seen, an algorithm with </a:t>
            </a:r>
            <a:r>
              <a:rPr lang="en-US" u="sng" dirty="0">
                <a:solidFill>
                  <a:srgbClr val="0070C0"/>
                </a:solidFill>
              </a:rPr>
              <a:t>a time complexity of </a:t>
            </a:r>
            <a:r>
              <a:rPr lang="en-US" i="1" u="sng" dirty="0">
                <a:solidFill>
                  <a:srgbClr val="0070C0"/>
                </a:solidFill>
                <a:latin typeface="Times New Roman" panose="02020603050405020304" pitchFamily="18" charset="0"/>
                <a:cs typeface="Times New Roman" panose="02020603050405020304" pitchFamily="18" charset="0"/>
              </a:rPr>
              <a:t>n</a:t>
            </a:r>
            <a:r>
              <a:rPr lang="en-US" u="sng" dirty="0">
                <a:solidFill>
                  <a:srgbClr val="0070C0"/>
                </a:solidFill>
              </a:rPr>
              <a:t> </a:t>
            </a:r>
            <a:r>
              <a:rPr lang="en-US" dirty="0"/>
              <a:t>is </a:t>
            </a:r>
            <a:r>
              <a:rPr lang="en-US" u="sng" dirty="0">
                <a:solidFill>
                  <a:srgbClr val="00B050"/>
                </a:solidFill>
              </a:rPr>
              <a:t>more efficient </a:t>
            </a:r>
            <a:r>
              <a:rPr lang="en-US" dirty="0"/>
              <a:t>than </a:t>
            </a:r>
            <a:endParaRPr lang="en-US" dirty="0" smtClean="0"/>
          </a:p>
          <a:p>
            <a:pPr lvl="1"/>
            <a:r>
              <a:rPr lang="en-US" sz="2200" dirty="0" smtClean="0"/>
              <a:t>one </a:t>
            </a:r>
            <a:r>
              <a:rPr lang="en-US" sz="2200" dirty="0"/>
              <a:t>with</a:t>
            </a:r>
            <a:r>
              <a:rPr lang="en-US" sz="2200" dirty="0">
                <a:solidFill>
                  <a:srgbClr val="C00000"/>
                </a:solidFill>
              </a:rPr>
              <a:t> </a:t>
            </a:r>
            <a:r>
              <a:rPr lang="en-US" sz="2200" u="sng" dirty="0">
                <a:solidFill>
                  <a:srgbClr val="C00000"/>
                </a:solidFill>
              </a:rPr>
              <a:t>a time complexity of </a:t>
            </a:r>
            <a:r>
              <a:rPr lang="en-US" sz="2200" i="1" u="sng" dirty="0">
                <a:solidFill>
                  <a:srgbClr val="C00000"/>
                </a:solidFill>
                <a:latin typeface="Times New Roman" panose="02020603050405020304" pitchFamily="18" charset="0"/>
                <a:cs typeface="Times New Roman" panose="02020603050405020304" pitchFamily="18" charset="0"/>
              </a:rPr>
              <a:t>n</a:t>
            </a:r>
            <a:r>
              <a:rPr lang="en-US" sz="2200" u="sng" baseline="30000" dirty="0">
                <a:solidFill>
                  <a:srgbClr val="C00000"/>
                </a:solidFill>
              </a:rPr>
              <a:t>2</a:t>
            </a:r>
            <a:r>
              <a:rPr lang="en-US" sz="2200" u="sng" dirty="0"/>
              <a:t> </a:t>
            </a:r>
            <a:r>
              <a:rPr lang="en-US" sz="2200" dirty="0"/>
              <a:t>for </a:t>
            </a:r>
            <a:r>
              <a:rPr lang="en-US" sz="2200" b="1" u="sng" dirty="0">
                <a:solidFill>
                  <a:srgbClr val="7030A0"/>
                </a:solidFill>
              </a:rPr>
              <a:t>sufficiently large values of </a:t>
            </a:r>
            <a:r>
              <a:rPr lang="en-US" sz="2200" b="1" i="1" dirty="0" smtClean="0">
                <a:solidFill>
                  <a:srgbClr val="7030A0"/>
                </a:solidFill>
                <a:latin typeface="Times New Roman" panose="02020603050405020304" pitchFamily="18" charset="0"/>
                <a:cs typeface="Times New Roman" panose="02020603050405020304" pitchFamily="18" charset="0"/>
              </a:rPr>
              <a:t>n</a:t>
            </a:r>
            <a:endParaRPr lang="en-US" sz="2200" dirty="0">
              <a:solidFill>
                <a:srgbClr val="7030A0"/>
              </a:solidFill>
            </a:endParaRPr>
          </a:p>
          <a:p>
            <a:pPr lvl="1"/>
            <a:r>
              <a:rPr lang="en-US" sz="2200" dirty="0" smtClean="0"/>
              <a:t>regardless </a:t>
            </a:r>
            <a:r>
              <a:rPr lang="en-US" sz="2200" dirty="0"/>
              <a:t>of how long it takes to process the basic operations in the </a:t>
            </a:r>
            <a:r>
              <a:rPr lang="en-US" sz="2200" dirty="0" smtClean="0"/>
              <a:t>two </a:t>
            </a:r>
            <a:r>
              <a:rPr lang="en-US" sz="2200" dirty="0"/>
              <a:t>algorithms</a:t>
            </a:r>
          </a:p>
          <a:p>
            <a:endParaRPr lang="en-US" dirty="0"/>
          </a:p>
          <a:p>
            <a:r>
              <a:rPr lang="en-US" sz="2000" b="1" u="sng" dirty="0"/>
              <a:t>Similarly</a:t>
            </a:r>
          </a:p>
          <a:p>
            <a:pPr lvl="1"/>
            <a:r>
              <a:rPr lang="en-US" sz="2200" dirty="0"/>
              <a:t>If there are two algorithms for the same </a:t>
            </a:r>
            <a:r>
              <a:rPr lang="en-US" sz="2200" dirty="0" smtClean="0"/>
              <a:t>problem</a:t>
            </a:r>
          </a:p>
          <a:p>
            <a:pPr lvl="1"/>
            <a:r>
              <a:rPr lang="en-US" sz="2200" dirty="0" smtClean="0">
                <a:solidFill>
                  <a:srgbClr val="0070C0"/>
                </a:solidFill>
                <a:latin typeface="Times New Roman" panose="02020603050405020304" pitchFamily="18" charset="0"/>
                <a:cs typeface="Times New Roman" panose="02020603050405020304" pitchFamily="18" charset="0"/>
              </a:rPr>
              <a:t>T</a:t>
            </a:r>
            <a:r>
              <a:rPr lang="en-US" sz="2200" dirty="0" smtClean="0">
                <a:solidFill>
                  <a:srgbClr val="0070C0"/>
                </a:solidFill>
              </a:rPr>
              <a:t>(</a:t>
            </a:r>
            <a:r>
              <a:rPr lang="en-US" sz="2200" dirty="0" smtClean="0">
                <a:solidFill>
                  <a:srgbClr val="0070C0"/>
                </a:solidFill>
                <a:latin typeface="Times New Roman" panose="02020603050405020304" pitchFamily="18" charset="0"/>
                <a:cs typeface="Times New Roman" panose="02020603050405020304" pitchFamily="18" charset="0"/>
              </a:rPr>
              <a:t>n</a:t>
            </a:r>
            <a:r>
              <a:rPr lang="en-US" sz="2200" dirty="0" smtClean="0">
                <a:solidFill>
                  <a:srgbClr val="0070C0"/>
                </a:solidFill>
              </a:rPr>
              <a:t>) = 100</a:t>
            </a:r>
            <a:r>
              <a:rPr lang="en-US" sz="2200" dirty="0" smtClean="0">
                <a:solidFill>
                  <a:srgbClr val="0070C0"/>
                </a:solidFill>
                <a:latin typeface="Times New Roman" panose="02020603050405020304" pitchFamily="18" charset="0"/>
                <a:cs typeface="Times New Roman" panose="02020603050405020304" pitchFamily="18" charset="0"/>
              </a:rPr>
              <a:t>n</a:t>
            </a:r>
            <a:r>
              <a:rPr lang="en-US" sz="2200" dirty="0" smtClean="0">
                <a:solidFill>
                  <a:srgbClr val="0070C0"/>
                </a:solidFill>
              </a:rPr>
              <a:t> </a:t>
            </a:r>
            <a:r>
              <a:rPr lang="en-US" sz="2200" dirty="0"/>
              <a:t>for </a:t>
            </a:r>
            <a:r>
              <a:rPr lang="en-US" sz="2200" dirty="0" smtClean="0">
                <a:solidFill>
                  <a:srgbClr val="0070C0"/>
                </a:solidFill>
              </a:rPr>
              <a:t>Algorithm-1</a:t>
            </a:r>
            <a:r>
              <a:rPr lang="en-US" sz="2200" dirty="0" smtClean="0"/>
              <a:t> </a:t>
            </a:r>
          </a:p>
          <a:p>
            <a:pPr lvl="1"/>
            <a:r>
              <a:rPr lang="en-US" sz="2200" dirty="0" smtClean="0">
                <a:solidFill>
                  <a:srgbClr val="C00000"/>
                </a:solidFill>
              </a:rPr>
              <a:t>T(n) = 0.01</a:t>
            </a:r>
            <a:r>
              <a:rPr lang="en-US" sz="2200" dirty="0" smtClean="0">
                <a:solidFill>
                  <a:srgbClr val="C00000"/>
                </a:solidFill>
                <a:latin typeface="Times New Roman" panose="02020603050405020304" pitchFamily="18" charset="0"/>
                <a:cs typeface="Times New Roman" panose="02020603050405020304" pitchFamily="18" charset="0"/>
              </a:rPr>
              <a:t>n</a:t>
            </a:r>
            <a:r>
              <a:rPr lang="en-US" sz="2200" baseline="30000" dirty="0" smtClean="0">
                <a:solidFill>
                  <a:srgbClr val="C00000"/>
                </a:solidFill>
              </a:rPr>
              <a:t>2</a:t>
            </a:r>
            <a:r>
              <a:rPr lang="en-US" sz="2200" dirty="0" smtClean="0"/>
              <a:t> </a:t>
            </a:r>
            <a:r>
              <a:rPr lang="en-US" sz="2200" dirty="0"/>
              <a:t>for </a:t>
            </a:r>
            <a:r>
              <a:rPr lang="en-US" sz="2200" dirty="0" smtClean="0">
                <a:solidFill>
                  <a:srgbClr val="C00000"/>
                </a:solidFill>
              </a:rPr>
              <a:t>Algorithm-2</a:t>
            </a:r>
            <a:endParaRPr lang="en-US" sz="2200" dirty="0">
              <a:solidFill>
                <a:srgbClr val="C00000"/>
              </a:solidFill>
            </a:endParaRPr>
          </a:p>
          <a:p>
            <a:pPr lvl="1"/>
            <a:r>
              <a:rPr lang="en-US" sz="2200" u="sng" dirty="0">
                <a:solidFill>
                  <a:srgbClr val="00B050"/>
                </a:solidFill>
              </a:rPr>
              <a:t>Algorithm-1 is more efficient </a:t>
            </a:r>
            <a:r>
              <a:rPr lang="en-US" sz="2200" dirty="0"/>
              <a:t>if</a:t>
            </a:r>
            <a:r>
              <a:rPr lang="en-US" sz="2200" dirty="0" smtClean="0"/>
              <a:t>:</a:t>
            </a:r>
            <a:endParaRPr lang="en-US" sz="2200" dirty="0"/>
          </a:p>
          <a:p>
            <a:pPr lvl="1"/>
            <a:r>
              <a:rPr lang="en-US" sz="2200" dirty="0"/>
              <a:t>Dividing both sides by </a:t>
            </a:r>
            <a:r>
              <a:rPr lang="en-US" sz="2200" b="1" u="sng" dirty="0"/>
              <a:t>0.01</a:t>
            </a:r>
            <a:r>
              <a:rPr lang="en-US" sz="2200" b="1" u="sng" dirty="0">
                <a:latin typeface="Times New Roman" panose="02020603050405020304" pitchFamily="18" charset="0"/>
                <a:cs typeface="Times New Roman" panose="02020603050405020304" pitchFamily="18" charset="0"/>
              </a:rPr>
              <a:t>n</a:t>
            </a:r>
            <a:r>
              <a:rPr lang="en-US" sz="2200" b="1" u="sng" dirty="0"/>
              <a:t> </a:t>
            </a:r>
            <a:r>
              <a:rPr lang="en-US" sz="2200" dirty="0"/>
              <a:t>yields:</a:t>
            </a:r>
          </a:p>
          <a:p>
            <a:pPr marL="0" indent="0">
              <a:buNone/>
            </a:pPr>
            <a:endParaRPr lang="en-US" dirty="0" smtClean="0"/>
          </a:p>
          <a:p>
            <a:r>
              <a:rPr lang="en-US" sz="2200" dirty="0" smtClean="0"/>
              <a:t>If </a:t>
            </a:r>
            <a:r>
              <a:rPr lang="en-US" sz="2200" dirty="0"/>
              <a:t>it takes </a:t>
            </a:r>
            <a:r>
              <a:rPr lang="en-US" sz="2200" b="1" u="sng" dirty="0"/>
              <a:t>longer to process the basic operation </a:t>
            </a:r>
            <a:r>
              <a:rPr lang="en-US" sz="2200" dirty="0"/>
              <a:t>in</a:t>
            </a:r>
            <a:r>
              <a:rPr lang="en-US" sz="2200" dirty="0">
                <a:solidFill>
                  <a:srgbClr val="00B050"/>
                </a:solidFill>
              </a:rPr>
              <a:t> </a:t>
            </a:r>
            <a:r>
              <a:rPr lang="en-US" sz="2200" dirty="0" smtClean="0">
                <a:solidFill>
                  <a:srgbClr val="0070C0"/>
                </a:solidFill>
              </a:rPr>
              <a:t>Algorithm-1</a:t>
            </a:r>
            <a:r>
              <a:rPr lang="en-US" sz="2200" dirty="0" smtClean="0">
                <a:solidFill>
                  <a:srgbClr val="00B050"/>
                </a:solidFill>
              </a:rPr>
              <a:t> </a:t>
            </a:r>
            <a:r>
              <a:rPr lang="en-US" sz="2200" dirty="0"/>
              <a:t>than</a:t>
            </a:r>
            <a:r>
              <a:rPr lang="en-US" sz="2200" dirty="0">
                <a:solidFill>
                  <a:srgbClr val="00B050"/>
                </a:solidFill>
              </a:rPr>
              <a:t> </a:t>
            </a:r>
            <a:r>
              <a:rPr lang="en-US" sz="2200" dirty="0" smtClean="0">
                <a:solidFill>
                  <a:srgbClr val="C00000"/>
                </a:solidFill>
              </a:rPr>
              <a:t>Algorithm-2</a:t>
            </a:r>
            <a:r>
              <a:rPr lang="en-US" sz="2200" dirty="0" smtClean="0"/>
              <a:t> </a:t>
            </a:r>
          </a:p>
          <a:p>
            <a:pPr lvl="1"/>
            <a:r>
              <a:rPr lang="en-US" sz="2200" dirty="0" smtClean="0"/>
              <a:t>there </a:t>
            </a:r>
            <a:r>
              <a:rPr lang="en-US" sz="2200" dirty="0"/>
              <a:t>is simply </a:t>
            </a:r>
            <a:r>
              <a:rPr lang="en-US" sz="2200" b="1" u="sng" dirty="0"/>
              <a:t>some larger value of </a:t>
            </a:r>
            <a:r>
              <a:rPr lang="en-US" sz="2200" b="1" i="1" u="sng" dirty="0">
                <a:latin typeface="Times New Roman" panose="02020603050405020304" pitchFamily="18" charset="0"/>
                <a:cs typeface="Times New Roman" panose="02020603050405020304" pitchFamily="18" charset="0"/>
              </a:rPr>
              <a:t>n</a:t>
            </a:r>
            <a:r>
              <a:rPr lang="en-US" sz="2200" b="1" u="sng" dirty="0"/>
              <a:t> </a:t>
            </a:r>
            <a:r>
              <a:rPr lang="en-US" sz="2200" dirty="0"/>
              <a:t>at which </a:t>
            </a:r>
            <a:r>
              <a:rPr lang="en-US" sz="2200" dirty="0">
                <a:solidFill>
                  <a:srgbClr val="0070C0"/>
                </a:solidFill>
              </a:rPr>
              <a:t>A</a:t>
            </a:r>
            <a:r>
              <a:rPr lang="en-US" sz="2200" dirty="0" smtClean="0">
                <a:solidFill>
                  <a:srgbClr val="0070C0"/>
                </a:solidFill>
              </a:rPr>
              <a:t>lgorithm-1</a:t>
            </a:r>
            <a:r>
              <a:rPr lang="en-US" sz="2200" dirty="0" smtClean="0">
                <a:solidFill>
                  <a:srgbClr val="7030A0"/>
                </a:solidFill>
              </a:rPr>
              <a:t> </a:t>
            </a:r>
            <a:r>
              <a:rPr lang="en-US" sz="2200" dirty="0"/>
              <a:t>becomes </a:t>
            </a:r>
            <a:r>
              <a:rPr lang="en-US" sz="2200" u="sng" dirty="0">
                <a:solidFill>
                  <a:srgbClr val="00B050"/>
                </a:solidFill>
              </a:rPr>
              <a:t>more efficient</a:t>
            </a:r>
            <a:endParaRPr lang="en-QA" sz="2200" u="sng" dirty="0">
              <a:solidFill>
                <a:srgbClr val="00B050"/>
              </a:solidFill>
            </a:endParaRPr>
          </a:p>
        </p:txBody>
      </p:sp>
      <p:sp>
        <p:nvSpPr>
          <p:cNvPr id="6" name="TextBox 5"/>
          <p:cNvSpPr txBox="1"/>
          <p:nvPr/>
        </p:nvSpPr>
        <p:spPr>
          <a:xfrm>
            <a:off x="5437238" y="4620666"/>
            <a:ext cx="2507227" cy="461665"/>
          </a:xfrm>
          <a:prstGeom prst="rect">
            <a:avLst/>
          </a:prstGeom>
          <a:solidFill>
            <a:srgbClr val="FFC000"/>
          </a:solidFill>
        </p:spPr>
        <p:txBody>
          <a:bodyPr wrap="square" rtlCol="0">
            <a:spAutoFit/>
          </a:bodyPr>
          <a:lstStyle/>
          <a:p>
            <a:r>
              <a:rPr lang="en-US" sz="2400" b="1" dirty="0" smtClean="0"/>
              <a:t>n </a:t>
            </a:r>
            <a:r>
              <a:rPr lang="tr-TR" sz="2400" b="1" dirty="0"/>
              <a:t>&gt; </a:t>
            </a:r>
            <a:r>
              <a:rPr lang="en-US" sz="2400" b="1" dirty="0" smtClean="0"/>
              <a:t>10,000</a:t>
            </a:r>
            <a:endParaRPr lang="tr-TR" sz="2400" b="1" dirty="0"/>
          </a:p>
        </p:txBody>
      </p:sp>
      <p:sp>
        <p:nvSpPr>
          <p:cNvPr id="7" name="TextBox 6"/>
          <p:cNvSpPr txBox="1"/>
          <p:nvPr/>
        </p:nvSpPr>
        <p:spPr>
          <a:xfrm>
            <a:off x="5437238" y="4037850"/>
            <a:ext cx="2507227" cy="461665"/>
          </a:xfrm>
          <a:prstGeom prst="rect">
            <a:avLst/>
          </a:prstGeom>
          <a:solidFill>
            <a:srgbClr val="FFC000"/>
          </a:solidFill>
        </p:spPr>
        <p:txBody>
          <a:bodyPr wrap="square" rtlCol="0">
            <a:spAutoFit/>
          </a:bodyPr>
          <a:lstStyle/>
          <a:p>
            <a:r>
              <a:rPr lang="en-US" sz="2400" b="1" dirty="0" smtClean="0"/>
              <a:t>0.01 n</a:t>
            </a:r>
            <a:r>
              <a:rPr lang="en-US" sz="2400" b="1" baseline="30000" dirty="0" smtClean="0"/>
              <a:t>2</a:t>
            </a:r>
            <a:r>
              <a:rPr lang="en-US" sz="2400" b="1" dirty="0" smtClean="0"/>
              <a:t>      </a:t>
            </a:r>
            <a:r>
              <a:rPr lang="tr-TR" sz="2400" b="1" dirty="0" smtClean="0"/>
              <a:t>&gt;  </a:t>
            </a:r>
            <a:r>
              <a:rPr lang="en-US" sz="2400" b="1" dirty="0" smtClean="0"/>
              <a:t> 100n  </a:t>
            </a:r>
            <a:endParaRPr lang="tr-TR" sz="2400" b="1" dirty="0"/>
          </a:p>
        </p:txBody>
      </p:sp>
    </p:spTree>
    <p:extLst>
      <p:ext uri="{BB962C8B-B14F-4D97-AF65-F5344CB8AC3E}">
        <p14:creationId xmlns:p14="http://schemas.microsoft.com/office/powerpoint/2010/main" val="247351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anim calcmode="lin" valueType="num">
                                      <p:cBhvr additive="base">
                                        <p:cTn id="53" dur="500" fill="hold"/>
                                        <p:tgtEl>
                                          <p:spTgt spid="6"/>
                                        </p:tgtEl>
                                        <p:attrNameLst>
                                          <p:attrName>ppt_x</p:attrName>
                                        </p:attrNameLst>
                                      </p:cBhvr>
                                      <p:tavLst>
                                        <p:tav tm="0">
                                          <p:val>
                                            <p:strVal val="#ppt_x"/>
                                          </p:val>
                                        </p:tav>
                                        <p:tav tm="100000">
                                          <p:val>
                                            <p:strVal val="#ppt_x"/>
                                          </p:val>
                                        </p:tav>
                                      </p:tavLst>
                                    </p:anim>
                                    <p:anim calcmode="lin" valueType="num">
                                      <p:cBhvr additive="base">
                                        <p:cTn id="5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11" end="11"/>
                                            </p:txEl>
                                          </p:spTgt>
                                        </p:tgtEl>
                                        <p:attrNameLst>
                                          <p:attrName>style.visibility</p:attrName>
                                        </p:attrNameLst>
                                      </p:cBhvr>
                                      <p:to>
                                        <p:strVal val="visible"/>
                                      </p:to>
                                    </p:set>
                                    <p:anim calcmode="lin" valueType="num">
                                      <p:cBhvr additive="base">
                                        <p:cTn id="5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12" end="12"/>
                                            </p:txEl>
                                          </p:spTgt>
                                        </p:tgtEl>
                                        <p:attrNameLst>
                                          <p:attrName>style.visibility</p:attrName>
                                        </p:attrNameLst>
                                      </p:cBhvr>
                                      <p:to>
                                        <p:strVal val="visible"/>
                                      </p:to>
                                    </p:set>
                                    <p:anim calcmode="lin" valueType="num">
                                      <p:cBhvr additive="base">
                                        <p:cTn id="6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167D1-08F6-0B40-A40D-6A9A5A7D49A6}"/>
              </a:ext>
            </a:extLst>
          </p:cNvPr>
          <p:cNvSpPr>
            <a:spLocks noGrp="1"/>
          </p:cNvSpPr>
          <p:nvPr>
            <p:ph type="title"/>
          </p:nvPr>
        </p:nvSpPr>
        <p:spPr>
          <a:xfrm>
            <a:off x="130277" y="0"/>
            <a:ext cx="10515600" cy="893520"/>
          </a:xfrm>
        </p:spPr>
        <p:txBody>
          <a:bodyPr/>
          <a:lstStyle/>
          <a:p>
            <a:r>
              <a:rPr lang="en-QA" dirty="0"/>
              <a:t>Order</a:t>
            </a:r>
          </a:p>
        </p:txBody>
      </p:sp>
      <p:sp>
        <p:nvSpPr>
          <p:cNvPr id="3" name="Content Placeholder 2">
            <a:extLst>
              <a:ext uri="{FF2B5EF4-FFF2-40B4-BE49-F238E27FC236}">
                <a16:creationId xmlns:a16="http://schemas.microsoft.com/office/drawing/2014/main" id="{83E2E9FC-9267-1A40-B508-B1F6AAF52878}"/>
              </a:ext>
            </a:extLst>
          </p:cNvPr>
          <p:cNvSpPr>
            <a:spLocks noGrp="1"/>
          </p:cNvSpPr>
          <p:nvPr>
            <p:ph idx="1"/>
          </p:nvPr>
        </p:nvSpPr>
        <p:spPr>
          <a:xfrm>
            <a:off x="287593" y="1258646"/>
            <a:ext cx="10940845" cy="4918317"/>
          </a:xfrm>
        </p:spPr>
        <p:txBody>
          <a:bodyPr/>
          <a:lstStyle/>
          <a:p>
            <a:pPr marL="457200" indent="-457200">
              <a:buFont typeface="+mj-lt"/>
              <a:buAutoNum type="arabicPeriod"/>
            </a:pPr>
            <a:r>
              <a:rPr lang="en-US" b="1" u="sng" dirty="0">
                <a:solidFill>
                  <a:srgbClr val="0070C0"/>
                </a:solidFill>
              </a:rPr>
              <a:t>Linear-time algorithms</a:t>
            </a:r>
          </a:p>
          <a:p>
            <a:pPr lvl="1"/>
            <a:r>
              <a:rPr lang="en-US" dirty="0"/>
              <a:t>Algorithms with time complexities such as </a:t>
            </a:r>
            <a:r>
              <a:rPr lang="en-US" i="1" dirty="0">
                <a:solidFill>
                  <a:srgbClr val="0070C0"/>
                </a:solidFill>
                <a:latin typeface="Times New Roman" panose="02020603050405020304" pitchFamily="18" charset="0"/>
                <a:cs typeface="Times New Roman" panose="02020603050405020304" pitchFamily="18" charset="0"/>
              </a:rPr>
              <a:t>n</a:t>
            </a:r>
            <a:r>
              <a:rPr lang="en-US" dirty="0">
                <a:solidFill>
                  <a:srgbClr val="0070C0"/>
                </a:solidFill>
              </a:rPr>
              <a:t> </a:t>
            </a:r>
            <a:r>
              <a:rPr lang="en-US" dirty="0"/>
              <a:t>and </a:t>
            </a:r>
            <a:r>
              <a:rPr lang="en-US" dirty="0">
                <a:solidFill>
                  <a:srgbClr val="0070C0"/>
                </a:solidFill>
              </a:rPr>
              <a:t>100</a:t>
            </a:r>
            <a:r>
              <a:rPr lang="en-US" i="1" dirty="0">
                <a:solidFill>
                  <a:srgbClr val="0070C0"/>
                </a:solidFill>
                <a:latin typeface="Times New Roman" panose="02020603050405020304" pitchFamily="18" charset="0"/>
                <a:cs typeface="Times New Roman" panose="02020603050405020304" pitchFamily="18" charset="0"/>
              </a:rPr>
              <a:t>n</a:t>
            </a:r>
          </a:p>
          <a:p>
            <a:pPr lvl="1"/>
            <a:r>
              <a:rPr lang="en-US" dirty="0"/>
              <a:t>because their time complexities are </a:t>
            </a:r>
            <a:r>
              <a:rPr lang="en-US" dirty="0">
                <a:solidFill>
                  <a:srgbClr val="0070C0"/>
                </a:solidFill>
              </a:rPr>
              <a:t>linear</a:t>
            </a:r>
            <a:r>
              <a:rPr lang="en-US" dirty="0"/>
              <a:t> in the input size </a:t>
            </a:r>
            <a:r>
              <a:rPr lang="en-US" i="1" dirty="0">
                <a:solidFill>
                  <a:srgbClr val="0070C0"/>
                </a:solidFill>
                <a:latin typeface="Times New Roman" panose="02020603050405020304" pitchFamily="18" charset="0"/>
                <a:cs typeface="Times New Roman" panose="02020603050405020304" pitchFamily="18" charset="0"/>
              </a:rPr>
              <a:t>n</a:t>
            </a:r>
          </a:p>
          <a:p>
            <a:pPr marL="457200" indent="-457200">
              <a:buFont typeface="+mj-lt"/>
              <a:buAutoNum type="arabicPeriod"/>
            </a:pPr>
            <a:endParaRPr lang="en-US" dirty="0"/>
          </a:p>
          <a:p>
            <a:pPr marL="457200" indent="-457200">
              <a:buFont typeface="+mj-lt"/>
              <a:buAutoNum type="arabicPeriod"/>
            </a:pPr>
            <a:r>
              <a:rPr lang="en-US" b="1" u="sng" dirty="0">
                <a:solidFill>
                  <a:srgbClr val="C00000"/>
                </a:solidFill>
              </a:rPr>
              <a:t>Quadratic-time algorithms</a:t>
            </a:r>
          </a:p>
          <a:p>
            <a:pPr lvl="1"/>
            <a:r>
              <a:rPr lang="en-US" dirty="0"/>
              <a:t>Algorithms with time complexities such as </a:t>
            </a:r>
            <a:r>
              <a:rPr lang="en-US" i="1" dirty="0">
                <a:solidFill>
                  <a:srgbClr val="C00000"/>
                </a:solidFill>
                <a:latin typeface="Times New Roman" panose="02020603050405020304" pitchFamily="18" charset="0"/>
                <a:cs typeface="Times New Roman" panose="02020603050405020304" pitchFamily="18" charset="0"/>
              </a:rPr>
              <a:t>n</a:t>
            </a:r>
            <a:r>
              <a:rPr lang="en-US" baseline="30000" dirty="0">
                <a:solidFill>
                  <a:srgbClr val="C00000"/>
                </a:solidFill>
              </a:rPr>
              <a:t>2</a:t>
            </a:r>
            <a:r>
              <a:rPr lang="en-US" dirty="0"/>
              <a:t> or </a:t>
            </a:r>
            <a:r>
              <a:rPr lang="en-US" dirty="0">
                <a:solidFill>
                  <a:srgbClr val="C00000"/>
                </a:solidFill>
              </a:rPr>
              <a:t>0.01</a:t>
            </a:r>
            <a:r>
              <a:rPr lang="en-US" i="1" dirty="0">
                <a:solidFill>
                  <a:srgbClr val="C00000"/>
                </a:solidFill>
                <a:latin typeface="Times New Roman" panose="02020603050405020304" pitchFamily="18" charset="0"/>
                <a:cs typeface="Times New Roman" panose="02020603050405020304" pitchFamily="18" charset="0"/>
              </a:rPr>
              <a:t> n</a:t>
            </a:r>
            <a:r>
              <a:rPr lang="en-US" baseline="30000" dirty="0">
                <a:solidFill>
                  <a:srgbClr val="C00000"/>
                </a:solidFill>
              </a:rPr>
              <a:t>2</a:t>
            </a:r>
            <a:endParaRPr lang="en-US" dirty="0">
              <a:solidFill>
                <a:srgbClr val="C00000"/>
              </a:solidFill>
            </a:endParaRPr>
          </a:p>
          <a:p>
            <a:pPr lvl="1"/>
            <a:r>
              <a:rPr lang="en-US" dirty="0"/>
              <a:t>because their time complexities are </a:t>
            </a:r>
            <a:r>
              <a:rPr lang="en-US" dirty="0">
                <a:solidFill>
                  <a:srgbClr val="C00000"/>
                </a:solidFill>
              </a:rPr>
              <a:t>quadratic</a:t>
            </a:r>
            <a:r>
              <a:rPr lang="en-US" dirty="0"/>
              <a:t> in the input size </a:t>
            </a:r>
            <a:r>
              <a:rPr lang="en-US" i="1" dirty="0" smtClean="0">
                <a:solidFill>
                  <a:srgbClr val="C00000"/>
                </a:solidFill>
                <a:latin typeface="Times New Roman" panose="02020603050405020304" pitchFamily="18" charset="0"/>
                <a:cs typeface="Times New Roman" panose="02020603050405020304" pitchFamily="18" charset="0"/>
              </a:rPr>
              <a:t>n</a:t>
            </a:r>
            <a:endParaRPr lang="en-US" dirty="0">
              <a:solidFill>
                <a:srgbClr val="C00000"/>
              </a:solidFill>
            </a:endParaRPr>
          </a:p>
          <a:p>
            <a:pPr lvl="1"/>
            <a:endParaRPr lang="en-US" dirty="0"/>
          </a:p>
          <a:p>
            <a:pPr lvl="1"/>
            <a:endParaRPr lang="en-US" dirty="0" smtClean="0"/>
          </a:p>
          <a:p>
            <a:pPr marL="457200" lvl="1" indent="0">
              <a:buNone/>
            </a:pPr>
            <a:endParaRPr lang="en-US" dirty="0"/>
          </a:p>
          <a:p>
            <a:pPr marL="0" indent="0" algn="ctr">
              <a:buNone/>
            </a:pPr>
            <a:r>
              <a:rPr lang="en-US" sz="2200" dirty="0">
                <a:latin typeface="Times New Roman" panose="02020603050405020304" pitchFamily="18" charset="0"/>
                <a:cs typeface="Times New Roman" panose="02020603050405020304" pitchFamily="18" charset="0"/>
              </a:rPr>
              <a:t>“</a:t>
            </a:r>
            <a:r>
              <a:rPr lang="en-US" sz="2200" dirty="0">
                <a:solidFill>
                  <a:srgbClr val="0070C0"/>
                </a:solidFill>
                <a:latin typeface="Times New Roman" panose="02020603050405020304" pitchFamily="18" charset="0"/>
                <a:cs typeface="Times New Roman" panose="02020603050405020304" pitchFamily="18" charset="0"/>
              </a:rPr>
              <a:t>Any</a:t>
            </a:r>
            <a:r>
              <a:rPr lang="en-US" sz="2200" dirty="0">
                <a:latin typeface="Times New Roman" panose="02020603050405020304" pitchFamily="18" charset="0"/>
                <a:cs typeface="Times New Roman" panose="02020603050405020304" pitchFamily="18" charset="0"/>
              </a:rPr>
              <a:t> </a:t>
            </a:r>
            <a:r>
              <a:rPr lang="en-US" sz="2200" dirty="0">
                <a:solidFill>
                  <a:srgbClr val="0070C0"/>
                </a:solidFill>
                <a:latin typeface="Times New Roman" panose="02020603050405020304" pitchFamily="18" charset="0"/>
                <a:cs typeface="Times New Roman" panose="02020603050405020304" pitchFamily="18" charset="0"/>
              </a:rPr>
              <a:t>linear-time algorithm </a:t>
            </a:r>
            <a:r>
              <a:rPr lang="en-US" sz="2200" dirty="0">
                <a:latin typeface="Times New Roman" panose="02020603050405020304" pitchFamily="18" charset="0"/>
                <a:cs typeface="Times New Roman" panose="02020603050405020304" pitchFamily="18" charset="0"/>
              </a:rPr>
              <a:t>is eventually</a:t>
            </a:r>
            <a:r>
              <a:rPr lang="en-US" sz="2200" b="1" u="sng" dirty="0">
                <a:solidFill>
                  <a:srgbClr val="00B050"/>
                </a:solidFill>
                <a:latin typeface="Times New Roman" panose="02020603050405020304" pitchFamily="18" charset="0"/>
                <a:cs typeface="Times New Roman" panose="02020603050405020304" pitchFamily="18" charset="0"/>
              </a:rPr>
              <a:t> more efficient </a:t>
            </a:r>
            <a:r>
              <a:rPr lang="en-US" sz="2200" dirty="0">
                <a:latin typeface="Times New Roman" panose="02020603050405020304" pitchFamily="18" charset="0"/>
                <a:cs typeface="Times New Roman" panose="02020603050405020304" pitchFamily="18" charset="0"/>
              </a:rPr>
              <a:t>than any </a:t>
            </a:r>
            <a:r>
              <a:rPr lang="en-US" sz="2200" b="1" dirty="0">
                <a:solidFill>
                  <a:srgbClr val="C00000"/>
                </a:solidFill>
                <a:latin typeface="Times New Roman" panose="02020603050405020304" pitchFamily="18" charset="0"/>
                <a:cs typeface="Times New Roman" panose="02020603050405020304" pitchFamily="18" charset="0"/>
              </a:rPr>
              <a:t>quadratic-time algorithm</a:t>
            </a:r>
            <a:r>
              <a:rPr lang="en-US" sz="2200" dirty="0">
                <a:latin typeface="Times New Roman" panose="02020603050405020304" pitchFamily="18" charset="0"/>
                <a:cs typeface="Times New Roman" panose="02020603050405020304" pitchFamily="18" charset="0"/>
              </a:rPr>
              <a:t>”</a:t>
            </a:r>
            <a:endParaRPr lang="en-QA"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491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 calcmode="lin" valueType="num">
                                      <p:cBhvr additive="base">
                                        <p:cTn id="3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268E4-2172-014C-BADB-60E4786C1519}"/>
              </a:ext>
            </a:extLst>
          </p:cNvPr>
          <p:cNvSpPr>
            <a:spLocks noGrp="1"/>
          </p:cNvSpPr>
          <p:nvPr>
            <p:ph type="title"/>
          </p:nvPr>
        </p:nvSpPr>
        <p:spPr>
          <a:xfrm>
            <a:off x="0" y="0"/>
            <a:ext cx="10515600" cy="698090"/>
          </a:xfrm>
        </p:spPr>
        <p:txBody>
          <a:bodyPr/>
          <a:lstStyle/>
          <a:p>
            <a:r>
              <a:rPr lang="en-US" dirty="0" smtClean="0"/>
              <a:t>Quadratic Functions</a:t>
            </a:r>
            <a:endParaRPr lang="en-QA" dirty="0"/>
          </a:p>
        </p:txBody>
      </p:sp>
      <p:sp>
        <p:nvSpPr>
          <p:cNvPr id="3" name="Content Placeholder 2">
            <a:extLst>
              <a:ext uri="{FF2B5EF4-FFF2-40B4-BE49-F238E27FC236}">
                <a16:creationId xmlns:a16="http://schemas.microsoft.com/office/drawing/2014/main" id="{1F808582-6D71-F94A-8E18-D62D574A5E07}"/>
              </a:ext>
            </a:extLst>
          </p:cNvPr>
          <p:cNvSpPr>
            <a:spLocks noGrp="1"/>
          </p:cNvSpPr>
          <p:nvPr>
            <p:ph idx="1"/>
          </p:nvPr>
        </p:nvSpPr>
        <p:spPr>
          <a:xfrm>
            <a:off x="415412" y="934181"/>
            <a:ext cx="10515600" cy="5599354"/>
          </a:xfrm>
        </p:spPr>
        <p:txBody>
          <a:bodyPr>
            <a:normAutofit/>
          </a:bodyPr>
          <a:lstStyle/>
          <a:p>
            <a:pPr marL="0" indent="0">
              <a:buNone/>
            </a:pPr>
            <a:r>
              <a:rPr lang="en-US" b="1" dirty="0" smtClean="0">
                <a:solidFill>
                  <a:srgbClr val="7030A0"/>
                </a:solidFill>
              </a:rPr>
              <a:t>2.a. </a:t>
            </a:r>
            <a:r>
              <a:rPr lang="en-US" b="1" u="sng" dirty="0" smtClean="0">
                <a:solidFill>
                  <a:srgbClr val="7030A0"/>
                </a:solidFill>
              </a:rPr>
              <a:t>Pure </a:t>
            </a:r>
            <a:r>
              <a:rPr lang="en-US" b="1" u="sng" dirty="0">
                <a:solidFill>
                  <a:srgbClr val="7030A0"/>
                </a:solidFill>
              </a:rPr>
              <a:t>quadratic </a:t>
            </a:r>
            <a:r>
              <a:rPr lang="en-US" dirty="0"/>
              <a:t>functions</a:t>
            </a:r>
          </a:p>
          <a:p>
            <a:pPr lvl="1"/>
            <a:r>
              <a:rPr lang="en-US" dirty="0"/>
              <a:t>contain </a:t>
            </a:r>
            <a:r>
              <a:rPr lang="en-US" b="1" u="sng" dirty="0">
                <a:solidFill>
                  <a:srgbClr val="0070C0"/>
                </a:solidFill>
              </a:rPr>
              <a:t>no linear term </a:t>
            </a:r>
            <a:r>
              <a:rPr lang="en-US" dirty="0"/>
              <a:t>such as   </a:t>
            </a:r>
            <a:r>
              <a:rPr lang="en-US" b="1" dirty="0"/>
              <a:t>5</a:t>
            </a:r>
            <a:r>
              <a:rPr lang="en-US" b="1" i="1" dirty="0">
                <a:latin typeface="Times New Roman" panose="02020603050405020304" pitchFamily="18" charset="0"/>
                <a:cs typeface="Times New Roman" panose="02020603050405020304" pitchFamily="18" charset="0"/>
              </a:rPr>
              <a:t>n</a:t>
            </a:r>
            <a:r>
              <a:rPr lang="en-US" b="1" baseline="30000" dirty="0"/>
              <a:t>2</a:t>
            </a:r>
            <a:r>
              <a:rPr lang="en-US" b="1" dirty="0"/>
              <a:t> </a:t>
            </a:r>
            <a:r>
              <a:rPr lang="en-US" dirty="0"/>
              <a:t>and</a:t>
            </a:r>
            <a:r>
              <a:rPr lang="en-US" b="1" dirty="0"/>
              <a:t> 5</a:t>
            </a:r>
            <a:r>
              <a:rPr lang="en-US" b="1" i="1" dirty="0">
                <a:latin typeface="Times New Roman" panose="02020603050405020304" pitchFamily="18" charset="0"/>
                <a:cs typeface="Times New Roman" panose="02020603050405020304" pitchFamily="18" charset="0"/>
              </a:rPr>
              <a:t>n</a:t>
            </a:r>
            <a:r>
              <a:rPr lang="en-US" b="1" baseline="30000" dirty="0"/>
              <a:t>2</a:t>
            </a:r>
            <a:r>
              <a:rPr lang="en-US" b="1" dirty="0"/>
              <a:t> + </a:t>
            </a:r>
            <a:r>
              <a:rPr lang="en-US" b="1" dirty="0" smtClean="0"/>
              <a:t>100</a:t>
            </a:r>
          </a:p>
          <a:p>
            <a:pPr marL="0" indent="0">
              <a:buNone/>
            </a:pPr>
            <a:r>
              <a:rPr lang="en-US" b="1" dirty="0" smtClean="0">
                <a:solidFill>
                  <a:srgbClr val="FFC000"/>
                </a:solidFill>
              </a:rPr>
              <a:t>2.b. </a:t>
            </a:r>
            <a:r>
              <a:rPr lang="en-US" b="1" u="sng" dirty="0" smtClean="0">
                <a:solidFill>
                  <a:srgbClr val="FFC000"/>
                </a:solidFill>
              </a:rPr>
              <a:t>Complete quadratic </a:t>
            </a:r>
            <a:r>
              <a:rPr lang="en-US" dirty="0" smtClean="0"/>
              <a:t>functions</a:t>
            </a:r>
          </a:p>
          <a:p>
            <a:pPr lvl="1"/>
            <a:r>
              <a:rPr lang="en-US" dirty="0" smtClean="0"/>
              <a:t>contain </a:t>
            </a:r>
            <a:r>
              <a:rPr lang="en-US" dirty="0"/>
              <a:t>a </a:t>
            </a:r>
            <a:r>
              <a:rPr lang="en-US" b="1" u="sng" dirty="0">
                <a:solidFill>
                  <a:srgbClr val="0070C0"/>
                </a:solidFill>
              </a:rPr>
              <a:t>linear term </a:t>
            </a:r>
            <a:r>
              <a:rPr lang="en-US" dirty="0"/>
              <a:t>such as   </a:t>
            </a:r>
            <a:r>
              <a:rPr lang="en-US" b="1" dirty="0"/>
              <a:t>0.1</a:t>
            </a:r>
            <a:r>
              <a:rPr lang="en-US" b="1" i="1" dirty="0">
                <a:latin typeface="Times New Roman" panose="02020603050405020304" pitchFamily="18" charset="0"/>
                <a:cs typeface="Times New Roman" panose="02020603050405020304" pitchFamily="18" charset="0"/>
              </a:rPr>
              <a:t>n</a:t>
            </a:r>
            <a:r>
              <a:rPr lang="en-US" b="1" baseline="30000" dirty="0"/>
              <a:t>2</a:t>
            </a:r>
            <a:r>
              <a:rPr lang="en-US" b="1" dirty="0"/>
              <a:t> + </a:t>
            </a:r>
            <a:r>
              <a:rPr lang="en-US" b="1" i="1" dirty="0">
                <a:latin typeface="Times New Roman" panose="02020603050405020304" pitchFamily="18" charset="0"/>
                <a:cs typeface="Times New Roman" panose="02020603050405020304" pitchFamily="18" charset="0"/>
              </a:rPr>
              <a:t>n</a:t>
            </a:r>
            <a:r>
              <a:rPr lang="en-US" b="1" dirty="0"/>
              <a:t> + 100</a:t>
            </a:r>
          </a:p>
          <a:p>
            <a:endParaRPr lang="en-US" dirty="0"/>
          </a:p>
          <a:p>
            <a:endParaRPr lang="en-US" dirty="0"/>
          </a:p>
          <a:p>
            <a:endParaRPr lang="en-US" dirty="0"/>
          </a:p>
          <a:p>
            <a:endParaRPr lang="en-US" dirty="0"/>
          </a:p>
          <a:p>
            <a:endParaRPr lang="en-US" dirty="0"/>
          </a:p>
          <a:p>
            <a:endParaRPr lang="en-US" dirty="0"/>
          </a:p>
          <a:p>
            <a:r>
              <a:rPr lang="en-US" dirty="0"/>
              <a:t>Eventually, the quadratic term </a:t>
            </a:r>
            <a:r>
              <a:rPr lang="en-US" u="sng" dirty="0">
                <a:solidFill>
                  <a:srgbClr val="0070C0"/>
                </a:solidFill>
              </a:rPr>
              <a:t>dominates</a:t>
            </a:r>
            <a:r>
              <a:rPr lang="en-US" dirty="0"/>
              <a:t> this function</a:t>
            </a:r>
          </a:p>
          <a:p>
            <a:r>
              <a:rPr lang="en-US" dirty="0"/>
              <a:t>A</a:t>
            </a:r>
            <a:r>
              <a:rPr lang="en-US" dirty="0" smtClean="0"/>
              <a:t>lthough </a:t>
            </a:r>
            <a:r>
              <a:rPr lang="en-US" dirty="0"/>
              <a:t>the function is </a:t>
            </a:r>
            <a:r>
              <a:rPr lang="en-US" u="sng" dirty="0">
                <a:solidFill>
                  <a:srgbClr val="C00000"/>
                </a:solidFill>
              </a:rPr>
              <a:t>not a pure quadratic </a:t>
            </a:r>
            <a:r>
              <a:rPr lang="en-US" u="sng" dirty="0" smtClean="0">
                <a:solidFill>
                  <a:srgbClr val="C00000"/>
                </a:solidFill>
              </a:rPr>
              <a:t>function</a:t>
            </a:r>
          </a:p>
          <a:p>
            <a:pPr lvl="1"/>
            <a:r>
              <a:rPr lang="en-US" sz="2400" dirty="0" smtClean="0"/>
              <a:t>we </a:t>
            </a:r>
            <a:r>
              <a:rPr lang="en-US" sz="2400" dirty="0"/>
              <a:t>can classify it with the </a:t>
            </a:r>
            <a:r>
              <a:rPr lang="en-US" sz="2400" u="sng" dirty="0">
                <a:solidFill>
                  <a:srgbClr val="7030A0"/>
                </a:solidFill>
              </a:rPr>
              <a:t>pure quadratic </a:t>
            </a:r>
            <a:r>
              <a:rPr lang="en-US" sz="2400" u="sng" dirty="0" smtClean="0">
                <a:solidFill>
                  <a:srgbClr val="7030A0"/>
                </a:solidFill>
              </a:rPr>
              <a:t>functions</a:t>
            </a:r>
            <a:endParaRPr lang="en-US" sz="2400" u="sng" dirty="0">
              <a:solidFill>
                <a:srgbClr val="7030A0"/>
              </a:solidFill>
            </a:endParaRPr>
          </a:p>
        </p:txBody>
      </p:sp>
      <p:graphicFrame>
        <p:nvGraphicFramePr>
          <p:cNvPr id="6" name="Table 6">
            <a:extLst>
              <a:ext uri="{FF2B5EF4-FFF2-40B4-BE49-F238E27FC236}">
                <a16:creationId xmlns:a16="http://schemas.microsoft.com/office/drawing/2014/main" id="{8D517685-4DEA-6140-A773-8F210C9310F4}"/>
              </a:ext>
            </a:extLst>
          </p:cNvPr>
          <p:cNvGraphicFramePr>
            <a:graphicFrameLocks noGrp="1"/>
          </p:cNvGraphicFramePr>
          <p:nvPr>
            <p:extLst>
              <p:ext uri="{D42A27DB-BD31-4B8C-83A1-F6EECF244321}">
                <p14:modId xmlns:p14="http://schemas.microsoft.com/office/powerpoint/2010/main" val="4023288066"/>
              </p:ext>
            </p:extLst>
          </p:nvPr>
        </p:nvGraphicFramePr>
        <p:xfrm>
          <a:off x="444515" y="2710031"/>
          <a:ext cx="6963152" cy="2225040"/>
        </p:xfrm>
        <a:graphic>
          <a:graphicData uri="http://schemas.openxmlformats.org/drawingml/2006/table">
            <a:tbl>
              <a:tblPr firstRow="1" bandRow="1">
                <a:tableStyleId>{5C22544A-7EE6-4342-B048-85BDC9FD1C3A}</a:tableStyleId>
              </a:tblPr>
              <a:tblGrid>
                <a:gridCol w="2180576">
                  <a:extLst>
                    <a:ext uri="{9D8B030D-6E8A-4147-A177-3AD203B41FA5}">
                      <a16:colId xmlns:a16="http://schemas.microsoft.com/office/drawing/2014/main" val="1093411930"/>
                    </a:ext>
                  </a:extLst>
                </a:gridCol>
                <a:gridCol w="2182504">
                  <a:extLst>
                    <a:ext uri="{9D8B030D-6E8A-4147-A177-3AD203B41FA5}">
                      <a16:colId xmlns:a16="http://schemas.microsoft.com/office/drawing/2014/main" val="3922624215"/>
                    </a:ext>
                  </a:extLst>
                </a:gridCol>
                <a:gridCol w="2600072">
                  <a:extLst>
                    <a:ext uri="{9D8B030D-6E8A-4147-A177-3AD203B41FA5}">
                      <a16:colId xmlns:a16="http://schemas.microsoft.com/office/drawing/2014/main" val="3311130801"/>
                    </a:ext>
                  </a:extLst>
                </a:gridCol>
              </a:tblGrid>
              <a:tr h="370840">
                <a:tc>
                  <a:txBody>
                    <a:bodyPr/>
                    <a:lstStyle/>
                    <a:p>
                      <a:pPr algn="ctr"/>
                      <a:r>
                        <a:rPr lang="en-US" sz="1600" i="1" dirty="0">
                          <a:effectLst/>
                          <a:latin typeface="Times New Roman" panose="02020603050405020304" pitchFamily="18" charset="0"/>
                          <a:cs typeface="Times New Roman" panose="02020603050405020304" pitchFamily="18" charset="0"/>
                        </a:rPr>
                        <a:t>n</a:t>
                      </a:r>
                      <a:r>
                        <a:rPr lang="en-US" sz="1600" dirty="0">
                          <a:effectLst/>
                          <a:latin typeface="Calibri" panose="020F0502020204030204" pitchFamily="34" charset="0"/>
                        </a:rPr>
                        <a:t> </a:t>
                      </a:r>
                      <a:endParaRPr lang="en-US" dirty="0">
                        <a:effectLst/>
                      </a:endParaRPr>
                    </a:p>
                  </a:txBody>
                  <a:tcPr anchor="ctr"/>
                </a:tc>
                <a:tc>
                  <a:txBody>
                    <a:bodyPr/>
                    <a:lstStyle/>
                    <a:p>
                      <a:pPr algn="ctr"/>
                      <a:r>
                        <a:rPr lang="en-US" sz="1600" dirty="0">
                          <a:solidFill>
                            <a:srgbClr val="C00000"/>
                          </a:solidFill>
                          <a:effectLst/>
                          <a:latin typeface="Calibri" panose="020F0502020204030204" pitchFamily="34" charset="0"/>
                        </a:rPr>
                        <a:t>0.1</a:t>
                      </a:r>
                      <a:r>
                        <a:rPr lang="en-US" sz="1600" i="1" dirty="0">
                          <a:solidFill>
                            <a:srgbClr val="C00000"/>
                          </a:solidFill>
                          <a:effectLst/>
                          <a:latin typeface="Times New Roman" panose="02020603050405020304" pitchFamily="18" charset="0"/>
                          <a:cs typeface="Times New Roman" panose="02020603050405020304" pitchFamily="18" charset="0"/>
                        </a:rPr>
                        <a:t>n</a:t>
                      </a:r>
                      <a:r>
                        <a:rPr lang="en-US" sz="1100" baseline="30000" dirty="0">
                          <a:solidFill>
                            <a:srgbClr val="C00000"/>
                          </a:solidFill>
                          <a:effectLst/>
                          <a:latin typeface="Calibri" panose="020F0502020204030204" pitchFamily="34" charset="0"/>
                        </a:rPr>
                        <a:t>2</a:t>
                      </a:r>
                      <a:r>
                        <a:rPr lang="en-US" sz="1100" dirty="0">
                          <a:solidFill>
                            <a:srgbClr val="C00000"/>
                          </a:solidFill>
                          <a:effectLst/>
                          <a:latin typeface="Calibri" panose="020F0502020204030204" pitchFamily="34" charset="0"/>
                        </a:rPr>
                        <a:t> </a:t>
                      </a:r>
                      <a:endParaRPr lang="en-US" dirty="0">
                        <a:solidFill>
                          <a:srgbClr val="C00000"/>
                        </a:solidFill>
                        <a:effectLst/>
                      </a:endParaRPr>
                    </a:p>
                  </a:txBody>
                  <a:tcPr anchor="ctr"/>
                </a:tc>
                <a:tc>
                  <a:txBody>
                    <a:bodyPr/>
                    <a:lstStyle/>
                    <a:p>
                      <a:pPr algn="ctr"/>
                      <a:r>
                        <a:rPr lang="en-US" sz="1600" dirty="0">
                          <a:effectLst/>
                          <a:latin typeface="Calibri" panose="020F0502020204030204" pitchFamily="34" charset="0"/>
                        </a:rPr>
                        <a:t>0.1</a:t>
                      </a:r>
                      <a:r>
                        <a:rPr lang="en-US" sz="1600" i="1" dirty="0">
                          <a:effectLst/>
                          <a:latin typeface="Times New Roman" panose="02020603050405020304" pitchFamily="18" charset="0"/>
                          <a:cs typeface="Times New Roman" panose="02020603050405020304" pitchFamily="18" charset="0"/>
                        </a:rPr>
                        <a:t>n</a:t>
                      </a:r>
                      <a:r>
                        <a:rPr lang="en-US" sz="1100" baseline="30000" dirty="0">
                          <a:effectLst/>
                          <a:latin typeface="Calibri" panose="020F0502020204030204" pitchFamily="34" charset="0"/>
                        </a:rPr>
                        <a:t>2</a:t>
                      </a:r>
                      <a:r>
                        <a:rPr lang="en-US" sz="1100" dirty="0">
                          <a:effectLst/>
                          <a:latin typeface="Calibri" panose="020F0502020204030204" pitchFamily="34" charset="0"/>
                        </a:rPr>
                        <a:t> </a:t>
                      </a:r>
                      <a:r>
                        <a:rPr lang="en-US" sz="1600" dirty="0">
                          <a:effectLst/>
                          <a:latin typeface="Calibri" panose="020F0502020204030204" pitchFamily="34" charset="0"/>
                        </a:rPr>
                        <a:t>+ </a:t>
                      </a:r>
                      <a:r>
                        <a:rPr lang="en-US" sz="1600" i="1" dirty="0">
                          <a:effectLst/>
                          <a:latin typeface="Times New Roman" panose="02020603050405020304" pitchFamily="18" charset="0"/>
                          <a:cs typeface="Times New Roman" panose="02020603050405020304" pitchFamily="18" charset="0"/>
                        </a:rPr>
                        <a:t>n</a:t>
                      </a:r>
                      <a:r>
                        <a:rPr lang="en-US" sz="1600" dirty="0">
                          <a:effectLst/>
                          <a:latin typeface="Calibri" panose="020F0502020204030204" pitchFamily="34" charset="0"/>
                        </a:rPr>
                        <a:t> + 100 </a:t>
                      </a:r>
                      <a:endParaRPr lang="en-US" dirty="0">
                        <a:effectLst/>
                      </a:endParaRPr>
                    </a:p>
                  </a:txBody>
                  <a:tcPr anchor="ctr"/>
                </a:tc>
                <a:extLst>
                  <a:ext uri="{0D108BD9-81ED-4DB2-BD59-A6C34878D82A}">
                    <a16:rowId xmlns:a16="http://schemas.microsoft.com/office/drawing/2014/main" val="1762670064"/>
                  </a:ext>
                </a:extLst>
              </a:tr>
              <a:tr h="370840">
                <a:tc>
                  <a:txBody>
                    <a:bodyPr/>
                    <a:lstStyle/>
                    <a:p>
                      <a:pPr algn="ctr"/>
                      <a:r>
                        <a:rPr lang="en-QA" dirty="0"/>
                        <a:t>10</a:t>
                      </a:r>
                    </a:p>
                  </a:txBody>
                  <a:tcPr/>
                </a:tc>
                <a:tc>
                  <a:txBody>
                    <a:bodyPr/>
                    <a:lstStyle/>
                    <a:p>
                      <a:pPr algn="ctr"/>
                      <a:r>
                        <a:rPr lang="en-QA" dirty="0"/>
                        <a:t>10</a:t>
                      </a:r>
                    </a:p>
                  </a:txBody>
                  <a:tcPr/>
                </a:tc>
                <a:tc>
                  <a:txBody>
                    <a:bodyPr/>
                    <a:lstStyle/>
                    <a:p>
                      <a:pPr algn="ctr"/>
                      <a:r>
                        <a:rPr lang="en-QA" dirty="0"/>
                        <a:t>120</a:t>
                      </a:r>
                    </a:p>
                  </a:txBody>
                  <a:tcPr/>
                </a:tc>
                <a:extLst>
                  <a:ext uri="{0D108BD9-81ED-4DB2-BD59-A6C34878D82A}">
                    <a16:rowId xmlns:a16="http://schemas.microsoft.com/office/drawing/2014/main" val="4024982768"/>
                  </a:ext>
                </a:extLst>
              </a:tr>
              <a:tr h="370840">
                <a:tc>
                  <a:txBody>
                    <a:bodyPr/>
                    <a:lstStyle/>
                    <a:p>
                      <a:pPr algn="ctr"/>
                      <a:r>
                        <a:rPr lang="en-QA" dirty="0"/>
                        <a:t>20</a:t>
                      </a:r>
                    </a:p>
                  </a:txBody>
                  <a:tcPr/>
                </a:tc>
                <a:tc>
                  <a:txBody>
                    <a:bodyPr/>
                    <a:lstStyle/>
                    <a:p>
                      <a:pPr algn="ctr"/>
                      <a:r>
                        <a:rPr lang="en-QA" dirty="0"/>
                        <a:t>40</a:t>
                      </a:r>
                    </a:p>
                  </a:txBody>
                  <a:tcPr/>
                </a:tc>
                <a:tc>
                  <a:txBody>
                    <a:bodyPr/>
                    <a:lstStyle/>
                    <a:p>
                      <a:pPr algn="ctr"/>
                      <a:r>
                        <a:rPr lang="en-QA" dirty="0"/>
                        <a:t>160</a:t>
                      </a:r>
                    </a:p>
                  </a:txBody>
                  <a:tcPr/>
                </a:tc>
                <a:extLst>
                  <a:ext uri="{0D108BD9-81ED-4DB2-BD59-A6C34878D82A}">
                    <a16:rowId xmlns:a16="http://schemas.microsoft.com/office/drawing/2014/main" val="216075426"/>
                  </a:ext>
                </a:extLst>
              </a:tr>
              <a:tr h="370840">
                <a:tc>
                  <a:txBody>
                    <a:bodyPr/>
                    <a:lstStyle/>
                    <a:p>
                      <a:pPr algn="ctr"/>
                      <a:r>
                        <a:rPr lang="en-QA" dirty="0"/>
                        <a:t>50</a:t>
                      </a:r>
                    </a:p>
                  </a:txBody>
                  <a:tcPr/>
                </a:tc>
                <a:tc>
                  <a:txBody>
                    <a:bodyPr/>
                    <a:lstStyle/>
                    <a:p>
                      <a:pPr algn="ctr"/>
                      <a:r>
                        <a:rPr lang="en-QA" dirty="0"/>
                        <a:t>250</a:t>
                      </a:r>
                    </a:p>
                  </a:txBody>
                  <a:tcPr/>
                </a:tc>
                <a:tc>
                  <a:txBody>
                    <a:bodyPr/>
                    <a:lstStyle/>
                    <a:p>
                      <a:pPr algn="ctr"/>
                      <a:r>
                        <a:rPr lang="en-QA" dirty="0"/>
                        <a:t>400</a:t>
                      </a:r>
                    </a:p>
                  </a:txBody>
                  <a:tcPr/>
                </a:tc>
                <a:extLst>
                  <a:ext uri="{0D108BD9-81ED-4DB2-BD59-A6C34878D82A}">
                    <a16:rowId xmlns:a16="http://schemas.microsoft.com/office/drawing/2014/main" val="1360008069"/>
                  </a:ext>
                </a:extLst>
              </a:tr>
              <a:tr h="370840">
                <a:tc>
                  <a:txBody>
                    <a:bodyPr/>
                    <a:lstStyle/>
                    <a:p>
                      <a:pPr algn="ctr"/>
                      <a:r>
                        <a:rPr lang="en-QA" dirty="0">
                          <a:solidFill>
                            <a:srgbClr val="7030A0"/>
                          </a:solidFill>
                        </a:rPr>
                        <a:t>100</a:t>
                      </a:r>
                    </a:p>
                  </a:txBody>
                  <a:tcPr/>
                </a:tc>
                <a:tc>
                  <a:txBody>
                    <a:bodyPr/>
                    <a:lstStyle/>
                    <a:p>
                      <a:pPr algn="ctr"/>
                      <a:r>
                        <a:rPr lang="en-QA" dirty="0">
                          <a:solidFill>
                            <a:srgbClr val="0070C0"/>
                          </a:solidFill>
                        </a:rPr>
                        <a:t>1,000</a:t>
                      </a:r>
                    </a:p>
                  </a:txBody>
                  <a:tcPr/>
                </a:tc>
                <a:tc>
                  <a:txBody>
                    <a:bodyPr/>
                    <a:lstStyle/>
                    <a:p>
                      <a:pPr algn="ctr"/>
                      <a:r>
                        <a:rPr lang="en-QA" dirty="0">
                          <a:solidFill>
                            <a:srgbClr val="0070C0"/>
                          </a:solidFill>
                        </a:rPr>
                        <a:t>1,200</a:t>
                      </a:r>
                    </a:p>
                  </a:txBody>
                  <a:tcPr/>
                </a:tc>
                <a:extLst>
                  <a:ext uri="{0D108BD9-81ED-4DB2-BD59-A6C34878D82A}">
                    <a16:rowId xmlns:a16="http://schemas.microsoft.com/office/drawing/2014/main" val="214308110"/>
                  </a:ext>
                </a:extLst>
              </a:tr>
              <a:tr h="370840">
                <a:tc>
                  <a:txBody>
                    <a:bodyPr/>
                    <a:lstStyle/>
                    <a:p>
                      <a:pPr algn="ctr"/>
                      <a:r>
                        <a:rPr lang="en-QA" dirty="0">
                          <a:solidFill>
                            <a:srgbClr val="C00000"/>
                          </a:solidFill>
                        </a:rPr>
                        <a:t>1,000</a:t>
                      </a:r>
                    </a:p>
                  </a:txBody>
                  <a:tcPr/>
                </a:tc>
                <a:tc>
                  <a:txBody>
                    <a:bodyPr/>
                    <a:lstStyle/>
                    <a:p>
                      <a:pPr algn="ctr"/>
                      <a:r>
                        <a:rPr lang="en-QA" dirty="0">
                          <a:solidFill>
                            <a:srgbClr val="00B050"/>
                          </a:solidFill>
                        </a:rPr>
                        <a:t>100,000</a:t>
                      </a:r>
                    </a:p>
                  </a:txBody>
                  <a:tcPr/>
                </a:tc>
                <a:tc>
                  <a:txBody>
                    <a:bodyPr/>
                    <a:lstStyle/>
                    <a:p>
                      <a:pPr algn="ctr"/>
                      <a:r>
                        <a:rPr lang="en-QA" dirty="0">
                          <a:solidFill>
                            <a:srgbClr val="00B050"/>
                          </a:solidFill>
                        </a:rPr>
                        <a:t>101,100</a:t>
                      </a:r>
                    </a:p>
                  </a:txBody>
                  <a:tcPr/>
                </a:tc>
                <a:extLst>
                  <a:ext uri="{0D108BD9-81ED-4DB2-BD59-A6C34878D82A}">
                    <a16:rowId xmlns:a16="http://schemas.microsoft.com/office/drawing/2014/main" val="3392253698"/>
                  </a:ext>
                </a:extLst>
              </a:tr>
            </a:tbl>
          </a:graphicData>
        </a:graphic>
      </p:graphicFrame>
    </p:spTree>
    <p:extLst>
      <p:ext uri="{BB962C8B-B14F-4D97-AF65-F5344CB8AC3E}">
        <p14:creationId xmlns:p14="http://schemas.microsoft.com/office/powerpoint/2010/main" val="143504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 calcmode="lin" valueType="num">
                                      <p:cBhvr additive="base">
                                        <p:cTn id="3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 calcmode="lin" valueType="num">
                                      <p:cBhvr additive="base">
                                        <p:cTn id="4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 calcmode="lin" valueType="num">
                                      <p:cBhvr additive="base">
                                        <p:cTn id="4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D62BD-2833-6140-BC10-DF2E7F401A90}"/>
              </a:ext>
            </a:extLst>
          </p:cNvPr>
          <p:cNvSpPr>
            <a:spLocks noGrp="1"/>
          </p:cNvSpPr>
          <p:nvPr>
            <p:ph type="title"/>
          </p:nvPr>
        </p:nvSpPr>
        <p:spPr>
          <a:xfrm>
            <a:off x="0" y="11165"/>
            <a:ext cx="10515600" cy="893520"/>
          </a:xfrm>
        </p:spPr>
        <p:txBody>
          <a:bodyPr/>
          <a:lstStyle/>
          <a:p>
            <a:r>
              <a:rPr lang="en-US" dirty="0" smtClean="0"/>
              <a:t>Introduction </a:t>
            </a:r>
            <a:r>
              <a:rPr lang="en-US" dirty="0"/>
              <a:t>to </a:t>
            </a:r>
            <a:r>
              <a:rPr lang="en-US" dirty="0" smtClean="0"/>
              <a:t>Order</a:t>
            </a:r>
            <a:endParaRPr lang="en-QA" dirty="0"/>
          </a:p>
        </p:txBody>
      </p:sp>
      <p:sp>
        <p:nvSpPr>
          <p:cNvPr id="3" name="Content Placeholder 2">
            <a:extLst>
              <a:ext uri="{FF2B5EF4-FFF2-40B4-BE49-F238E27FC236}">
                <a16:creationId xmlns:a16="http://schemas.microsoft.com/office/drawing/2014/main" id="{CBA5E822-683E-2148-B7BE-697CA07CB3A1}"/>
              </a:ext>
            </a:extLst>
          </p:cNvPr>
          <p:cNvSpPr>
            <a:spLocks noGrp="1"/>
          </p:cNvSpPr>
          <p:nvPr>
            <p:ph idx="1"/>
          </p:nvPr>
        </p:nvSpPr>
        <p:spPr>
          <a:xfrm>
            <a:off x="314217" y="904685"/>
            <a:ext cx="11049001" cy="5588582"/>
          </a:xfrm>
        </p:spPr>
        <p:txBody>
          <a:bodyPr>
            <a:normAutofit/>
          </a:bodyPr>
          <a:lstStyle/>
          <a:p>
            <a:r>
              <a:rPr lang="en-US" sz="2200" dirty="0"/>
              <a:t>W</a:t>
            </a:r>
            <a:r>
              <a:rPr lang="en-US" sz="2200" dirty="0" smtClean="0"/>
              <a:t>e </a:t>
            </a:r>
            <a:r>
              <a:rPr lang="en-US" sz="2200" dirty="0"/>
              <a:t>should always be able to </a:t>
            </a:r>
            <a:r>
              <a:rPr lang="en-US" sz="2200" b="1" u="sng" dirty="0"/>
              <a:t>throw away</a:t>
            </a:r>
            <a:r>
              <a:rPr lang="en-US" sz="2200" b="1" dirty="0"/>
              <a:t> </a:t>
            </a:r>
            <a:r>
              <a:rPr lang="en-US" sz="2200" b="1" dirty="0">
                <a:solidFill>
                  <a:srgbClr val="00B050"/>
                </a:solidFill>
              </a:rPr>
              <a:t>low-order terms </a:t>
            </a:r>
            <a:endParaRPr lang="en-US" sz="2200" b="1" dirty="0" smtClean="0">
              <a:solidFill>
                <a:srgbClr val="00B050"/>
              </a:solidFill>
            </a:endParaRPr>
          </a:p>
          <a:p>
            <a:pPr lvl="1"/>
            <a:r>
              <a:rPr lang="en-US" sz="2200" dirty="0" smtClean="0"/>
              <a:t>when </a:t>
            </a:r>
            <a:r>
              <a:rPr lang="en-US" sz="2200" dirty="0"/>
              <a:t>classifying</a:t>
            </a:r>
            <a:r>
              <a:rPr lang="en-US" sz="2200" dirty="0">
                <a:solidFill>
                  <a:srgbClr val="C00000"/>
                </a:solidFill>
              </a:rPr>
              <a:t> complexity </a:t>
            </a:r>
            <a:r>
              <a:rPr lang="en-US" sz="2200" dirty="0" smtClean="0">
                <a:solidFill>
                  <a:srgbClr val="C00000"/>
                </a:solidFill>
              </a:rPr>
              <a:t>functions</a:t>
            </a:r>
            <a:endParaRPr lang="en-US" sz="2200" dirty="0">
              <a:solidFill>
                <a:srgbClr val="C00000"/>
              </a:solidFill>
            </a:endParaRPr>
          </a:p>
          <a:p>
            <a:r>
              <a:rPr lang="en-US" sz="2200" u="sng" dirty="0"/>
              <a:t>For </a:t>
            </a:r>
            <a:r>
              <a:rPr lang="en-US" sz="2200" u="sng" dirty="0" smtClean="0"/>
              <a:t>example: </a:t>
            </a:r>
            <a:r>
              <a:rPr lang="en-US" sz="2200" dirty="0" smtClean="0"/>
              <a:t>We can classify </a:t>
            </a:r>
            <a:r>
              <a:rPr lang="en-US" sz="2200" b="1" dirty="0"/>
              <a:t>0.1</a:t>
            </a:r>
            <a:r>
              <a:rPr lang="en-US" sz="2200" b="1" i="1" dirty="0">
                <a:latin typeface="Times New Roman" panose="02020603050405020304" pitchFamily="18" charset="0"/>
                <a:cs typeface="Times New Roman" panose="02020603050405020304" pitchFamily="18" charset="0"/>
              </a:rPr>
              <a:t>n</a:t>
            </a:r>
            <a:r>
              <a:rPr lang="en-US" sz="2200" b="1" baseline="30000" dirty="0"/>
              <a:t>3</a:t>
            </a:r>
            <a:r>
              <a:rPr lang="en-US" sz="2200" b="1" dirty="0"/>
              <a:t> + 10</a:t>
            </a:r>
            <a:r>
              <a:rPr lang="en-US" sz="2200" b="1" i="1" dirty="0">
                <a:latin typeface="Times New Roman" panose="02020603050405020304" pitchFamily="18" charset="0"/>
                <a:cs typeface="Times New Roman" panose="02020603050405020304" pitchFamily="18" charset="0"/>
              </a:rPr>
              <a:t>n</a:t>
            </a:r>
            <a:r>
              <a:rPr lang="en-US" sz="2200" b="1" baseline="30000" dirty="0"/>
              <a:t>2</a:t>
            </a:r>
            <a:r>
              <a:rPr lang="en-US" sz="2200" b="1" dirty="0"/>
              <a:t> + 5</a:t>
            </a:r>
            <a:r>
              <a:rPr lang="en-US" sz="2200" b="1" i="1" dirty="0">
                <a:latin typeface="Times New Roman" panose="02020603050405020304" pitchFamily="18" charset="0"/>
                <a:cs typeface="Times New Roman" panose="02020603050405020304" pitchFamily="18" charset="0"/>
              </a:rPr>
              <a:t>n</a:t>
            </a:r>
            <a:r>
              <a:rPr lang="en-US" sz="2200" b="1" dirty="0"/>
              <a:t> + 25 </a:t>
            </a:r>
            <a:r>
              <a:rPr lang="en-US" sz="2200" dirty="0"/>
              <a:t>with </a:t>
            </a:r>
            <a:r>
              <a:rPr lang="en-US" sz="2200" b="1" u="sng" dirty="0">
                <a:solidFill>
                  <a:srgbClr val="0070C0"/>
                </a:solidFill>
              </a:rPr>
              <a:t>pure cubic </a:t>
            </a:r>
            <a:r>
              <a:rPr lang="en-US" sz="2200" b="1" u="sng" dirty="0" smtClean="0">
                <a:solidFill>
                  <a:srgbClr val="0070C0"/>
                </a:solidFill>
              </a:rPr>
              <a:t>functions</a:t>
            </a:r>
            <a:endParaRPr lang="en-US" sz="2200" b="1" u="sng" dirty="0">
              <a:solidFill>
                <a:srgbClr val="0070C0"/>
              </a:solidFill>
            </a:endParaRPr>
          </a:p>
          <a:p>
            <a:pPr lvl="3"/>
            <a:endParaRPr lang="en-US" dirty="0"/>
          </a:p>
          <a:p>
            <a:r>
              <a:rPr lang="en-US" dirty="0"/>
              <a:t>The set of all complexity functions that can be classified with </a:t>
            </a:r>
            <a:r>
              <a:rPr lang="en-US" b="1" dirty="0">
                <a:solidFill>
                  <a:srgbClr val="7030A0"/>
                </a:solidFill>
              </a:rPr>
              <a:t>pure quadratic </a:t>
            </a:r>
            <a:r>
              <a:rPr lang="en-US" dirty="0" smtClean="0"/>
              <a:t>functions</a:t>
            </a:r>
          </a:p>
          <a:p>
            <a:pPr lvl="1"/>
            <a:r>
              <a:rPr lang="en-US" dirty="0" smtClean="0"/>
              <a:t>called </a:t>
            </a:r>
            <a:r>
              <a:rPr lang="el-GR" dirty="0">
                <a:solidFill>
                  <a:srgbClr val="0070C0"/>
                </a:solidFill>
              </a:rPr>
              <a:t>Θ(</a:t>
            </a:r>
            <a:r>
              <a:rPr lang="en-US" i="1" dirty="0">
                <a:solidFill>
                  <a:srgbClr val="0070C0"/>
                </a:solidFill>
                <a:latin typeface="Times New Roman" panose="02020603050405020304" pitchFamily="18" charset="0"/>
                <a:cs typeface="Times New Roman" panose="02020603050405020304" pitchFamily="18" charset="0"/>
              </a:rPr>
              <a:t>n</a:t>
            </a:r>
            <a:r>
              <a:rPr lang="en-US" baseline="30000" dirty="0">
                <a:solidFill>
                  <a:srgbClr val="0070C0"/>
                </a:solidFill>
              </a:rPr>
              <a:t>2</a:t>
            </a:r>
            <a:r>
              <a:rPr lang="en-US" dirty="0" smtClean="0">
                <a:solidFill>
                  <a:srgbClr val="0070C0"/>
                </a:solidFill>
              </a:rPr>
              <a:t>) </a:t>
            </a:r>
            <a:r>
              <a:rPr lang="en-US" dirty="0"/>
              <a:t>(</a:t>
            </a:r>
            <a:r>
              <a:rPr lang="en-US" b="1" dirty="0">
                <a:solidFill>
                  <a:srgbClr val="C00000"/>
                </a:solidFill>
              </a:rPr>
              <a:t>theta</a:t>
            </a:r>
            <a:r>
              <a:rPr lang="en-US" dirty="0"/>
              <a:t> in </a:t>
            </a:r>
            <a:r>
              <a:rPr lang="en-US" dirty="0" smtClean="0"/>
              <a:t>Greek)</a:t>
            </a:r>
          </a:p>
          <a:p>
            <a:pPr lvl="1"/>
            <a:r>
              <a:rPr lang="en-US" dirty="0" smtClean="0"/>
              <a:t>we </a:t>
            </a:r>
            <a:r>
              <a:rPr lang="en-US" dirty="0"/>
              <a:t>say that the </a:t>
            </a:r>
            <a:r>
              <a:rPr lang="en-US" b="1" u="sng" dirty="0">
                <a:solidFill>
                  <a:srgbClr val="00B050"/>
                </a:solidFill>
              </a:rPr>
              <a:t>functions are order of</a:t>
            </a:r>
            <a:r>
              <a:rPr lang="en-US" u="sng" dirty="0">
                <a:solidFill>
                  <a:srgbClr val="00B050"/>
                </a:solidFill>
              </a:rPr>
              <a:t> </a:t>
            </a:r>
            <a:r>
              <a:rPr lang="en-US" i="1" dirty="0" smtClean="0">
                <a:solidFill>
                  <a:srgbClr val="0070C0"/>
                </a:solidFill>
                <a:latin typeface="Times New Roman" panose="02020603050405020304" pitchFamily="18" charset="0"/>
                <a:cs typeface="Times New Roman" panose="02020603050405020304" pitchFamily="18" charset="0"/>
              </a:rPr>
              <a:t>n</a:t>
            </a:r>
            <a:r>
              <a:rPr lang="en-US" baseline="30000" dirty="0" smtClean="0">
                <a:solidFill>
                  <a:srgbClr val="0070C0"/>
                </a:solidFill>
              </a:rPr>
              <a:t>2</a:t>
            </a:r>
            <a:endParaRPr lang="en-US" baseline="30000" dirty="0"/>
          </a:p>
          <a:p>
            <a:endParaRPr lang="en-US" u="sng" dirty="0" smtClean="0">
              <a:solidFill>
                <a:srgbClr val="C00000"/>
              </a:solidFill>
            </a:endParaRPr>
          </a:p>
          <a:p>
            <a:r>
              <a:rPr lang="en-US" b="1" u="sng" dirty="0" smtClean="0"/>
              <a:t>Examples</a:t>
            </a:r>
            <a:endParaRPr lang="en-US" b="1" u="sng" dirty="0"/>
          </a:p>
          <a:p>
            <a:pPr lvl="1"/>
            <a:r>
              <a:rPr lang="en-US" sz="2200" b="1" dirty="0"/>
              <a:t>g</a:t>
            </a:r>
            <a:r>
              <a:rPr lang="en-US" sz="2200" b="1" dirty="0" smtClean="0"/>
              <a:t>(n) = 5n</a:t>
            </a:r>
            <a:r>
              <a:rPr lang="en-US" sz="2200" b="1" baseline="30000" dirty="0" smtClean="0"/>
              <a:t>2 </a:t>
            </a:r>
            <a:r>
              <a:rPr lang="en-US" sz="2200" b="1" dirty="0" smtClean="0"/>
              <a:t> + 100n +20    </a:t>
            </a:r>
            <a:r>
              <a:rPr lang="tr-TR" sz="2200" b="1" dirty="0" smtClean="0"/>
              <a:t>∈</a:t>
            </a:r>
            <a:r>
              <a:rPr lang="en-US" sz="2200" b="1" dirty="0" smtClean="0"/>
              <a:t>  </a:t>
            </a:r>
            <a:r>
              <a:rPr lang="el-GR" sz="2200" b="1" dirty="0" smtClean="0"/>
              <a:t>θ</a:t>
            </a:r>
            <a:r>
              <a:rPr lang="en-US" sz="2200" b="1" dirty="0" smtClean="0"/>
              <a:t>(n</a:t>
            </a:r>
            <a:r>
              <a:rPr lang="en-US" sz="2200" b="1" baseline="30000" dirty="0" smtClean="0"/>
              <a:t>2</a:t>
            </a:r>
            <a:r>
              <a:rPr lang="en-US" sz="2200" b="1" dirty="0" smtClean="0"/>
              <a:t>)</a:t>
            </a:r>
            <a:r>
              <a:rPr lang="en-US" sz="2200" b="1" dirty="0"/>
              <a:t> </a:t>
            </a:r>
            <a:r>
              <a:rPr lang="en-US" sz="2200" b="1" dirty="0" smtClean="0"/>
              <a:t>                        </a:t>
            </a:r>
            <a:r>
              <a:rPr lang="en-US" sz="2200" b="1" i="1" dirty="0" smtClean="0">
                <a:latin typeface="Courier New" panose="02070309020205020404" pitchFamily="49" charset="0"/>
                <a:cs typeface="Courier New" panose="02070309020205020404" pitchFamily="49" charset="0"/>
              </a:rPr>
              <a:t>g</a:t>
            </a:r>
            <a:r>
              <a:rPr lang="en-US" sz="2200" dirty="0" smtClean="0"/>
              <a:t>(</a:t>
            </a:r>
            <a:r>
              <a:rPr lang="en-US" sz="2200" b="1" i="1" dirty="0" smtClean="0">
                <a:latin typeface="Courier New" panose="02070309020205020404" pitchFamily="49" charset="0"/>
                <a:cs typeface="Courier New" panose="02070309020205020404" pitchFamily="49" charset="0"/>
              </a:rPr>
              <a:t>n</a:t>
            </a:r>
            <a:r>
              <a:rPr lang="en-US" sz="2200" dirty="0"/>
              <a:t>) is order of </a:t>
            </a:r>
            <a:r>
              <a:rPr lang="en-US" sz="2200" b="1" i="1" dirty="0">
                <a:latin typeface="Courier New" panose="02070309020205020404" pitchFamily="49" charset="0"/>
                <a:cs typeface="Courier New" panose="02070309020205020404" pitchFamily="49" charset="0"/>
              </a:rPr>
              <a:t>n</a:t>
            </a:r>
            <a:r>
              <a:rPr lang="en-US" sz="2200" b="1" baseline="30000" dirty="0"/>
              <a:t>2</a:t>
            </a:r>
          </a:p>
          <a:p>
            <a:pPr lvl="1"/>
            <a:endParaRPr lang="en-US" dirty="0"/>
          </a:p>
          <a:p>
            <a:pPr marL="457200" lvl="1" indent="0">
              <a:buNone/>
            </a:pPr>
            <a:r>
              <a:rPr lang="en-US" dirty="0" smtClean="0"/>
              <a:t>                                            </a:t>
            </a:r>
            <a:endParaRPr lang="en-QA" dirty="0"/>
          </a:p>
        </p:txBody>
      </p:sp>
    </p:spTree>
    <p:extLst>
      <p:ext uri="{BB962C8B-B14F-4D97-AF65-F5344CB8AC3E}">
        <p14:creationId xmlns:p14="http://schemas.microsoft.com/office/powerpoint/2010/main" val="129071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 calcmode="lin" valueType="num">
                                      <p:cBhvr additive="base">
                                        <p:cTn id="4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19DCB-7030-AE44-AF1D-D1C1F3E596EE}"/>
              </a:ext>
            </a:extLst>
          </p:cNvPr>
          <p:cNvSpPr>
            <a:spLocks noGrp="1"/>
          </p:cNvSpPr>
          <p:nvPr>
            <p:ph type="title"/>
          </p:nvPr>
        </p:nvSpPr>
        <p:spPr>
          <a:xfrm>
            <a:off x="71284" y="0"/>
            <a:ext cx="10515600" cy="893520"/>
          </a:xfrm>
        </p:spPr>
        <p:txBody>
          <a:bodyPr/>
          <a:lstStyle/>
          <a:p>
            <a:r>
              <a:rPr lang="en-US" dirty="0" smtClean="0"/>
              <a:t>Introduction </a:t>
            </a:r>
            <a:r>
              <a:rPr lang="en-US" dirty="0"/>
              <a:t>to Order (cont.)</a:t>
            </a:r>
            <a:endParaRPr lang="en-QA" dirty="0"/>
          </a:p>
        </p:txBody>
      </p:sp>
      <p:sp>
        <p:nvSpPr>
          <p:cNvPr id="3" name="Content Placeholder 2">
            <a:extLst>
              <a:ext uri="{FF2B5EF4-FFF2-40B4-BE49-F238E27FC236}">
                <a16:creationId xmlns:a16="http://schemas.microsoft.com/office/drawing/2014/main" id="{26B2A1F5-7A0E-8944-8119-C020C39BD69B}"/>
              </a:ext>
            </a:extLst>
          </p:cNvPr>
          <p:cNvSpPr>
            <a:spLocks noGrp="1"/>
          </p:cNvSpPr>
          <p:nvPr>
            <p:ph idx="1"/>
          </p:nvPr>
        </p:nvSpPr>
        <p:spPr>
          <a:xfrm>
            <a:off x="838200" y="1258646"/>
            <a:ext cx="11120120" cy="4918317"/>
          </a:xfrm>
        </p:spPr>
        <p:txBody>
          <a:bodyPr/>
          <a:lstStyle/>
          <a:p>
            <a:r>
              <a:rPr lang="en-US" dirty="0">
                <a:solidFill>
                  <a:srgbClr val="00B050"/>
                </a:solidFill>
              </a:rPr>
              <a:t>Quadratic-time algorithm or a </a:t>
            </a:r>
            <a:r>
              <a:rPr lang="el-GR" dirty="0">
                <a:solidFill>
                  <a:srgbClr val="00B050"/>
                </a:solidFill>
              </a:rPr>
              <a:t>Θ(</a:t>
            </a:r>
            <a:r>
              <a:rPr lang="en-US" i="1" dirty="0">
                <a:solidFill>
                  <a:srgbClr val="00B050"/>
                </a:solidFill>
                <a:latin typeface="Times New Roman" panose="02020603050405020304" pitchFamily="18" charset="0"/>
                <a:cs typeface="Times New Roman" panose="02020603050405020304" pitchFamily="18" charset="0"/>
              </a:rPr>
              <a:t>n</a:t>
            </a:r>
            <a:r>
              <a:rPr lang="en-US" baseline="30000" dirty="0">
                <a:solidFill>
                  <a:srgbClr val="00B050"/>
                </a:solidFill>
              </a:rPr>
              <a:t>2</a:t>
            </a:r>
            <a:r>
              <a:rPr lang="en-US" dirty="0">
                <a:solidFill>
                  <a:srgbClr val="00B050"/>
                </a:solidFill>
              </a:rPr>
              <a:t>) </a:t>
            </a:r>
            <a:r>
              <a:rPr lang="en-US" dirty="0" smtClean="0"/>
              <a:t>algorithm</a:t>
            </a:r>
            <a:endParaRPr lang="en-QA" dirty="0"/>
          </a:p>
          <a:p>
            <a:pPr lvl="1"/>
            <a:r>
              <a:rPr lang="en-US" dirty="0"/>
              <a:t>w</a:t>
            </a:r>
            <a:r>
              <a:rPr lang="en-US" dirty="0" smtClean="0"/>
              <a:t>hen </a:t>
            </a:r>
            <a:r>
              <a:rPr lang="en-US" dirty="0"/>
              <a:t>an algorithm’s time complexity is in </a:t>
            </a:r>
            <a:r>
              <a:rPr lang="el-GR" dirty="0"/>
              <a:t>Θ(</a:t>
            </a:r>
            <a:r>
              <a:rPr lang="en-US" i="1" dirty="0">
                <a:latin typeface="Times New Roman" panose="02020603050405020304" pitchFamily="18" charset="0"/>
                <a:cs typeface="Times New Roman" panose="02020603050405020304" pitchFamily="18" charset="0"/>
              </a:rPr>
              <a:t>n</a:t>
            </a:r>
            <a:r>
              <a:rPr lang="en-US" baseline="30000" dirty="0"/>
              <a:t>2</a:t>
            </a:r>
            <a:r>
              <a:rPr lang="en-US" dirty="0"/>
              <a:t>)</a:t>
            </a:r>
          </a:p>
          <a:p>
            <a:pPr lvl="1"/>
            <a:endParaRPr lang="en-US" dirty="0">
              <a:solidFill>
                <a:srgbClr val="0070C0"/>
              </a:solidFill>
            </a:endParaRPr>
          </a:p>
          <a:p>
            <a:r>
              <a:rPr lang="en-US" dirty="0" err="1">
                <a:solidFill>
                  <a:srgbClr val="0070C0"/>
                </a:solidFill>
              </a:rPr>
              <a:t>Qubic</a:t>
            </a:r>
            <a:r>
              <a:rPr lang="en-US" dirty="0">
                <a:solidFill>
                  <a:srgbClr val="0070C0"/>
                </a:solidFill>
              </a:rPr>
              <a:t>-time algorithm or a </a:t>
            </a:r>
            <a:r>
              <a:rPr lang="el-GR" dirty="0">
                <a:solidFill>
                  <a:srgbClr val="0070C0"/>
                </a:solidFill>
              </a:rPr>
              <a:t>Θ(</a:t>
            </a:r>
            <a:r>
              <a:rPr lang="en-US" i="1" dirty="0">
                <a:solidFill>
                  <a:srgbClr val="0070C0"/>
                </a:solidFill>
                <a:latin typeface="Times New Roman" panose="02020603050405020304" pitchFamily="18" charset="0"/>
                <a:cs typeface="Times New Roman" panose="02020603050405020304" pitchFamily="18" charset="0"/>
              </a:rPr>
              <a:t>n</a:t>
            </a:r>
            <a:r>
              <a:rPr lang="en-US" baseline="30000" dirty="0">
                <a:solidFill>
                  <a:srgbClr val="0070C0"/>
                </a:solidFill>
              </a:rPr>
              <a:t>3</a:t>
            </a:r>
            <a:r>
              <a:rPr lang="en-US" dirty="0">
                <a:solidFill>
                  <a:srgbClr val="0070C0"/>
                </a:solidFill>
              </a:rPr>
              <a:t>) </a:t>
            </a:r>
            <a:r>
              <a:rPr lang="en-US" dirty="0" smtClean="0"/>
              <a:t>algorithm</a:t>
            </a:r>
            <a:endParaRPr lang="en-QA" dirty="0"/>
          </a:p>
          <a:p>
            <a:pPr lvl="1"/>
            <a:r>
              <a:rPr lang="en-US" dirty="0"/>
              <a:t>w</a:t>
            </a:r>
            <a:r>
              <a:rPr lang="en-US" dirty="0" smtClean="0"/>
              <a:t>hen </a:t>
            </a:r>
            <a:r>
              <a:rPr lang="en-US" dirty="0"/>
              <a:t>an algorithm’s time complexity is in </a:t>
            </a:r>
            <a:r>
              <a:rPr lang="el-GR" dirty="0"/>
              <a:t>Θ(</a:t>
            </a:r>
            <a:r>
              <a:rPr lang="en-US" i="1" dirty="0">
                <a:latin typeface="Times New Roman" panose="02020603050405020304" pitchFamily="18" charset="0"/>
                <a:cs typeface="Times New Roman" panose="02020603050405020304" pitchFamily="18" charset="0"/>
              </a:rPr>
              <a:t>n</a:t>
            </a:r>
            <a:r>
              <a:rPr lang="en-US" baseline="30000" dirty="0"/>
              <a:t>3</a:t>
            </a:r>
            <a:r>
              <a:rPr lang="en-US" dirty="0"/>
              <a:t>)</a:t>
            </a:r>
          </a:p>
          <a:p>
            <a:pPr marL="0" indent="0">
              <a:buNone/>
            </a:pPr>
            <a:endParaRPr lang="en-US" dirty="0"/>
          </a:p>
          <a:p>
            <a:r>
              <a:rPr lang="en-US" u="sng" dirty="0"/>
              <a:t>Most common complexity </a:t>
            </a:r>
            <a:r>
              <a:rPr lang="en-US" u="sng" dirty="0" smtClean="0"/>
              <a:t>categories</a:t>
            </a:r>
            <a:r>
              <a:rPr lang="tr-TR" u="sng" dirty="0" smtClean="0"/>
              <a:t> </a:t>
            </a:r>
            <a:r>
              <a:rPr lang="en-US" i="1" dirty="0" smtClean="0"/>
              <a:t>(from best to worst category)</a:t>
            </a:r>
            <a:endParaRPr lang="en-US" i="1" dirty="0"/>
          </a:p>
          <a:p>
            <a:endParaRPr lang="en-US" sz="2400" b="1" u="sng" dirty="0">
              <a:solidFill>
                <a:srgbClr val="C00000"/>
              </a:solidFill>
            </a:endParaRPr>
          </a:p>
          <a:p>
            <a:pPr marL="0" indent="0">
              <a:buNone/>
            </a:pPr>
            <a:r>
              <a:rPr lang="el-GR" sz="2400" b="1" dirty="0" smtClean="0">
                <a:solidFill>
                  <a:srgbClr val="C00000"/>
                </a:solidFill>
              </a:rPr>
              <a:t>Θ</a:t>
            </a:r>
            <a:r>
              <a:rPr lang="en-US" sz="2400" b="1" dirty="0" smtClean="0">
                <a:solidFill>
                  <a:srgbClr val="C00000"/>
                </a:solidFill>
              </a:rPr>
              <a:t>(1)      </a:t>
            </a:r>
            <a:r>
              <a:rPr lang="el-GR" sz="2400" b="1" dirty="0" smtClean="0">
                <a:solidFill>
                  <a:srgbClr val="C00000"/>
                </a:solidFill>
              </a:rPr>
              <a:t>Θ</a:t>
            </a:r>
            <a:r>
              <a:rPr lang="en-US" sz="2400" b="1" dirty="0" smtClean="0">
                <a:solidFill>
                  <a:srgbClr val="C00000"/>
                </a:solidFill>
              </a:rPr>
              <a:t>(</a:t>
            </a:r>
            <a:r>
              <a:rPr lang="en-US" sz="2400" b="1" dirty="0" err="1" smtClean="0">
                <a:solidFill>
                  <a:srgbClr val="C00000"/>
                </a:solidFill>
              </a:rPr>
              <a:t>lg</a:t>
            </a:r>
            <a:r>
              <a:rPr lang="en-US" sz="2400" b="1" dirty="0" smtClean="0">
                <a:solidFill>
                  <a:srgbClr val="C00000"/>
                </a:solidFill>
              </a:rPr>
              <a:t> n)               </a:t>
            </a:r>
            <a:r>
              <a:rPr lang="el-GR" sz="2400" b="1" dirty="0" smtClean="0">
                <a:solidFill>
                  <a:srgbClr val="C00000"/>
                </a:solidFill>
              </a:rPr>
              <a:t>Θ</a:t>
            </a:r>
            <a:r>
              <a:rPr lang="en-US" sz="2400" b="1" dirty="0" smtClean="0">
                <a:solidFill>
                  <a:srgbClr val="C00000"/>
                </a:solidFill>
              </a:rPr>
              <a:t>(n)            </a:t>
            </a:r>
            <a:r>
              <a:rPr lang="el-GR" sz="2400" b="1" dirty="0" smtClean="0">
                <a:solidFill>
                  <a:srgbClr val="C00000"/>
                </a:solidFill>
              </a:rPr>
              <a:t>Θ</a:t>
            </a:r>
            <a:r>
              <a:rPr lang="en-US" sz="2400" b="1" dirty="0" smtClean="0">
                <a:solidFill>
                  <a:srgbClr val="C00000"/>
                </a:solidFill>
              </a:rPr>
              <a:t>(n </a:t>
            </a:r>
            <a:r>
              <a:rPr lang="en-US" sz="2400" b="1" dirty="0" err="1" smtClean="0">
                <a:solidFill>
                  <a:srgbClr val="C00000"/>
                </a:solidFill>
              </a:rPr>
              <a:t>lg</a:t>
            </a:r>
            <a:r>
              <a:rPr lang="en-US" sz="2400" b="1" dirty="0" smtClean="0">
                <a:solidFill>
                  <a:srgbClr val="C00000"/>
                </a:solidFill>
              </a:rPr>
              <a:t> n)             </a:t>
            </a:r>
            <a:r>
              <a:rPr lang="el-GR" sz="2400" b="1" dirty="0" smtClean="0">
                <a:solidFill>
                  <a:srgbClr val="C00000"/>
                </a:solidFill>
              </a:rPr>
              <a:t>Θ</a:t>
            </a:r>
            <a:r>
              <a:rPr lang="en-US" sz="2400" b="1" dirty="0" smtClean="0">
                <a:solidFill>
                  <a:srgbClr val="C00000"/>
                </a:solidFill>
              </a:rPr>
              <a:t>(n</a:t>
            </a:r>
            <a:r>
              <a:rPr lang="en-US" sz="2400" b="1" baseline="30000" dirty="0" smtClean="0">
                <a:solidFill>
                  <a:srgbClr val="C00000"/>
                </a:solidFill>
              </a:rPr>
              <a:t>2</a:t>
            </a:r>
            <a:r>
              <a:rPr lang="en-US" sz="2400" b="1" dirty="0" smtClean="0">
                <a:solidFill>
                  <a:srgbClr val="C00000"/>
                </a:solidFill>
              </a:rPr>
              <a:t>)             </a:t>
            </a:r>
            <a:r>
              <a:rPr lang="el-GR" sz="2400" b="1" dirty="0" smtClean="0">
                <a:solidFill>
                  <a:srgbClr val="C00000"/>
                </a:solidFill>
              </a:rPr>
              <a:t>Θ</a:t>
            </a:r>
            <a:r>
              <a:rPr lang="en-US" sz="2400" b="1" dirty="0" smtClean="0">
                <a:solidFill>
                  <a:srgbClr val="C00000"/>
                </a:solidFill>
              </a:rPr>
              <a:t>(n</a:t>
            </a:r>
            <a:r>
              <a:rPr lang="en-US" sz="2400" b="1" baseline="30000" dirty="0" smtClean="0">
                <a:solidFill>
                  <a:srgbClr val="C00000"/>
                </a:solidFill>
              </a:rPr>
              <a:t>3</a:t>
            </a:r>
            <a:r>
              <a:rPr lang="en-US" sz="2400" b="1" dirty="0" smtClean="0">
                <a:solidFill>
                  <a:srgbClr val="C00000"/>
                </a:solidFill>
              </a:rPr>
              <a:t>)          </a:t>
            </a:r>
            <a:r>
              <a:rPr lang="el-GR" sz="2400" b="1" dirty="0" smtClean="0">
                <a:solidFill>
                  <a:srgbClr val="C00000"/>
                </a:solidFill>
              </a:rPr>
              <a:t>Θ</a:t>
            </a:r>
            <a:r>
              <a:rPr lang="en-US" sz="2400" b="1" dirty="0" smtClean="0">
                <a:solidFill>
                  <a:srgbClr val="C00000"/>
                </a:solidFill>
              </a:rPr>
              <a:t>(a</a:t>
            </a:r>
            <a:r>
              <a:rPr lang="en-US" sz="2400" b="1" baseline="30000" dirty="0" smtClean="0">
                <a:solidFill>
                  <a:srgbClr val="C00000"/>
                </a:solidFill>
              </a:rPr>
              <a:t>n</a:t>
            </a:r>
            <a:r>
              <a:rPr lang="en-US" sz="2400" b="1" dirty="0" smtClean="0">
                <a:solidFill>
                  <a:srgbClr val="C00000"/>
                </a:solidFill>
              </a:rPr>
              <a:t>)     </a:t>
            </a:r>
            <a:r>
              <a:rPr lang="el-GR" sz="2400" b="1" dirty="0" smtClean="0">
                <a:solidFill>
                  <a:srgbClr val="C00000"/>
                </a:solidFill>
              </a:rPr>
              <a:t>Θ</a:t>
            </a:r>
            <a:r>
              <a:rPr lang="en-US" sz="2400" b="1" dirty="0" smtClean="0">
                <a:solidFill>
                  <a:srgbClr val="C00000"/>
                </a:solidFill>
              </a:rPr>
              <a:t>(n!)</a:t>
            </a:r>
            <a:endParaRPr lang="en-US" sz="2400" b="1" dirty="0">
              <a:solidFill>
                <a:srgbClr val="C00000"/>
              </a:solidFill>
            </a:endParaRPr>
          </a:p>
          <a:p>
            <a:pPr marL="457200" lvl="1" indent="0">
              <a:buNone/>
            </a:pPr>
            <a:endParaRPr lang="en-US" sz="2400" b="1" dirty="0">
              <a:solidFill>
                <a:srgbClr val="C00000"/>
              </a:solidFill>
            </a:endParaRPr>
          </a:p>
        </p:txBody>
      </p:sp>
      <p:sp>
        <p:nvSpPr>
          <p:cNvPr id="4" name="Right Arrow 3"/>
          <p:cNvSpPr/>
          <p:nvPr/>
        </p:nvSpPr>
        <p:spPr>
          <a:xfrm>
            <a:off x="924560" y="4937760"/>
            <a:ext cx="10901680" cy="8128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58976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4311-CE29-5C42-9E9E-F87B748C8F2D}"/>
              </a:ext>
            </a:extLst>
          </p:cNvPr>
          <p:cNvSpPr>
            <a:spLocks noGrp="1"/>
          </p:cNvSpPr>
          <p:nvPr>
            <p:ph type="title"/>
          </p:nvPr>
        </p:nvSpPr>
        <p:spPr>
          <a:xfrm>
            <a:off x="7238719" y="11165"/>
            <a:ext cx="4953281" cy="595010"/>
          </a:xfrm>
        </p:spPr>
        <p:txBody>
          <a:bodyPr>
            <a:normAutofit/>
          </a:bodyPr>
          <a:lstStyle/>
          <a:p>
            <a:r>
              <a:rPr lang="en-US" dirty="0" smtClean="0"/>
              <a:t>Introduction </a:t>
            </a:r>
            <a:r>
              <a:rPr lang="en-US" dirty="0"/>
              <a:t>to Order (cont.)</a:t>
            </a:r>
            <a:endParaRPr lang="en-QA" dirty="0"/>
          </a:p>
        </p:txBody>
      </p:sp>
      <p:pic>
        <p:nvPicPr>
          <p:cNvPr id="11265" name="Picture 1" descr="page59image49167600">
            <a:extLst>
              <a:ext uri="{FF2B5EF4-FFF2-40B4-BE49-F238E27FC236}">
                <a16:creationId xmlns:a16="http://schemas.microsoft.com/office/drawing/2014/main" id="{226A0EB8-3767-DF4D-B99F-DB6036BBF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236" y="285135"/>
            <a:ext cx="4412118" cy="578136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ED608A4-3EB1-8741-BF9D-841CF3389418}"/>
              </a:ext>
            </a:extLst>
          </p:cNvPr>
          <p:cNvSpPr/>
          <p:nvPr/>
        </p:nvSpPr>
        <p:spPr>
          <a:xfrm>
            <a:off x="0" y="6321426"/>
            <a:ext cx="5315879" cy="461665"/>
          </a:xfrm>
          <a:prstGeom prst="rect">
            <a:avLst/>
          </a:prstGeom>
        </p:spPr>
        <p:txBody>
          <a:bodyPr wrap="none">
            <a:spAutoFit/>
          </a:bodyPr>
          <a:lstStyle/>
          <a:p>
            <a:r>
              <a:rPr lang="en-US" sz="2400" dirty="0">
                <a:solidFill>
                  <a:srgbClr val="0070C0"/>
                </a:solidFill>
                <a:latin typeface="LiberationSerif"/>
              </a:rPr>
              <a:t>Growth rates of </a:t>
            </a:r>
            <a:r>
              <a:rPr lang="en-US" sz="2400" dirty="0" smtClean="0">
                <a:solidFill>
                  <a:srgbClr val="0070C0"/>
                </a:solidFill>
                <a:latin typeface="LiberationSerif"/>
              </a:rPr>
              <a:t>complexity functions </a:t>
            </a:r>
            <a:endParaRPr lang="en-US" sz="2400" dirty="0">
              <a:solidFill>
                <a:srgbClr val="0070C0"/>
              </a:solidFill>
            </a:endParaRPr>
          </a:p>
        </p:txBody>
      </p:sp>
      <p:pic>
        <p:nvPicPr>
          <p:cNvPr id="5" name="Picture 4">
            <a:extLst>
              <a:ext uri="{FF2B5EF4-FFF2-40B4-BE49-F238E27FC236}">
                <a16:creationId xmlns:a16="http://schemas.microsoft.com/office/drawing/2014/main" id="{165634FA-0F68-2A42-B293-03BF760DC0D9}"/>
              </a:ext>
            </a:extLst>
          </p:cNvPr>
          <p:cNvPicPr>
            <a:picLocks noChangeAspect="1"/>
          </p:cNvPicPr>
          <p:nvPr/>
        </p:nvPicPr>
        <p:blipFill>
          <a:blip r:embed="rId3"/>
          <a:stretch>
            <a:fillRect/>
          </a:stretch>
        </p:blipFill>
        <p:spPr>
          <a:xfrm>
            <a:off x="5534769" y="1773400"/>
            <a:ext cx="6493743" cy="3812681"/>
          </a:xfrm>
          <a:prstGeom prst="rect">
            <a:avLst/>
          </a:prstGeom>
        </p:spPr>
      </p:pic>
      <p:sp>
        <p:nvSpPr>
          <p:cNvPr id="6" name="Rectangle 5">
            <a:extLst>
              <a:ext uri="{FF2B5EF4-FFF2-40B4-BE49-F238E27FC236}">
                <a16:creationId xmlns:a16="http://schemas.microsoft.com/office/drawing/2014/main" id="{A0FC86B6-6CB0-C343-A686-45266368F71D}"/>
              </a:ext>
            </a:extLst>
          </p:cNvPr>
          <p:cNvSpPr/>
          <p:nvPr/>
        </p:nvSpPr>
        <p:spPr>
          <a:xfrm>
            <a:off x="5534769" y="1311735"/>
            <a:ext cx="4309193" cy="461665"/>
          </a:xfrm>
          <a:prstGeom prst="rect">
            <a:avLst/>
          </a:prstGeom>
        </p:spPr>
        <p:txBody>
          <a:bodyPr wrap="none">
            <a:spAutoFit/>
          </a:bodyPr>
          <a:lstStyle/>
          <a:p>
            <a:r>
              <a:rPr lang="en-US" sz="2400" u="sng" dirty="0">
                <a:solidFill>
                  <a:srgbClr val="00B050"/>
                </a:solidFill>
                <a:latin typeface="LiberationSerif"/>
              </a:rPr>
              <a:t>Execution times for </a:t>
            </a:r>
            <a:r>
              <a:rPr lang="en-US" sz="2400" u="sng" dirty="0" smtClean="0">
                <a:solidFill>
                  <a:srgbClr val="00B050"/>
                </a:solidFill>
                <a:latin typeface="LiberationSerif"/>
              </a:rPr>
              <a:t>algorithms</a:t>
            </a:r>
            <a:endParaRPr lang="en-US" sz="2400" u="sng" dirty="0">
              <a:solidFill>
                <a:srgbClr val="00B050"/>
              </a:solidFill>
            </a:endParaRPr>
          </a:p>
        </p:txBody>
      </p:sp>
      <p:sp>
        <p:nvSpPr>
          <p:cNvPr id="8" name="Up Arrow 7"/>
          <p:cNvSpPr/>
          <p:nvPr/>
        </p:nvSpPr>
        <p:spPr>
          <a:xfrm>
            <a:off x="8052618" y="5134143"/>
            <a:ext cx="648929" cy="1668611"/>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Up Arrow 8"/>
          <p:cNvSpPr/>
          <p:nvPr/>
        </p:nvSpPr>
        <p:spPr>
          <a:xfrm>
            <a:off x="9085723" y="5134144"/>
            <a:ext cx="608166" cy="1668611"/>
          </a:xfrm>
          <a:prstGeom prs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422165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5"/>
                                        </p:tgtEl>
                                        <p:attrNameLst>
                                          <p:attrName>style.visibility</p:attrName>
                                        </p:attrNameLst>
                                      </p:cBhvr>
                                      <p:to>
                                        <p:strVal val="visible"/>
                                      </p:to>
                                    </p:set>
                                    <p:anim calcmode="lin" valueType="num">
                                      <p:cBhvr additive="base">
                                        <p:cTn id="7" dur="500" fill="hold"/>
                                        <p:tgtEl>
                                          <p:spTgt spid="11265"/>
                                        </p:tgtEl>
                                        <p:attrNameLst>
                                          <p:attrName>ppt_x</p:attrName>
                                        </p:attrNameLst>
                                      </p:cBhvr>
                                      <p:tavLst>
                                        <p:tav tm="0">
                                          <p:val>
                                            <p:strVal val="#ppt_x"/>
                                          </p:val>
                                        </p:tav>
                                        <p:tav tm="100000">
                                          <p:val>
                                            <p:strVal val="#ppt_x"/>
                                          </p:val>
                                        </p:tav>
                                      </p:tavLst>
                                    </p:anim>
                                    <p:anim calcmode="lin" valueType="num">
                                      <p:cBhvr additive="base">
                                        <p:cTn id="8" dur="500" fill="hold"/>
                                        <p:tgtEl>
                                          <p:spTgt spid="1126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912-DC11-494D-A24E-E4EB86DA967A}"/>
              </a:ext>
            </a:extLst>
          </p:cNvPr>
          <p:cNvSpPr>
            <a:spLocks noGrp="1"/>
          </p:cNvSpPr>
          <p:nvPr>
            <p:ph type="title"/>
          </p:nvPr>
        </p:nvSpPr>
        <p:spPr>
          <a:xfrm>
            <a:off x="100781" y="119319"/>
            <a:ext cx="10515600" cy="382126"/>
          </a:xfrm>
        </p:spPr>
        <p:txBody>
          <a:bodyPr>
            <a:normAutofit fontScale="90000"/>
          </a:bodyPr>
          <a:lstStyle/>
          <a:p>
            <a:r>
              <a:rPr lang="en-US" dirty="0" smtClean="0"/>
              <a:t>Introduction </a:t>
            </a:r>
            <a:r>
              <a:rPr lang="en-US" dirty="0"/>
              <a:t>to Order (cont.)</a:t>
            </a:r>
            <a:endParaRPr lang="en-QA" dirty="0"/>
          </a:p>
        </p:txBody>
      </p:sp>
      <p:sp>
        <p:nvSpPr>
          <p:cNvPr id="3" name="Content Placeholder 2">
            <a:extLst>
              <a:ext uri="{FF2B5EF4-FFF2-40B4-BE49-F238E27FC236}">
                <a16:creationId xmlns:a16="http://schemas.microsoft.com/office/drawing/2014/main" id="{260D4394-578E-FA48-879B-D1930E85E8E6}"/>
              </a:ext>
            </a:extLst>
          </p:cNvPr>
          <p:cNvSpPr>
            <a:spLocks noGrp="1"/>
          </p:cNvSpPr>
          <p:nvPr>
            <p:ph idx="1"/>
          </p:nvPr>
        </p:nvSpPr>
        <p:spPr>
          <a:xfrm>
            <a:off x="100781" y="776982"/>
            <a:ext cx="11127658" cy="5735578"/>
          </a:xfrm>
        </p:spPr>
        <p:txBody>
          <a:bodyPr>
            <a:normAutofit lnSpcReduction="10000"/>
          </a:bodyPr>
          <a:lstStyle/>
          <a:p>
            <a:pPr algn="l"/>
            <a:r>
              <a:rPr lang="en-US" b="1" u="sng" dirty="0"/>
              <a:t>Possibly surprising </a:t>
            </a:r>
            <a:r>
              <a:rPr lang="en-US" b="1" u="sng" dirty="0" smtClean="0"/>
              <a:t>result</a:t>
            </a:r>
            <a:endParaRPr lang="en-US" b="1" u="sng" dirty="0"/>
          </a:p>
          <a:p>
            <a:pPr lvl="1"/>
            <a:r>
              <a:rPr lang="en-US" sz="2200" dirty="0"/>
              <a:t>Even the </a:t>
            </a:r>
            <a:r>
              <a:rPr lang="en-US" sz="2200" dirty="0">
                <a:solidFill>
                  <a:srgbClr val="C00000"/>
                </a:solidFill>
              </a:rPr>
              <a:t>quadratic-time algorithm takes </a:t>
            </a:r>
            <a:r>
              <a:rPr lang="en-US" sz="2200" u="sng" dirty="0">
                <a:solidFill>
                  <a:srgbClr val="C00000"/>
                </a:solidFill>
              </a:rPr>
              <a:t>31.7</a:t>
            </a:r>
            <a:r>
              <a:rPr lang="en-US" sz="2200" dirty="0">
                <a:solidFill>
                  <a:srgbClr val="C00000"/>
                </a:solidFill>
              </a:rPr>
              <a:t> </a:t>
            </a:r>
            <a:r>
              <a:rPr lang="en-US" sz="2200" dirty="0"/>
              <a:t>years </a:t>
            </a:r>
            <a:endParaRPr lang="en-US" sz="2200" dirty="0" smtClean="0"/>
          </a:p>
          <a:p>
            <a:pPr lvl="2"/>
            <a:r>
              <a:rPr lang="en-US" sz="2200" dirty="0" smtClean="0"/>
              <a:t>to </a:t>
            </a:r>
            <a:r>
              <a:rPr lang="en-US" sz="2200" dirty="0"/>
              <a:t>process an instance with an input size of </a:t>
            </a:r>
            <a:r>
              <a:rPr lang="en-US" sz="2200" dirty="0">
                <a:solidFill>
                  <a:srgbClr val="7030A0"/>
                </a:solidFill>
              </a:rPr>
              <a:t>1 </a:t>
            </a:r>
            <a:r>
              <a:rPr lang="en-US" sz="2200" dirty="0" smtClean="0">
                <a:solidFill>
                  <a:srgbClr val="7030A0"/>
                </a:solidFill>
              </a:rPr>
              <a:t>billion</a:t>
            </a:r>
            <a:endParaRPr lang="en-US" sz="2200" dirty="0">
              <a:solidFill>
                <a:srgbClr val="7030A0"/>
              </a:solidFill>
            </a:endParaRPr>
          </a:p>
          <a:p>
            <a:pPr lvl="1"/>
            <a:endParaRPr lang="en-US" sz="2200" dirty="0"/>
          </a:p>
          <a:p>
            <a:pPr lvl="1"/>
            <a:r>
              <a:rPr lang="el-GR" sz="2200" b="1" dirty="0" smtClean="0">
                <a:solidFill>
                  <a:srgbClr val="00B050"/>
                </a:solidFill>
              </a:rPr>
              <a:t>Θ(</a:t>
            </a:r>
            <a:r>
              <a:rPr lang="en-US" sz="2200" b="1" dirty="0">
                <a:solidFill>
                  <a:srgbClr val="00B050"/>
                </a:solidFill>
                <a:latin typeface="Times New Roman" panose="02020603050405020304" pitchFamily="18" charset="0"/>
                <a:cs typeface="Times New Roman" panose="02020603050405020304" pitchFamily="18" charset="0"/>
              </a:rPr>
              <a:t>n lg n</a:t>
            </a:r>
            <a:r>
              <a:rPr lang="en-US" sz="2200" b="1" dirty="0">
                <a:solidFill>
                  <a:srgbClr val="00B050"/>
                </a:solidFill>
              </a:rPr>
              <a:t>) </a:t>
            </a:r>
            <a:r>
              <a:rPr lang="en-US" sz="2200" dirty="0"/>
              <a:t>algorithm takes only </a:t>
            </a:r>
            <a:r>
              <a:rPr lang="en-US" sz="2200" u="sng" dirty="0">
                <a:solidFill>
                  <a:srgbClr val="00B050"/>
                </a:solidFill>
              </a:rPr>
              <a:t>29.9 seconds </a:t>
            </a:r>
            <a:r>
              <a:rPr lang="en-US" sz="2200" dirty="0"/>
              <a:t>to process such an </a:t>
            </a:r>
            <a:r>
              <a:rPr lang="en-US" sz="2200" dirty="0" smtClean="0"/>
              <a:t>instance</a:t>
            </a:r>
            <a:endParaRPr lang="en-US" sz="2200" dirty="0"/>
          </a:p>
          <a:p>
            <a:pPr lvl="1"/>
            <a:endParaRPr lang="en-US" dirty="0"/>
          </a:p>
          <a:p>
            <a:pPr lvl="1"/>
            <a:r>
              <a:rPr lang="en-US" sz="2200" dirty="0" smtClean="0"/>
              <a:t>An algorithm </a:t>
            </a:r>
            <a:r>
              <a:rPr lang="en-US" sz="2200" dirty="0"/>
              <a:t>has to be </a:t>
            </a:r>
            <a:r>
              <a:rPr lang="el-GR" sz="2200" b="1" dirty="0">
                <a:solidFill>
                  <a:srgbClr val="00B050"/>
                </a:solidFill>
              </a:rPr>
              <a:t>Θ(</a:t>
            </a:r>
            <a:r>
              <a:rPr lang="en-US" sz="2200" b="1" dirty="0">
                <a:solidFill>
                  <a:srgbClr val="00B050"/>
                </a:solidFill>
                <a:latin typeface="Times New Roman" panose="02020603050405020304" pitchFamily="18" charset="0"/>
                <a:cs typeface="Times New Roman" panose="02020603050405020304" pitchFamily="18" charset="0"/>
              </a:rPr>
              <a:t>n lg n</a:t>
            </a:r>
            <a:r>
              <a:rPr lang="en-US" sz="2200" b="1" dirty="0">
                <a:solidFill>
                  <a:srgbClr val="00B050"/>
                </a:solidFill>
              </a:rPr>
              <a:t>) </a:t>
            </a:r>
            <a:r>
              <a:rPr lang="en-US" sz="2200" dirty="0"/>
              <a:t>or better </a:t>
            </a:r>
            <a:endParaRPr lang="en-US" sz="2200" dirty="0" smtClean="0"/>
          </a:p>
          <a:p>
            <a:pPr lvl="2"/>
            <a:r>
              <a:rPr lang="en-US" sz="2200" dirty="0" smtClean="0"/>
              <a:t>to </a:t>
            </a:r>
            <a:r>
              <a:rPr lang="en-US" sz="2200" b="1" dirty="0" smtClean="0">
                <a:solidFill>
                  <a:srgbClr val="0070C0"/>
                </a:solidFill>
              </a:rPr>
              <a:t>process </a:t>
            </a:r>
            <a:r>
              <a:rPr lang="en-US" sz="2200" b="1" u="sng" dirty="0">
                <a:solidFill>
                  <a:srgbClr val="FF0000"/>
                </a:solidFill>
              </a:rPr>
              <a:t>extremely large instances</a:t>
            </a:r>
            <a:r>
              <a:rPr lang="en-US" sz="2200" u="sng" dirty="0">
                <a:solidFill>
                  <a:srgbClr val="FF0000"/>
                </a:solidFill>
              </a:rPr>
              <a:t> </a:t>
            </a:r>
            <a:r>
              <a:rPr lang="en-US" sz="2200" dirty="0"/>
              <a:t>in tolerable amounts of </a:t>
            </a:r>
            <a:r>
              <a:rPr lang="en-US" sz="2200" dirty="0" smtClean="0"/>
              <a:t>time</a:t>
            </a:r>
            <a:endParaRPr lang="en-US" sz="2200" dirty="0"/>
          </a:p>
          <a:p>
            <a:pPr lvl="1"/>
            <a:endParaRPr lang="en-US" dirty="0"/>
          </a:p>
          <a:p>
            <a:pPr lvl="1"/>
            <a:r>
              <a:rPr lang="en-US" sz="2200" dirty="0" smtClean="0"/>
              <a:t>This is </a:t>
            </a:r>
            <a:r>
              <a:rPr lang="en-US" sz="2200" u="sng" dirty="0" smtClean="0">
                <a:solidFill>
                  <a:srgbClr val="C00000"/>
                </a:solidFill>
              </a:rPr>
              <a:t>not to say that </a:t>
            </a:r>
            <a:r>
              <a:rPr lang="en-US" sz="2200" dirty="0" smtClean="0"/>
              <a:t>algorithms with higher-order categories </a:t>
            </a:r>
            <a:r>
              <a:rPr lang="en-US" sz="2200" u="sng" dirty="0" smtClean="0">
                <a:solidFill>
                  <a:srgbClr val="0070C0"/>
                </a:solidFill>
              </a:rPr>
              <a:t>are not useful</a:t>
            </a:r>
            <a:endParaRPr lang="en-US" sz="2200" dirty="0" smtClean="0"/>
          </a:p>
          <a:p>
            <a:pPr lvl="1"/>
            <a:endParaRPr lang="en-US" sz="2200" dirty="0" smtClean="0"/>
          </a:p>
          <a:p>
            <a:pPr lvl="1"/>
            <a:r>
              <a:rPr lang="en-US" sz="2200" dirty="0" smtClean="0"/>
              <a:t>Algorithms </a:t>
            </a:r>
            <a:r>
              <a:rPr lang="en-US" sz="2200" dirty="0"/>
              <a:t>with quadratic, cubic, and even higher-order time complexities can </a:t>
            </a:r>
            <a:endParaRPr lang="en-US" sz="2200" dirty="0" smtClean="0"/>
          </a:p>
          <a:p>
            <a:pPr lvl="2"/>
            <a:r>
              <a:rPr lang="en-US" sz="2200" u="sng" dirty="0" smtClean="0">
                <a:solidFill>
                  <a:srgbClr val="00B050"/>
                </a:solidFill>
              </a:rPr>
              <a:t>handle </a:t>
            </a:r>
            <a:r>
              <a:rPr lang="en-US" sz="2200" u="sng" dirty="0">
                <a:solidFill>
                  <a:srgbClr val="00B050"/>
                </a:solidFill>
              </a:rPr>
              <a:t>the actual instances</a:t>
            </a:r>
            <a:r>
              <a:rPr lang="en-US" sz="2200" dirty="0"/>
              <a:t> that arise in many </a:t>
            </a:r>
            <a:r>
              <a:rPr lang="en-US" sz="2200" dirty="0" smtClean="0"/>
              <a:t>applications</a:t>
            </a:r>
          </a:p>
          <a:p>
            <a:pPr lvl="2"/>
            <a:r>
              <a:rPr lang="en-US" sz="2200" i="1" dirty="0" smtClean="0"/>
              <a:t>Matrix multiplication (cubic)</a:t>
            </a:r>
          </a:p>
          <a:p>
            <a:pPr lvl="2"/>
            <a:r>
              <a:rPr lang="en-US" sz="2200" i="1" dirty="0" smtClean="0"/>
              <a:t>Bubble sort (quadratic)</a:t>
            </a:r>
          </a:p>
          <a:p>
            <a:pPr lvl="2"/>
            <a:r>
              <a:rPr lang="en-US" sz="2200" i="1" dirty="0" smtClean="0"/>
              <a:t>…</a:t>
            </a:r>
            <a:endParaRPr lang="en-US" sz="2200" i="1" dirty="0"/>
          </a:p>
          <a:p>
            <a:pPr lvl="1"/>
            <a:endParaRPr lang="en-US" dirty="0"/>
          </a:p>
          <a:p>
            <a:pPr lvl="2"/>
            <a:endParaRPr lang="en-QA" dirty="0"/>
          </a:p>
        </p:txBody>
      </p:sp>
    </p:spTree>
    <p:extLst>
      <p:ext uri="{BB962C8B-B14F-4D97-AF65-F5344CB8AC3E}">
        <p14:creationId xmlns:p14="http://schemas.microsoft.com/office/powerpoint/2010/main" val="3455770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anim calcmode="lin" valueType="num">
                                      <p:cBhvr additive="base">
                                        <p:cTn id="5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434EE-3D9D-7748-9E4F-91B43E7D8A20}"/>
              </a:ext>
            </a:extLst>
          </p:cNvPr>
          <p:cNvSpPr>
            <a:spLocks noGrp="1"/>
          </p:cNvSpPr>
          <p:nvPr>
            <p:ph type="title"/>
          </p:nvPr>
        </p:nvSpPr>
        <p:spPr>
          <a:xfrm>
            <a:off x="172862" y="0"/>
            <a:ext cx="10515600" cy="673638"/>
          </a:xfrm>
        </p:spPr>
        <p:txBody>
          <a:bodyPr>
            <a:normAutofit/>
          </a:bodyPr>
          <a:lstStyle/>
          <a:p>
            <a:r>
              <a:rPr lang="en-US" dirty="0"/>
              <a:t>A Rigorous Introduction to </a:t>
            </a:r>
            <a:r>
              <a:rPr lang="en-US" dirty="0" smtClean="0"/>
              <a:t>Order </a:t>
            </a:r>
            <a:r>
              <a:rPr lang="en-US" u="sng" dirty="0" smtClean="0">
                <a:solidFill>
                  <a:schemeClr val="tx1"/>
                </a:solidFill>
              </a:rPr>
              <a:t>(Upper Bound) </a:t>
            </a:r>
            <a:endParaRPr lang="en-QA" u="sng" dirty="0">
              <a:solidFill>
                <a:schemeClr val="tx1"/>
              </a:solidFill>
            </a:endParaRPr>
          </a:p>
        </p:txBody>
      </p:sp>
      <p:sp>
        <p:nvSpPr>
          <p:cNvPr id="3" name="Content Placeholder 2">
            <a:extLst>
              <a:ext uri="{FF2B5EF4-FFF2-40B4-BE49-F238E27FC236}">
                <a16:creationId xmlns:a16="http://schemas.microsoft.com/office/drawing/2014/main" id="{CBD3A6DB-F42A-B24C-8423-AD31C7CE5EB5}"/>
              </a:ext>
            </a:extLst>
          </p:cNvPr>
          <p:cNvSpPr>
            <a:spLocks noGrp="1"/>
          </p:cNvSpPr>
          <p:nvPr>
            <p:ph idx="1"/>
          </p:nvPr>
        </p:nvSpPr>
        <p:spPr>
          <a:xfrm>
            <a:off x="172862" y="794098"/>
            <a:ext cx="10921181" cy="4918317"/>
          </a:xfrm>
        </p:spPr>
        <p:txBody>
          <a:bodyPr/>
          <a:lstStyle/>
          <a:p>
            <a:r>
              <a:rPr lang="en-US" u="sng" dirty="0" smtClean="0">
                <a:solidFill>
                  <a:srgbClr val="0070C0"/>
                </a:solidFill>
              </a:rPr>
              <a:t>Definition</a:t>
            </a:r>
            <a:endParaRPr lang="en-US" u="sng" dirty="0">
              <a:solidFill>
                <a:srgbClr val="0070C0"/>
              </a:solidFill>
            </a:endParaRPr>
          </a:p>
          <a:p>
            <a:pPr lvl="1"/>
            <a:r>
              <a:rPr lang="en-US" dirty="0"/>
              <a:t>For a given complexity function </a:t>
            </a:r>
            <a:r>
              <a:rPr lang="en-US" i="1" dirty="0">
                <a:solidFill>
                  <a:srgbClr val="00B050"/>
                </a:solidFill>
                <a:latin typeface="Times New Roman" panose="02020603050405020304" pitchFamily="18" charset="0"/>
                <a:cs typeface="Times New Roman" panose="02020603050405020304" pitchFamily="18" charset="0"/>
              </a:rPr>
              <a:t>f</a:t>
            </a:r>
            <a:r>
              <a:rPr lang="en-US" dirty="0">
                <a:solidFill>
                  <a:srgbClr val="00B050"/>
                </a:solidFill>
              </a:rPr>
              <a:t>(</a:t>
            </a:r>
            <a:r>
              <a:rPr lang="en-US" i="1" dirty="0">
                <a:solidFill>
                  <a:srgbClr val="00B050"/>
                </a:solidFill>
                <a:latin typeface="Times New Roman" panose="02020603050405020304" pitchFamily="18" charset="0"/>
                <a:cs typeface="Times New Roman" panose="02020603050405020304" pitchFamily="18" charset="0"/>
              </a:rPr>
              <a:t>n</a:t>
            </a:r>
            <a:r>
              <a:rPr lang="en-US" dirty="0">
                <a:solidFill>
                  <a:srgbClr val="00B050"/>
                </a:solidFill>
              </a:rPr>
              <a:t>), </a:t>
            </a:r>
            <a:r>
              <a:rPr lang="en-US" i="1" dirty="0">
                <a:solidFill>
                  <a:srgbClr val="0070C0"/>
                </a:solidFill>
                <a:latin typeface="Times New Roman" panose="02020603050405020304" pitchFamily="18" charset="0"/>
                <a:cs typeface="Times New Roman" panose="02020603050405020304" pitchFamily="18" charset="0"/>
              </a:rPr>
              <a:t>O</a:t>
            </a:r>
            <a:r>
              <a:rPr lang="en-US" dirty="0">
                <a:solidFill>
                  <a:srgbClr val="0070C0"/>
                </a:solidFill>
              </a:rPr>
              <a:t>(</a:t>
            </a:r>
            <a:r>
              <a:rPr lang="en-US" i="1" dirty="0">
                <a:solidFill>
                  <a:srgbClr val="0070C0"/>
                </a:solidFill>
                <a:latin typeface="Times New Roman" panose="02020603050405020304" pitchFamily="18" charset="0"/>
                <a:cs typeface="Times New Roman" panose="02020603050405020304" pitchFamily="18" charset="0"/>
              </a:rPr>
              <a:t>f</a:t>
            </a:r>
            <a:r>
              <a:rPr lang="en-US" dirty="0">
                <a:solidFill>
                  <a:srgbClr val="0070C0"/>
                </a:solidFill>
              </a:rPr>
              <a:t>(</a:t>
            </a:r>
            <a:r>
              <a:rPr lang="en-US" i="1" dirty="0">
                <a:solidFill>
                  <a:srgbClr val="0070C0"/>
                </a:solidFill>
                <a:latin typeface="Times New Roman" panose="02020603050405020304" pitchFamily="18" charset="0"/>
                <a:cs typeface="Times New Roman" panose="02020603050405020304" pitchFamily="18" charset="0"/>
              </a:rPr>
              <a:t>n</a:t>
            </a:r>
            <a:r>
              <a:rPr lang="en-US" dirty="0">
                <a:solidFill>
                  <a:srgbClr val="0070C0"/>
                </a:solidFill>
              </a:rPr>
              <a:t>)) </a:t>
            </a:r>
            <a:r>
              <a:rPr lang="en-US" dirty="0"/>
              <a:t>is the set of complexity functions </a:t>
            </a:r>
            <a:r>
              <a:rPr lang="en-US" i="1" dirty="0">
                <a:solidFill>
                  <a:srgbClr val="C00000"/>
                </a:solidFill>
                <a:cs typeface="Courier New" panose="02070309020205020404" pitchFamily="49" charset="0"/>
              </a:rPr>
              <a:t>g</a:t>
            </a:r>
            <a:r>
              <a:rPr lang="en-US" dirty="0">
                <a:solidFill>
                  <a:srgbClr val="C00000"/>
                </a:solidFill>
              </a:rPr>
              <a:t>(</a:t>
            </a:r>
            <a:r>
              <a:rPr lang="en-US" i="1" dirty="0">
                <a:solidFill>
                  <a:srgbClr val="C00000"/>
                </a:solidFill>
                <a:latin typeface="Times New Roman" panose="02020603050405020304" pitchFamily="18" charset="0"/>
                <a:cs typeface="Times New Roman" panose="02020603050405020304" pitchFamily="18" charset="0"/>
              </a:rPr>
              <a:t>n</a:t>
            </a:r>
            <a:r>
              <a:rPr lang="en-US" dirty="0">
                <a:solidFill>
                  <a:srgbClr val="C00000"/>
                </a:solidFill>
              </a:rPr>
              <a:t>) </a:t>
            </a:r>
            <a:r>
              <a:rPr lang="en-US" dirty="0"/>
              <a:t>for which there exists </a:t>
            </a:r>
            <a:r>
              <a:rPr lang="en-US" b="1" u="sng" dirty="0"/>
              <a:t>some positive real constant </a:t>
            </a:r>
            <a:r>
              <a:rPr lang="en-US" b="1" i="1" dirty="0">
                <a:solidFill>
                  <a:srgbClr val="7030A0"/>
                </a:solidFill>
                <a:latin typeface="Times New Roman" panose="02020603050405020304" pitchFamily="18" charset="0"/>
                <a:cs typeface="Times New Roman" panose="02020603050405020304" pitchFamily="18" charset="0"/>
              </a:rPr>
              <a:t>c</a:t>
            </a:r>
            <a:r>
              <a:rPr lang="en-US" b="1" dirty="0">
                <a:solidFill>
                  <a:srgbClr val="7030A0"/>
                </a:solidFill>
              </a:rPr>
              <a:t> </a:t>
            </a:r>
            <a:r>
              <a:rPr lang="en-US" dirty="0"/>
              <a:t>and some nonnegative integer </a:t>
            </a:r>
            <a:r>
              <a:rPr lang="en-US" i="1" dirty="0">
                <a:solidFill>
                  <a:srgbClr val="00B0F0"/>
                </a:solidFill>
                <a:latin typeface="Times New Roman" panose="02020603050405020304" pitchFamily="18" charset="0"/>
                <a:cs typeface="Times New Roman" panose="02020603050405020304" pitchFamily="18" charset="0"/>
              </a:rPr>
              <a:t>N</a:t>
            </a:r>
            <a:r>
              <a:rPr lang="en-US" dirty="0"/>
              <a:t> such that for all </a:t>
            </a:r>
            <a:r>
              <a:rPr lang="en-US" i="1" dirty="0">
                <a:solidFill>
                  <a:srgbClr val="00B0F0"/>
                </a:solidFill>
                <a:latin typeface="Times New Roman" panose="02020603050405020304" pitchFamily="18" charset="0"/>
                <a:cs typeface="Times New Roman" panose="02020603050405020304" pitchFamily="18" charset="0"/>
              </a:rPr>
              <a:t>n</a:t>
            </a:r>
            <a:r>
              <a:rPr lang="en-US" dirty="0">
                <a:solidFill>
                  <a:srgbClr val="00B0F0"/>
                </a:solidFill>
              </a:rPr>
              <a:t> ≥ </a:t>
            </a:r>
            <a:r>
              <a:rPr lang="en-US" i="1" dirty="0">
                <a:solidFill>
                  <a:srgbClr val="00B0F0"/>
                </a:solidFill>
                <a:latin typeface="Times New Roman" panose="02020603050405020304" pitchFamily="18" charset="0"/>
                <a:cs typeface="Times New Roman" panose="02020603050405020304" pitchFamily="18" charset="0"/>
              </a:rPr>
              <a:t>N</a:t>
            </a:r>
          </a:p>
          <a:p>
            <a:pPr lvl="1"/>
            <a:endParaRPr lang="en-US" i="1" dirty="0">
              <a:latin typeface="Times New Roman" panose="02020603050405020304" pitchFamily="18" charset="0"/>
              <a:cs typeface="Times New Roman" panose="02020603050405020304" pitchFamily="18" charset="0"/>
            </a:endParaRPr>
          </a:p>
          <a:p>
            <a:pPr marL="457200" lvl="1" indent="0">
              <a:buNone/>
            </a:pPr>
            <a:endParaRPr lang="en-US" dirty="0">
              <a:solidFill>
                <a:srgbClr val="00B050"/>
              </a:solidFill>
            </a:endParaRPr>
          </a:p>
          <a:p>
            <a:pPr lvl="1"/>
            <a:endParaRPr lang="en-QA" i="1" dirty="0">
              <a:latin typeface="Times New Roman" panose="02020603050405020304" pitchFamily="18" charset="0"/>
              <a:cs typeface="Times New Roman" panose="02020603050405020304" pitchFamily="18" charset="0"/>
            </a:endParaRPr>
          </a:p>
          <a:p>
            <a:pPr lvl="1"/>
            <a:endParaRPr lang="en-QA" i="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5E69ECA-DED4-4045-A4D0-47411B3B980C}"/>
              </a:ext>
            </a:extLst>
          </p:cNvPr>
          <p:cNvSpPr/>
          <p:nvPr/>
        </p:nvSpPr>
        <p:spPr>
          <a:xfrm>
            <a:off x="-368289" y="5599097"/>
            <a:ext cx="5798951" cy="646331"/>
          </a:xfrm>
          <a:prstGeom prst="rect">
            <a:avLst/>
          </a:prstGeom>
        </p:spPr>
        <p:txBody>
          <a:bodyPr wrap="square">
            <a:spAutoFit/>
          </a:bodyPr>
          <a:lstStyle/>
          <a:p>
            <a:pPr algn="ctr"/>
            <a:r>
              <a:rPr lang="en-US" dirty="0" smtClean="0">
                <a:latin typeface="LiberationSerif"/>
              </a:rPr>
              <a:t>   </a:t>
            </a:r>
            <a:r>
              <a:rPr lang="en-US" dirty="0" smtClean="0">
                <a:solidFill>
                  <a:srgbClr val="C00000"/>
                </a:solidFill>
                <a:latin typeface="LiberationSerif"/>
              </a:rPr>
              <a:t>Although </a:t>
            </a:r>
            <a:r>
              <a:rPr lang="en-US" i="1" dirty="0">
                <a:solidFill>
                  <a:srgbClr val="0070C0"/>
                </a:solidFill>
                <a:latin typeface="LiberationSerif"/>
              </a:rPr>
              <a:t>g</a:t>
            </a:r>
            <a:r>
              <a:rPr lang="en-US" dirty="0">
                <a:solidFill>
                  <a:srgbClr val="0070C0"/>
                </a:solidFill>
                <a:latin typeface="LiberationSerif"/>
              </a:rPr>
              <a:t>(</a:t>
            </a:r>
            <a:r>
              <a:rPr lang="en-US" i="1" dirty="0">
                <a:solidFill>
                  <a:srgbClr val="0070C0"/>
                </a:solidFill>
                <a:latin typeface="LiberationSerif"/>
              </a:rPr>
              <a:t>n</a:t>
            </a:r>
            <a:r>
              <a:rPr lang="en-US" dirty="0">
                <a:solidFill>
                  <a:srgbClr val="0070C0"/>
                </a:solidFill>
                <a:latin typeface="LiberationSerif"/>
              </a:rPr>
              <a:t>) </a:t>
            </a:r>
            <a:r>
              <a:rPr lang="en-US" dirty="0">
                <a:solidFill>
                  <a:srgbClr val="C00000"/>
                </a:solidFill>
                <a:latin typeface="LiberationSerif"/>
              </a:rPr>
              <a:t>starts out above </a:t>
            </a:r>
            <a:r>
              <a:rPr lang="en-US" b="1" i="1" dirty="0" err="1">
                <a:latin typeface="LiberationSerif"/>
              </a:rPr>
              <a:t>cf</a:t>
            </a:r>
            <a:r>
              <a:rPr lang="en-US" b="1" dirty="0">
                <a:latin typeface="LiberationSerif"/>
              </a:rPr>
              <a:t>(</a:t>
            </a:r>
            <a:r>
              <a:rPr lang="en-US" b="1" i="1" dirty="0">
                <a:latin typeface="LiberationSerif"/>
              </a:rPr>
              <a:t>n</a:t>
            </a:r>
            <a:r>
              <a:rPr lang="en-US" b="1" dirty="0">
                <a:latin typeface="LiberationSerif"/>
              </a:rPr>
              <a:t>) </a:t>
            </a:r>
            <a:r>
              <a:rPr lang="en-US" dirty="0">
                <a:solidFill>
                  <a:srgbClr val="C00000"/>
                </a:solidFill>
                <a:latin typeface="LiberationSerif"/>
              </a:rPr>
              <a:t>in that figure, eventually it falls beneath </a:t>
            </a:r>
            <a:r>
              <a:rPr lang="en-US" b="1" i="1" dirty="0" err="1">
                <a:latin typeface="LiberationSerif"/>
              </a:rPr>
              <a:t>cf</a:t>
            </a:r>
            <a:r>
              <a:rPr lang="en-US" b="1" dirty="0">
                <a:latin typeface="LiberationSerif"/>
              </a:rPr>
              <a:t>(</a:t>
            </a:r>
            <a:r>
              <a:rPr lang="en-US" b="1" i="1" dirty="0">
                <a:latin typeface="LiberationSerif"/>
              </a:rPr>
              <a:t>n</a:t>
            </a:r>
            <a:r>
              <a:rPr lang="en-US" b="1" dirty="0">
                <a:latin typeface="LiberationSerif"/>
              </a:rPr>
              <a:t>) </a:t>
            </a:r>
            <a:r>
              <a:rPr lang="en-US" dirty="0">
                <a:solidFill>
                  <a:srgbClr val="C00000"/>
                </a:solidFill>
                <a:latin typeface="LiberationSerif"/>
              </a:rPr>
              <a:t>and stays </a:t>
            </a:r>
            <a:r>
              <a:rPr lang="en-US" dirty="0" smtClean="0">
                <a:solidFill>
                  <a:srgbClr val="C00000"/>
                </a:solidFill>
                <a:latin typeface="LiberationSerif"/>
              </a:rPr>
              <a:t>there </a:t>
            </a:r>
            <a:endParaRPr lang="en-US" dirty="0">
              <a:solidFill>
                <a:srgbClr val="C00000"/>
              </a:solidFill>
            </a:endParaRPr>
          </a:p>
        </p:txBody>
      </p:sp>
      <p:sp>
        <p:nvSpPr>
          <p:cNvPr id="6" name="Rectangle 5">
            <a:extLst>
              <a:ext uri="{FF2B5EF4-FFF2-40B4-BE49-F238E27FC236}">
                <a16:creationId xmlns:a16="http://schemas.microsoft.com/office/drawing/2014/main" id="{54B671CE-8BAD-D846-ADCC-E879075CD7A0}"/>
              </a:ext>
            </a:extLst>
          </p:cNvPr>
          <p:cNvSpPr/>
          <p:nvPr/>
        </p:nvSpPr>
        <p:spPr>
          <a:xfrm>
            <a:off x="6939917" y="5479997"/>
            <a:ext cx="4272195" cy="1200329"/>
          </a:xfrm>
          <a:prstGeom prst="rect">
            <a:avLst/>
          </a:prstGeom>
        </p:spPr>
        <p:txBody>
          <a:bodyPr wrap="none">
            <a:spAutoFit/>
          </a:bodyPr>
          <a:lstStyle/>
          <a:p>
            <a:r>
              <a:rPr lang="en-US" b="1" i="1" dirty="0" smtClean="0">
                <a:latin typeface="LiberationSerif"/>
              </a:rPr>
              <a:t>n</a:t>
            </a:r>
            <a:r>
              <a:rPr lang="en-US" b="1" baseline="30000" dirty="0" smtClean="0">
                <a:latin typeface="LiberationSerif"/>
              </a:rPr>
              <a:t>2</a:t>
            </a:r>
            <a:r>
              <a:rPr lang="en-US" b="1" dirty="0" smtClean="0">
                <a:latin typeface="LiberationSerif"/>
              </a:rPr>
              <a:t> </a:t>
            </a:r>
            <a:r>
              <a:rPr lang="en-US" b="1" dirty="0">
                <a:latin typeface="LiberationSerif"/>
              </a:rPr>
              <a:t>+ 10</a:t>
            </a:r>
            <a:r>
              <a:rPr lang="en-US" b="1" i="1" dirty="0">
                <a:latin typeface="LiberationSerif"/>
              </a:rPr>
              <a:t>n </a:t>
            </a:r>
            <a:r>
              <a:rPr lang="en-US" dirty="0">
                <a:latin typeface="LiberationSerif"/>
              </a:rPr>
              <a:t>is initially above </a:t>
            </a:r>
            <a:r>
              <a:rPr lang="en-US" b="1" dirty="0">
                <a:latin typeface="LiberationSerif"/>
              </a:rPr>
              <a:t>2</a:t>
            </a:r>
            <a:r>
              <a:rPr lang="en-US" b="1" i="1" dirty="0">
                <a:latin typeface="LiberationSerif"/>
              </a:rPr>
              <a:t>n</a:t>
            </a:r>
            <a:r>
              <a:rPr lang="en-US" b="1" baseline="30000" dirty="0">
                <a:latin typeface="LiberationSerif"/>
              </a:rPr>
              <a:t>2</a:t>
            </a:r>
            <a:r>
              <a:rPr lang="en-US" dirty="0">
                <a:latin typeface="LiberationSerif"/>
              </a:rPr>
              <a:t>, for </a:t>
            </a:r>
            <a:r>
              <a:rPr lang="en-US" i="1" dirty="0">
                <a:latin typeface="LiberationSerif"/>
              </a:rPr>
              <a:t>n </a:t>
            </a:r>
            <a:r>
              <a:rPr lang="en-US" dirty="0">
                <a:latin typeface="LiberationSerif"/>
              </a:rPr>
              <a:t>≥ 10</a:t>
            </a:r>
          </a:p>
          <a:p>
            <a:r>
              <a:rPr lang="en-US" dirty="0"/>
              <a:t>We </a:t>
            </a:r>
            <a:r>
              <a:rPr lang="en-US" dirty="0" smtClean="0"/>
              <a:t>can </a:t>
            </a:r>
            <a:r>
              <a:rPr lang="en-US" dirty="0"/>
              <a:t>take </a:t>
            </a:r>
            <a:r>
              <a:rPr lang="en-US" i="1" dirty="0"/>
              <a:t>c </a:t>
            </a:r>
            <a:r>
              <a:rPr lang="en-US" dirty="0"/>
              <a:t>= 2 and </a:t>
            </a:r>
            <a:r>
              <a:rPr lang="en-US" i="1" dirty="0"/>
              <a:t>N </a:t>
            </a:r>
            <a:r>
              <a:rPr lang="en-US" dirty="0"/>
              <a:t>= 10 in the </a:t>
            </a:r>
          </a:p>
          <a:p>
            <a:r>
              <a:rPr lang="en-US" dirty="0"/>
              <a:t>definition of “big </a:t>
            </a:r>
            <a:r>
              <a:rPr lang="en-US" i="1" dirty="0"/>
              <a:t>O</a:t>
            </a:r>
            <a:r>
              <a:rPr lang="en-US" dirty="0"/>
              <a:t>” to conclude that</a:t>
            </a:r>
          </a:p>
          <a:p>
            <a:r>
              <a:rPr lang="en-US" dirty="0">
                <a:latin typeface="LiberationSerif"/>
              </a:rPr>
              <a:t> </a:t>
            </a:r>
            <a:endParaRPr lang="en-US" dirty="0"/>
          </a:p>
        </p:txBody>
      </p:sp>
      <p:pic>
        <p:nvPicPr>
          <p:cNvPr id="7" name="Picture 6">
            <a:extLst>
              <a:ext uri="{FF2B5EF4-FFF2-40B4-BE49-F238E27FC236}">
                <a16:creationId xmlns:a16="http://schemas.microsoft.com/office/drawing/2014/main" id="{B71DB545-DDE8-BC49-8336-6BD5FA96CA69}"/>
              </a:ext>
            </a:extLst>
          </p:cNvPr>
          <p:cNvPicPr>
            <a:picLocks noChangeAspect="1"/>
          </p:cNvPicPr>
          <p:nvPr/>
        </p:nvPicPr>
        <p:blipFill>
          <a:blip r:embed="rId2"/>
          <a:stretch>
            <a:fillRect/>
          </a:stretch>
        </p:blipFill>
        <p:spPr>
          <a:xfrm>
            <a:off x="7522319" y="2588353"/>
            <a:ext cx="3979872" cy="2886689"/>
          </a:xfrm>
          <a:prstGeom prst="rect">
            <a:avLst/>
          </a:prstGeom>
        </p:spPr>
      </p:pic>
      <p:sp>
        <p:nvSpPr>
          <p:cNvPr id="8" name="TextBox 7"/>
          <p:cNvSpPr txBox="1"/>
          <p:nvPr/>
        </p:nvSpPr>
        <p:spPr>
          <a:xfrm>
            <a:off x="3577380" y="2845124"/>
            <a:ext cx="1710769" cy="369332"/>
          </a:xfrm>
          <a:prstGeom prst="rect">
            <a:avLst/>
          </a:prstGeom>
          <a:noFill/>
        </p:spPr>
        <p:txBody>
          <a:bodyPr wrap="square" rtlCol="0">
            <a:spAutoFit/>
          </a:bodyPr>
          <a:lstStyle/>
          <a:p>
            <a:r>
              <a:rPr lang="en-US" b="1" dirty="0" smtClean="0">
                <a:solidFill>
                  <a:srgbClr val="0070C0"/>
                </a:solidFill>
              </a:rPr>
              <a:t>Upper bound</a:t>
            </a:r>
            <a:endParaRPr lang="en-US" b="1" dirty="0">
              <a:solidFill>
                <a:srgbClr val="0070C0"/>
              </a:solidFill>
            </a:endParaRPr>
          </a:p>
        </p:txBody>
      </p:sp>
      <p:sp>
        <p:nvSpPr>
          <p:cNvPr id="9" name="Left Arrow 8"/>
          <p:cNvSpPr/>
          <p:nvPr/>
        </p:nvSpPr>
        <p:spPr>
          <a:xfrm>
            <a:off x="3030089" y="2880915"/>
            <a:ext cx="576069" cy="264212"/>
          </a:xfrm>
          <a:prstGeom prst="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973688" y="1808211"/>
            <a:ext cx="1990854" cy="461665"/>
          </a:xfrm>
          <a:prstGeom prst="rect">
            <a:avLst/>
          </a:prstGeom>
          <a:solidFill>
            <a:srgbClr val="FFC000"/>
          </a:solidFill>
        </p:spPr>
        <p:txBody>
          <a:bodyPr wrap="square" rtlCol="0">
            <a:spAutoFit/>
          </a:bodyPr>
          <a:lstStyle/>
          <a:p>
            <a:r>
              <a:rPr lang="en-US" sz="2400" dirty="0"/>
              <a:t>g</a:t>
            </a:r>
            <a:r>
              <a:rPr lang="en-US" sz="2400" dirty="0" smtClean="0"/>
              <a:t>(n) </a:t>
            </a:r>
            <a:r>
              <a:rPr lang="tr-TR" sz="2400" dirty="0" smtClean="0"/>
              <a:t>≤</a:t>
            </a:r>
            <a:r>
              <a:rPr lang="en-US" sz="2400" dirty="0" smtClean="0"/>
              <a:t> c * f(n)</a:t>
            </a:r>
            <a:endParaRPr lang="tr-TR" sz="2400" dirty="0"/>
          </a:p>
        </p:txBody>
      </p:sp>
      <p:pic>
        <p:nvPicPr>
          <p:cNvPr id="12" name="Picture 11"/>
          <p:cNvPicPr>
            <a:picLocks noChangeAspect="1"/>
          </p:cNvPicPr>
          <p:nvPr/>
        </p:nvPicPr>
        <p:blipFill>
          <a:blip r:embed="rId3"/>
          <a:stretch>
            <a:fillRect/>
          </a:stretch>
        </p:blipFill>
        <p:spPr>
          <a:xfrm>
            <a:off x="335642" y="2536347"/>
            <a:ext cx="2628900" cy="2790825"/>
          </a:xfrm>
          <a:prstGeom prst="rect">
            <a:avLst/>
          </a:prstGeom>
        </p:spPr>
      </p:pic>
      <p:sp>
        <p:nvSpPr>
          <p:cNvPr id="13" name="TextBox 12"/>
          <p:cNvSpPr txBox="1"/>
          <p:nvPr/>
        </p:nvSpPr>
        <p:spPr>
          <a:xfrm>
            <a:off x="7000877" y="6352114"/>
            <a:ext cx="2265043" cy="430887"/>
          </a:xfrm>
          <a:prstGeom prst="rect">
            <a:avLst/>
          </a:prstGeom>
          <a:solidFill>
            <a:srgbClr val="FFC000"/>
          </a:solidFill>
        </p:spPr>
        <p:txBody>
          <a:bodyPr wrap="square" rtlCol="0">
            <a:spAutoFit/>
          </a:bodyPr>
          <a:lstStyle/>
          <a:p>
            <a:r>
              <a:rPr lang="en-US" sz="2200" b="1" dirty="0"/>
              <a:t>n</a:t>
            </a:r>
            <a:r>
              <a:rPr lang="en-US" sz="2200" b="1" baseline="30000" dirty="0" smtClean="0"/>
              <a:t>2</a:t>
            </a:r>
            <a:r>
              <a:rPr lang="en-US" sz="2200" b="1" dirty="0" smtClean="0"/>
              <a:t> + 10 n ∈ O(n</a:t>
            </a:r>
            <a:r>
              <a:rPr lang="en-US" sz="2200" b="1" baseline="30000" dirty="0" smtClean="0"/>
              <a:t>2</a:t>
            </a:r>
            <a:r>
              <a:rPr lang="en-US" sz="2200" b="1" dirty="0" smtClean="0"/>
              <a:t>) </a:t>
            </a:r>
            <a:endParaRPr lang="tr-TR" sz="2200" b="1" dirty="0"/>
          </a:p>
        </p:txBody>
      </p:sp>
      <p:sp>
        <p:nvSpPr>
          <p:cNvPr id="14" name="Down Arrow 13"/>
          <p:cNvSpPr/>
          <p:nvPr/>
        </p:nvSpPr>
        <p:spPr>
          <a:xfrm>
            <a:off x="10810240" y="2485678"/>
            <a:ext cx="264160" cy="501493"/>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TextBox 14"/>
          <p:cNvSpPr txBox="1"/>
          <p:nvPr/>
        </p:nvSpPr>
        <p:spPr>
          <a:xfrm>
            <a:off x="10690603" y="2039044"/>
            <a:ext cx="721360" cy="461665"/>
          </a:xfrm>
          <a:prstGeom prst="rect">
            <a:avLst/>
          </a:prstGeom>
          <a:noFill/>
        </p:spPr>
        <p:txBody>
          <a:bodyPr wrap="square" rtlCol="0">
            <a:spAutoFit/>
          </a:bodyPr>
          <a:lstStyle/>
          <a:p>
            <a:r>
              <a:rPr lang="en-US" sz="2400" dirty="0"/>
              <a:t>g</a:t>
            </a:r>
            <a:r>
              <a:rPr lang="en-US" sz="2400" dirty="0" smtClean="0"/>
              <a:t>(n)</a:t>
            </a:r>
            <a:endParaRPr lang="tr-TR" sz="2400" dirty="0"/>
          </a:p>
        </p:txBody>
      </p:sp>
      <p:sp>
        <p:nvSpPr>
          <p:cNvPr id="18" name="Down Arrow 17"/>
          <p:cNvSpPr/>
          <p:nvPr/>
        </p:nvSpPr>
        <p:spPr>
          <a:xfrm>
            <a:off x="10492320" y="2387331"/>
            <a:ext cx="264160" cy="501493"/>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TextBox 18"/>
          <p:cNvSpPr txBox="1"/>
          <p:nvPr/>
        </p:nvSpPr>
        <p:spPr>
          <a:xfrm>
            <a:off x="10216077" y="2006228"/>
            <a:ext cx="721360" cy="461665"/>
          </a:xfrm>
          <a:prstGeom prst="rect">
            <a:avLst/>
          </a:prstGeom>
          <a:noFill/>
        </p:spPr>
        <p:txBody>
          <a:bodyPr wrap="square" rtlCol="0">
            <a:spAutoFit/>
          </a:bodyPr>
          <a:lstStyle/>
          <a:p>
            <a:r>
              <a:rPr lang="en-US" sz="2400" dirty="0" smtClean="0"/>
              <a:t>f(n)</a:t>
            </a:r>
            <a:endParaRPr lang="tr-TR" sz="2400" dirty="0"/>
          </a:p>
        </p:txBody>
      </p:sp>
    </p:spTree>
    <p:extLst>
      <p:ext uri="{BB962C8B-B14F-4D97-AF65-F5344CB8AC3E}">
        <p14:creationId xmlns:p14="http://schemas.microsoft.com/office/powerpoint/2010/main" val="345832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 calcmode="lin" valueType="num">
                                      <p:cBhvr additive="base">
                                        <p:cTn id="3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ppt_x"/>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ppt_x"/>
                                          </p:val>
                                        </p:tav>
                                        <p:tav tm="100000">
                                          <p:val>
                                            <p:strVal val="#ppt_x"/>
                                          </p:val>
                                        </p:tav>
                                      </p:tavLst>
                                    </p:anim>
                                    <p:anim calcmode="lin" valueType="num">
                                      <p:cBhvr additive="base">
                                        <p:cTn id="54" dur="500" fill="hold"/>
                                        <p:tgtEl>
                                          <p:spTgt spid="18"/>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additive="base">
                                        <p:cTn id="63" dur="500" fill="hold"/>
                                        <p:tgtEl>
                                          <p:spTgt spid="6"/>
                                        </p:tgtEl>
                                        <p:attrNameLst>
                                          <p:attrName>ppt_x</p:attrName>
                                        </p:attrNameLst>
                                      </p:cBhvr>
                                      <p:tavLst>
                                        <p:tav tm="0">
                                          <p:val>
                                            <p:strVal val="#ppt_x"/>
                                          </p:val>
                                        </p:tav>
                                        <p:tav tm="100000">
                                          <p:val>
                                            <p:strVal val="#ppt_x"/>
                                          </p:val>
                                        </p:tav>
                                      </p:tavLst>
                                    </p:anim>
                                    <p:anim calcmode="lin" valueType="num">
                                      <p:cBhvr additive="base">
                                        <p:cTn id="64" dur="500" fill="hold"/>
                                        <p:tgtEl>
                                          <p:spTgt spid="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500" fill="hold"/>
                                        <p:tgtEl>
                                          <p:spTgt spid="13"/>
                                        </p:tgtEl>
                                        <p:attrNameLst>
                                          <p:attrName>ppt_x</p:attrName>
                                        </p:attrNameLst>
                                      </p:cBhvr>
                                      <p:tavLst>
                                        <p:tav tm="0">
                                          <p:val>
                                            <p:strVal val="#ppt_x"/>
                                          </p:val>
                                        </p:tav>
                                        <p:tav tm="100000">
                                          <p:val>
                                            <p:strVal val="#ppt_x"/>
                                          </p:val>
                                        </p:tav>
                                      </p:tavLst>
                                    </p:anim>
                                    <p:anim calcmode="lin" valueType="num">
                                      <p:cBhvr additive="base">
                                        <p:cTn id="6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animBg="1"/>
      <p:bldP spid="10" grpId="0" animBg="1"/>
      <p:bldP spid="13" grpId="0" animBg="1"/>
      <p:bldP spid="14" grpId="0" animBg="1"/>
      <p:bldP spid="15" grpId="0"/>
      <p:bldP spid="18" grpId="0" animBg="1"/>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5516E-295A-D942-B853-D7979CA6165C}"/>
              </a:ext>
            </a:extLst>
          </p:cNvPr>
          <p:cNvSpPr>
            <a:spLocks noGrp="1"/>
          </p:cNvSpPr>
          <p:nvPr>
            <p:ph type="title"/>
          </p:nvPr>
        </p:nvSpPr>
        <p:spPr>
          <a:xfrm>
            <a:off x="0" y="280"/>
            <a:ext cx="10515600" cy="429400"/>
          </a:xfrm>
        </p:spPr>
        <p:txBody>
          <a:bodyPr>
            <a:normAutofit fontScale="90000"/>
          </a:bodyPr>
          <a:lstStyle/>
          <a:p>
            <a:r>
              <a:rPr lang="en-US" dirty="0"/>
              <a:t>A Rigorous Introduction to Order (cont.)</a:t>
            </a:r>
            <a:endParaRPr lang="en-QA" dirty="0"/>
          </a:p>
        </p:txBody>
      </p:sp>
      <p:sp>
        <p:nvSpPr>
          <p:cNvPr id="3" name="Content Placeholder 2">
            <a:extLst>
              <a:ext uri="{FF2B5EF4-FFF2-40B4-BE49-F238E27FC236}">
                <a16:creationId xmlns:a16="http://schemas.microsoft.com/office/drawing/2014/main" id="{EB116A4C-879C-674C-BDEF-AC3767F0D79C}"/>
              </a:ext>
            </a:extLst>
          </p:cNvPr>
          <p:cNvSpPr>
            <a:spLocks noGrp="1"/>
          </p:cNvSpPr>
          <p:nvPr>
            <p:ph idx="1"/>
          </p:nvPr>
        </p:nvSpPr>
        <p:spPr>
          <a:xfrm>
            <a:off x="838200" y="1258646"/>
            <a:ext cx="10515600" cy="5446954"/>
          </a:xfrm>
        </p:spPr>
        <p:txBody>
          <a:bodyPr>
            <a:normAutofit/>
          </a:bodyPr>
          <a:lstStyle/>
          <a:p>
            <a:r>
              <a:rPr lang="en-US" dirty="0">
                <a:solidFill>
                  <a:srgbClr val="0070C0"/>
                </a:solidFill>
              </a:rPr>
              <a:t>“Big O” </a:t>
            </a:r>
            <a:r>
              <a:rPr lang="en-US" dirty="0" smtClean="0"/>
              <a:t>describes </a:t>
            </a:r>
            <a:r>
              <a:rPr lang="en-US" dirty="0"/>
              <a:t>the </a:t>
            </a:r>
            <a:r>
              <a:rPr lang="en-US" b="1" u="sng" dirty="0">
                <a:solidFill>
                  <a:srgbClr val="00B050"/>
                </a:solidFill>
              </a:rPr>
              <a:t>asymptotic behavior </a:t>
            </a:r>
            <a:r>
              <a:rPr lang="en-US" dirty="0"/>
              <a:t>of a function</a:t>
            </a:r>
          </a:p>
          <a:p>
            <a:pPr lvl="1"/>
            <a:r>
              <a:rPr lang="en-US" dirty="0"/>
              <a:t> because they are concerned only with eventual </a:t>
            </a:r>
            <a:r>
              <a:rPr lang="en-US" dirty="0" smtClean="0"/>
              <a:t>behavior</a:t>
            </a:r>
            <a:endParaRPr lang="en-US" dirty="0"/>
          </a:p>
          <a:p>
            <a:r>
              <a:rPr lang="en-US" dirty="0" smtClean="0">
                <a:solidFill>
                  <a:srgbClr val="0070C0"/>
                </a:solidFill>
              </a:rPr>
              <a:t>“</a:t>
            </a:r>
            <a:r>
              <a:rPr lang="en-US" dirty="0">
                <a:solidFill>
                  <a:srgbClr val="0070C0"/>
                </a:solidFill>
              </a:rPr>
              <a:t>B</a:t>
            </a:r>
            <a:r>
              <a:rPr lang="en-US" dirty="0" smtClean="0">
                <a:solidFill>
                  <a:srgbClr val="0070C0"/>
                </a:solidFill>
              </a:rPr>
              <a:t>ig </a:t>
            </a:r>
            <a:r>
              <a:rPr lang="en-US" dirty="0">
                <a:solidFill>
                  <a:srgbClr val="0070C0"/>
                </a:solidFill>
              </a:rPr>
              <a:t>O” </a:t>
            </a:r>
            <a:r>
              <a:rPr lang="en-US" dirty="0"/>
              <a:t>puts an </a:t>
            </a:r>
            <a:r>
              <a:rPr lang="en-US" b="1" u="sng" dirty="0">
                <a:solidFill>
                  <a:srgbClr val="00B050"/>
                </a:solidFill>
              </a:rPr>
              <a:t>asymptotic upper bound </a:t>
            </a:r>
            <a:r>
              <a:rPr lang="en-US" dirty="0"/>
              <a:t>on a </a:t>
            </a:r>
            <a:r>
              <a:rPr lang="en-US" dirty="0" smtClean="0"/>
              <a:t>function</a:t>
            </a:r>
            <a:endParaRPr lang="en-US" dirty="0"/>
          </a:p>
          <a:p>
            <a:endParaRPr lang="en-US" dirty="0"/>
          </a:p>
          <a:p>
            <a:r>
              <a:rPr lang="en-US" u="sng" dirty="0" smtClean="0">
                <a:solidFill>
                  <a:srgbClr val="C00000"/>
                </a:solidFill>
              </a:rPr>
              <a:t>Examples</a:t>
            </a:r>
            <a:endParaRPr lang="en-US" u="sng" dirty="0">
              <a:solidFill>
                <a:srgbClr val="C00000"/>
              </a:solidFill>
            </a:endParaRPr>
          </a:p>
          <a:p>
            <a:pPr marL="914400" lvl="1" indent="-457200">
              <a:buFont typeface="+mj-lt"/>
              <a:buAutoNum type="arabicPeriod"/>
            </a:pPr>
            <a:r>
              <a:rPr lang="en-US" dirty="0"/>
              <a:t>We show that 5</a:t>
            </a:r>
            <a:r>
              <a:rPr lang="en-US" i="1" dirty="0">
                <a:latin typeface="Times New Roman" panose="02020603050405020304" pitchFamily="18" charset="0"/>
                <a:cs typeface="Times New Roman" panose="02020603050405020304" pitchFamily="18" charset="0"/>
              </a:rPr>
              <a:t>n</a:t>
            </a:r>
            <a:r>
              <a:rPr lang="en-US" baseline="30000" dirty="0"/>
              <a:t>2</a:t>
            </a:r>
            <a:r>
              <a:rPr lang="en-US" dirty="0"/>
              <a:t> ∈ </a:t>
            </a:r>
            <a:r>
              <a:rPr lang="en-US" i="1" dirty="0"/>
              <a:t>O</a:t>
            </a:r>
            <a:r>
              <a:rPr lang="en-US" dirty="0"/>
              <a:t>(</a:t>
            </a:r>
            <a:r>
              <a:rPr lang="en-US" i="1" dirty="0">
                <a:latin typeface="Times New Roman" panose="02020603050405020304" pitchFamily="18" charset="0"/>
                <a:cs typeface="Times New Roman" panose="02020603050405020304" pitchFamily="18" charset="0"/>
              </a:rPr>
              <a:t>n</a:t>
            </a:r>
            <a:r>
              <a:rPr lang="en-US" baseline="30000" dirty="0"/>
              <a:t>2</a:t>
            </a:r>
            <a:r>
              <a:rPr lang="en-US" dirty="0"/>
              <a:t>). Because, for </a:t>
            </a:r>
            <a:r>
              <a:rPr lang="en-US" i="1" dirty="0">
                <a:latin typeface="Times New Roman" panose="02020603050405020304" pitchFamily="18" charset="0"/>
                <a:cs typeface="Times New Roman" panose="02020603050405020304" pitchFamily="18" charset="0"/>
              </a:rPr>
              <a:t>n</a:t>
            </a:r>
            <a:r>
              <a:rPr lang="en-US" i="1" dirty="0"/>
              <a:t> </a:t>
            </a:r>
            <a:r>
              <a:rPr lang="en-US" dirty="0"/>
              <a:t>≥ 0,</a:t>
            </a:r>
          </a:p>
          <a:p>
            <a:pPr lvl="1"/>
            <a:endParaRPr lang="en-US" dirty="0"/>
          </a:p>
          <a:p>
            <a:pPr lvl="1"/>
            <a:endParaRPr lang="en-US" dirty="0"/>
          </a:p>
          <a:p>
            <a:pPr marL="457200" lvl="1" indent="0">
              <a:buNone/>
            </a:pPr>
            <a:r>
              <a:rPr lang="en-US" dirty="0"/>
              <a:t>	we can take </a:t>
            </a:r>
            <a:r>
              <a:rPr lang="en-US" i="1" dirty="0">
                <a:solidFill>
                  <a:srgbClr val="C00000"/>
                </a:solidFill>
                <a:latin typeface="Times New Roman" panose="02020603050405020304" pitchFamily="18" charset="0"/>
                <a:cs typeface="Times New Roman" panose="02020603050405020304" pitchFamily="18" charset="0"/>
              </a:rPr>
              <a:t>c</a:t>
            </a:r>
            <a:r>
              <a:rPr lang="en-US" i="1" dirty="0">
                <a:solidFill>
                  <a:srgbClr val="C00000"/>
                </a:solidFill>
              </a:rPr>
              <a:t> </a:t>
            </a:r>
            <a:r>
              <a:rPr lang="en-US" dirty="0">
                <a:solidFill>
                  <a:srgbClr val="C00000"/>
                </a:solidFill>
              </a:rPr>
              <a:t>= 5 </a:t>
            </a:r>
            <a:r>
              <a:rPr lang="en-US" dirty="0"/>
              <a:t>and </a:t>
            </a:r>
            <a:r>
              <a:rPr lang="en-US" i="1" dirty="0">
                <a:solidFill>
                  <a:srgbClr val="0070C0"/>
                </a:solidFill>
                <a:latin typeface="Times New Roman" panose="02020603050405020304" pitchFamily="18" charset="0"/>
                <a:cs typeface="Times New Roman" panose="02020603050405020304" pitchFamily="18" charset="0"/>
              </a:rPr>
              <a:t>N</a:t>
            </a:r>
            <a:r>
              <a:rPr lang="en-US" i="1" dirty="0">
                <a:solidFill>
                  <a:srgbClr val="0070C0"/>
                </a:solidFill>
              </a:rPr>
              <a:t> </a:t>
            </a:r>
            <a:r>
              <a:rPr lang="en-US" dirty="0">
                <a:solidFill>
                  <a:srgbClr val="0070C0"/>
                </a:solidFill>
              </a:rPr>
              <a:t>= 0 </a:t>
            </a:r>
            <a:r>
              <a:rPr lang="en-US" dirty="0"/>
              <a:t>to obtain our desired </a:t>
            </a:r>
            <a:r>
              <a:rPr lang="en-US" dirty="0" smtClean="0"/>
              <a:t>result </a:t>
            </a:r>
            <a:endParaRPr lang="en-US" dirty="0"/>
          </a:p>
          <a:p>
            <a:pPr lvl="1"/>
            <a:endParaRPr lang="en-QA" dirty="0"/>
          </a:p>
          <a:p>
            <a:pPr lvl="1"/>
            <a:endParaRPr lang="en-QA" dirty="0"/>
          </a:p>
          <a:p>
            <a:pPr marL="457200" lvl="1" indent="0">
              <a:buNone/>
            </a:pPr>
            <a:endParaRPr lang="en-QA" dirty="0"/>
          </a:p>
        </p:txBody>
      </p:sp>
      <p:sp>
        <p:nvSpPr>
          <p:cNvPr id="5" name="TextBox 4"/>
          <p:cNvSpPr txBox="1"/>
          <p:nvPr/>
        </p:nvSpPr>
        <p:spPr>
          <a:xfrm>
            <a:off x="2011680" y="3751290"/>
            <a:ext cx="1493520" cy="461665"/>
          </a:xfrm>
          <a:prstGeom prst="rect">
            <a:avLst/>
          </a:prstGeom>
          <a:noFill/>
        </p:spPr>
        <p:txBody>
          <a:bodyPr wrap="square" rtlCol="0">
            <a:spAutoFit/>
          </a:bodyPr>
          <a:lstStyle/>
          <a:p>
            <a:r>
              <a:rPr lang="en-US" sz="2400" dirty="0" smtClean="0"/>
              <a:t>5 n</a:t>
            </a:r>
            <a:r>
              <a:rPr lang="en-US" sz="2400" baseline="30000" dirty="0" smtClean="0"/>
              <a:t>2 </a:t>
            </a:r>
            <a:r>
              <a:rPr lang="tr-TR" sz="2400" dirty="0" smtClean="0"/>
              <a:t>≤</a:t>
            </a:r>
            <a:r>
              <a:rPr lang="en-US" sz="2400" dirty="0" smtClean="0"/>
              <a:t> 5 n</a:t>
            </a:r>
            <a:r>
              <a:rPr lang="en-US" sz="2400" baseline="30000" dirty="0" smtClean="0"/>
              <a:t>2</a:t>
            </a:r>
            <a:endParaRPr lang="tr-TR" sz="2400" baseline="30000" dirty="0"/>
          </a:p>
        </p:txBody>
      </p:sp>
    </p:spTree>
    <p:extLst>
      <p:ext uri="{BB962C8B-B14F-4D97-AF65-F5344CB8AC3E}">
        <p14:creationId xmlns:p14="http://schemas.microsoft.com/office/powerpoint/2010/main" val="306171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DA6F-EEAE-C84C-A60F-0C6F3660F2A4}"/>
              </a:ext>
            </a:extLst>
          </p:cNvPr>
          <p:cNvSpPr>
            <a:spLocks noGrp="1"/>
          </p:cNvSpPr>
          <p:nvPr>
            <p:ph type="title"/>
          </p:nvPr>
        </p:nvSpPr>
        <p:spPr>
          <a:xfrm>
            <a:off x="0" y="31277"/>
            <a:ext cx="10515600" cy="378338"/>
          </a:xfrm>
        </p:spPr>
        <p:txBody>
          <a:bodyPr>
            <a:normAutofit fontScale="90000"/>
          </a:bodyPr>
          <a:lstStyle/>
          <a:p>
            <a:r>
              <a:rPr lang="en-US" dirty="0"/>
              <a:t>A Rigorous Introduction to Order (cont.)</a:t>
            </a:r>
            <a:endParaRPr lang="en-QA" dirty="0"/>
          </a:p>
        </p:txBody>
      </p:sp>
      <p:sp>
        <p:nvSpPr>
          <p:cNvPr id="3" name="Content Placeholder 2">
            <a:extLst>
              <a:ext uri="{FF2B5EF4-FFF2-40B4-BE49-F238E27FC236}">
                <a16:creationId xmlns:a16="http://schemas.microsoft.com/office/drawing/2014/main" id="{931F888F-5BC9-3F48-8ED7-3FD200F0042A}"/>
              </a:ext>
            </a:extLst>
          </p:cNvPr>
          <p:cNvSpPr>
            <a:spLocks noGrp="1"/>
          </p:cNvSpPr>
          <p:nvPr>
            <p:ph idx="1"/>
          </p:nvPr>
        </p:nvSpPr>
        <p:spPr>
          <a:xfrm>
            <a:off x="838199" y="1258646"/>
            <a:ext cx="10862187" cy="5599354"/>
          </a:xfrm>
        </p:spPr>
        <p:txBody>
          <a:bodyPr>
            <a:normAutofit/>
          </a:bodyPr>
          <a:lstStyle/>
          <a:p>
            <a:r>
              <a:rPr lang="en-QA" b="1" u="sng" dirty="0"/>
              <a:t>Note: </a:t>
            </a:r>
            <a:r>
              <a:rPr lang="en-US" dirty="0"/>
              <a:t>there is </a:t>
            </a:r>
            <a:r>
              <a:rPr lang="en-US" b="1" u="sng" dirty="0"/>
              <a:t>no unique </a:t>
            </a:r>
            <a:r>
              <a:rPr lang="en-US" b="1" dirty="0">
                <a:solidFill>
                  <a:srgbClr val="C00000"/>
                </a:solidFill>
                <a:latin typeface="Times New Roman" panose="02020603050405020304" pitchFamily="18" charset="0"/>
                <a:cs typeface="Times New Roman" panose="02020603050405020304" pitchFamily="18" charset="0"/>
              </a:rPr>
              <a:t>c</a:t>
            </a:r>
            <a:r>
              <a:rPr lang="en-US" dirty="0"/>
              <a:t> </a:t>
            </a:r>
            <a:r>
              <a:rPr lang="en-US" b="1" u="sng" dirty="0"/>
              <a:t>nor unique </a:t>
            </a:r>
            <a:r>
              <a:rPr lang="en-US" b="1" dirty="0">
                <a:solidFill>
                  <a:srgbClr val="0070C0"/>
                </a:solidFill>
                <a:latin typeface="Times New Roman" panose="02020603050405020304" pitchFamily="18" charset="0"/>
                <a:cs typeface="Times New Roman" panose="02020603050405020304" pitchFamily="18" charset="0"/>
              </a:rPr>
              <a:t>N</a:t>
            </a:r>
            <a:r>
              <a:rPr lang="en-US" b="1" dirty="0"/>
              <a:t> </a:t>
            </a:r>
            <a:r>
              <a:rPr lang="en-US" dirty="0"/>
              <a:t>that must be found to show that one function is “big O” of </a:t>
            </a:r>
            <a:r>
              <a:rPr lang="en-US" dirty="0" smtClean="0"/>
              <a:t>another </a:t>
            </a:r>
            <a:endParaRPr lang="en-US" dirty="0"/>
          </a:p>
          <a:p>
            <a:pPr lvl="1"/>
            <a:r>
              <a:rPr lang="en-US" dirty="0"/>
              <a:t>Recall </a:t>
            </a:r>
            <a:r>
              <a:rPr lang="en-US" i="1" dirty="0" smtClean="0">
                <a:latin typeface="Times New Roman" panose="02020603050405020304" pitchFamily="18" charset="0"/>
                <a:cs typeface="Times New Roman" panose="02020603050405020304" pitchFamily="18" charset="0"/>
              </a:rPr>
              <a:t>n</a:t>
            </a:r>
            <a:r>
              <a:rPr lang="en-US" baseline="30000" dirty="0" smtClean="0"/>
              <a:t>2</a:t>
            </a:r>
            <a:r>
              <a:rPr lang="en-US" dirty="0" smtClean="0"/>
              <a:t> </a:t>
            </a:r>
            <a:r>
              <a:rPr lang="en-US" dirty="0"/>
              <a:t>+ 10</a:t>
            </a:r>
            <a:r>
              <a:rPr lang="en-US" i="1" dirty="0">
                <a:latin typeface="Times New Roman" panose="02020603050405020304" pitchFamily="18" charset="0"/>
                <a:cs typeface="Times New Roman" panose="02020603050405020304" pitchFamily="18" charset="0"/>
              </a:rPr>
              <a:t>n</a:t>
            </a:r>
            <a:r>
              <a:rPr lang="en-US" dirty="0"/>
              <a:t> ∈ </a:t>
            </a:r>
            <a:r>
              <a:rPr lang="en-US" i="1" dirty="0">
                <a:latin typeface="Times New Roman" panose="02020603050405020304" pitchFamily="18" charset="0"/>
                <a:cs typeface="Times New Roman" panose="02020603050405020304" pitchFamily="18" charset="0"/>
              </a:rPr>
              <a:t>O</a:t>
            </a:r>
            <a:r>
              <a:rPr lang="en-US" dirty="0"/>
              <a:t>(</a:t>
            </a:r>
            <a:r>
              <a:rPr lang="en-US" i="1" dirty="0">
                <a:latin typeface="Times New Roman" panose="02020603050405020304" pitchFamily="18" charset="0"/>
                <a:cs typeface="Times New Roman" panose="02020603050405020304" pitchFamily="18" charset="0"/>
              </a:rPr>
              <a:t>n</a:t>
            </a:r>
            <a:r>
              <a:rPr lang="en-US" baseline="30000" dirty="0"/>
              <a:t>2</a:t>
            </a:r>
            <a:r>
              <a:rPr lang="en-US" dirty="0"/>
              <a:t>) using </a:t>
            </a:r>
            <a:r>
              <a:rPr lang="en-US" b="1" i="1" dirty="0">
                <a:solidFill>
                  <a:srgbClr val="C00000"/>
                </a:solidFill>
                <a:latin typeface="Times New Roman" panose="02020603050405020304" pitchFamily="18" charset="0"/>
                <a:cs typeface="Times New Roman" panose="02020603050405020304" pitchFamily="18" charset="0"/>
              </a:rPr>
              <a:t>c</a:t>
            </a:r>
            <a:r>
              <a:rPr lang="en-US" dirty="0"/>
              <a:t> = 2 and</a:t>
            </a:r>
            <a:r>
              <a:rPr lang="en-US" b="1" dirty="0">
                <a:solidFill>
                  <a:srgbClr val="0070C0"/>
                </a:solidFill>
              </a:rPr>
              <a:t> </a:t>
            </a:r>
            <a:r>
              <a:rPr lang="en-US" b="1" i="1" dirty="0">
                <a:solidFill>
                  <a:srgbClr val="0070C0"/>
                </a:solidFill>
                <a:latin typeface="Times New Roman" panose="02020603050405020304" pitchFamily="18" charset="0"/>
                <a:cs typeface="Times New Roman" panose="02020603050405020304" pitchFamily="18" charset="0"/>
              </a:rPr>
              <a:t>N</a:t>
            </a:r>
            <a:r>
              <a:rPr lang="en-US" b="1" dirty="0">
                <a:solidFill>
                  <a:srgbClr val="0070C0"/>
                </a:solidFill>
              </a:rPr>
              <a:t> </a:t>
            </a:r>
            <a:r>
              <a:rPr lang="en-US" dirty="0"/>
              <a:t>= 10. Alternatively, we could show it as </a:t>
            </a:r>
            <a:r>
              <a:rPr lang="en-US" dirty="0" smtClean="0"/>
              <a:t>follows</a:t>
            </a:r>
            <a:endParaRPr lang="en-US" dirty="0"/>
          </a:p>
          <a:p>
            <a:pPr lvl="1"/>
            <a:endParaRPr lang="en-US" dirty="0"/>
          </a:p>
          <a:p>
            <a:pPr marL="457200" lvl="1" indent="0">
              <a:buNone/>
            </a:pPr>
            <a:r>
              <a:rPr lang="en-US" dirty="0"/>
              <a:t>3. We show that </a:t>
            </a:r>
            <a:r>
              <a:rPr lang="en-US" i="1" dirty="0">
                <a:latin typeface="Times New Roman" panose="02020603050405020304" pitchFamily="18" charset="0"/>
                <a:cs typeface="Times New Roman" panose="02020603050405020304" pitchFamily="18" charset="0"/>
              </a:rPr>
              <a:t>n</a:t>
            </a:r>
            <a:r>
              <a:rPr lang="en-US" baseline="30000" dirty="0"/>
              <a:t>2</a:t>
            </a:r>
            <a:r>
              <a:rPr lang="en-US" dirty="0"/>
              <a:t> + 10</a:t>
            </a:r>
            <a:r>
              <a:rPr lang="en-US" i="1" dirty="0">
                <a:latin typeface="Times New Roman" panose="02020603050405020304" pitchFamily="18" charset="0"/>
                <a:cs typeface="Times New Roman" panose="02020603050405020304" pitchFamily="18" charset="0"/>
              </a:rPr>
              <a:t>n</a:t>
            </a:r>
            <a:r>
              <a:rPr lang="en-US" dirty="0"/>
              <a:t> ∈ </a:t>
            </a:r>
            <a:r>
              <a:rPr lang="en-US" i="1" dirty="0">
                <a:latin typeface="Times New Roman" panose="02020603050405020304" pitchFamily="18" charset="0"/>
                <a:cs typeface="Times New Roman" panose="02020603050405020304" pitchFamily="18" charset="0"/>
              </a:rPr>
              <a:t>O</a:t>
            </a:r>
            <a:r>
              <a:rPr lang="en-US" dirty="0"/>
              <a:t>(</a:t>
            </a:r>
            <a:r>
              <a:rPr lang="en-US" i="1" dirty="0">
                <a:latin typeface="Times New Roman" panose="02020603050405020304" pitchFamily="18" charset="0"/>
                <a:cs typeface="Times New Roman" panose="02020603050405020304" pitchFamily="18" charset="0"/>
              </a:rPr>
              <a:t>n</a:t>
            </a:r>
            <a:r>
              <a:rPr lang="en-US" baseline="30000" dirty="0"/>
              <a:t>2</a:t>
            </a:r>
            <a:r>
              <a:rPr lang="en-US" dirty="0"/>
              <a:t>). Because, for </a:t>
            </a:r>
            <a:r>
              <a:rPr lang="en-US" i="1" dirty="0">
                <a:latin typeface="Times New Roman" panose="02020603050405020304" pitchFamily="18" charset="0"/>
                <a:cs typeface="Times New Roman" panose="02020603050405020304" pitchFamily="18" charset="0"/>
              </a:rPr>
              <a:t>n</a:t>
            </a:r>
            <a:r>
              <a:rPr lang="en-US" i="1" dirty="0"/>
              <a:t> </a:t>
            </a:r>
            <a:r>
              <a:rPr lang="en-US" dirty="0"/>
              <a:t>≥ 1, </a:t>
            </a:r>
          </a:p>
          <a:p>
            <a:pPr marL="457200" lvl="1" indent="0">
              <a:buNone/>
            </a:pPr>
            <a:endParaRPr lang="en-US" dirty="0"/>
          </a:p>
          <a:p>
            <a:pPr marL="457200" lvl="1" indent="0">
              <a:buNone/>
            </a:pPr>
            <a:endParaRPr lang="en-US" dirty="0"/>
          </a:p>
          <a:p>
            <a:pPr marL="457200" lvl="1" indent="0">
              <a:buNone/>
            </a:pPr>
            <a:r>
              <a:rPr lang="en-US" dirty="0"/>
              <a:t>we can take</a:t>
            </a:r>
            <a:r>
              <a:rPr lang="en-US" b="1" dirty="0">
                <a:solidFill>
                  <a:srgbClr val="C00000"/>
                </a:solidFill>
              </a:rPr>
              <a:t> </a:t>
            </a:r>
            <a:r>
              <a:rPr lang="en-US" b="1" i="1" dirty="0">
                <a:solidFill>
                  <a:srgbClr val="C00000"/>
                </a:solidFill>
                <a:latin typeface="Times New Roman" panose="02020603050405020304" pitchFamily="18" charset="0"/>
                <a:cs typeface="Times New Roman" panose="02020603050405020304" pitchFamily="18" charset="0"/>
              </a:rPr>
              <a:t>c</a:t>
            </a:r>
            <a:r>
              <a:rPr lang="en-US" b="1" i="1" dirty="0">
                <a:solidFill>
                  <a:srgbClr val="C00000"/>
                </a:solidFill>
              </a:rPr>
              <a:t> </a:t>
            </a:r>
            <a:r>
              <a:rPr lang="en-US" dirty="0"/>
              <a:t>= 11 and </a:t>
            </a:r>
            <a:r>
              <a:rPr lang="en-US" b="1" i="1" dirty="0">
                <a:solidFill>
                  <a:srgbClr val="0070C0"/>
                </a:solidFill>
                <a:latin typeface="Times New Roman" panose="02020603050405020304" pitchFamily="18" charset="0"/>
                <a:cs typeface="Times New Roman" panose="02020603050405020304" pitchFamily="18" charset="0"/>
              </a:rPr>
              <a:t>N</a:t>
            </a:r>
            <a:r>
              <a:rPr lang="en-US" i="1" dirty="0"/>
              <a:t> </a:t>
            </a:r>
            <a:r>
              <a:rPr lang="en-US" dirty="0"/>
              <a:t>= 1 to obtain our </a:t>
            </a:r>
            <a:r>
              <a:rPr lang="en-US" dirty="0" smtClean="0"/>
              <a:t>result</a:t>
            </a:r>
            <a:endParaRPr lang="en-US" dirty="0"/>
          </a:p>
          <a:p>
            <a:pPr marL="457200" lvl="1" indent="0">
              <a:buNone/>
            </a:pPr>
            <a:endParaRPr lang="en-US" dirty="0"/>
          </a:p>
          <a:p>
            <a:pPr marL="457200" lvl="1" indent="0">
              <a:buNone/>
            </a:pPr>
            <a:r>
              <a:rPr lang="en-US" dirty="0"/>
              <a:t>4. We show that </a:t>
            </a:r>
            <a:r>
              <a:rPr lang="en-US" i="1" dirty="0"/>
              <a:t>n</a:t>
            </a:r>
            <a:r>
              <a:rPr lang="en-US" i="1" baseline="30000" dirty="0"/>
              <a:t>2</a:t>
            </a:r>
            <a:r>
              <a:rPr lang="en-US" i="1" dirty="0"/>
              <a:t> </a:t>
            </a:r>
            <a:r>
              <a:rPr lang="en-US" dirty="0"/>
              <a:t>∈ </a:t>
            </a:r>
            <a:r>
              <a:rPr lang="en-US" i="1" dirty="0"/>
              <a:t>O</a:t>
            </a:r>
            <a:r>
              <a:rPr lang="en-US" dirty="0"/>
              <a:t>(</a:t>
            </a:r>
            <a:r>
              <a:rPr lang="en-US" i="1" dirty="0"/>
              <a:t>n</a:t>
            </a:r>
            <a:r>
              <a:rPr lang="en-US" baseline="30000" dirty="0"/>
              <a:t>2</a:t>
            </a:r>
            <a:r>
              <a:rPr lang="en-US" dirty="0"/>
              <a:t> + 10</a:t>
            </a:r>
            <a:r>
              <a:rPr lang="en-US" i="1" dirty="0"/>
              <a:t>n</a:t>
            </a:r>
            <a:r>
              <a:rPr lang="en-US" dirty="0"/>
              <a:t>). Because, for </a:t>
            </a:r>
            <a:r>
              <a:rPr lang="en-US" i="1" dirty="0"/>
              <a:t>n </a:t>
            </a:r>
            <a:r>
              <a:rPr lang="en-US" dirty="0"/>
              <a:t>≥ 0, </a:t>
            </a:r>
          </a:p>
          <a:p>
            <a:pPr marL="457200" lvl="1" indent="0">
              <a:buNone/>
            </a:pPr>
            <a:r>
              <a:rPr lang="en-US" dirty="0"/>
              <a:t> </a:t>
            </a:r>
          </a:p>
          <a:p>
            <a:pPr marL="457200" lvl="1" indent="0">
              <a:buNone/>
            </a:pPr>
            <a:endParaRPr lang="en-US" dirty="0"/>
          </a:p>
          <a:p>
            <a:pPr marL="457200" lvl="1" indent="0">
              <a:buNone/>
            </a:pPr>
            <a:r>
              <a:rPr lang="en-US" dirty="0"/>
              <a:t>we can take </a:t>
            </a:r>
            <a:r>
              <a:rPr lang="en-US" b="1" i="1" dirty="0">
                <a:solidFill>
                  <a:srgbClr val="C00000"/>
                </a:solidFill>
              </a:rPr>
              <a:t>c </a:t>
            </a:r>
            <a:r>
              <a:rPr lang="en-US" dirty="0"/>
              <a:t>= 1 and </a:t>
            </a:r>
            <a:r>
              <a:rPr lang="en-US" b="1" i="1" dirty="0">
                <a:solidFill>
                  <a:srgbClr val="0070C0"/>
                </a:solidFill>
              </a:rPr>
              <a:t>N </a:t>
            </a:r>
            <a:r>
              <a:rPr lang="en-US" dirty="0"/>
              <a:t>= 0 to obtain our </a:t>
            </a:r>
            <a:r>
              <a:rPr lang="en-US" dirty="0" smtClean="0"/>
              <a:t>result </a:t>
            </a:r>
            <a:endParaRPr lang="ar-SA" dirty="0"/>
          </a:p>
          <a:p>
            <a:pPr marL="457200" lvl="1" indent="0">
              <a:buNone/>
            </a:pPr>
            <a:endParaRPr lang="en-US" dirty="0"/>
          </a:p>
          <a:p>
            <a:pPr marL="457200" lvl="1" indent="0">
              <a:buNone/>
            </a:pPr>
            <a:r>
              <a:rPr lang="en-US" dirty="0">
                <a:solidFill>
                  <a:srgbClr val="C00000"/>
                </a:solidFill>
              </a:rPr>
              <a:t>Note</a:t>
            </a:r>
            <a:r>
              <a:rPr lang="en-US" dirty="0"/>
              <a:t>: </a:t>
            </a:r>
            <a:r>
              <a:rPr lang="en-US" dirty="0" smtClean="0"/>
              <a:t>The </a:t>
            </a:r>
            <a:r>
              <a:rPr lang="en-US" dirty="0"/>
              <a:t>function inside </a:t>
            </a:r>
            <a:r>
              <a:rPr lang="en-US" u="sng" dirty="0">
                <a:solidFill>
                  <a:srgbClr val="0070C0"/>
                </a:solidFill>
              </a:rPr>
              <a:t>“big </a:t>
            </a:r>
            <a:r>
              <a:rPr lang="en-US" i="1" u="sng" dirty="0">
                <a:solidFill>
                  <a:srgbClr val="0070C0"/>
                </a:solidFill>
              </a:rPr>
              <a:t>O</a:t>
            </a:r>
            <a:r>
              <a:rPr lang="en-US" u="sng" dirty="0">
                <a:solidFill>
                  <a:srgbClr val="0070C0"/>
                </a:solidFill>
              </a:rPr>
              <a:t>” does not have to be one of the simple functions</a:t>
            </a:r>
            <a:r>
              <a:rPr lang="en-US" dirty="0"/>
              <a:t>. </a:t>
            </a:r>
            <a:endParaRPr lang="en-US" dirty="0" smtClean="0"/>
          </a:p>
          <a:p>
            <a:pPr marL="457200" lvl="1" indent="0">
              <a:buNone/>
            </a:pPr>
            <a:r>
              <a:rPr lang="en-US" dirty="0"/>
              <a:t> </a:t>
            </a:r>
            <a:r>
              <a:rPr lang="en-US" dirty="0" smtClean="0"/>
              <a:t>           It </a:t>
            </a:r>
            <a:r>
              <a:rPr lang="en-US" dirty="0"/>
              <a:t>can be </a:t>
            </a:r>
            <a:r>
              <a:rPr lang="en-US" u="sng" dirty="0">
                <a:solidFill>
                  <a:srgbClr val="00B050"/>
                </a:solidFill>
              </a:rPr>
              <a:t>any complexity function</a:t>
            </a:r>
            <a:r>
              <a:rPr lang="en-US" dirty="0"/>
              <a:t>. H</a:t>
            </a:r>
            <a:r>
              <a:rPr lang="en-US" dirty="0" smtClean="0"/>
              <a:t>owever</a:t>
            </a:r>
            <a:r>
              <a:rPr lang="en-US" dirty="0"/>
              <a:t>, we take it to be </a:t>
            </a:r>
            <a:r>
              <a:rPr lang="en-US" u="sng" dirty="0">
                <a:solidFill>
                  <a:srgbClr val="C00000"/>
                </a:solidFill>
              </a:rPr>
              <a:t>a simple function </a:t>
            </a:r>
            <a:endParaRPr lang="en-US" dirty="0"/>
          </a:p>
          <a:p>
            <a:pPr marL="457200" lvl="1" indent="0">
              <a:buNone/>
            </a:pPr>
            <a:endParaRPr lang="en-US" dirty="0"/>
          </a:p>
          <a:p>
            <a:pPr marL="457200" lvl="1" indent="0">
              <a:buNone/>
            </a:pPr>
            <a:endParaRPr lang="en-QA" dirty="0"/>
          </a:p>
        </p:txBody>
      </p:sp>
      <p:cxnSp>
        <p:nvCxnSpPr>
          <p:cNvPr id="4" name="Straight Connector 3">
            <a:extLst>
              <a:ext uri="{FF2B5EF4-FFF2-40B4-BE49-F238E27FC236}">
                <a16:creationId xmlns:a16="http://schemas.microsoft.com/office/drawing/2014/main" id="{F8E0F727-648C-334F-85AD-9618A6E33A79}"/>
              </a:ext>
            </a:extLst>
          </p:cNvPr>
          <p:cNvCxnSpPr>
            <a:cxnSpLocks/>
          </p:cNvCxnSpPr>
          <p:nvPr/>
        </p:nvCxnSpPr>
        <p:spPr>
          <a:xfrm>
            <a:off x="1331493" y="4154905"/>
            <a:ext cx="98177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23BA7BD-1BD2-A54A-AEF4-3F1B54B5DD0D}"/>
              </a:ext>
            </a:extLst>
          </p:cNvPr>
          <p:cNvCxnSpPr>
            <a:cxnSpLocks/>
          </p:cNvCxnSpPr>
          <p:nvPr/>
        </p:nvCxnSpPr>
        <p:spPr>
          <a:xfrm>
            <a:off x="1331493" y="2558716"/>
            <a:ext cx="981776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574800" y="3104967"/>
            <a:ext cx="3434080" cy="461665"/>
          </a:xfrm>
          <a:prstGeom prst="rect">
            <a:avLst/>
          </a:prstGeom>
          <a:solidFill>
            <a:srgbClr val="FFC000"/>
          </a:solidFill>
        </p:spPr>
        <p:txBody>
          <a:bodyPr wrap="square" rtlCol="0">
            <a:spAutoFit/>
          </a:bodyPr>
          <a:lstStyle/>
          <a:p>
            <a:r>
              <a:rPr lang="en-US" sz="2400" i="1" dirty="0">
                <a:latin typeface="Times New Roman" panose="02020603050405020304" pitchFamily="18" charset="0"/>
                <a:cs typeface="Times New Roman" panose="02020603050405020304" pitchFamily="18" charset="0"/>
              </a:rPr>
              <a:t>n</a:t>
            </a:r>
            <a:r>
              <a:rPr lang="en-US" sz="2400" baseline="30000" dirty="0"/>
              <a:t>2</a:t>
            </a:r>
            <a:r>
              <a:rPr lang="en-US" sz="2400" dirty="0"/>
              <a:t> + </a:t>
            </a:r>
            <a:r>
              <a:rPr lang="en-US" sz="2400" dirty="0" smtClean="0"/>
              <a:t>10</a:t>
            </a:r>
            <a:r>
              <a:rPr lang="en-US" sz="2400" i="1" dirty="0" smtClean="0">
                <a:latin typeface="Times New Roman" panose="02020603050405020304" pitchFamily="18" charset="0"/>
                <a:cs typeface="Times New Roman" panose="02020603050405020304" pitchFamily="18" charset="0"/>
              </a:rPr>
              <a:t>n </a:t>
            </a:r>
            <a:r>
              <a:rPr lang="tr-TR" sz="2400" dirty="0" smtClean="0"/>
              <a:t>≤</a:t>
            </a:r>
            <a:r>
              <a:rPr lang="en-US" sz="2400" dirty="0" smtClean="0"/>
              <a:t> </a:t>
            </a:r>
            <a:r>
              <a:rPr lang="en-US" sz="2400" i="1" dirty="0" smtClean="0">
                <a:latin typeface="Times New Roman" panose="02020603050405020304" pitchFamily="18" charset="0"/>
                <a:cs typeface="Times New Roman" panose="02020603050405020304" pitchFamily="18" charset="0"/>
              </a:rPr>
              <a:t>n</a:t>
            </a:r>
            <a:r>
              <a:rPr lang="en-US" sz="2400" baseline="30000" dirty="0" smtClean="0"/>
              <a:t>2 </a:t>
            </a:r>
            <a:r>
              <a:rPr lang="en-US" sz="2400" dirty="0" smtClean="0"/>
              <a:t>+ 10</a:t>
            </a:r>
            <a:r>
              <a:rPr lang="en-US" sz="2400" i="1" dirty="0" smtClean="0">
                <a:latin typeface="Times New Roman" panose="02020603050405020304" pitchFamily="18" charset="0"/>
                <a:cs typeface="Times New Roman" panose="02020603050405020304" pitchFamily="18" charset="0"/>
              </a:rPr>
              <a:t>n</a:t>
            </a:r>
            <a:r>
              <a:rPr lang="en-US" sz="2400" baseline="30000" dirty="0" smtClean="0"/>
              <a:t>2 </a:t>
            </a:r>
            <a:r>
              <a:rPr lang="en-US" sz="2400" dirty="0" smtClean="0"/>
              <a:t>= 11</a:t>
            </a:r>
            <a:r>
              <a:rPr lang="en-US" sz="2400" i="1" dirty="0">
                <a:latin typeface="Times New Roman" panose="02020603050405020304" pitchFamily="18" charset="0"/>
                <a:cs typeface="Times New Roman" panose="02020603050405020304" pitchFamily="18" charset="0"/>
              </a:rPr>
              <a:t>n</a:t>
            </a:r>
            <a:r>
              <a:rPr lang="en-US" sz="2400" baseline="30000" dirty="0"/>
              <a:t>2</a:t>
            </a:r>
            <a:r>
              <a:rPr lang="en-US" sz="2400" dirty="0" smtClean="0"/>
              <a:t> </a:t>
            </a:r>
            <a:endParaRPr lang="tr-TR" sz="2400" dirty="0"/>
          </a:p>
        </p:txBody>
      </p:sp>
      <p:sp>
        <p:nvSpPr>
          <p:cNvPr id="10" name="TextBox 9"/>
          <p:cNvSpPr txBox="1"/>
          <p:nvPr/>
        </p:nvSpPr>
        <p:spPr>
          <a:xfrm>
            <a:off x="1559560" y="4718866"/>
            <a:ext cx="2473960" cy="461665"/>
          </a:xfrm>
          <a:prstGeom prst="rect">
            <a:avLst/>
          </a:prstGeom>
          <a:solidFill>
            <a:srgbClr val="FFFF00"/>
          </a:solidFill>
        </p:spPr>
        <p:txBody>
          <a:bodyPr wrap="square" rtlCol="0">
            <a:spAutoFit/>
          </a:bodyPr>
          <a:lstStyle/>
          <a:p>
            <a:r>
              <a:rPr lang="en-US" sz="2400" i="1" dirty="0">
                <a:latin typeface="Times New Roman" panose="02020603050405020304" pitchFamily="18" charset="0"/>
                <a:cs typeface="Times New Roman" panose="02020603050405020304" pitchFamily="18" charset="0"/>
              </a:rPr>
              <a:t>n</a:t>
            </a:r>
            <a:r>
              <a:rPr lang="en-US" sz="2400" baseline="30000" dirty="0"/>
              <a:t>2</a:t>
            </a:r>
            <a:r>
              <a:rPr lang="en-US" sz="2400" dirty="0"/>
              <a:t> </a:t>
            </a:r>
            <a:r>
              <a:rPr lang="en-US" sz="2400" i="1" dirty="0" smtClean="0">
                <a:latin typeface="Times New Roman" panose="02020603050405020304" pitchFamily="18" charset="0"/>
                <a:cs typeface="Times New Roman" panose="02020603050405020304" pitchFamily="18" charset="0"/>
              </a:rPr>
              <a:t> </a:t>
            </a:r>
            <a:r>
              <a:rPr lang="tr-TR" sz="2400" dirty="0" smtClean="0"/>
              <a:t>≤</a:t>
            </a:r>
            <a:r>
              <a:rPr lang="en-US" sz="2400" dirty="0" smtClean="0"/>
              <a:t> 1 * (</a:t>
            </a:r>
            <a:r>
              <a:rPr lang="en-US" sz="2400" i="1" dirty="0" smtClean="0">
                <a:latin typeface="Times New Roman" panose="02020603050405020304" pitchFamily="18" charset="0"/>
                <a:cs typeface="Times New Roman" panose="02020603050405020304" pitchFamily="18" charset="0"/>
              </a:rPr>
              <a:t>n</a:t>
            </a:r>
            <a:r>
              <a:rPr lang="en-US" sz="2400" baseline="30000" dirty="0" smtClean="0"/>
              <a:t>2 </a:t>
            </a:r>
            <a:r>
              <a:rPr lang="en-US" sz="2400" dirty="0" smtClean="0"/>
              <a:t>+ 10</a:t>
            </a:r>
            <a:r>
              <a:rPr lang="en-US" sz="2400" i="1" dirty="0" smtClean="0">
                <a:latin typeface="Times New Roman" panose="02020603050405020304" pitchFamily="18" charset="0"/>
                <a:cs typeface="Times New Roman" panose="02020603050405020304" pitchFamily="18" charset="0"/>
              </a:rPr>
              <a:t>n</a:t>
            </a:r>
            <a:r>
              <a:rPr lang="en-US" sz="2400" dirty="0" smtClean="0">
                <a:latin typeface="Times New Roman" panose="02020603050405020304" pitchFamily="18" charset="0"/>
                <a:cs typeface="Times New Roman" panose="02020603050405020304" pitchFamily="18" charset="0"/>
              </a:rPr>
              <a:t>)</a:t>
            </a:r>
            <a:r>
              <a:rPr lang="en-US" sz="2400" dirty="0" smtClean="0"/>
              <a:t> </a:t>
            </a:r>
            <a:endParaRPr lang="tr-TR" sz="2400" dirty="0"/>
          </a:p>
        </p:txBody>
      </p:sp>
    </p:spTree>
    <p:extLst>
      <p:ext uri="{BB962C8B-B14F-4D97-AF65-F5344CB8AC3E}">
        <p14:creationId xmlns:p14="http://schemas.microsoft.com/office/powerpoint/2010/main" val="64941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 calcmode="lin" valueType="num">
                                      <p:cBhvr additive="base">
                                        <p:cTn id="3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anim calcmode="lin" valueType="num">
                                      <p:cBhvr additive="base">
                                        <p:cTn id="4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anim calcmode="lin" valueType="num">
                                      <p:cBhvr additive="base">
                                        <p:cTn id="4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61F81-528C-8947-80DA-E1F64C5F870B}"/>
              </a:ext>
            </a:extLst>
          </p:cNvPr>
          <p:cNvSpPr>
            <a:spLocks noGrp="1"/>
          </p:cNvSpPr>
          <p:nvPr>
            <p:ph type="title"/>
          </p:nvPr>
        </p:nvSpPr>
        <p:spPr>
          <a:xfrm>
            <a:off x="69850" y="0"/>
            <a:ext cx="10515600" cy="893520"/>
          </a:xfrm>
        </p:spPr>
        <p:txBody>
          <a:bodyPr/>
          <a:lstStyle/>
          <a:p>
            <a:r>
              <a:rPr lang="en-US" dirty="0"/>
              <a:t>A Rigorous Introduction to Order (cont.)</a:t>
            </a:r>
            <a:endParaRPr lang="en-QA" dirty="0"/>
          </a:p>
        </p:txBody>
      </p:sp>
      <p:sp>
        <p:nvSpPr>
          <p:cNvPr id="3" name="Content Placeholder 2">
            <a:extLst>
              <a:ext uri="{FF2B5EF4-FFF2-40B4-BE49-F238E27FC236}">
                <a16:creationId xmlns:a16="http://schemas.microsoft.com/office/drawing/2014/main" id="{8628D924-2EB6-8E44-BA6F-70A8A8AE0758}"/>
              </a:ext>
            </a:extLst>
          </p:cNvPr>
          <p:cNvSpPr>
            <a:spLocks noGrp="1"/>
          </p:cNvSpPr>
          <p:nvPr>
            <p:ph idx="1"/>
          </p:nvPr>
        </p:nvSpPr>
        <p:spPr>
          <a:xfrm>
            <a:off x="838199" y="1258646"/>
            <a:ext cx="10830339" cy="4918317"/>
          </a:xfrm>
        </p:spPr>
        <p:txBody>
          <a:bodyPr/>
          <a:lstStyle/>
          <a:p>
            <a:pPr marL="457200" lvl="1" indent="0">
              <a:buNone/>
            </a:pPr>
            <a:r>
              <a:rPr lang="en-QA" dirty="0"/>
              <a:t>5. </a:t>
            </a:r>
            <a:r>
              <a:rPr lang="en-US" dirty="0"/>
              <a:t>We show that </a:t>
            </a:r>
            <a:r>
              <a:rPr lang="en-US" i="1" dirty="0"/>
              <a:t>n </a:t>
            </a:r>
            <a:r>
              <a:rPr lang="en-US" dirty="0"/>
              <a:t>∈ </a:t>
            </a:r>
            <a:r>
              <a:rPr lang="en-US" i="1" dirty="0"/>
              <a:t>O</a:t>
            </a:r>
            <a:r>
              <a:rPr lang="en-US" dirty="0"/>
              <a:t>(</a:t>
            </a:r>
            <a:r>
              <a:rPr lang="en-US" i="1" dirty="0"/>
              <a:t>n</a:t>
            </a:r>
            <a:r>
              <a:rPr lang="en-US" baseline="30000" dirty="0"/>
              <a:t>2</a:t>
            </a:r>
            <a:r>
              <a:rPr lang="en-US" dirty="0"/>
              <a:t>). Because, for </a:t>
            </a:r>
            <a:r>
              <a:rPr lang="en-US" i="1" dirty="0"/>
              <a:t>n </a:t>
            </a:r>
            <a:r>
              <a:rPr lang="en-US" dirty="0"/>
              <a:t>≥ 1,</a:t>
            </a:r>
          </a:p>
          <a:p>
            <a:pPr marL="457200" lvl="1" indent="0">
              <a:buNone/>
            </a:pPr>
            <a:endParaRPr lang="en-US" dirty="0"/>
          </a:p>
          <a:p>
            <a:pPr marL="457200" lvl="1" indent="0">
              <a:buNone/>
            </a:pPr>
            <a:r>
              <a:rPr lang="en-US" dirty="0"/>
              <a:t/>
            </a:r>
            <a:br>
              <a:rPr lang="en-US" dirty="0"/>
            </a:br>
            <a:r>
              <a:rPr lang="en-US" dirty="0"/>
              <a:t>we can take </a:t>
            </a:r>
            <a:r>
              <a:rPr lang="en-US" b="1" i="1" dirty="0">
                <a:solidFill>
                  <a:srgbClr val="C00000"/>
                </a:solidFill>
              </a:rPr>
              <a:t>c</a:t>
            </a:r>
            <a:r>
              <a:rPr lang="en-US" i="1" dirty="0"/>
              <a:t> </a:t>
            </a:r>
            <a:r>
              <a:rPr lang="en-US" dirty="0"/>
              <a:t>= 1 and </a:t>
            </a:r>
            <a:r>
              <a:rPr lang="en-US" i="1" dirty="0">
                <a:solidFill>
                  <a:srgbClr val="0070C0"/>
                </a:solidFill>
              </a:rPr>
              <a:t>N</a:t>
            </a:r>
            <a:r>
              <a:rPr lang="en-US" i="1" dirty="0"/>
              <a:t> </a:t>
            </a:r>
            <a:r>
              <a:rPr lang="en-US" dirty="0"/>
              <a:t>= 1 to obtain our </a:t>
            </a:r>
            <a:r>
              <a:rPr lang="en-US" dirty="0" smtClean="0"/>
              <a:t>result</a:t>
            </a:r>
            <a:endParaRPr lang="en-US" dirty="0"/>
          </a:p>
          <a:p>
            <a:pPr marL="457200" lvl="1" indent="0">
              <a:buNone/>
            </a:pPr>
            <a:endParaRPr lang="en-US" dirty="0"/>
          </a:p>
          <a:p>
            <a:pPr marL="457200" lvl="1" indent="0">
              <a:buNone/>
            </a:pPr>
            <a:r>
              <a:rPr lang="en-US" u="sng" dirty="0">
                <a:solidFill>
                  <a:srgbClr val="C00000"/>
                </a:solidFill>
              </a:rPr>
              <a:t>Note</a:t>
            </a:r>
            <a:r>
              <a:rPr lang="en-US" u="sng" dirty="0"/>
              <a:t>: </a:t>
            </a:r>
            <a:r>
              <a:rPr lang="en-US" dirty="0"/>
              <a:t>A complexity function </a:t>
            </a:r>
            <a:r>
              <a:rPr lang="en-US" u="sng" dirty="0">
                <a:solidFill>
                  <a:srgbClr val="0070C0"/>
                </a:solidFill>
              </a:rPr>
              <a:t>need not have a quadratic term to be in </a:t>
            </a:r>
            <a:r>
              <a:rPr lang="en-US" i="1" u="sng" dirty="0">
                <a:solidFill>
                  <a:srgbClr val="0070C0"/>
                </a:solidFill>
              </a:rPr>
              <a:t>O</a:t>
            </a:r>
            <a:r>
              <a:rPr lang="en-US" u="sng" dirty="0">
                <a:solidFill>
                  <a:srgbClr val="0070C0"/>
                </a:solidFill>
              </a:rPr>
              <a:t>(</a:t>
            </a:r>
            <a:r>
              <a:rPr lang="en-US" i="1" u="sng" dirty="0">
                <a:solidFill>
                  <a:srgbClr val="0070C0"/>
                </a:solidFill>
              </a:rPr>
              <a:t>n</a:t>
            </a:r>
            <a:r>
              <a:rPr lang="en-US" u="sng" baseline="30000" dirty="0">
                <a:solidFill>
                  <a:srgbClr val="0070C0"/>
                </a:solidFill>
              </a:rPr>
              <a:t>2</a:t>
            </a:r>
            <a:r>
              <a:rPr lang="en-US" u="sng" dirty="0" smtClean="0">
                <a:solidFill>
                  <a:srgbClr val="0070C0"/>
                </a:solidFill>
              </a:rPr>
              <a:t>)</a:t>
            </a:r>
          </a:p>
          <a:p>
            <a:pPr marL="457200" lvl="1" indent="0">
              <a:buNone/>
            </a:pPr>
            <a:r>
              <a:rPr lang="en-US" dirty="0" smtClean="0"/>
              <a:t>It </a:t>
            </a:r>
            <a:r>
              <a:rPr lang="en-US" dirty="0"/>
              <a:t>need only eventually lie </a:t>
            </a:r>
            <a:r>
              <a:rPr lang="en-US" dirty="0">
                <a:solidFill>
                  <a:srgbClr val="00B050"/>
                </a:solidFill>
              </a:rPr>
              <a:t>beneath some pure quadratic function on a </a:t>
            </a:r>
            <a:r>
              <a:rPr lang="en-US" dirty="0" smtClean="0">
                <a:solidFill>
                  <a:srgbClr val="00B050"/>
                </a:solidFill>
              </a:rPr>
              <a:t>graph</a:t>
            </a:r>
            <a:endParaRPr lang="en-US" dirty="0" smtClean="0"/>
          </a:p>
          <a:p>
            <a:pPr marL="457200" lvl="1" indent="0">
              <a:buNone/>
            </a:pPr>
            <a:r>
              <a:rPr lang="en-US" dirty="0" smtClean="0"/>
              <a:t>Therefore</a:t>
            </a:r>
            <a:r>
              <a:rPr lang="en-US" dirty="0"/>
              <a:t>, </a:t>
            </a:r>
            <a:r>
              <a:rPr lang="en-US" dirty="0">
                <a:solidFill>
                  <a:srgbClr val="7030A0"/>
                </a:solidFill>
              </a:rPr>
              <a:t>any logarithmic or linear complexity function is in </a:t>
            </a:r>
            <a:r>
              <a:rPr lang="en-US" i="1" dirty="0">
                <a:solidFill>
                  <a:srgbClr val="7030A0"/>
                </a:solidFill>
              </a:rPr>
              <a:t>O</a:t>
            </a:r>
            <a:r>
              <a:rPr lang="en-US" dirty="0">
                <a:solidFill>
                  <a:srgbClr val="7030A0"/>
                </a:solidFill>
              </a:rPr>
              <a:t>(</a:t>
            </a:r>
            <a:r>
              <a:rPr lang="en-US" i="1" dirty="0">
                <a:solidFill>
                  <a:srgbClr val="7030A0"/>
                </a:solidFill>
              </a:rPr>
              <a:t>n</a:t>
            </a:r>
            <a:r>
              <a:rPr lang="en-US" baseline="30000" dirty="0">
                <a:solidFill>
                  <a:srgbClr val="7030A0"/>
                </a:solidFill>
              </a:rPr>
              <a:t>2</a:t>
            </a:r>
            <a:r>
              <a:rPr lang="en-US" dirty="0" smtClean="0">
                <a:solidFill>
                  <a:srgbClr val="7030A0"/>
                </a:solidFill>
              </a:rPr>
              <a:t>)</a:t>
            </a:r>
            <a:endParaRPr lang="en-US" dirty="0" smtClean="0"/>
          </a:p>
          <a:p>
            <a:pPr marL="457200" lvl="1" indent="0">
              <a:buNone/>
            </a:pPr>
            <a:r>
              <a:rPr lang="en-US" dirty="0" smtClean="0"/>
              <a:t>Similarly</a:t>
            </a:r>
            <a:r>
              <a:rPr lang="en-US" dirty="0"/>
              <a:t>, any logarithmic, linear, or quadratic complexity function is in </a:t>
            </a:r>
            <a:r>
              <a:rPr lang="en-US" i="1" dirty="0"/>
              <a:t>O</a:t>
            </a:r>
            <a:r>
              <a:rPr lang="en-US" dirty="0"/>
              <a:t>(</a:t>
            </a:r>
            <a:r>
              <a:rPr lang="en-US" i="1" dirty="0"/>
              <a:t>n</a:t>
            </a:r>
            <a:r>
              <a:rPr lang="en-US" baseline="30000" dirty="0"/>
              <a:t>3</a:t>
            </a:r>
            <a:r>
              <a:rPr lang="en-US" dirty="0"/>
              <a:t>), and so </a:t>
            </a:r>
            <a:r>
              <a:rPr lang="en-US" dirty="0" smtClean="0"/>
              <a:t>on</a:t>
            </a:r>
            <a:endParaRPr lang="en-US" dirty="0"/>
          </a:p>
          <a:p>
            <a:pPr marL="457200" lvl="1" indent="0">
              <a:buNone/>
            </a:pPr>
            <a:r>
              <a:rPr lang="en-US" dirty="0"/>
              <a:t> </a:t>
            </a:r>
          </a:p>
          <a:p>
            <a:pPr marL="457200" lvl="1" indent="0">
              <a:buNone/>
            </a:pPr>
            <a:endParaRPr lang="en-QA" dirty="0"/>
          </a:p>
        </p:txBody>
      </p:sp>
      <p:pic>
        <p:nvPicPr>
          <p:cNvPr id="5" name="Picture 4">
            <a:extLst>
              <a:ext uri="{FF2B5EF4-FFF2-40B4-BE49-F238E27FC236}">
                <a16:creationId xmlns:a16="http://schemas.microsoft.com/office/drawing/2014/main" id="{D49AE830-237B-AC41-AB7C-3D6203EF73E1}"/>
              </a:ext>
            </a:extLst>
          </p:cNvPr>
          <p:cNvPicPr>
            <a:picLocks noChangeAspect="1"/>
          </p:cNvPicPr>
          <p:nvPr/>
        </p:nvPicPr>
        <p:blipFill>
          <a:blip r:embed="rId2"/>
          <a:stretch>
            <a:fillRect/>
          </a:stretch>
        </p:blipFill>
        <p:spPr>
          <a:xfrm>
            <a:off x="5634631" y="4168096"/>
            <a:ext cx="2033823" cy="2103271"/>
          </a:xfrm>
          <a:prstGeom prst="rect">
            <a:avLst/>
          </a:prstGeom>
        </p:spPr>
      </p:pic>
      <p:sp>
        <p:nvSpPr>
          <p:cNvPr id="6" name="Rectangle 5">
            <a:extLst>
              <a:ext uri="{FF2B5EF4-FFF2-40B4-BE49-F238E27FC236}">
                <a16:creationId xmlns:a16="http://schemas.microsoft.com/office/drawing/2014/main" id="{83DD0D31-295E-604B-A0C2-4AE6939675F5}"/>
              </a:ext>
            </a:extLst>
          </p:cNvPr>
          <p:cNvSpPr/>
          <p:nvPr/>
        </p:nvSpPr>
        <p:spPr>
          <a:xfrm>
            <a:off x="3972936" y="6357423"/>
            <a:ext cx="4560864" cy="369332"/>
          </a:xfrm>
          <a:prstGeom prst="rect">
            <a:avLst/>
          </a:prstGeom>
        </p:spPr>
        <p:txBody>
          <a:bodyPr wrap="none">
            <a:spAutoFit/>
          </a:bodyPr>
          <a:lstStyle/>
          <a:p>
            <a:r>
              <a:rPr lang="en-US" dirty="0">
                <a:solidFill>
                  <a:srgbClr val="C00000"/>
                </a:solidFill>
                <a:latin typeface="LiberationSerif"/>
              </a:rPr>
              <a:t>Some exemplary members of the set</a:t>
            </a:r>
            <a:r>
              <a:rPr lang="en-US" dirty="0">
                <a:solidFill>
                  <a:srgbClr val="C00000"/>
                </a:solidFill>
              </a:rPr>
              <a:t> </a:t>
            </a:r>
            <a:r>
              <a:rPr lang="en-US" i="1" dirty="0">
                <a:solidFill>
                  <a:srgbClr val="C00000"/>
                </a:solidFill>
              </a:rPr>
              <a:t>O</a:t>
            </a:r>
            <a:r>
              <a:rPr lang="en-US" dirty="0">
                <a:solidFill>
                  <a:srgbClr val="C00000"/>
                </a:solidFill>
              </a:rPr>
              <a:t>(</a:t>
            </a:r>
            <a:r>
              <a:rPr lang="en-US" i="1" dirty="0">
                <a:solidFill>
                  <a:srgbClr val="C00000"/>
                </a:solidFill>
              </a:rPr>
              <a:t>n</a:t>
            </a:r>
            <a:r>
              <a:rPr lang="en-US" baseline="30000" dirty="0">
                <a:solidFill>
                  <a:srgbClr val="C00000"/>
                </a:solidFill>
              </a:rPr>
              <a:t>2</a:t>
            </a:r>
            <a:r>
              <a:rPr lang="en-US" dirty="0"/>
              <a:t>)</a:t>
            </a:r>
            <a:r>
              <a:rPr lang="en-US" dirty="0">
                <a:latin typeface="LiberationSerif"/>
              </a:rPr>
              <a:t> </a:t>
            </a:r>
            <a:endParaRPr lang="en-US" dirty="0"/>
          </a:p>
        </p:txBody>
      </p:sp>
      <p:sp>
        <p:nvSpPr>
          <p:cNvPr id="7" name="TextBox 6"/>
          <p:cNvSpPr txBox="1"/>
          <p:nvPr/>
        </p:nvSpPr>
        <p:spPr>
          <a:xfrm>
            <a:off x="1656080" y="1690955"/>
            <a:ext cx="1371600" cy="461665"/>
          </a:xfrm>
          <a:prstGeom prst="rect">
            <a:avLst/>
          </a:prstGeom>
          <a:solidFill>
            <a:srgbClr val="FFC000"/>
          </a:solidFill>
        </p:spPr>
        <p:txBody>
          <a:bodyPr wrap="square" rtlCol="0">
            <a:spAutoFit/>
          </a:bodyPr>
          <a:lstStyle/>
          <a:p>
            <a:r>
              <a:rPr lang="en-US" sz="2400" i="1" dirty="0" smtClean="0">
                <a:latin typeface="Times New Roman" panose="02020603050405020304" pitchFamily="18" charset="0"/>
                <a:cs typeface="Times New Roman" panose="02020603050405020304" pitchFamily="18" charset="0"/>
              </a:rPr>
              <a:t>n </a:t>
            </a:r>
            <a:r>
              <a:rPr lang="tr-TR" sz="2400" dirty="0"/>
              <a:t>≤</a:t>
            </a:r>
            <a:r>
              <a:rPr lang="en-US" sz="2400" dirty="0"/>
              <a:t> </a:t>
            </a:r>
            <a:r>
              <a:rPr lang="en-US" sz="2400" dirty="0" smtClean="0"/>
              <a:t>1 * </a:t>
            </a:r>
            <a:r>
              <a:rPr lang="en-US" sz="2400" i="1" dirty="0" smtClean="0">
                <a:latin typeface="Times New Roman" panose="02020603050405020304" pitchFamily="18" charset="0"/>
                <a:cs typeface="Times New Roman" panose="02020603050405020304" pitchFamily="18" charset="0"/>
              </a:rPr>
              <a:t>n</a:t>
            </a:r>
            <a:r>
              <a:rPr lang="en-US" sz="2400" baseline="30000" dirty="0" smtClean="0"/>
              <a:t>2</a:t>
            </a:r>
            <a:endParaRPr lang="tr-TR" sz="2400" dirty="0"/>
          </a:p>
        </p:txBody>
      </p:sp>
    </p:spTree>
    <p:extLst>
      <p:ext uri="{BB962C8B-B14F-4D97-AF65-F5344CB8AC3E}">
        <p14:creationId xmlns:p14="http://schemas.microsoft.com/office/powerpoint/2010/main" val="132477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DC7C0-BF62-E144-8DBC-5B1C0D2BB162}"/>
              </a:ext>
            </a:extLst>
          </p:cNvPr>
          <p:cNvSpPr>
            <a:spLocks noGrp="1"/>
          </p:cNvSpPr>
          <p:nvPr>
            <p:ph type="title"/>
          </p:nvPr>
        </p:nvSpPr>
        <p:spPr>
          <a:xfrm>
            <a:off x="267928" y="64814"/>
            <a:ext cx="11416071" cy="615906"/>
          </a:xfrm>
        </p:spPr>
        <p:txBody>
          <a:bodyPr/>
          <a:lstStyle/>
          <a:p>
            <a:r>
              <a:rPr lang="en-US" dirty="0"/>
              <a:t>A Rigorous Introduction to Order </a:t>
            </a:r>
            <a:r>
              <a:rPr lang="en-US" u="sng" dirty="0" smtClean="0">
                <a:solidFill>
                  <a:srgbClr val="0070C0"/>
                </a:solidFill>
              </a:rPr>
              <a:t>(Lower Bound)</a:t>
            </a:r>
            <a:r>
              <a:rPr lang="en-US" dirty="0" smtClean="0">
                <a:solidFill>
                  <a:srgbClr val="0070C0"/>
                </a:solidFill>
              </a:rPr>
              <a:t>                </a:t>
            </a:r>
            <a:r>
              <a:rPr lang="el-GR" dirty="0" smtClean="0">
                <a:solidFill>
                  <a:srgbClr val="0070C0"/>
                </a:solidFill>
              </a:rPr>
              <a:t>Ω</a:t>
            </a:r>
            <a:r>
              <a:rPr lang="en-US" dirty="0" smtClean="0">
                <a:solidFill>
                  <a:srgbClr val="0070C0"/>
                </a:solidFill>
              </a:rPr>
              <a:t> (omega)</a:t>
            </a:r>
            <a:endParaRPr lang="en-QA" u="sng" dirty="0">
              <a:solidFill>
                <a:srgbClr val="0070C0"/>
              </a:solidFill>
            </a:endParaRPr>
          </a:p>
        </p:txBody>
      </p:sp>
      <p:sp>
        <p:nvSpPr>
          <p:cNvPr id="3" name="Content Placeholder 2">
            <a:extLst>
              <a:ext uri="{FF2B5EF4-FFF2-40B4-BE49-F238E27FC236}">
                <a16:creationId xmlns:a16="http://schemas.microsoft.com/office/drawing/2014/main" id="{335CFA51-4DDA-4248-B5A3-8E6EA84EC9AC}"/>
              </a:ext>
            </a:extLst>
          </p:cNvPr>
          <p:cNvSpPr>
            <a:spLocks noGrp="1"/>
          </p:cNvSpPr>
          <p:nvPr>
            <p:ph idx="1"/>
          </p:nvPr>
        </p:nvSpPr>
        <p:spPr/>
        <p:txBody>
          <a:bodyPr/>
          <a:lstStyle/>
          <a:p>
            <a:r>
              <a:rPr lang="en-US" dirty="0">
                <a:solidFill>
                  <a:srgbClr val="C00000"/>
                </a:solidFill>
              </a:rPr>
              <a:t>Definition</a:t>
            </a:r>
          </a:p>
          <a:p>
            <a:pPr lvl="1"/>
            <a:r>
              <a:rPr lang="en-US" dirty="0"/>
              <a:t>For a given complexity function </a:t>
            </a:r>
            <a:r>
              <a:rPr lang="en-US" i="1" dirty="0">
                <a:latin typeface="Times New Roman" panose="02020603050405020304" pitchFamily="18" charset="0"/>
                <a:cs typeface="Times New Roman" panose="02020603050405020304" pitchFamily="18" charset="0"/>
              </a:rPr>
              <a:t>f</a:t>
            </a:r>
            <a:r>
              <a:rPr lang="en-US" dirty="0"/>
              <a:t>(</a:t>
            </a:r>
            <a:r>
              <a:rPr lang="en-US" i="1" dirty="0">
                <a:latin typeface="Times New Roman" panose="02020603050405020304" pitchFamily="18" charset="0"/>
                <a:cs typeface="Times New Roman" panose="02020603050405020304" pitchFamily="18" charset="0"/>
              </a:rPr>
              <a:t>n</a:t>
            </a:r>
            <a:r>
              <a:rPr lang="en-US" dirty="0"/>
              <a:t>), </a:t>
            </a:r>
            <a:r>
              <a:rPr lang="el-GR" dirty="0">
                <a:solidFill>
                  <a:srgbClr val="0070C0"/>
                </a:solidFill>
              </a:rPr>
              <a:t>Ω(</a:t>
            </a:r>
            <a:r>
              <a:rPr lang="en-US" i="1" dirty="0">
                <a:solidFill>
                  <a:srgbClr val="0070C0"/>
                </a:solidFill>
                <a:latin typeface="Times New Roman" panose="02020603050405020304" pitchFamily="18" charset="0"/>
                <a:cs typeface="Times New Roman" panose="02020603050405020304" pitchFamily="18" charset="0"/>
              </a:rPr>
              <a:t>f</a:t>
            </a:r>
            <a:r>
              <a:rPr lang="en-US" dirty="0">
                <a:solidFill>
                  <a:srgbClr val="0070C0"/>
                </a:solidFill>
              </a:rPr>
              <a:t>(</a:t>
            </a:r>
            <a:r>
              <a:rPr lang="en-US" i="1" dirty="0">
                <a:solidFill>
                  <a:srgbClr val="0070C0"/>
                </a:solidFill>
                <a:latin typeface="Times New Roman" panose="02020603050405020304" pitchFamily="18" charset="0"/>
                <a:cs typeface="Times New Roman" panose="02020603050405020304" pitchFamily="18" charset="0"/>
              </a:rPr>
              <a:t>n</a:t>
            </a:r>
            <a:r>
              <a:rPr lang="en-US" dirty="0">
                <a:solidFill>
                  <a:srgbClr val="0070C0"/>
                </a:solidFill>
              </a:rPr>
              <a:t>)) </a:t>
            </a:r>
            <a:r>
              <a:rPr lang="en-US" dirty="0"/>
              <a:t>is the set of complexity </a:t>
            </a:r>
            <a:endParaRPr lang="ar-SA" dirty="0"/>
          </a:p>
          <a:p>
            <a:pPr marL="457200" lvl="1" indent="0">
              <a:buNone/>
            </a:pPr>
            <a:r>
              <a:rPr lang="ar-SA" dirty="0"/>
              <a:t>   </a:t>
            </a:r>
            <a:r>
              <a:rPr lang="en-US" dirty="0"/>
              <a:t>functions </a:t>
            </a:r>
            <a:r>
              <a:rPr lang="en-US" i="1" dirty="0">
                <a:cs typeface="Courier New" panose="02070309020205020404" pitchFamily="49" charset="0"/>
              </a:rPr>
              <a:t>g</a:t>
            </a:r>
            <a:r>
              <a:rPr lang="en-US" dirty="0"/>
              <a:t>(</a:t>
            </a:r>
            <a:r>
              <a:rPr lang="en-US" i="1" dirty="0">
                <a:latin typeface="Times New Roman" panose="02020603050405020304" pitchFamily="18" charset="0"/>
                <a:cs typeface="Times New Roman" panose="02020603050405020304" pitchFamily="18" charset="0"/>
              </a:rPr>
              <a:t>n</a:t>
            </a:r>
            <a:r>
              <a:rPr lang="en-US" dirty="0"/>
              <a:t>) for which there exists some positive real constant </a:t>
            </a:r>
            <a:r>
              <a:rPr lang="en-US" i="1" dirty="0">
                <a:latin typeface="Times New Roman" panose="02020603050405020304" pitchFamily="18" charset="0"/>
                <a:cs typeface="Times New Roman" panose="02020603050405020304" pitchFamily="18" charset="0"/>
              </a:rPr>
              <a:t>c</a:t>
            </a:r>
            <a:r>
              <a:rPr lang="en-US" dirty="0"/>
              <a:t> </a:t>
            </a:r>
            <a:endParaRPr lang="ar-SA" dirty="0"/>
          </a:p>
          <a:p>
            <a:pPr marL="457200" lvl="1" indent="0">
              <a:buNone/>
            </a:pPr>
            <a:r>
              <a:rPr lang="ar-SA" dirty="0"/>
              <a:t>   </a:t>
            </a:r>
            <a:r>
              <a:rPr lang="en-US" dirty="0"/>
              <a:t>and some nonnegative integer </a:t>
            </a:r>
            <a:r>
              <a:rPr lang="en-US" i="1" dirty="0">
                <a:latin typeface="Times New Roman" panose="02020603050405020304" pitchFamily="18" charset="0"/>
                <a:cs typeface="Times New Roman" panose="02020603050405020304" pitchFamily="18" charset="0"/>
              </a:rPr>
              <a:t>N</a:t>
            </a:r>
            <a:r>
              <a:rPr lang="en-US" dirty="0"/>
              <a:t> such that</a:t>
            </a:r>
            <a:r>
              <a:rPr lang="en-US" b="1" dirty="0"/>
              <a:t>, </a:t>
            </a:r>
            <a:r>
              <a:rPr lang="en-US" b="1" u="sng" dirty="0"/>
              <a:t>for all </a:t>
            </a:r>
            <a:r>
              <a:rPr lang="en-US" b="1" i="1" u="sng" dirty="0">
                <a:latin typeface="Times New Roman" panose="02020603050405020304" pitchFamily="18" charset="0"/>
                <a:cs typeface="Times New Roman" panose="02020603050405020304" pitchFamily="18" charset="0"/>
              </a:rPr>
              <a:t>n</a:t>
            </a:r>
            <a:r>
              <a:rPr lang="en-US" b="1" u="sng" dirty="0"/>
              <a:t> ≥ </a:t>
            </a:r>
            <a:r>
              <a:rPr lang="en-US" b="1" i="1" u="sng" dirty="0">
                <a:latin typeface="Times New Roman" panose="02020603050405020304" pitchFamily="18" charset="0"/>
                <a:cs typeface="Times New Roman" panose="02020603050405020304" pitchFamily="18" charset="0"/>
              </a:rPr>
              <a:t>N</a:t>
            </a:r>
            <a:r>
              <a:rPr lang="en-US" dirty="0"/>
              <a:t>,</a:t>
            </a:r>
            <a:endParaRPr lang="ar-SA" dirty="0"/>
          </a:p>
          <a:p>
            <a:pPr lvl="4"/>
            <a:endParaRPr lang="ar-SA" dirty="0"/>
          </a:p>
          <a:p>
            <a:pPr lvl="4"/>
            <a:endParaRPr lang="ar-SA" dirty="0"/>
          </a:p>
          <a:p>
            <a:pPr lvl="1"/>
            <a:r>
              <a:rPr lang="en-US" dirty="0"/>
              <a:t>If </a:t>
            </a:r>
            <a:r>
              <a:rPr lang="en-US" i="1" dirty="0">
                <a:cs typeface="Courier New" panose="02070309020205020404" pitchFamily="49" charset="0"/>
              </a:rPr>
              <a:t>g</a:t>
            </a:r>
            <a:r>
              <a:rPr lang="en-US" dirty="0"/>
              <a:t>(</a:t>
            </a:r>
            <a:r>
              <a:rPr lang="en-US" i="1" dirty="0">
                <a:latin typeface="Times New Roman" panose="02020603050405020304" pitchFamily="18" charset="0"/>
                <a:cs typeface="Times New Roman" panose="02020603050405020304" pitchFamily="18" charset="0"/>
              </a:rPr>
              <a:t>n</a:t>
            </a:r>
            <a:r>
              <a:rPr lang="en-US" dirty="0"/>
              <a:t>) ∈ </a:t>
            </a:r>
            <a:r>
              <a:rPr lang="el-GR" dirty="0"/>
              <a:t>Ω(</a:t>
            </a:r>
            <a:r>
              <a:rPr lang="en-US" i="1" dirty="0">
                <a:latin typeface="Times New Roman" panose="02020603050405020304" pitchFamily="18" charset="0"/>
                <a:cs typeface="Times New Roman" panose="02020603050405020304" pitchFamily="18" charset="0"/>
              </a:rPr>
              <a:t>f</a:t>
            </a:r>
            <a:r>
              <a:rPr lang="en-US" dirty="0"/>
              <a:t>(</a:t>
            </a:r>
            <a:r>
              <a:rPr lang="en-US" i="1" dirty="0">
                <a:latin typeface="Times New Roman" panose="02020603050405020304" pitchFamily="18" charset="0"/>
                <a:cs typeface="Times New Roman" panose="02020603050405020304" pitchFamily="18" charset="0"/>
              </a:rPr>
              <a:t>n</a:t>
            </a:r>
            <a:r>
              <a:rPr lang="en-US" dirty="0"/>
              <a:t>)), we say that </a:t>
            </a:r>
            <a:r>
              <a:rPr lang="en-US" i="1" dirty="0">
                <a:cs typeface="Courier New" panose="02070309020205020404" pitchFamily="49" charset="0"/>
              </a:rPr>
              <a:t>g</a:t>
            </a:r>
            <a:r>
              <a:rPr lang="en-US" dirty="0"/>
              <a:t>(</a:t>
            </a:r>
            <a:r>
              <a:rPr lang="en-US" i="1" dirty="0">
                <a:latin typeface="Times New Roman" panose="02020603050405020304" pitchFamily="18" charset="0"/>
                <a:cs typeface="Times New Roman" panose="02020603050405020304" pitchFamily="18" charset="0"/>
              </a:rPr>
              <a:t>n</a:t>
            </a:r>
            <a:r>
              <a:rPr lang="en-US" dirty="0"/>
              <a:t>) is </a:t>
            </a:r>
            <a:r>
              <a:rPr lang="en-US" dirty="0">
                <a:solidFill>
                  <a:srgbClr val="0070C0"/>
                </a:solidFill>
              </a:rPr>
              <a:t>omega</a:t>
            </a:r>
            <a:r>
              <a:rPr lang="en-US" dirty="0"/>
              <a:t> of </a:t>
            </a:r>
            <a:r>
              <a:rPr lang="en-US" i="1" dirty="0">
                <a:latin typeface="Times New Roman" panose="02020603050405020304" pitchFamily="18" charset="0"/>
                <a:cs typeface="Times New Roman" panose="02020603050405020304" pitchFamily="18" charset="0"/>
              </a:rPr>
              <a:t>f</a:t>
            </a:r>
            <a:r>
              <a:rPr lang="en-US" dirty="0"/>
              <a:t>(</a:t>
            </a:r>
            <a:r>
              <a:rPr lang="en-US" i="1" dirty="0">
                <a:latin typeface="Times New Roman" panose="02020603050405020304" pitchFamily="18" charset="0"/>
                <a:cs typeface="Times New Roman" panose="02020603050405020304" pitchFamily="18" charset="0"/>
              </a:rPr>
              <a:t>n</a:t>
            </a:r>
            <a:r>
              <a:rPr lang="en-US" dirty="0"/>
              <a:t>).</a:t>
            </a:r>
            <a:endParaRPr lang="ar-SA" dirty="0"/>
          </a:p>
          <a:p>
            <a:pPr lvl="1"/>
            <a:endParaRPr lang="ar-SA" dirty="0"/>
          </a:p>
          <a:p>
            <a:r>
              <a:rPr lang="en-US" u="sng" dirty="0">
                <a:solidFill>
                  <a:srgbClr val="00B050"/>
                </a:solidFill>
              </a:rPr>
              <a:t>Examples</a:t>
            </a:r>
          </a:p>
          <a:p>
            <a:pPr marL="914400" lvl="1" indent="-457200">
              <a:buFont typeface="+mj-lt"/>
              <a:buAutoNum type="arabicPeriod"/>
            </a:pPr>
            <a:r>
              <a:rPr lang="en-US" dirty="0"/>
              <a:t>We show that 5n</a:t>
            </a:r>
            <a:r>
              <a:rPr lang="en-US" baseline="30000" dirty="0"/>
              <a:t>2</a:t>
            </a:r>
            <a:r>
              <a:rPr lang="en-US" dirty="0"/>
              <a:t> ∈ </a:t>
            </a:r>
            <a:r>
              <a:rPr lang="el-GR" dirty="0"/>
              <a:t>Ω(</a:t>
            </a:r>
            <a:r>
              <a:rPr lang="en-US" dirty="0"/>
              <a:t>n</a:t>
            </a:r>
            <a:r>
              <a:rPr lang="en-US" baseline="30000" dirty="0"/>
              <a:t>2</a:t>
            </a:r>
            <a:r>
              <a:rPr lang="en-US" dirty="0"/>
              <a:t>). Because, for n ≥ 0,</a:t>
            </a:r>
          </a:p>
          <a:p>
            <a:pPr lvl="1"/>
            <a:endParaRPr lang="en-US" dirty="0"/>
          </a:p>
          <a:p>
            <a:pPr lvl="1"/>
            <a:endParaRPr lang="en-US" dirty="0"/>
          </a:p>
          <a:p>
            <a:pPr marL="457200" lvl="1" indent="0">
              <a:buNone/>
            </a:pPr>
            <a:r>
              <a:rPr lang="en-US" dirty="0"/>
              <a:t>we can take </a:t>
            </a:r>
            <a:r>
              <a:rPr lang="en-US" dirty="0">
                <a:solidFill>
                  <a:srgbClr val="C00000"/>
                </a:solidFill>
              </a:rPr>
              <a:t>c</a:t>
            </a:r>
            <a:r>
              <a:rPr lang="en-US" dirty="0"/>
              <a:t> = 1 and </a:t>
            </a:r>
            <a:r>
              <a:rPr lang="en-US" dirty="0">
                <a:solidFill>
                  <a:srgbClr val="0070C0"/>
                </a:solidFill>
              </a:rPr>
              <a:t>N</a:t>
            </a:r>
            <a:r>
              <a:rPr lang="en-US" dirty="0"/>
              <a:t> = 0 to obtain our </a:t>
            </a:r>
            <a:r>
              <a:rPr lang="en-US" dirty="0" smtClean="0"/>
              <a:t>result</a:t>
            </a:r>
            <a:endParaRPr lang="en-US" dirty="0"/>
          </a:p>
          <a:p>
            <a:pPr marL="914400" lvl="1" indent="-457200">
              <a:buFont typeface="+mj-lt"/>
              <a:buAutoNum type="arabicPeriod"/>
            </a:pPr>
            <a:endParaRPr lang="en-US" dirty="0"/>
          </a:p>
          <a:p>
            <a:pPr lvl="1"/>
            <a:endParaRPr lang="en-US" dirty="0"/>
          </a:p>
          <a:p>
            <a:pPr marL="228600" indent="-228600" algn="l" defTabSz="914400" eaLnBrk="1" latinLnBrk="0" hangingPunct="1">
              <a:lnSpc>
                <a:spcPct val="90000"/>
              </a:lnSpc>
              <a:spcBef>
                <a:spcPts val="1000"/>
              </a:spcBef>
              <a:buFont typeface="Arial" panose="020B0604020202020204" pitchFamily="34" charset="0"/>
              <a:buChar char="•"/>
            </a:pPr>
            <a:endParaRPr lang="en-QA" dirty="0"/>
          </a:p>
        </p:txBody>
      </p:sp>
      <p:pic>
        <p:nvPicPr>
          <p:cNvPr id="9" name="Picture 8">
            <a:extLst>
              <a:ext uri="{FF2B5EF4-FFF2-40B4-BE49-F238E27FC236}">
                <a16:creationId xmlns:a16="http://schemas.microsoft.com/office/drawing/2014/main" id="{F8DA771C-E1A8-DB41-A145-BDB007109584}"/>
              </a:ext>
            </a:extLst>
          </p:cNvPr>
          <p:cNvPicPr>
            <a:picLocks noChangeAspect="1"/>
          </p:cNvPicPr>
          <p:nvPr/>
        </p:nvPicPr>
        <p:blipFill>
          <a:blip r:embed="rId2"/>
          <a:stretch>
            <a:fillRect/>
          </a:stretch>
        </p:blipFill>
        <p:spPr>
          <a:xfrm>
            <a:off x="8738937" y="811886"/>
            <a:ext cx="3175000" cy="3263900"/>
          </a:xfrm>
          <a:prstGeom prst="rect">
            <a:avLst/>
          </a:prstGeom>
        </p:spPr>
      </p:pic>
      <p:sp>
        <p:nvSpPr>
          <p:cNvPr id="7" name="TextBox 6"/>
          <p:cNvSpPr txBox="1"/>
          <p:nvPr/>
        </p:nvSpPr>
        <p:spPr>
          <a:xfrm>
            <a:off x="1687066" y="2681210"/>
            <a:ext cx="1990854" cy="461665"/>
          </a:xfrm>
          <a:prstGeom prst="rect">
            <a:avLst/>
          </a:prstGeom>
          <a:solidFill>
            <a:srgbClr val="FFC000"/>
          </a:solidFill>
        </p:spPr>
        <p:txBody>
          <a:bodyPr wrap="square" rtlCol="0">
            <a:spAutoFit/>
          </a:bodyPr>
          <a:lstStyle/>
          <a:p>
            <a:r>
              <a:rPr lang="en-US" sz="2400" dirty="0"/>
              <a:t>g</a:t>
            </a:r>
            <a:r>
              <a:rPr lang="en-US" sz="2400" dirty="0" smtClean="0"/>
              <a:t>(n) </a:t>
            </a:r>
            <a:r>
              <a:rPr lang="tr-TR" sz="2400" dirty="0"/>
              <a:t>≥</a:t>
            </a:r>
            <a:r>
              <a:rPr lang="en-US" sz="2400" dirty="0" smtClean="0"/>
              <a:t> c * f(n)</a:t>
            </a:r>
            <a:endParaRPr lang="tr-TR" sz="2400" dirty="0"/>
          </a:p>
        </p:txBody>
      </p:sp>
      <p:sp>
        <p:nvSpPr>
          <p:cNvPr id="10" name="TextBox 9"/>
          <p:cNvSpPr txBox="1"/>
          <p:nvPr/>
        </p:nvSpPr>
        <p:spPr>
          <a:xfrm>
            <a:off x="1727706" y="4779303"/>
            <a:ext cx="1736854" cy="461665"/>
          </a:xfrm>
          <a:prstGeom prst="rect">
            <a:avLst/>
          </a:prstGeom>
          <a:solidFill>
            <a:srgbClr val="FFC000"/>
          </a:solidFill>
        </p:spPr>
        <p:txBody>
          <a:bodyPr wrap="square" rtlCol="0">
            <a:spAutoFit/>
          </a:bodyPr>
          <a:lstStyle/>
          <a:p>
            <a:r>
              <a:rPr lang="en-US" sz="2400" dirty="0" smtClean="0"/>
              <a:t>5n</a:t>
            </a:r>
            <a:r>
              <a:rPr lang="en-US" sz="2400" baseline="30000" dirty="0" smtClean="0"/>
              <a:t>2</a:t>
            </a:r>
            <a:r>
              <a:rPr lang="en-US" sz="2400" dirty="0" smtClean="0"/>
              <a:t> </a:t>
            </a:r>
            <a:r>
              <a:rPr lang="tr-TR" sz="2400" dirty="0"/>
              <a:t>≥</a:t>
            </a:r>
            <a:r>
              <a:rPr lang="en-US" sz="2400" dirty="0" smtClean="0"/>
              <a:t> 1 * n</a:t>
            </a:r>
            <a:r>
              <a:rPr lang="en-US" sz="2400" baseline="30000" dirty="0" smtClean="0"/>
              <a:t>2</a:t>
            </a:r>
            <a:endParaRPr lang="tr-TR" sz="2400" baseline="30000" dirty="0"/>
          </a:p>
        </p:txBody>
      </p:sp>
    </p:spTree>
    <p:extLst>
      <p:ext uri="{BB962C8B-B14F-4D97-AF65-F5344CB8AC3E}">
        <p14:creationId xmlns:p14="http://schemas.microsoft.com/office/powerpoint/2010/main" val="3089819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 calcmode="lin" valueType="num">
                                      <p:cBhvr additive="base">
                                        <p:cTn id="4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additive="base">
                                        <p:cTn id="45" dur="500" fill="hold"/>
                                        <p:tgtEl>
                                          <p:spTgt spid="10"/>
                                        </p:tgtEl>
                                        <p:attrNameLst>
                                          <p:attrName>ppt_x</p:attrName>
                                        </p:attrNameLst>
                                      </p:cBhvr>
                                      <p:tavLst>
                                        <p:tav tm="0">
                                          <p:val>
                                            <p:strVal val="#ppt_x"/>
                                          </p:val>
                                        </p:tav>
                                        <p:tav tm="100000">
                                          <p:val>
                                            <p:strVal val="#ppt_x"/>
                                          </p:val>
                                        </p:tav>
                                      </p:tavLst>
                                    </p:anim>
                                    <p:anim calcmode="lin" valueType="num">
                                      <p:cBhvr additive="base">
                                        <p:cTn id="46" dur="500" fill="hold"/>
                                        <p:tgtEl>
                                          <p:spTgt spid="10"/>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 calcmode="lin" valueType="num">
                                      <p:cBhvr additive="base">
                                        <p:cTn id="4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AAAFC-B675-9F49-A948-84F7F3FD1C54}"/>
              </a:ext>
            </a:extLst>
          </p:cNvPr>
          <p:cNvSpPr>
            <a:spLocks noGrp="1"/>
          </p:cNvSpPr>
          <p:nvPr>
            <p:ph type="title"/>
          </p:nvPr>
        </p:nvSpPr>
        <p:spPr>
          <a:xfrm>
            <a:off x="33690" y="-672"/>
            <a:ext cx="10515600" cy="893520"/>
          </a:xfrm>
        </p:spPr>
        <p:txBody>
          <a:bodyPr/>
          <a:lstStyle/>
          <a:p>
            <a:r>
              <a:rPr lang="en-US" dirty="0"/>
              <a:t>A Rigorous Introduction to Order (cont.)</a:t>
            </a:r>
            <a:endParaRPr lang="en-QA" dirty="0"/>
          </a:p>
        </p:txBody>
      </p:sp>
      <p:sp>
        <p:nvSpPr>
          <p:cNvPr id="3" name="Content Placeholder 2">
            <a:extLst>
              <a:ext uri="{FF2B5EF4-FFF2-40B4-BE49-F238E27FC236}">
                <a16:creationId xmlns:a16="http://schemas.microsoft.com/office/drawing/2014/main" id="{794B3A2A-747D-014E-A1FB-9FCE2C8D0660}"/>
              </a:ext>
            </a:extLst>
          </p:cNvPr>
          <p:cNvSpPr>
            <a:spLocks noGrp="1"/>
          </p:cNvSpPr>
          <p:nvPr>
            <p:ph idx="1"/>
          </p:nvPr>
        </p:nvSpPr>
        <p:spPr>
          <a:xfrm>
            <a:off x="838200" y="1258646"/>
            <a:ext cx="10515600" cy="5234228"/>
          </a:xfrm>
        </p:spPr>
        <p:txBody>
          <a:bodyPr>
            <a:normAutofit/>
          </a:bodyPr>
          <a:lstStyle/>
          <a:p>
            <a:pPr marL="457200" lvl="1" indent="0">
              <a:buNone/>
            </a:pPr>
            <a:r>
              <a:rPr lang="en-QA" sz="2800" b="1" dirty="0"/>
              <a:t>2. </a:t>
            </a:r>
            <a:r>
              <a:rPr lang="en-US" sz="2800" dirty="0"/>
              <a:t>We show that n</a:t>
            </a:r>
            <a:r>
              <a:rPr lang="en-US" sz="2800" baseline="30000" dirty="0"/>
              <a:t>2</a:t>
            </a:r>
            <a:r>
              <a:rPr lang="en-US" sz="2800" dirty="0"/>
              <a:t> + 10n ∈ </a:t>
            </a:r>
            <a:r>
              <a:rPr lang="el-GR" sz="2800" dirty="0"/>
              <a:t>Ω(</a:t>
            </a:r>
            <a:r>
              <a:rPr lang="en-US" sz="2800" dirty="0"/>
              <a:t>n</a:t>
            </a:r>
            <a:r>
              <a:rPr lang="en-US" sz="2800" baseline="30000" dirty="0"/>
              <a:t>2</a:t>
            </a:r>
            <a:r>
              <a:rPr lang="en-US" sz="2800" dirty="0"/>
              <a:t>). Because, for n ≥ 0, </a:t>
            </a:r>
          </a:p>
          <a:p>
            <a:pPr marL="457200" lvl="1" indent="0">
              <a:buNone/>
            </a:pPr>
            <a:r>
              <a:rPr lang="en-US" sz="2800" dirty="0"/>
              <a:t>		 </a:t>
            </a:r>
            <a:r>
              <a:rPr lang="en-US" sz="2800" dirty="0" smtClean="0"/>
              <a:t>      </a:t>
            </a:r>
            <a:r>
              <a:rPr lang="en-US" sz="2800" b="1" dirty="0" smtClean="0"/>
              <a:t>n</a:t>
            </a:r>
            <a:r>
              <a:rPr lang="en-US" sz="2800" b="1" baseline="30000" dirty="0" smtClean="0"/>
              <a:t>2</a:t>
            </a:r>
            <a:r>
              <a:rPr lang="en-US" sz="2800" b="1" dirty="0" smtClean="0"/>
              <a:t> </a:t>
            </a:r>
            <a:r>
              <a:rPr lang="en-US" sz="2800" b="1" dirty="0"/>
              <a:t>+ 10n ≥ </a:t>
            </a:r>
            <a:r>
              <a:rPr lang="en-US" sz="2800" b="1" dirty="0" smtClean="0"/>
              <a:t>n</a:t>
            </a:r>
            <a:r>
              <a:rPr lang="en-US" sz="2800" b="1" baseline="30000" dirty="0" smtClean="0"/>
              <a:t>2</a:t>
            </a:r>
            <a:endParaRPr lang="en-US" sz="2800" b="1" dirty="0"/>
          </a:p>
          <a:p>
            <a:pPr marL="457200" lvl="1" indent="0">
              <a:buNone/>
            </a:pPr>
            <a:endParaRPr lang="en-US" sz="2800" dirty="0" smtClean="0"/>
          </a:p>
          <a:p>
            <a:pPr marL="457200" lvl="1" indent="0">
              <a:buNone/>
            </a:pPr>
            <a:r>
              <a:rPr lang="en-US" sz="2800" dirty="0"/>
              <a:t>	</a:t>
            </a:r>
            <a:r>
              <a:rPr lang="en-US" sz="2800" dirty="0" smtClean="0"/>
              <a:t>we </a:t>
            </a:r>
            <a:r>
              <a:rPr lang="en-US" sz="2800" dirty="0"/>
              <a:t>can take </a:t>
            </a:r>
            <a:r>
              <a:rPr lang="en-US" sz="2800" dirty="0">
                <a:solidFill>
                  <a:srgbClr val="C00000"/>
                </a:solidFill>
              </a:rPr>
              <a:t>c </a:t>
            </a:r>
            <a:r>
              <a:rPr lang="en-US" sz="2800" dirty="0"/>
              <a:t>= 1 and </a:t>
            </a:r>
            <a:r>
              <a:rPr lang="en-US" sz="2800" dirty="0">
                <a:solidFill>
                  <a:srgbClr val="0070C0"/>
                </a:solidFill>
              </a:rPr>
              <a:t>N </a:t>
            </a:r>
            <a:r>
              <a:rPr lang="en-US" sz="2800" dirty="0"/>
              <a:t>= 0 to obtain our </a:t>
            </a:r>
            <a:r>
              <a:rPr lang="en-US" sz="2800" dirty="0" smtClean="0"/>
              <a:t>result</a:t>
            </a:r>
            <a:endParaRPr lang="en-US" sz="2800" dirty="0"/>
          </a:p>
          <a:p>
            <a:endParaRPr lang="en-US" dirty="0"/>
          </a:p>
          <a:p>
            <a:pPr marL="457200" lvl="1" indent="0">
              <a:buNone/>
            </a:pPr>
            <a:endParaRPr lang="en-QA" dirty="0"/>
          </a:p>
        </p:txBody>
      </p:sp>
    </p:spTree>
    <p:extLst>
      <p:ext uri="{BB962C8B-B14F-4D97-AF65-F5344CB8AC3E}">
        <p14:creationId xmlns:p14="http://schemas.microsoft.com/office/powerpoint/2010/main" val="251177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D54C-CB9D-3C41-8969-2FC08C85FF73}"/>
              </a:ext>
            </a:extLst>
          </p:cNvPr>
          <p:cNvSpPr>
            <a:spLocks noGrp="1"/>
          </p:cNvSpPr>
          <p:nvPr>
            <p:ph type="title"/>
          </p:nvPr>
        </p:nvSpPr>
        <p:spPr>
          <a:xfrm>
            <a:off x="218768" y="70158"/>
            <a:ext cx="10515600" cy="893520"/>
          </a:xfrm>
        </p:spPr>
        <p:txBody>
          <a:bodyPr/>
          <a:lstStyle/>
          <a:p>
            <a:r>
              <a:rPr lang="en-US" dirty="0"/>
              <a:t>A Rigorous Introduction to Order (cont.)</a:t>
            </a:r>
            <a:endParaRPr lang="en-QA" dirty="0"/>
          </a:p>
        </p:txBody>
      </p:sp>
      <p:sp>
        <p:nvSpPr>
          <p:cNvPr id="3" name="Content Placeholder 2">
            <a:extLst>
              <a:ext uri="{FF2B5EF4-FFF2-40B4-BE49-F238E27FC236}">
                <a16:creationId xmlns:a16="http://schemas.microsoft.com/office/drawing/2014/main" id="{DB5AE0AC-7311-8D4B-8656-5644EF9792ED}"/>
              </a:ext>
            </a:extLst>
          </p:cNvPr>
          <p:cNvSpPr>
            <a:spLocks noGrp="1"/>
          </p:cNvSpPr>
          <p:nvPr>
            <p:ph idx="1"/>
          </p:nvPr>
        </p:nvSpPr>
        <p:spPr/>
        <p:txBody>
          <a:bodyPr>
            <a:normAutofit/>
          </a:bodyPr>
          <a:lstStyle/>
          <a:p>
            <a:r>
              <a:rPr lang="en-US" dirty="0"/>
              <a:t>If a function is in </a:t>
            </a:r>
            <a:r>
              <a:rPr lang="el-GR" dirty="0"/>
              <a:t>Ω(</a:t>
            </a:r>
            <a:r>
              <a:rPr lang="en-US" dirty="0"/>
              <a:t>n</a:t>
            </a:r>
            <a:r>
              <a:rPr lang="en-US" baseline="30000" dirty="0"/>
              <a:t>2</a:t>
            </a:r>
            <a:r>
              <a:rPr lang="en-US" dirty="0"/>
              <a:t>), then eventually the</a:t>
            </a:r>
            <a:r>
              <a:rPr lang="en-US" dirty="0">
                <a:solidFill>
                  <a:srgbClr val="0070C0"/>
                </a:solidFill>
              </a:rPr>
              <a:t> </a:t>
            </a:r>
            <a:r>
              <a:rPr lang="en-US" u="sng" dirty="0">
                <a:solidFill>
                  <a:srgbClr val="0070C0"/>
                </a:solidFill>
              </a:rPr>
              <a:t>function lies above some pure</a:t>
            </a:r>
            <a:r>
              <a:rPr lang="ar-SA" u="sng" dirty="0">
                <a:solidFill>
                  <a:srgbClr val="0070C0"/>
                </a:solidFill>
              </a:rPr>
              <a:t> </a:t>
            </a:r>
            <a:r>
              <a:rPr lang="en-US" u="sng" dirty="0">
                <a:solidFill>
                  <a:srgbClr val="0070C0"/>
                </a:solidFill>
              </a:rPr>
              <a:t>quadratic function</a:t>
            </a:r>
            <a:r>
              <a:rPr lang="en-US" dirty="0">
                <a:solidFill>
                  <a:srgbClr val="0070C0"/>
                </a:solidFill>
              </a:rPr>
              <a:t> </a:t>
            </a:r>
            <a:r>
              <a:rPr lang="en-US" dirty="0"/>
              <a:t>on a graph</a:t>
            </a:r>
            <a:endParaRPr lang="ar-SA" dirty="0"/>
          </a:p>
          <a:p>
            <a:pPr lvl="1"/>
            <a:r>
              <a:rPr lang="en-US" dirty="0"/>
              <a:t>eventually it is </a:t>
            </a:r>
            <a:r>
              <a:rPr lang="en-US" b="1" u="sng" dirty="0">
                <a:solidFill>
                  <a:srgbClr val="C00000"/>
                </a:solidFill>
              </a:rPr>
              <a:t>at least as bad as a pure quadratic </a:t>
            </a:r>
            <a:r>
              <a:rPr lang="en-US" b="1" u="sng" dirty="0" smtClean="0">
                <a:solidFill>
                  <a:srgbClr val="C00000"/>
                </a:solidFill>
              </a:rPr>
              <a:t>function</a:t>
            </a:r>
            <a:endParaRPr lang="ar-SA" b="1" u="sng" dirty="0">
              <a:solidFill>
                <a:srgbClr val="C00000"/>
              </a:solidFill>
            </a:endParaRPr>
          </a:p>
          <a:p>
            <a:pPr lvl="4"/>
            <a:endParaRPr lang="ar-SA" dirty="0"/>
          </a:p>
          <a:p>
            <a:pPr marL="457200" lvl="1" indent="0">
              <a:buNone/>
            </a:pPr>
            <a:r>
              <a:rPr lang="en-US" dirty="0"/>
              <a:t>4. We show that n</a:t>
            </a:r>
            <a:r>
              <a:rPr lang="en-US" baseline="30000" dirty="0"/>
              <a:t>3</a:t>
            </a:r>
            <a:r>
              <a:rPr lang="en-US" dirty="0"/>
              <a:t> ∈ </a:t>
            </a:r>
            <a:r>
              <a:rPr lang="el-GR" dirty="0"/>
              <a:t>Ω(</a:t>
            </a:r>
            <a:r>
              <a:rPr lang="en-US" dirty="0"/>
              <a:t>n</a:t>
            </a:r>
            <a:r>
              <a:rPr lang="en-US" baseline="30000" dirty="0"/>
              <a:t>2</a:t>
            </a:r>
            <a:r>
              <a:rPr lang="en-US" dirty="0"/>
              <a:t>). Because, if n ≥ 1,</a:t>
            </a:r>
          </a:p>
          <a:p>
            <a:pPr marL="457200" lvl="1" indent="0">
              <a:buNone/>
            </a:pPr>
            <a:endParaRPr lang="en-US" dirty="0"/>
          </a:p>
          <a:p>
            <a:pPr marL="457200" lvl="1" indent="0">
              <a:buNone/>
            </a:pPr>
            <a:endParaRPr lang="en-US" dirty="0"/>
          </a:p>
          <a:p>
            <a:pPr marL="457200" lvl="1" indent="0">
              <a:buNone/>
            </a:pPr>
            <a:r>
              <a:rPr lang="en-US" dirty="0"/>
              <a:t>we can take</a:t>
            </a:r>
            <a:r>
              <a:rPr lang="en-US" dirty="0">
                <a:solidFill>
                  <a:srgbClr val="C00000"/>
                </a:solidFill>
              </a:rPr>
              <a:t> c </a:t>
            </a:r>
            <a:r>
              <a:rPr lang="en-US" dirty="0"/>
              <a:t>= 1 and </a:t>
            </a:r>
            <a:r>
              <a:rPr lang="en-US" dirty="0">
                <a:solidFill>
                  <a:srgbClr val="0070C0"/>
                </a:solidFill>
              </a:rPr>
              <a:t>N</a:t>
            </a:r>
            <a:r>
              <a:rPr lang="en-US" dirty="0"/>
              <a:t> = 1 to obtain our </a:t>
            </a:r>
            <a:r>
              <a:rPr lang="en-US" dirty="0" smtClean="0"/>
              <a:t>result</a:t>
            </a:r>
            <a:endParaRPr lang="en-US" dirty="0"/>
          </a:p>
          <a:p>
            <a:pPr lvl="1"/>
            <a:endParaRPr lang="en-US" dirty="0" smtClean="0"/>
          </a:p>
          <a:p>
            <a:pPr lvl="1"/>
            <a:endParaRPr lang="en-US" dirty="0"/>
          </a:p>
          <a:p>
            <a:r>
              <a:rPr lang="en-US" dirty="0" smtClean="0"/>
              <a:t>Note </a:t>
            </a:r>
            <a:r>
              <a:rPr lang="en-US" dirty="0"/>
              <a:t>that the </a:t>
            </a:r>
            <a:r>
              <a:rPr lang="en-US" u="sng" dirty="0">
                <a:solidFill>
                  <a:srgbClr val="00B050"/>
                </a:solidFill>
              </a:rPr>
              <a:t>function need not be a quadratic </a:t>
            </a:r>
            <a:r>
              <a:rPr lang="en-US" u="sng" dirty="0" smtClean="0">
                <a:solidFill>
                  <a:srgbClr val="00B050"/>
                </a:solidFill>
              </a:rPr>
              <a:t>function</a:t>
            </a:r>
            <a:endParaRPr lang="en-US" u="sng" dirty="0">
              <a:solidFill>
                <a:srgbClr val="00B050"/>
              </a:solidFill>
            </a:endParaRPr>
          </a:p>
          <a:p>
            <a:pPr marL="228600" indent="-228600" algn="l" defTabSz="914400" eaLnBrk="1" latinLnBrk="0" hangingPunct="1">
              <a:lnSpc>
                <a:spcPct val="90000"/>
              </a:lnSpc>
              <a:spcBef>
                <a:spcPts val="1000"/>
              </a:spcBef>
              <a:buFont typeface="Arial" panose="020B0604020202020204" pitchFamily="34" charset="0"/>
              <a:buChar char="•"/>
            </a:pPr>
            <a:endParaRPr lang="en-QA" dirty="0"/>
          </a:p>
        </p:txBody>
      </p:sp>
      <p:pic>
        <p:nvPicPr>
          <p:cNvPr id="5" name="Picture 4">
            <a:extLst>
              <a:ext uri="{FF2B5EF4-FFF2-40B4-BE49-F238E27FC236}">
                <a16:creationId xmlns:a16="http://schemas.microsoft.com/office/drawing/2014/main" id="{7113A917-74AD-CF4E-87B7-EED2F2C62216}"/>
              </a:ext>
            </a:extLst>
          </p:cNvPr>
          <p:cNvPicPr>
            <a:picLocks noChangeAspect="1"/>
          </p:cNvPicPr>
          <p:nvPr/>
        </p:nvPicPr>
        <p:blipFill>
          <a:blip r:embed="rId2"/>
          <a:stretch>
            <a:fillRect/>
          </a:stretch>
        </p:blipFill>
        <p:spPr>
          <a:xfrm>
            <a:off x="8341895" y="3526970"/>
            <a:ext cx="2794000" cy="2743200"/>
          </a:xfrm>
          <a:prstGeom prst="rect">
            <a:avLst/>
          </a:prstGeom>
        </p:spPr>
      </p:pic>
      <p:sp>
        <p:nvSpPr>
          <p:cNvPr id="6" name="Rectangle 5">
            <a:extLst>
              <a:ext uri="{FF2B5EF4-FFF2-40B4-BE49-F238E27FC236}">
                <a16:creationId xmlns:a16="http://schemas.microsoft.com/office/drawing/2014/main" id="{97BEE954-832F-F34F-814B-58850EEFEC39}"/>
              </a:ext>
            </a:extLst>
          </p:cNvPr>
          <p:cNvSpPr/>
          <p:nvPr/>
        </p:nvSpPr>
        <p:spPr>
          <a:xfrm>
            <a:off x="7627964" y="6308208"/>
            <a:ext cx="4564070" cy="369332"/>
          </a:xfrm>
          <a:prstGeom prst="rect">
            <a:avLst/>
          </a:prstGeom>
        </p:spPr>
        <p:txBody>
          <a:bodyPr wrap="none">
            <a:spAutoFit/>
          </a:bodyPr>
          <a:lstStyle/>
          <a:p>
            <a:r>
              <a:rPr lang="en-US" dirty="0">
                <a:solidFill>
                  <a:srgbClr val="C00000"/>
                </a:solidFill>
                <a:latin typeface="LiberationSerif"/>
              </a:rPr>
              <a:t>Some exemplary members of the set</a:t>
            </a:r>
            <a:r>
              <a:rPr lang="en-US" dirty="0">
                <a:solidFill>
                  <a:srgbClr val="C00000"/>
                </a:solidFill>
              </a:rPr>
              <a:t> </a:t>
            </a:r>
            <a:r>
              <a:rPr lang="el-GR" dirty="0">
                <a:solidFill>
                  <a:srgbClr val="C00000"/>
                </a:solidFill>
              </a:rPr>
              <a:t>Ω</a:t>
            </a:r>
            <a:r>
              <a:rPr lang="en-US" dirty="0">
                <a:solidFill>
                  <a:srgbClr val="C00000"/>
                </a:solidFill>
              </a:rPr>
              <a:t>(</a:t>
            </a:r>
            <a:r>
              <a:rPr lang="en-US" i="1" dirty="0">
                <a:solidFill>
                  <a:srgbClr val="C00000"/>
                </a:solidFill>
              </a:rPr>
              <a:t>n</a:t>
            </a:r>
            <a:r>
              <a:rPr lang="en-US" baseline="30000" dirty="0">
                <a:solidFill>
                  <a:srgbClr val="C00000"/>
                </a:solidFill>
              </a:rPr>
              <a:t>2</a:t>
            </a:r>
            <a:r>
              <a:rPr lang="en-US" dirty="0">
                <a:solidFill>
                  <a:srgbClr val="C00000"/>
                </a:solidFill>
              </a:rPr>
              <a:t>)</a:t>
            </a:r>
            <a:r>
              <a:rPr lang="en-US" dirty="0">
                <a:solidFill>
                  <a:srgbClr val="C00000"/>
                </a:solidFill>
                <a:latin typeface="LiberationSerif"/>
              </a:rPr>
              <a:t> </a:t>
            </a:r>
            <a:endParaRPr lang="en-US" dirty="0">
              <a:solidFill>
                <a:srgbClr val="C00000"/>
              </a:solidFill>
            </a:endParaRPr>
          </a:p>
        </p:txBody>
      </p:sp>
      <p:sp>
        <p:nvSpPr>
          <p:cNvPr id="7" name="TextBox 6"/>
          <p:cNvSpPr txBox="1"/>
          <p:nvPr/>
        </p:nvSpPr>
        <p:spPr>
          <a:xfrm>
            <a:off x="1554480" y="3057070"/>
            <a:ext cx="1696720" cy="461665"/>
          </a:xfrm>
          <a:prstGeom prst="rect">
            <a:avLst/>
          </a:prstGeom>
          <a:solidFill>
            <a:srgbClr val="FFC000"/>
          </a:solidFill>
        </p:spPr>
        <p:txBody>
          <a:bodyPr wrap="square" rtlCol="0">
            <a:spAutoFit/>
          </a:bodyPr>
          <a:lstStyle/>
          <a:p>
            <a:r>
              <a:rPr lang="en-US" sz="2400" dirty="0"/>
              <a:t>n</a:t>
            </a:r>
            <a:r>
              <a:rPr lang="en-US" sz="2400" b="1" baseline="30000" dirty="0" smtClean="0"/>
              <a:t>3</a:t>
            </a:r>
            <a:r>
              <a:rPr lang="en-US" sz="2400" baseline="30000" dirty="0" smtClean="0"/>
              <a:t> </a:t>
            </a:r>
            <a:r>
              <a:rPr lang="en-US" sz="2400" b="1" dirty="0" smtClean="0"/>
              <a:t>≥ 1 * n</a:t>
            </a:r>
            <a:r>
              <a:rPr lang="en-US" sz="2400" b="1" baseline="30000" dirty="0" smtClean="0"/>
              <a:t>2</a:t>
            </a:r>
            <a:endParaRPr lang="tr-TR" sz="2400" baseline="30000" dirty="0"/>
          </a:p>
        </p:txBody>
      </p:sp>
    </p:spTree>
    <p:extLst>
      <p:ext uri="{BB962C8B-B14F-4D97-AF65-F5344CB8AC3E}">
        <p14:creationId xmlns:p14="http://schemas.microsoft.com/office/powerpoint/2010/main" val="169120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 calcmode="lin" valueType="num">
                                      <p:cBhvr additive="base">
                                        <p:cTn id="2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 calcmode="lin" valueType="num">
                                      <p:cBhvr additive="base">
                                        <p:cTn id="34"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additive="base">
                                        <p:cTn id="40" dur="500" fill="hold"/>
                                        <p:tgtEl>
                                          <p:spTgt spid="5"/>
                                        </p:tgtEl>
                                        <p:attrNameLst>
                                          <p:attrName>ppt_x</p:attrName>
                                        </p:attrNameLst>
                                      </p:cBhvr>
                                      <p:tavLst>
                                        <p:tav tm="0">
                                          <p:val>
                                            <p:strVal val="#ppt_x"/>
                                          </p:val>
                                        </p:tav>
                                        <p:tav tm="100000">
                                          <p:val>
                                            <p:strVal val="#ppt_x"/>
                                          </p:val>
                                        </p:tav>
                                      </p:tavLst>
                                    </p:anim>
                                    <p:anim calcmode="lin" valueType="num">
                                      <p:cBhvr additive="base">
                                        <p:cTn id="41" dur="500" fill="hold"/>
                                        <p:tgtEl>
                                          <p:spTgt spid="5"/>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47C66-22F0-B841-9321-75D5BC5CEBD9}"/>
              </a:ext>
            </a:extLst>
          </p:cNvPr>
          <p:cNvSpPr>
            <a:spLocks noGrp="1"/>
          </p:cNvSpPr>
          <p:nvPr>
            <p:ph type="title"/>
          </p:nvPr>
        </p:nvSpPr>
        <p:spPr>
          <a:xfrm>
            <a:off x="189270" y="85038"/>
            <a:ext cx="11164529" cy="443282"/>
          </a:xfrm>
        </p:spPr>
        <p:txBody>
          <a:bodyPr>
            <a:normAutofit fontScale="90000"/>
          </a:bodyPr>
          <a:lstStyle/>
          <a:p>
            <a:r>
              <a:rPr lang="en-US" dirty="0"/>
              <a:t>A Rigorous Introduction to Order </a:t>
            </a:r>
            <a:r>
              <a:rPr lang="en-US" u="sng" dirty="0" smtClean="0">
                <a:solidFill>
                  <a:srgbClr val="00B050"/>
                </a:solidFill>
              </a:rPr>
              <a:t>(Tight Bound)</a:t>
            </a:r>
            <a:r>
              <a:rPr lang="en-US" dirty="0" smtClean="0">
                <a:solidFill>
                  <a:srgbClr val="00B050"/>
                </a:solidFill>
              </a:rPr>
              <a:t> </a:t>
            </a:r>
            <a:r>
              <a:rPr lang="en-US" dirty="0" smtClean="0">
                <a:solidFill>
                  <a:srgbClr val="0070C0"/>
                </a:solidFill>
              </a:rPr>
              <a:t>theta </a:t>
            </a:r>
            <a:r>
              <a:rPr lang="en-US" dirty="0" smtClean="0">
                <a:solidFill>
                  <a:srgbClr val="0070C0"/>
                </a:solidFill>
              </a:rPr>
              <a:t>(</a:t>
            </a:r>
            <a:r>
              <a:rPr lang="el-GR" dirty="0" smtClean="0">
                <a:solidFill>
                  <a:srgbClr val="0070C0"/>
                </a:solidFill>
              </a:rPr>
              <a:t>Θ</a:t>
            </a:r>
            <a:r>
              <a:rPr lang="en-US" dirty="0" smtClean="0">
                <a:solidFill>
                  <a:srgbClr val="0070C0"/>
                </a:solidFill>
              </a:rPr>
              <a:t>)</a:t>
            </a:r>
            <a:r>
              <a:rPr lang="en-US" u="sng" dirty="0" smtClean="0">
                <a:solidFill>
                  <a:srgbClr val="00B050"/>
                </a:solidFill>
              </a:rPr>
              <a:t> </a:t>
            </a:r>
            <a:endParaRPr lang="en-QA" u="sng" dirty="0">
              <a:solidFill>
                <a:srgbClr val="00B050"/>
              </a:solidFill>
            </a:endParaRPr>
          </a:p>
        </p:txBody>
      </p:sp>
      <p:sp>
        <p:nvSpPr>
          <p:cNvPr id="3" name="Content Placeholder 2">
            <a:extLst>
              <a:ext uri="{FF2B5EF4-FFF2-40B4-BE49-F238E27FC236}">
                <a16:creationId xmlns:a16="http://schemas.microsoft.com/office/drawing/2014/main" id="{E991D91E-494B-D24F-8618-BB95C1522757}"/>
              </a:ext>
            </a:extLst>
          </p:cNvPr>
          <p:cNvSpPr>
            <a:spLocks noGrp="1"/>
          </p:cNvSpPr>
          <p:nvPr>
            <p:ph idx="1"/>
          </p:nvPr>
        </p:nvSpPr>
        <p:spPr>
          <a:xfrm>
            <a:off x="838200" y="853440"/>
            <a:ext cx="10515600" cy="5740400"/>
          </a:xfrm>
        </p:spPr>
        <p:txBody>
          <a:bodyPr>
            <a:normAutofit/>
          </a:bodyPr>
          <a:lstStyle/>
          <a:p>
            <a:r>
              <a:rPr lang="en-US" dirty="0">
                <a:solidFill>
                  <a:srgbClr val="C00000"/>
                </a:solidFill>
              </a:rPr>
              <a:t>Definition</a:t>
            </a:r>
          </a:p>
          <a:p>
            <a:pPr lvl="1"/>
            <a:r>
              <a:rPr lang="en-US" sz="2600" dirty="0"/>
              <a:t>For a given complexity function f(n</a:t>
            </a:r>
            <a:r>
              <a:rPr lang="en-US" sz="2600" dirty="0" smtClean="0"/>
              <a:t>)</a:t>
            </a:r>
            <a:endParaRPr lang="ar-SA" sz="2600" dirty="0"/>
          </a:p>
          <a:p>
            <a:pPr lvl="1"/>
            <a:endParaRPr lang="ar-SA" sz="2600" dirty="0"/>
          </a:p>
          <a:p>
            <a:pPr lvl="1"/>
            <a:endParaRPr lang="en-US" sz="2600" dirty="0"/>
          </a:p>
          <a:p>
            <a:pPr lvl="1"/>
            <a:r>
              <a:rPr lang="en-US" sz="2600" dirty="0" smtClean="0"/>
              <a:t> This </a:t>
            </a:r>
            <a:r>
              <a:rPr lang="en-US" sz="2600" dirty="0"/>
              <a:t>means that </a:t>
            </a:r>
            <a:r>
              <a:rPr lang="el-GR" sz="2600" dirty="0"/>
              <a:t>Θ(</a:t>
            </a:r>
            <a:r>
              <a:rPr lang="en-US" sz="2600" dirty="0"/>
              <a:t>f(n)) is the set of complexity functions g(n) </a:t>
            </a:r>
            <a:endParaRPr lang="ar-SA" sz="2600" dirty="0"/>
          </a:p>
          <a:p>
            <a:pPr marL="457200" lvl="1" indent="0">
              <a:buNone/>
            </a:pPr>
            <a:r>
              <a:rPr lang="ar-SA" sz="2600" dirty="0"/>
              <a:t>    </a:t>
            </a:r>
            <a:r>
              <a:rPr lang="en-US" sz="2600" dirty="0"/>
              <a:t>for which there exists some positive real constants </a:t>
            </a:r>
            <a:r>
              <a:rPr lang="en-US" sz="2600" dirty="0">
                <a:solidFill>
                  <a:srgbClr val="0070C0"/>
                </a:solidFill>
              </a:rPr>
              <a:t>c </a:t>
            </a:r>
            <a:r>
              <a:rPr lang="en-US" sz="2600" dirty="0"/>
              <a:t>and </a:t>
            </a:r>
            <a:r>
              <a:rPr lang="en-US" sz="2600" dirty="0">
                <a:solidFill>
                  <a:srgbClr val="0070C0"/>
                </a:solidFill>
              </a:rPr>
              <a:t>d </a:t>
            </a:r>
            <a:r>
              <a:rPr lang="en-US" sz="2600" dirty="0"/>
              <a:t>and </a:t>
            </a:r>
            <a:endParaRPr lang="ar-SA" sz="2600" dirty="0"/>
          </a:p>
          <a:p>
            <a:pPr marL="457200" lvl="1" indent="0">
              <a:buNone/>
            </a:pPr>
            <a:r>
              <a:rPr lang="ar-SA" sz="2600" dirty="0"/>
              <a:t>    </a:t>
            </a:r>
            <a:r>
              <a:rPr lang="en-US" sz="2600" dirty="0"/>
              <a:t>some nonnegative integer </a:t>
            </a:r>
            <a:r>
              <a:rPr lang="en-US" sz="2600" dirty="0">
                <a:solidFill>
                  <a:srgbClr val="00B050"/>
                </a:solidFill>
              </a:rPr>
              <a:t>N</a:t>
            </a:r>
            <a:r>
              <a:rPr lang="en-US" sz="2600" dirty="0"/>
              <a:t> such that, for all n ≥ N</a:t>
            </a:r>
          </a:p>
          <a:p>
            <a:pPr lvl="1"/>
            <a:endParaRPr lang="en-US" sz="2600" dirty="0"/>
          </a:p>
          <a:p>
            <a:pPr lvl="1"/>
            <a:endParaRPr lang="en-US" sz="2600" dirty="0"/>
          </a:p>
          <a:p>
            <a:pPr lvl="1"/>
            <a:r>
              <a:rPr lang="en-US" sz="2600" dirty="0"/>
              <a:t>If g(n) ∈ </a:t>
            </a:r>
            <a:r>
              <a:rPr lang="el-GR" sz="2600" dirty="0"/>
              <a:t>Θ(</a:t>
            </a:r>
            <a:r>
              <a:rPr lang="en-US" sz="2600" dirty="0"/>
              <a:t>f(n)), we say that g(n) is </a:t>
            </a:r>
            <a:r>
              <a:rPr lang="en-US" sz="2600" b="1" u="sng" dirty="0">
                <a:solidFill>
                  <a:srgbClr val="C00000"/>
                </a:solidFill>
              </a:rPr>
              <a:t>order</a:t>
            </a:r>
            <a:r>
              <a:rPr lang="en-US" sz="2600" dirty="0"/>
              <a:t> of f(n</a:t>
            </a:r>
            <a:r>
              <a:rPr lang="en-US" sz="2600" dirty="0" smtClean="0"/>
              <a:t>)</a:t>
            </a:r>
            <a:endParaRPr lang="en-US" sz="2600" dirty="0"/>
          </a:p>
          <a:p>
            <a:pPr lvl="4"/>
            <a:endParaRPr lang="en-US" dirty="0"/>
          </a:p>
          <a:p>
            <a:pPr marL="457200" lvl="1" indent="0">
              <a:buNone/>
            </a:pPr>
            <a:endParaRPr lang="en-US" sz="2600" b="1" i="1" dirty="0" smtClean="0">
              <a:latin typeface="Times New Roman" panose="02020603050405020304" pitchFamily="18" charset="0"/>
              <a:cs typeface="Times New Roman" panose="02020603050405020304" pitchFamily="18" charset="0"/>
            </a:endParaRPr>
          </a:p>
          <a:p>
            <a:pPr marL="457200" lvl="1" indent="0">
              <a:buNone/>
            </a:pPr>
            <a:r>
              <a:rPr lang="en-US" sz="2600" dirty="0" smtClean="0"/>
              <a:t>	</a:t>
            </a:r>
          </a:p>
          <a:p>
            <a:pPr marL="457200" lvl="1" indent="0">
              <a:buNone/>
            </a:pPr>
            <a:endParaRPr lang="en-US" sz="2600" dirty="0" smtClean="0"/>
          </a:p>
          <a:p>
            <a:pPr lvl="1"/>
            <a:endParaRPr lang="en-US" dirty="0"/>
          </a:p>
          <a:p>
            <a:pPr marL="228600" indent="-228600" algn="l" defTabSz="914400" eaLnBrk="1" latinLnBrk="0" hangingPunct="1">
              <a:lnSpc>
                <a:spcPct val="90000"/>
              </a:lnSpc>
              <a:spcBef>
                <a:spcPts val="1000"/>
              </a:spcBef>
              <a:buFont typeface="Arial" panose="020B0604020202020204" pitchFamily="34" charset="0"/>
              <a:buChar char="•"/>
            </a:pPr>
            <a:endParaRPr lang="en-QA" dirty="0"/>
          </a:p>
        </p:txBody>
      </p:sp>
      <p:pic>
        <p:nvPicPr>
          <p:cNvPr id="7" name="Picture 6">
            <a:extLst>
              <a:ext uri="{FF2B5EF4-FFF2-40B4-BE49-F238E27FC236}">
                <a16:creationId xmlns:a16="http://schemas.microsoft.com/office/drawing/2014/main" id="{087797F2-8AD2-5A47-BF9F-5F22EB781371}"/>
              </a:ext>
            </a:extLst>
          </p:cNvPr>
          <p:cNvPicPr>
            <a:picLocks noChangeAspect="1"/>
          </p:cNvPicPr>
          <p:nvPr/>
        </p:nvPicPr>
        <p:blipFill>
          <a:blip r:embed="rId2"/>
          <a:stretch>
            <a:fillRect/>
          </a:stretch>
        </p:blipFill>
        <p:spPr>
          <a:xfrm>
            <a:off x="9428480" y="0"/>
            <a:ext cx="2590800" cy="2467539"/>
          </a:xfrm>
          <a:prstGeom prst="rect">
            <a:avLst/>
          </a:prstGeom>
        </p:spPr>
      </p:pic>
      <p:sp>
        <p:nvSpPr>
          <p:cNvPr id="10" name="TextBox 9"/>
          <p:cNvSpPr txBox="1"/>
          <p:nvPr/>
        </p:nvSpPr>
        <p:spPr>
          <a:xfrm>
            <a:off x="1615440" y="1726180"/>
            <a:ext cx="4348480" cy="461665"/>
          </a:xfrm>
          <a:prstGeom prst="rect">
            <a:avLst/>
          </a:prstGeom>
          <a:solidFill>
            <a:srgbClr val="FFC000"/>
          </a:solidFill>
        </p:spPr>
        <p:txBody>
          <a:bodyPr wrap="square" rtlCol="0">
            <a:spAutoFit/>
          </a:bodyPr>
          <a:lstStyle/>
          <a:p>
            <a:r>
              <a:rPr lang="el-GR" sz="2400" b="1" dirty="0" smtClean="0"/>
              <a:t>Θ</a:t>
            </a:r>
            <a:r>
              <a:rPr lang="en-US" sz="2400" b="1" dirty="0" smtClean="0"/>
              <a:t> ( f(n) ) = O( f(n) ) </a:t>
            </a:r>
            <a:r>
              <a:rPr lang="tr-TR" sz="2400" b="1" dirty="0" smtClean="0">
                <a:solidFill>
                  <a:srgbClr val="0070C0"/>
                </a:solidFill>
              </a:rPr>
              <a:t>∩</a:t>
            </a:r>
            <a:r>
              <a:rPr lang="en-US" sz="2400" b="1" dirty="0" smtClean="0"/>
              <a:t> </a:t>
            </a:r>
            <a:r>
              <a:rPr lang="el-GR" sz="2400" b="1" dirty="0" smtClean="0"/>
              <a:t>Ω(</a:t>
            </a:r>
            <a:r>
              <a:rPr lang="en-US" sz="2400" b="1" dirty="0" smtClean="0"/>
              <a:t> f (n) ) </a:t>
            </a:r>
            <a:endParaRPr lang="tr-TR" sz="2400" b="1" dirty="0"/>
          </a:p>
        </p:txBody>
      </p:sp>
      <p:sp>
        <p:nvSpPr>
          <p:cNvPr id="11" name="TextBox 10"/>
          <p:cNvSpPr txBox="1"/>
          <p:nvPr/>
        </p:nvSpPr>
        <p:spPr>
          <a:xfrm>
            <a:off x="1717040" y="3813467"/>
            <a:ext cx="4145280" cy="461665"/>
          </a:xfrm>
          <a:prstGeom prst="rect">
            <a:avLst/>
          </a:prstGeom>
          <a:solidFill>
            <a:srgbClr val="FFC000"/>
          </a:solidFill>
        </p:spPr>
        <p:txBody>
          <a:bodyPr wrap="square" rtlCol="0">
            <a:spAutoFit/>
          </a:bodyPr>
          <a:lstStyle/>
          <a:p>
            <a:r>
              <a:rPr lang="en-US" sz="2400" b="1" dirty="0"/>
              <a:t>c</a:t>
            </a:r>
            <a:r>
              <a:rPr lang="en-US" sz="2400" b="1" dirty="0" smtClean="0"/>
              <a:t> * f(n)  </a:t>
            </a:r>
            <a:r>
              <a:rPr lang="tr-TR" sz="2400" b="1" dirty="0" smtClean="0"/>
              <a:t>≤</a:t>
            </a:r>
            <a:r>
              <a:rPr lang="en-US" sz="2400" b="1" dirty="0" smtClean="0"/>
              <a:t> g(n) </a:t>
            </a:r>
            <a:r>
              <a:rPr lang="tr-TR" sz="2400" b="1" dirty="0" smtClean="0"/>
              <a:t>≤</a:t>
            </a:r>
            <a:r>
              <a:rPr lang="en-US" sz="2400" b="1" dirty="0" smtClean="0"/>
              <a:t> d * f(n)</a:t>
            </a:r>
            <a:endParaRPr lang="tr-TR" sz="2400" b="1" dirty="0"/>
          </a:p>
        </p:txBody>
      </p:sp>
    </p:spTree>
    <p:extLst>
      <p:ext uri="{BB962C8B-B14F-4D97-AF65-F5344CB8AC3E}">
        <p14:creationId xmlns:p14="http://schemas.microsoft.com/office/powerpoint/2010/main" val="146845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5DEE-E608-2C4B-A080-B79318E89235}"/>
              </a:ext>
            </a:extLst>
          </p:cNvPr>
          <p:cNvSpPr>
            <a:spLocks noGrp="1"/>
          </p:cNvSpPr>
          <p:nvPr>
            <p:ph type="title"/>
          </p:nvPr>
        </p:nvSpPr>
        <p:spPr>
          <a:xfrm>
            <a:off x="127000" y="141746"/>
            <a:ext cx="10515600" cy="446760"/>
          </a:xfrm>
        </p:spPr>
        <p:txBody>
          <a:bodyPr>
            <a:normAutofit fontScale="90000"/>
          </a:bodyPr>
          <a:lstStyle/>
          <a:p>
            <a:r>
              <a:rPr lang="en-US" dirty="0"/>
              <a:t>A Rigorous Introduction to Order (cont.)</a:t>
            </a:r>
            <a:endParaRPr lang="en-QA" dirty="0"/>
          </a:p>
        </p:txBody>
      </p:sp>
      <p:sp>
        <p:nvSpPr>
          <p:cNvPr id="3" name="Content Placeholder 2">
            <a:extLst>
              <a:ext uri="{FF2B5EF4-FFF2-40B4-BE49-F238E27FC236}">
                <a16:creationId xmlns:a16="http://schemas.microsoft.com/office/drawing/2014/main" id="{D1C13161-E0B2-7D48-A5FA-13F93369EB84}"/>
              </a:ext>
            </a:extLst>
          </p:cNvPr>
          <p:cNvSpPr>
            <a:spLocks noGrp="1"/>
          </p:cNvSpPr>
          <p:nvPr>
            <p:ph idx="1"/>
          </p:nvPr>
        </p:nvSpPr>
        <p:spPr>
          <a:xfrm>
            <a:off x="0" y="1258646"/>
            <a:ext cx="11353800" cy="4918317"/>
          </a:xfrm>
        </p:spPr>
        <p:txBody>
          <a:bodyPr/>
          <a:lstStyle/>
          <a:p>
            <a:r>
              <a:rPr lang="en-US" u="sng" dirty="0" smtClean="0">
                <a:solidFill>
                  <a:srgbClr val="00B050"/>
                </a:solidFill>
              </a:rPr>
              <a:t>Examples</a:t>
            </a:r>
            <a:endParaRPr lang="en-US" u="sng" dirty="0">
              <a:solidFill>
                <a:srgbClr val="00B050"/>
              </a:solidFill>
            </a:endParaRPr>
          </a:p>
          <a:p>
            <a:pPr lvl="1"/>
            <a:r>
              <a:rPr lang="en-US" dirty="0"/>
              <a:t>Function 5n + 7 is </a:t>
            </a:r>
            <a:r>
              <a:rPr lang="en-US" b="1" u="sng" dirty="0">
                <a:solidFill>
                  <a:srgbClr val="FF0000"/>
                </a:solidFill>
              </a:rPr>
              <a:t>not in </a:t>
            </a:r>
            <a:r>
              <a:rPr lang="el-GR" dirty="0"/>
              <a:t>Ω(</a:t>
            </a:r>
            <a:r>
              <a:rPr lang="en-US" dirty="0"/>
              <a:t>n</a:t>
            </a:r>
            <a:r>
              <a:rPr lang="en-US" baseline="30000" dirty="0"/>
              <a:t>2</a:t>
            </a:r>
            <a:r>
              <a:rPr lang="en-US" dirty="0"/>
              <a:t>), and the function </a:t>
            </a:r>
            <a:endParaRPr lang="en-US" dirty="0" smtClean="0"/>
          </a:p>
          <a:p>
            <a:pPr marL="457200" lvl="1" indent="0">
              <a:buNone/>
            </a:pPr>
            <a:r>
              <a:rPr lang="en-US" dirty="0" smtClean="0"/>
              <a:t>    4n</a:t>
            </a:r>
            <a:r>
              <a:rPr lang="en-US" baseline="30000" dirty="0" smtClean="0"/>
              <a:t>3</a:t>
            </a:r>
            <a:r>
              <a:rPr lang="en-US" dirty="0" smtClean="0"/>
              <a:t> + 3n</a:t>
            </a:r>
            <a:r>
              <a:rPr lang="en-US" baseline="30000" dirty="0" smtClean="0"/>
              <a:t>2</a:t>
            </a:r>
            <a:r>
              <a:rPr lang="en-US" dirty="0" smtClean="0"/>
              <a:t> is </a:t>
            </a:r>
            <a:r>
              <a:rPr lang="en-US" b="1" u="sng" dirty="0" smtClean="0">
                <a:solidFill>
                  <a:srgbClr val="FF0000"/>
                </a:solidFill>
              </a:rPr>
              <a:t>not in </a:t>
            </a:r>
            <a:r>
              <a:rPr lang="en-US" dirty="0" smtClean="0"/>
              <a:t>O(n</a:t>
            </a:r>
            <a:r>
              <a:rPr lang="en-US" baseline="30000" dirty="0" smtClean="0"/>
              <a:t>2</a:t>
            </a:r>
            <a:r>
              <a:rPr lang="en-US" dirty="0" smtClean="0"/>
              <a:t>)</a:t>
            </a:r>
          </a:p>
          <a:p>
            <a:pPr lvl="1"/>
            <a:endParaRPr lang="en-US" dirty="0"/>
          </a:p>
          <a:p>
            <a:pPr lvl="1"/>
            <a:r>
              <a:rPr lang="en-US" dirty="0"/>
              <a:t>Therefore, </a:t>
            </a:r>
            <a:r>
              <a:rPr lang="en-US" b="1" u="sng" dirty="0">
                <a:solidFill>
                  <a:srgbClr val="0070C0"/>
                </a:solidFill>
              </a:rPr>
              <a:t>neither of these functions is in </a:t>
            </a:r>
            <a:r>
              <a:rPr lang="el-GR" b="1" u="sng" dirty="0">
                <a:solidFill>
                  <a:srgbClr val="0070C0"/>
                </a:solidFill>
              </a:rPr>
              <a:t>Θ(</a:t>
            </a:r>
            <a:r>
              <a:rPr lang="en-US" b="1" u="sng" dirty="0">
                <a:solidFill>
                  <a:srgbClr val="0070C0"/>
                </a:solidFill>
              </a:rPr>
              <a:t>n</a:t>
            </a:r>
            <a:r>
              <a:rPr lang="en-US" b="1" u="sng" baseline="30000" dirty="0">
                <a:solidFill>
                  <a:srgbClr val="0070C0"/>
                </a:solidFill>
              </a:rPr>
              <a:t>2</a:t>
            </a:r>
            <a:r>
              <a:rPr lang="en-US" b="1" u="sng" dirty="0" smtClean="0">
                <a:solidFill>
                  <a:srgbClr val="0070C0"/>
                </a:solidFill>
              </a:rPr>
              <a:t>) </a:t>
            </a:r>
            <a:endParaRPr lang="en-US" b="1" u="sng" dirty="0">
              <a:solidFill>
                <a:srgbClr val="0070C0"/>
              </a:solidFill>
            </a:endParaRPr>
          </a:p>
          <a:p>
            <a:pPr lvl="1"/>
            <a:endParaRPr lang="en-US" dirty="0"/>
          </a:p>
          <a:p>
            <a:pPr lvl="1"/>
            <a:r>
              <a:rPr lang="en-US" dirty="0" smtClean="0"/>
              <a:t>Intuitively, </a:t>
            </a:r>
            <a:r>
              <a:rPr lang="en-US" b="1" u="sng" dirty="0"/>
              <a:t>this seems </a:t>
            </a:r>
            <a:r>
              <a:rPr lang="en-US" b="1" u="sng" dirty="0" smtClean="0"/>
              <a:t>correct</a:t>
            </a:r>
            <a:endParaRPr lang="en-US" b="1" u="sng" dirty="0"/>
          </a:p>
          <a:p>
            <a:pPr lvl="1"/>
            <a:endParaRPr lang="en-US" dirty="0"/>
          </a:p>
          <a:p>
            <a:pPr marL="0" indent="0">
              <a:buNone/>
            </a:pPr>
            <a:endParaRPr lang="en-US" dirty="0"/>
          </a:p>
          <a:p>
            <a:endParaRPr lang="en-US" dirty="0"/>
          </a:p>
          <a:p>
            <a:pPr marL="228600" indent="-228600" algn="l" defTabSz="914400" eaLnBrk="1" latinLnBrk="0" hangingPunct="1">
              <a:lnSpc>
                <a:spcPct val="90000"/>
              </a:lnSpc>
              <a:spcBef>
                <a:spcPts val="1000"/>
              </a:spcBef>
              <a:buFont typeface="Arial" panose="020B0604020202020204" pitchFamily="34" charset="0"/>
              <a:buChar char="•"/>
            </a:pPr>
            <a:endParaRPr lang="en-QA" dirty="0"/>
          </a:p>
        </p:txBody>
      </p:sp>
      <p:pic>
        <p:nvPicPr>
          <p:cNvPr id="4" name="Picture 3">
            <a:extLst>
              <a:ext uri="{FF2B5EF4-FFF2-40B4-BE49-F238E27FC236}">
                <a16:creationId xmlns:a16="http://schemas.microsoft.com/office/drawing/2014/main" id="{A3431F2E-2153-B945-843F-ADDE694BB0C1}"/>
              </a:ext>
            </a:extLst>
          </p:cNvPr>
          <p:cNvPicPr>
            <a:picLocks noChangeAspect="1"/>
          </p:cNvPicPr>
          <p:nvPr/>
        </p:nvPicPr>
        <p:blipFill>
          <a:blip r:embed="rId2"/>
          <a:stretch>
            <a:fillRect/>
          </a:stretch>
        </p:blipFill>
        <p:spPr>
          <a:xfrm>
            <a:off x="7737976" y="811886"/>
            <a:ext cx="4127500" cy="3492500"/>
          </a:xfrm>
          <a:prstGeom prst="rect">
            <a:avLst/>
          </a:prstGeom>
        </p:spPr>
      </p:pic>
      <p:sp>
        <p:nvSpPr>
          <p:cNvPr id="5" name="Rectangle 4">
            <a:extLst>
              <a:ext uri="{FF2B5EF4-FFF2-40B4-BE49-F238E27FC236}">
                <a16:creationId xmlns:a16="http://schemas.microsoft.com/office/drawing/2014/main" id="{8394FD73-E059-094E-B7C3-5F03F6CDB080}"/>
              </a:ext>
            </a:extLst>
          </p:cNvPr>
          <p:cNvSpPr/>
          <p:nvPr/>
        </p:nvSpPr>
        <p:spPr>
          <a:xfrm>
            <a:off x="8364376" y="4381814"/>
            <a:ext cx="3333981" cy="461665"/>
          </a:xfrm>
          <a:prstGeom prst="rect">
            <a:avLst/>
          </a:prstGeom>
        </p:spPr>
        <p:txBody>
          <a:bodyPr wrap="square">
            <a:spAutoFit/>
          </a:bodyPr>
          <a:lstStyle/>
          <a:p>
            <a:pPr lvl="1"/>
            <a:r>
              <a:rPr lang="el-GR" sz="2400" b="1" dirty="0">
                <a:solidFill>
                  <a:srgbClr val="C00000"/>
                </a:solidFill>
              </a:rPr>
              <a:t>Θ(</a:t>
            </a:r>
            <a:r>
              <a:rPr lang="en-US" sz="2400" b="1" dirty="0">
                <a:solidFill>
                  <a:srgbClr val="C00000"/>
                </a:solidFill>
              </a:rPr>
              <a:t>n</a:t>
            </a:r>
            <a:r>
              <a:rPr lang="en-US" sz="2400" b="1" baseline="30000" dirty="0">
                <a:solidFill>
                  <a:srgbClr val="C00000"/>
                </a:solidFill>
              </a:rPr>
              <a:t>2</a:t>
            </a:r>
            <a:r>
              <a:rPr lang="en-US" sz="2400" b="1" dirty="0">
                <a:solidFill>
                  <a:srgbClr val="C00000"/>
                </a:solidFill>
              </a:rPr>
              <a:t>) </a:t>
            </a:r>
            <a:r>
              <a:rPr lang="en-US" sz="2400" dirty="0"/>
              <a:t>= </a:t>
            </a:r>
            <a:r>
              <a:rPr lang="en-US" sz="2400" b="1" dirty="0">
                <a:solidFill>
                  <a:srgbClr val="0070C0"/>
                </a:solidFill>
              </a:rPr>
              <a:t>O(n</a:t>
            </a:r>
            <a:r>
              <a:rPr lang="en-US" sz="2400" b="1" baseline="30000" dirty="0">
                <a:solidFill>
                  <a:srgbClr val="0070C0"/>
                </a:solidFill>
              </a:rPr>
              <a:t>2</a:t>
            </a:r>
            <a:r>
              <a:rPr lang="en-US" sz="2400" b="1" dirty="0">
                <a:solidFill>
                  <a:srgbClr val="0070C0"/>
                </a:solidFill>
              </a:rPr>
              <a:t>) </a:t>
            </a:r>
            <a:r>
              <a:rPr lang="en-US" sz="2400" dirty="0"/>
              <a:t>∩ </a:t>
            </a:r>
            <a:r>
              <a:rPr lang="el-GR" sz="2400" b="1" dirty="0">
                <a:solidFill>
                  <a:srgbClr val="00B050"/>
                </a:solidFill>
              </a:rPr>
              <a:t>Ω(</a:t>
            </a:r>
            <a:r>
              <a:rPr lang="en-US" sz="2400" b="1" dirty="0">
                <a:solidFill>
                  <a:srgbClr val="00B050"/>
                </a:solidFill>
              </a:rPr>
              <a:t>n</a:t>
            </a:r>
            <a:r>
              <a:rPr lang="en-US" sz="2400" b="1" baseline="30000" dirty="0">
                <a:solidFill>
                  <a:srgbClr val="00B050"/>
                </a:solidFill>
              </a:rPr>
              <a:t>2</a:t>
            </a:r>
            <a:r>
              <a:rPr lang="en-US" sz="2400" b="1" dirty="0">
                <a:solidFill>
                  <a:srgbClr val="00B050"/>
                </a:solidFill>
              </a:rPr>
              <a:t>)</a:t>
            </a:r>
          </a:p>
        </p:txBody>
      </p:sp>
      <p:sp>
        <p:nvSpPr>
          <p:cNvPr id="6" name="Rectangle 5"/>
          <p:cNvSpPr/>
          <p:nvPr/>
        </p:nvSpPr>
        <p:spPr>
          <a:xfrm>
            <a:off x="8205387" y="1258646"/>
            <a:ext cx="739305" cy="369332"/>
          </a:xfrm>
          <a:prstGeom prst="rect">
            <a:avLst/>
          </a:prstGeom>
        </p:spPr>
        <p:txBody>
          <a:bodyPr wrap="none">
            <a:spAutoFit/>
          </a:bodyPr>
          <a:lstStyle/>
          <a:p>
            <a:r>
              <a:rPr lang="en-US" b="1" dirty="0">
                <a:solidFill>
                  <a:srgbClr val="0070C0"/>
                </a:solidFill>
              </a:rPr>
              <a:t>O(n</a:t>
            </a:r>
            <a:r>
              <a:rPr lang="en-US" b="1" baseline="30000" dirty="0">
                <a:solidFill>
                  <a:srgbClr val="0070C0"/>
                </a:solidFill>
              </a:rPr>
              <a:t>2</a:t>
            </a:r>
            <a:r>
              <a:rPr lang="en-US" b="1" dirty="0">
                <a:solidFill>
                  <a:srgbClr val="0070C0"/>
                </a:solidFill>
              </a:rPr>
              <a:t>) </a:t>
            </a:r>
            <a:endParaRPr lang="tr-TR" dirty="0"/>
          </a:p>
        </p:txBody>
      </p:sp>
      <p:sp>
        <p:nvSpPr>
          <p:cNvPr id="7" name="Rectangle 6"/>
          <p:cNvSpPr/>
          <p:nvPr/>
        </p:nvSpPr>
        <p:spPr>
          <a:xfrm>
            <a:off x="10503221" y="1293962"/>
            <a:ext cx="1317990" cy="461665"/>
          </a:xfrm>
          <a:prstGeom prst="rect">
            <a:avLst/>
          </a:prstGeom>
        </p:spPr>
        <p:txBody>
          <a:bodyPr wrap="none">
            <a:spAutoFit/>
          </a:bodyPr>
          <a:lstStyle/>
          <a:p>
            <a:pPr lvl="1"/>
            <a:r>
              <a:rPr lang="el-GR" sz="2400" b="1" dirty="0">
                <a:solidFill>
                  <a:srgbClr val="00B050"/>
                </a:solidFill>
              </a:rPr>
              <a:t>Ω(</a:t>
            </a:r>
            <a:r>
              <a:rPr lang="en-US" sz="2400" b="1" dirty="0">
                <a:solidFill>
                  <a:srgbClr val="00B050"/>
                </a:solidFill>
              </a:rPr>
              <a:t>n</a:t>
            </a:r>
            <a:r>
              <a:rPr lang="en-US" sz="2400" b="1" baseline="30000" dirty="0">
                <a:solidFill>
                  <a:srgbClr val="00B050"/>
                </a:solidFill>
              </a:rPr>
              <a:t>2</a:t>
            </a:r>
            <a:r>
              <a:rPr lang="en-US" sz="2400" b="1" dirty="0">
                <a:solidFill>
                  <a:srgbClr val="00B050"/>
                </a:solidFill>
              </a:rPr>
              <a:t>)</a:t>
            </a:r>
          </a:p>
        </p:txBody>
      </p:sp>
    </p:spTree>
    <p:extLst>
      <p:ext uri="{BB962C8B-B14F-4D97-AF65-F5344CB8AC3E}">
        <p14:creationId xmlns:p14="http://schemas.microsoft.com/office/powerpoint/2010/main" val="47886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Quick Check</a:t>
            </a:r>
            <a:endParaRPr lang="en-US"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dirty="0" smtClean="0"/>
              <a:t>Algorithms with time complexities such as n and 100n are called ----- algorithms</a:t>
            </a:r>
          </a:p>
          <a:p>
            <a:pPr lvl="1"/>
            <a:r>
              <a:rPr lang="en-US" dirty="0" smtClean="0"/>
              <a:t>Linear time</a:t>
            </a:r>
          </a:p>
          <a:p>
            <a:pPr marL="457200" indent="-457200">
              <a:buFont typeface="+mj-lt"/>
              <a:buAutoNum type="arabicPeriod"/>
            </a:pPr>
            <a:r>
              <a:rPr lang="en-US" dirty="0" smtClean="0"/>
              <a:t>Algorithms with time complexities such as n^2 are called quadratic-time algorithms (True or False)</a:t>
            </a:r>
          </a:p>
          <a:p>
            <a:pPr lvl="1"/>
            <a:r>
              <a:rPr lang="en-US" dirty="0" smtClean="0"/>
              <a:t>True</a:t>
            </a:r>
          </a:p>
          <a:p>
            <a:pPr marL="457200" indent="-457200">
              <a:buFont typeface="+mj-lt"/>
              <a:buAutoNum type="arabicPeriod"/>
            </a:pPr>
            <a:r>
              <a:rPr lang="en-US" dirty="0" smtClean="0"/>
              <a:t>Any quadratic-time algorithm is eventually more efficient than any linear-time algorithm (True or False)</a:t>
            </a:r>
          </a:p>
          <a:p>
            <a:pPr lvl="1"/>
            <a:r>
              <a:rPr lang="en-US" dirty="0" smtClean="0"/>
              <a:t>False</a:t>
            </a:r>
          </a:p>
          <a:p>
            <a:pPr marL="457200" indent="-457200">
              <a:buFont typeface="+mj-lt"/>
              <a:buAutoNum type="arabicPeriod"/>
            </a:pPr>
            <a:r>
              <a:rPr lang="en-US" dirty="0" smtClean="0"/>
              <a:t>Function such as 5n^2 and 5n^2+100 are called ----- functions</a:t>
            </a:r>
          </a:p>
          <a:p>
            <a:pPr lvl="1"/>
            <a:r>
              <a:rPr lang="en-US" dirty="0" smtClean="0"/>
              <a:t>Pure </a:t>
            </a:r>
            <a:r>
              <a:rPr lang="en-US" dirty="0" smtClean="0"/>
              <a:t>quadratic</a:t>
            </a:r>
            <a:endParaRPr lang="en-US" dirty="0" smtClean="0"/>
          </a:p>
        </p:txBody>
      </p:sp>
    </p:spTree>
    <p:extLst>
      <p:ext uri="{BB962C8B-B14F-4D97-AF65-F5344CB8AC3E}">
        <p14:creationId xmlns:p14="http://schemas.microsoft.com/office/powerpoint/2010/main" val="97532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7941</TotalTime>
  <Words>3430</Words>
  <Application>Microsoft Office PowerPoint</Application>
  <PresentationFormat>Widescreen</PresentationFormat>
  <Paragraphs>436</Paragraphs>
  <Slides>32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ＭＳ Ｐゴシック</vt:lpstr>
      <vt:lpstr>Arial</vt:lpstr>
      <vt:lpstr>Calibri</vt:lpstr>
      <vt:lpstr>Calibri Light</vt:lpstr>
      <vt:lpstr>Courier New</vt:lpstr>
      <vt:lpstr>LiberationSerif</vt:lpstr>
      <vt:lpstr>Tahoma</vt:lpstr>
      <vt:lpstr>Times New Roman</vt:lpstr>
      <vt:lpstr>Wingdings</vt:lpstr>
      <vt:lpstr>Office Theme</vt:lpstr>
      <vt:lpstr>Algorithms: Efficiency, Analysis, and Order</vt:lpstr>
      <vt:lpstr>Analysis of Algorithms: Time Complexity Analysis</vt:lpstr>
      <vt:lpstr>Time Complexity Analysis (cont.)</vt:lpstr>
      <vt:lpstr>Time Complexity Analysis (cont.)</vt:lpstr>
      <vt:lpstr>Time Complexity Analysis (cont.)</vt:lpstr>
      <vt:lpstr>Time Complexity Analysis (cont.)</vt:lpstr>
      <vt:lpstr>Time Complexity Analysis (cont.)</vt:lpstr>
      <vt:lpstr>Time Complexity Analysis (cont.)</vt:lpstr>
      <vt:lpstr>Time Complexity Analysis (cont.)</vt:lpstr>
      <vt:lpstr>Time Complexity Analysis (cont.)</vt:lpstr>
      <vt:lpstr>Which Complexity Analysis Technique to Select?</vt:lpstr>
      <vt:lpstr>Quick Check</vt:lpstr>
      <vt:lpstr>Applying the Theory of Algorithm Analysis</vt:lpstr>
      <vt:lpstr>Applying the Theory (cont.)</vt:lpstr>
      <vt:lpstr>Applying the Theory (cont.)</vt:lpstr>
      <vt:lpstr>Order</vt:lpstr>
      <vt:lpstr>Order</vt:lpstr>
      <vt:lpstr>Quadratic Functions</vt:lpstr>
      <vt:lpstr>Introduction to Order</vt:lpstr>
      <vt:lpstr>Introduction to Order (cont.)</vt:lpstr>
      <vt:lpstr>Introduction to Order (cont.)</vt:lpstr>
      <vt:lpstr>Introduction to Order (cont.)</vt:lpstr>
      <vt:lpstr>A Rigorous Introduction to Order (Upper Bound) </vt:lpstr>
      <vt:lpstr>A Rigorous Introduction to Order (cont.)</vt:lpstr>
      <vt:lpstr>A Rigorous Introduction to Order (cont.)</vt:lpstr>
      <vt:lpstr>A Rigorous Introduction to Order (cont.)</vt:lpstr>
      <vt:lpstr>A Rigorous Introduction to Order (Lower Bound)                Ω (omega)</vt:lpstr>
      <vt:lpstr>A Rigorous Introduction to Order (cont.)</vt:lpstr>
      <vt:lpstr>A Rigorous Introduction to Order (cont.)</vt:lpstr>
      <vt:lpstr>A Rigorous Introduction to Order (Tight Bound) theta (Θ) </vt:lpstr>
      <vt:lpstr>A Rigorous Introduction to Order (cont.)</vt:lpstr>
      <vt:lpstr>Quick Check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Cagatay Catal</dc:creator>
  <cp:lastModifiedBy>Cagatay Catal</cp:lastModifiedBy>
  <cp:revision>613</cp:revision>
  <dcterms:created xsi:type="dcterms:W3CDTF">2021-01-09T15:37:40Z</dcterms:created>
  <dcterms:modified xsi:type="dcterms:W3CDTF">2025-01-19T11:31:14Z</dcterms:modified>
</cp:coreProperties>
</file>